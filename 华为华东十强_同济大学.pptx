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jpg" ContentType="image/jpg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61" y="69418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1981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723631" y="85343"/>
            <a:ext cx="1405127" cy="5212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911" y="982217"/>
            <a:ext cx="503301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33902" y="2339111"/>
            <a:ext cx="4210684" cy="2400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image" Target="../media/image52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jp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59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Relationship Id="rId3" Type="http://schemas.openxmlformats.org/officeDocument/2006/relationships/image" Target="../media/image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69.png"/><Relationship Id="rId10" Type="http://schemas.openxmlformats.org/officeDocument/2006/relationships/image" Target="../media/image55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69.png"/><Relationship Id="rId4" Type="http://schemas.openxmlformats.org/officeDocument/2006/relationships/image" Target="../media/image55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g"/><Relationship Id="rId3" Type="http://schemas.openxmlformats.org/officeDocument/2006/relationships/image" Target="../media/image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7426" y="2878963"/>
            <a:ext cx="3225800" cy="9232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3750" spc="-35">
                <a:latin typeface="Broadway"/>
                <a:cs typeface="Broadway"/>
              </a:rPr>
              <a:t>Crazyou</a:t>
            </a:r>
            <a:endParaRPr sz="3750">
              <a:latin typeface="Broadway"/>
              <a:cs typeface="Broadway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2100" spc="-5">
                <a:latin typeface="微软雅黑"/>
                <a:cs typeface="微软雅黑"/>
              </a:rPr>
              <a:t>华为财务精英挑战赛华东赛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" y="317753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目录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3546" y="3060954"/>
            <a:ext cx="302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latin typeface="Malgun Gothic Semilight"/>
                <a:cs typeface="Malgun Gothic Semilight"/>
              </a:rPr>
              <a:t>02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6307" y="3925315"/>
            <a:ext cx="3035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" b="0">
                <a:latin typeface="Malgun Gothic Semilight"/>
                <a:cs typeface="Malgun Gothic Semilight"/>
              </a:rPr>
              <a:t>03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801" y="4827777"/>
            <a:ext cx="308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0">
                <a:latin typeface="Malgun Gothic Semilight"/>
                <a:cs typeface="Malgun Gothic Semilight"/>
              </a:rPr>
              <a:t>04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3514" y="3094736"/>
            <a:ext cx="36042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1">
                <a:latin typeface="明兰"/>
                <a:cs typeface="明兰"/>
              </a:rPr>
              <a:t>整机进口</a:t>
            </a:r>
            <a:r>
              <a:rPr dirty="0" sz="2000" b="1">
                <a:latin typeface="明兰"/>
                <a:cs typeface="明兰"/>
              </a:rPr>
              <a:t>与散</a:t>
            </a:r>
            <a:r>
              <a:rPr dirty="0" sz="2000" spc="15" b="1">
                <a:latin typeface="明兰"/>
                <a:cs typeface="明兰"/>
              </a:rPr>
              <a:t>件</a:t>
            </a:r>
            <a:r>
              <a:rPr dirty="0" sz="2000" spc="10" b="1">
                <a:latin typeface="明兰"/>
                <a:cs typeface="明兰"/>
              </a:rPr>
              <a:t>组装模</a:t>
            </a:r>
            <a:r>
              <a:rPr dirty="0" sz="2000" b="1">
                <a:latin typeface="明兰"/>
                <a:cs typeface="明兰"/>
              </a:rPr>
              <a:t>式之</a:t>
            </a:r>
            <a:r>
              <a:rPr dirty="0" sz="2000" spc="15" b="1">
                <a:latin typeface="明兰"/>
                <a:cs typeface="明兰"/>
              </a:rPr>
              <a:t>分</a:t>
            </a:r>
            <a:r>
              <a:rPr dirty="0" sz="2000" b="1"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3514" y="3922267"/>
            <a:ext cx="3092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latin typeface="明兰"/>
                <a:cs typeface="明兰"/>
              </a:rPr>
              <a:t>代工模式</a:t>
            </a:r>
            <a:r>
              <a:rPr dirty="0" sz="2000" b="1">
                <a:latin typeface="明兰"/>
                <a:cs typeface="明兰"/>
              </a:rPr>
              <a:t>与自</a:t>
            </a:r>
            <a:r>
              <a:rPr dirty="0" sz="2000" spc="10" b="1">
                <a:latin typeface="明兰"/>
                <a:cs typeface="明兰"/>
              </a:rPr>
              <a:t>建厂</a:t>
            </a:r>
            <a:r>
              <a:rPr dirty="0" sz="2000" spc="25" b="1">
                <a:latin typeface="明兰"/>
                <a:cs typeface="明兰"/>
              </a:rPr>
              <a:t>商</a:t>
            </a:r>
            <a:r>
              <a:rPr dirty="0" sz="2000" spc="10" b="1">
                <a:latin typeface="明兰"/>
                <a:cs typeface="明兰"/>
              </a:rPr>
              <a:t>之</a:t>
            </a:r>
            <a:r>
              <a:rPr dirty="0" sz="2000" b="1">
                <a:latin typeface="明兰"/>
                <a:cs typeface="明兰"/>
              </a:rPr>
              <a:t>优劣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3071" y="2232787"/>
            <a:ext cx="38423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3865" algn="l"/>
                <a:tab pos="762635" algn="l"/>
              </a:tabLst>
            </a:pPr>
            <a:r>
              <a:rPr dirty="0" sz="2000" spc="5" b="0">
                <a:latin typeface="Malgun Gothic Semilight"/>
                <a:cs typeface="Malgun Gothic Semilight"/>
              </a:rPr>
              <a:t>01	</a:t>
            </a:r>
            <a:r>
              <a:rPr dirty="0" baseline="2777" sz="3000" spc="540" b="1">
                <a:latin typeface="明兰"/>
                <a:cs typeface="明兰"/>
              </a:rPr>
              <a:t>-	</a:t>
            </a:r>
            <a:r>
              <a:rPr dirty="0" sz="2000" spc="10" b="1">
                <a:latin typeface="明兰"/>
                <a:cs typeface="明兰"/>
              </a:rPr>
              <a:t>阿根廷智</a:t>
            </a:r>
            <a:r>
              <a:rPr dirty="0" sz="2000" b="1">
                <a:latin typeface="明兰"/>
                <a:cs typeface="明兰"/>
              </a:rPr>
              <a:t>能手</a:t>
            </a:r>
            <a:r>
              <a:rPr dirty="0" sz="2000" spc="20" b="1">
                <a:latin typeface="明兰"/>
                <a:cs typeface="明兰"/>
              </a:rPr>
              <a:t>机</a:t>
            </a:r>
            <a:r>
              <a:rPr dirty="0" sz="2000" spc="10" b="1">
                <a:latin typeface="明兰"/>
                <a:cs typeface="明兰"/>
              </a:rPr>
              <a:t>市场之</a:t>
            </a:r>
            <a:r>
              <a:rPr dirty="0" sz="2000" b="1">
                <a:latin typeface="明兰"/>
                <a:cs typeface="明兰"/>
              </a:rPr>
              <a:t>初探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4363" y="305600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303" y="3955744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303" y="4820539"/>
            <a:ext cx="2863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dirty="0" sz="2000" spc="360" b="1">
                <a:latin typeface="明兰"/>
                <a:cs typeface="明兰"/>
              </a:rPr>
              <a:t>-	</a:t>
            </a:r>
            <a:r>
              <a:rPr dirty="0" sz="2000" spc="10" b="1">
                <a:latin typeface="明兰"/>
                <a:cs typeface="明兰"/>
              </a:rPr>
              <a:t>建模分析</a:t>
            </a:r>
            <a:r>
              <a:rPr dirty="0" sz="2000" b="1">
                <a:latin typeface="明兰"/>
                <a:cs typeface="明兰"/>
              </a:rPr>
              <a:t>代工</a:t>
            </a:r>
            <a:r>
              <a:rPr dirty="0" sz="2000" spc="10" b="1">
                <a:latin typeface="明兰"/>
                <a:cs typeface="明兰"/>
              </a:rPr>
              <a:t>厂之抉</a:t>
            </a:r>
            <a:r>
              <a:rPr dirty="0" sz="2000" b="1">
                <a:latin typeface="明兰"/>
                <a:cs typeface="明兰"/>
              </a:rPr>
              <a:t>择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6635" y="1071503"/>
            <a:ext cx="1711325" cy="55880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035"/>
              </a:lnSpc>
            </a:pPr>
            <a:r>
              <a:rPr dirty="0" sz="11500" spc="-10">
                <a:solidFill>
                  <a:srgbClr val="660000"/>
                </a:solidFill>
                <a:latin typeface="Calisto MT"/>
                <a:cs typeface="Calisto MT"/>
              </a:rPr>
              <a:t>Contents</a:t>
            </a:r>
            <a:endParaRPr sz="115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4210" y="569213"/>
            <a:ext cx="0" cy="5977255"/>
          </a:xfrm>
          <a:custGeom>
            <a:avLst/>
            <a:gdLst/>
            <a:ahLst/>
            <a:cxnLst/>
            <a:rect l="l" t="t" r="r" b="b"/>
            <a:pathLst>
              <a:path w="0" h="5977255">
                <a:moveTo>
                  <a:pt x="0" y="0"/>
                </a:moveTo>
                <a:lnTo>
                  <a:pt x="0" y="5976658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" y="317753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目录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3546" y="3060954"/>
            <a:ext cx="302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A6A6A6"/>
                </a:solidFill>
                <a:latin typeface="Malgun Gothic Semilight"/>
                <a:cs typeface="Malgun Gothic Semilight"/>
              </a:rPr>
              <a:t>02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6307" y="3925315"/>
            <a:ext cx="3035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" b="0">
                <a:solidFill>
                  <a:srgbClr val="A6A6A6"/>
                </a:solidFill>
                <a:latin typeface="Malgun Gothic Semilight"/>
                <a:cs typeface="Malgun Gothic Semilight"/>
              </a:rPr>
              <a:t>03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801" y="4827777"/>
            <a:ext cx="308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0">
                <a:solidFill>
                  <a:srgbClr val="A6A6A6"/>
                </a:solidFill>
                <a:latin typeface="Malgun Gothic Semilight"/>
                <a:cs typeface="Malgun Gothic Semilight"/>
              </a:rPr>
              <a:t>04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3514" y="3094736"/>
            <a:ext cx="36042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整机进口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与散</a:t>
            </a:r>
            <a:r>
              <a:rPr dirty="0" sz="2000" spc="15" b="1">
                <a:solidFill>
                  <a:srgbClr val="A6A6A6"/>
                </a:solidFill>
                <a:latin typeface="明兰"/>
                <a:cs typeface="明兰"/>
              </a:rPr>
              <a:t>件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组装模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式之</a:t>
            </a:r>
            <a:r>
              <a:rPr dirty="0" sz="2000" spc="15" b="1">
                <a:solidFill>
                  <a:srgbClr val="A6A6A6"/>
                </a:solidFill>
                <a:latin typeface="明兰"/>
                <a:cs typeface="明兰"/>
              </a:rPr>
              <a:t>分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3514" y="3922267"/>
            <a:ext cx="3092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代工模式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与自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建厂</a:t>
            </a:r>
            <a:r>
              <a:rPr dirty="0" sz="2000" spc="25" b="1">
                <a:solidFill>
                  <a:srgbClr val="A6A6A6"/>
                </a:solidFill>
                <a:latin typeface="明兰"/>
                <a:cs typeface="明兰"/>
              </a:rPr>
              <a:t>商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之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优劣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3071" y="2232787"/>
            <a:ext cx="38423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3865" algn="l"/>
                <a:tab pos="762635" algn="l"/>
              </a:tabLst>
            </a:pPr>
            <a:r>
              <a:rPr dirty="0" sz="2000" spc="5" b="0">
                <a:latin typeface="Malgun Gothic Semilight"/>
                <a:cs typeface="Malgun Gothic Semilight"/>
              </a:rPr>
              <a:t>01	</a:t>
            </a:r>
            <a:r>
              <a:rPr dirty="0" baseline="2777" sz="3000" spc="540" b="1">
                <a:latin typeface="明兰"/>
                <a:cs typeface="明兰"/>
              </a:rPr>
              <a:t>-	</a:t>
            </a:r>
            <a:r>
              <a:rPr dirty="0" sz="2000" spc="10" b="1">
                <a:latin typeface="明兰"/>
                <a:cs typeface="明兰"/>
              </a:rPr>
              <a:t>阿根廷智</a:t>
            </a:r>
            <a:r>
              <a:rPr dirty="0" sz="2000" b="1">
                <a:latin typeface="明兰"/>
                <a:cs typeface="明兰"/>
              </a:rPr>
              <a:t>能手</a:t>
            </a:r>
            <a:r>
              <a:rPr dirty="0" sz="2000" spc="20" b="1">
                <a:latin typeface="明兰"/>
                <a:cs typeface="明兰"/>
              </a:rPr>
              <a:t>机</a:t>
            </a:r>
            <a:r>
              <a:rPr dirty="0" sz="2000" spc="10" b="1">
                <a:latin typeface="明兰"/>
                <a:cs typeface="明兰"/>
              </a:rPr>
              <a:t>市场之</a:t>
            </a:r>
            <a:r>
              <a:rPr dirty="0" sz="2000" b="1">
                <a:latin typeface="明兰"/>
                <a:cs typeface="明兰"/>
              </a:rPr>
              <a:t>初探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4363" y="305600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303" y="3955744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303" y="4820539"/>
            <a:ext cx="2863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	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建模分析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代工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厂之抉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择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6635" y="1071503"/>
            <a:ext cx="1711325" cy="55880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035"/>
              </a:lnSpc>
            </a:pPr>
            <a:r>
              <a:rPr dirty="0" sz="11500" spc="-10">
                <a:solidFill>
                  <a:srgbClr val="660000"/>
                </a:solidFill>
                <a:latin typeface="Calisto MT"/>
                <a:cs typeface="Calisto MT"/>
              </a:rPr>
              <a:t>Contents</a:t>
            </a:r>
            <a:endParaRPr sz="115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4210" y="569213"/>
            <a:ext cx="0" cy="5977255"/>
          </a:xfrm>
          <a:custGeom>
            <a:avLst/>
            <a:gdLst/>
            <a:ahLst/>
            <a:cxnLst/>
            <a:rect l="l" t="t" r="r" b="b"/>
            <a:pathLst>
              <a:path w="0" h="5977255">
                <a:moveTo>
                  <a:pt x="0" y="0"/>
                </a:moveTo>
                <a:lnTo>
                  <a:pt x="0" y="5976658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96" y="278383"/>
            <a:ext cx="232410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阿根廷手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机市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场概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况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5255" y="1057655"/>
            <a:ext cx="4177665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91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dirty="0" sz="1200" spc="-5" b="1">
                <a:latin typeface="Arial"/>
                <a:cs typeface="Arial"/>
              </a:rPr>
              <a:t>2004-2016</a:t>
            </a:r>
            <a:r>
              <a:rPr dirty="0" sz="1200" b="1">
                <a:latin typeface="明兰"/>
                <a:cs typeface="明兰"/>
              </a:rPr>
              <a:t>年阿根廷手机市场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4729" y="6355791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56" y="1053083"/>
            <a:ext cx="4217035" cy="2466340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marL="90805" marR="153035" indent="457200">
              <a:lnSpc>
                <a:spcPts val="1620"/>
              </a:lnSpc>
              <a:spcBef>
                <a:spcPts val="535"/>
              </a:spcBef>
            </a:pPr>
            <a:r>
              <a:rPr dirty="0" sz="1400" spc="55" b="1">
                <a:latin typeface="明兰"/>
                <a:cs typeface="明兰"/>
              </a:rPr>
              <a:t>阿</a:t>
            </a:r>
            <a:r>
              <a:rPr dirty="0" sz="1400" spc="45" b="1">
                <a:latin typeface="明兰"/>
                <a:cs typeface="明兰"/>
              </a:rPr>
              <a:t>根</a:t>
            </a:r>
            <a:r>
              <a:rPr dirty="0" sz="1400" spc="55" b="1">
                <a:latin typeface="明兰"/>
                <a:cs typeface="明兰"/>
              </a:rPr>
              <a:t>廷</a:t>
            </a:r>
            <a:r>
              <a:rPr dirty="0" sz="1400" spc="45" b="1">
                <a:latin typeface="明兰"/>
                <a:cs typeface="明兰"/>
              </a:rPr>
              <a:t>手机</a:t>
            </a:r>
            <a:r>
              <a:rPr dirty="0" sz="1400" spc="55" b="1">
                <a:latin typeface="明兰"/>
                <a:cs typeface="明兰"/>
              </a:rPr>
              <a:t>市</a:t>
            </a:r>
            <a:r>
              <a:rPr dirty="0" sz="1400" spc="45" b="1">
                <a:latin typeface="明兰"/>
                <a:cs typeface="明兰"/>
              </a:rPr>
              <a:t>场规</a:t>
            </a:r>
            <a:r>
              <a:rPr dirty="0" sz="1400" spc="55" b="1">
                <a:latin typeface="明兰"/>
                <a:cs typeface="明兰"/>
              </a:rPr>
              <a:t>模</a:t>
            </a:r>
            <a:r>
              <a:rPr dirty="0" sz="1400" spc="45" b="1">
                <a:latin typeface="明兰"/>
                <a:cs typeface="明兰"/>
              </a:rPr>
              <a:t>企</a:t>
            </a:r>
            <a:r>
              <a:rPr dirty="0" sz="1400" spc="55" b="1">
                <a:latin typeface="明兰"/>
                <a:cs typeface="明兰"/>
              </a:rPr>
              <a:t>稳</a:t>
            </a:r>
            <a:r>
              <a:rPr dirty="0" sz="1400" spc="45" b="1">
                <a:latin typeface="明兰"/>
                <a:cs typeface="明兰"/>
              </a:rPr>
              <a:t>回</a:t>
            </a:r>
            <a:r>
              <a:rPr dirty="0" sz="1400" spc="65" b="1">
                <a:latin typeface="明兰"/>
                <a:cs typeface="明兰"/>
              </a:rPr>
              <a:t>升</a:t>
            </a:r>
            <a:r>
              <a:rPr dirty="0" sz="1400" spc="60" b="1">
                <a:latin typeface="明兰"/>
                <a:cs typeface="明兰"/>
              </a:rPr>
              <a:t>，</a:t>
            </a:r>
            <a:r>
              <a:rPr dirty="0" sz="1400" spc="45" b="1">
                <a:latin typeface="明兰"/>
                <a:cs typeface="明兰"/>
              </a:rPr>
              <a:t>智能</a:t>
            </a:r>
            <a:r>
              <a:rPr dirty="0" sz="1400" spc="55" b="1">
                <a:latin typeface="明兰"/>
                <a:cs typeface="明兰"/>
              </a:rPr>
              <a:t>手</a:t>
            </a:r>
            <a:r>
              <a:rPr dirty="0" sz="1400" spc="45" b="1">
                <a:latin typeface="明兰"/>
                <a:cs typeface="明兰"/>
              </a:rPr>
              <a:t>机</a:t>
            </a:r>
            <a:r>
              <a:rPr dirty="0" sz="1400" b="1">
                <a:latin typeface="明兰"/>
                <a:cs typeface="明兰"/>
              </a:rPr>
              <a:t>为 </a:t>
            </a:r>
            <a:r>
              <a:rPr dirty="0" sz="1400" spc="80" b="1">
                <a:latin typeface="明兰"/>
                <a:cs typeface="明兰"/>
              </a:rPr>
              <a:t>增</a:t>
            </a:r>
            <a:r>
              <a:rPr dirty="0" sz="1400" spc="70" b="1">
                <a:latin typeface="明兰"/>
                <a:cs typeface="明兰"/>
              </a:rPr>
              <a:t>长动</a:t>
            </a:r>
            <a:r>
              <a:rPr dirty="0" sz="1400" spc="85" b="1">
                <a:latin typeface="明兰"/>
                <a:cs typeface="明兰"/>
              </a:rPr>
              <a:t>力。</a:t>
            </a:r>
            <a:r>
              <a:rPr dirty="0" sz="1400" spc="-15">
                <a:latin typeface="Arial"/>
                <a:cs typeface="Arial"/>
              </a:rPr>
              <a:t>2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 spc="70">
                <a:latin typeface="Arial"/>
                <a:cs typeface="Arial"/>
              </a:rPr>
              <a:t>6</a:t>
            </a:r>
            <a:r>
              <a:rPr dirty="0" sz="1400" spc="70">
                <a:latin typeface="宋体"/>
                <a:cs typeface="宋体"/>
              </a:rPr>
              <a:t>年</a:t>
            </a:r>
            <a:r>
              <a:rPr dirty="0" sz="1400" spc="80">
                <a:latin typeface="宋体"/>
                <a:cs typeface="宋体"/>
              </a:rPr>
              <a:t>阿</a:t>
            </a:r>
            <a:r>
              <a:rPr dirty="0" sz="1400" spc="70">
                <a:latin typeface="宋体"/>
                <a:cs typeface="宋体"/>
              </a:rPr>
              <a:t>根廷</a:t>
            </a:r>
            <a:r>
              <a:rPr dirty="0" sz="1400" spc="80">
                <a:latin typeface="宋体"/>
                <a:cs typeface="宋体"/>
              </a:rPr>
              <a:t>手</a:t>
            </a:r>
            <a:r>
              <a:rPr dirty="0" sz="1400" spc="70">
                <a:latin typeface="宋体"/>
                <a:cs typeface="宋体"/>
              </a:rPr>
              <a:t>机市</a:t>
            </a:r>
            <a:r>
              <a:rPr dirty="0" sz="1400" spc="80">
                <a:latin typeface="宋体"/>
                <a:cs typeface="宋体"/>
              </a:rPr>
              <a:t>场</a:t>
            </a:r>
            <a:r>
              <a:rPr dirty="0" sz="1400" spc="70">
                <a:latin typeface="宋体"/>
                <a:cs typeface="宋体"/>
              </a:rPr>
              <a:t>销</a:t>
            </a:r>
            <a:r>
              <a:rPr dirty="0" sz="1400" spc="80">
                <a:latin typeface="宋体"/>
                <a:cs typeface="宋体"/>
              </a:rPr>
              <a:t>售</a:t>
            </a:r>
            <a:r>
              <a:rPr dirty="0" sz="1400" spc="70">
                <a:latin typeface="宋体"/>
                <a:cs typeface="宋体"/>
              </a:rPr>
              <a:t>规模</a:t>
            </a:r>
            <a:r>
              <a:rPr dirty="0" sz="1400" spc="80">
                <a:latin typeface="宋体"/>
                <a:cs typeface="宋体"/>
              </a:rPr>
              <a:t>增</a:t>
            </a:r>
            <a:r>
              <a:rPr dirty="0" sz="1400">
                <a:latin typeface="宋体"/>
                <a:cs typeface="宋体"/>
              </a:rPr>
              <a:t>至</a:t>
            </a:r>
            <a:endParaRPr sz="1400">
              <a:latin typeface="宋体"/>
              <a:cs typeface="宋体"/>
            </a:endParaRPr>
          </a:p>
          <a:p>
            <a:pPr algn="just" marL="90805" marR="139700">
              <a:lnSpc>
                <a:spcPts val="1680"/>
              </a:lnSpc>
              <a:spcBef>
                <a:spcPts val="15"/>
              </a:spcBef>
            </a:pPr>
            <a:r>
              <a:rPr dirty="0" sz="1400" spc="15">
                <a:latin typeface="Arial"/>
                <a:cs typeface="Arial"/>
              </a:rPr>
              <a:t>1032</a:t>
            </a:r>
            <a:r>
              <a:rPr dirty="0" sz="1400" spc="80">
                <a:latin typeface="宋体"/>
                <a:cs typeface="宋体"/>
              </a:rPr>
              <a:t>万台</a:t>
            </a:r>
            <a:r>
              <a:rPr dirty="0" sz="1400" spc="15">
                <a:latin typeface="宋体"/>
                <a:cs typeface="宋体"/>
              </a:rPr>
              <a:t>（</a:t>
            </a:r>
            <a:r>
              <a:rPr dirty="0" sz="1400" spc="15">
                <a:latin typeface="Arial"/>
                <a:cs typeface="Arial"/>
              </a:rPr>
              <a:t>YoY+4.5%</a:t>
            </a:r>
            <a:r>
              <a:rPr dirty="0" sz="1400" spc="15">
                <a:latin typeface="宋体"/>
                <a:cs typeface="宋体"/>
              </a:rPr>
              <a:t>），</a:t>
            </a:r>
            <a:r>
              <a:rPr dirty="0" sz="1400" spc="80">
                <a:latin typeface="宋体"/>
                <a:cs typeface="宋体"/>
              </a:rPr>
              <a:t>扭转</a:t>
            </a:r>
            <a:r>
              <a:rPr dirty="0" sz="1400" spc="95">
                <a:latin typeface="宋体"/>
                <a:cs typeface="宋体"/>
              </a:rPr>
              <a:t>了</a:t>
            </a:r>
            <a:r>
              <a:rPr dirty="0" sz="1400" spc="10">
                <a:latin typeface="Arial"/>
                <a:cs typeface="Arial"/>
              </a:rPr>
              <a:t>13-15</a:t>
            </a:r>
            <a:r>
              <a:rPr dirty="0" sz="1400" spc="80">
                <a:latin typeface="宋体"/>
                <a:cs typeface="宋体"/>
              </a:rPr>
              <a:t>三年期间 </a:t>
            </a:r>
            <a:r>
              <a:rPr dirty="0" sz="1400" spc="35">
                <a:latin typeface="宋体"/>
                <a:cs typeface="宋体"/>
              </a:rPr>
              <a:t>的下</a:t>
            </a:r>
            <a:r>
              <a:rPr dirty="0" sz="1400" spc="20">
                <a:latin typeface="宋体"/>
                <a:cs typeface="宋体"/>
              </a:rPr>
              <a:t>滑</a:t>
            </a:r>
            <a:r>
              <a:rPr dirty="0" sz="1400" spc="35">
                <a:latin typeface="宋体"/>
                <a:cs typeface="宋体"/>
              </a:rPr>
              <a:t>态</a:t>
            </a:r>
            <a:r>
              <a:rPr dirty="0" sz="1400" spc="30">
                <a:latin typeface="宋体"/>
                <a:cs typeface="宋体"/>
              </a:rPr>
              <a:t>势</a:t>
            </a:r>
            <a:r>
              <a:rPr dirty="0" sz="1400" spc="35">
                <a:latin typeface="宋体"/>
                <a:cs typeface="宋体"/>
              </a:rPr>
              <a:t>。同</a:t>
            </a:r>
            <a:r>
              <a:rPr dirty="0" sz="1400" spc="20">
                <a:latin typeface="宋体"/>
                <a:cs typeface="宋体"/>
              </a:rPr>
              <a:t>时</a:t>
            </a:r>
            <a:r>
              <a:rPr dirty="0" sz="1400" spc="35">
                <a:latin typeface="宋体"/>
                <a:cs typeface="宋体"/>
              </a:rPr>
              <a:t>智能</a:t>
            </a:r>
            <a:r>
              <a:rPr dirty="0" sz="1400" spc="20">
                <a:latin typeface="宋体"/>
                <a:cs typeface="宋体"/>
              </a:rPr>
              <a:t>手</a:t>
            </a:r>
            <a:r>
              <a:rPr dirty="0" sz="1400" spc="35">
                <a:latin typeface="宋体"/>
                <a:cs typeface="宋体"/>
              </a:rPr>
              <a:t>机</a:t>
            </a:r>
            <a:r>
              <a:rPr dirty="0" sz="1400" spc="20">
                <a:latin typeface="宋体"/>
                <a:cs typeface="宋体"/>
              </a:rPr>
              <a:t>占</a:t>
            </a:r>
            <a:r>
              <a:rPr dirty="0" sz="1400" spc="35">
                <a:latin typeface="宋体"/>
                <a:cs typeface="宋体"/>
              </a:rPr>
              <a:t>比提</a:t>
            </a:r>
            <a:r>
              <a:rPr dirty="0" sz="1400" spc="20">
                <a:latin typeface="宋体"/>
                <a:cs typeface="宋体"/>
              </a:rPr>
              <a:t>升</a:t>
            </a:r>
            <a:r>
              <a:rPr dirty="0" sz="1400" spc="45">
                <a:latin typeface="宋体"/>
                <a:cs typeface="宋体"/>
              </a:rPr>
              <a:t>至</a:t>
            </a:r>
            <a:r>
              <a:rPr dirty="0" sz="1400" spc="-5">
                <a:latin typeface="Arial"/>
                <a:cs typeface="Arial"/>
              </a:rPr>
              <a:t>9</a:t>
            </a:r>
            <a:r>
              <a:rPr dirty="0" sz="1400" spc="-15">
                <a:latin typeface="Arial"/>
                <a:cs typeface="Arial"/>
              </a:rPr>
              <a:t>3</a:t>
            </a:r>
            <a:r>
              <a:rPr dirty="0" sz="1400" spc="5">
                <a:latin typeface="Arial"/>
                <a:cs typeface="Arial"/>
              </a:rPr>
              <a:t>.</a:t>
            </a:r>
            <a:r>
              <a:rPr dirty="0" sz="1400" spc="-5">
                <a:latin typeface="Arial"/>
                <a:cs typeface="Arial"/>
              </a:rPr>
              <a:t>4</a:t>
            </a:r>
            <a:r>
              <a:rPr dirty="0" sz="1400" spc="20">
                <a:latin typeface="Arial"/>
                <a:cs typeface="Arial"/>
              </a:rPr>
              <a:t>%</a:t>
            </a:r>
            <a:r>
              <a:rPr dirty="0" sz="1400" spc="3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较</a:t>
            </a:r>
            <a:endParaRPr sz="1400">
              <a:latin typeface="宋体"/>
              <a:cs typeface="宋体"/>
            </a:endParaRPr>
          </a:p>
          <a:p>
            <a:pPr algn="just" marL="90805">
              <a:lnSpc>
                <a:spcPts val="1625"/>
              </a:lnSpc>
            </a:pPr>
            <a:r>
              <a:rPr dirty="0" sz="1400" spc="-5">
                <a:latin typeface="Arial"/>
                <a:cs typeface="Arial"/>
              </a:rPr>
              <a:t>2012</a:t>
            </a:r>
            <a:r>
              <a:rPr dirty="0" sz="1400" spc="-140">
                <a:latin typeface="Arial"/>
                <a:cs typeface="Arial"/>
              </a:rPr>
              <a:t> </a:t>
            </a:r>
            <a:r>
              <a:rPr dirty="0" sz="1400" spc="275">
                <a:latin typeface="宋体"/>
                <a:cs typeface="宋体"/>
              </a:rPr>
              <a:t>年</a:t>
            </a:r>
            <a:r>
              <a:rPr dirty="0" sz="1400" spc="-5">
                <a:latin typeface="Arial"/>
                <a:cs typeface="Arial"/>
              </a:rPr>
              <a:t>+54.1PP</a:t>
            </a:r>
            <a:r>
              <a:rPr dirty="0" sz="1400" spc="-120">
                <a:latin typeface="Arial"/>
                <a:cs typeface="Arial"/>
              </a:rPr>
              <a:t> </a:t>
            </a:r>
            <a:r>
              <a:rPr dirty="0" sz="1400">
                <a:latin typeface="宋体"/>
                <a:cs typeface="宋体"/>
              </a:rPr>
              <a:t>。</a:t>
            </a:r>
            <a:r>
              <a:rPr dirty="0" sz="1400" spc="-434">
                <a:latin typeface="宋体"/>
                <a:cs typeface="宋体"/>
              </a:rPr>
              <a:t> </a:t>
            </a:r>
            <a:r>
              <a:rPr dirty="0" sz="1400" spc="275">
                <a:latin typeface="宋体"/>
                <a:cs typeface="宋体"/>
              </a:rPr>
              <a:t>智能手机的快速增长</a:t>
            </a:r>
            <a:r>
              <a:rPr dirty="0" sz="1400">
                <a:latin typeface="宋体"/>
                <a:cs typeface="宋体"/>
              </a:rPr>
              <a:t>（</a:t>
            </a:r>
            <a:r>
              <a:rPr dirty="0" sz="1400" spc="-430">
                <a:latin typeface="宋体"/>
                <a:cs typeface="宋体"/>
              </a:rPr>
              <a:t> </a:t>
            </a:r>
            <a:r>
              <a:rPr dirty="0" sz="1400" spc="-5">
                <a:latin typeface="Arial"/>
                <a:cs typeface="Arial"/>
              </a:rPr>
              <a:t>12-</a:t>
            </a:r>
            <a:endParaRPr sz="1400">
              <a:latin typeface="Arial"/>
              <a:cs typeface="Arial"/>
            </a:endParaRPr>
          </a:p>
          <a:p>
            <a:pPr algn="just" marL="9080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16CAGR16.2%</a:t>
            </a:r>
            <a:r>
              <a:rPr dirty="0" sz="1400">
                <a:latin typeface="宋体"/>
                <a:cs typeface="宋体"/>
              </a:rPr>
              <a:t>）</a:t>
            </a:r>
            <a:r>
              <a:rPr dirty="0" sz="1400" spc="35">
                <a:latin typeface="宋体"/>
                <a:cs typeface="宋体"/>
              </a:rPr>
              <a:t>是阿根</a:t>
            </a:r>
            <a:r>
              <a:rPr dirty="0" sz="1400" spc="45">
                <a:latin typeface="宋体"/>
                <a:cs typeface="宋体"/>
              </a:rPr>
              <a:t>廷</a:t>
            </a:r>
            <a:r>
              <a:rPr dirty="0" sz="1400" spc="35">
                <a:latin typeface="宋体"/>
                <a:cs typeface="宋体"/>
              </a:rPr>
              <a:t>手机市场增长的</a:t>
            </a:r>
            <a:r>
              <a:rPr dirty="0" sz="1400" spc="45">
                <a:latin typeface="宋体"/>
                <a:cs typeface="宋体"/>
              </a:rPr>
              <a:t>驱</a:t>
            </a:r>
            <a:r>
              <a:rPr dirty="0" sz="1400" spc="35">
                <a:latin typeface="宋体"/>
                <a:cs typeface="宋体"/>
              </a:rPr>
              <a:t>动</a:t>
            </a:r>
            <a:r>
              <a:rPr dirty="0" sz="1400" spc="50">
                <a:latin typeface="宋体"/>
                <a:cs typeface="宋体"/>
              </a:rPr>
              <a:t>力</a:t>
            </a:r>
            <a:r>
              <a:rPr dirty="0" sz="1400" spc="-155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548005">
              <a:lnSpc>
                <a:spcPct val="100000"/>
              </a:lnSpc>
            </a:pPr>
            <a:r>
              <a:rPr dirty="0" sz="1400" spc="35" b="1">
                <a:latin typeface="明兰"/>
                <a:cs typeface="明兰"/>
              </a:rPr>
              <a:t>阿</a:t>
            </a:r>
            <a:r>
              <a:rPr dirty="0" sz="1400" spc="45" b="1">
                <a:latin typeface="明兰"/>
                <a:cs typeface="明兰"/>
              </a:rPr>
              <a:t>根</a:t>
            </a:r>
            <a:r>
              <a:rPr dirty="0" sz="1400" spc="35" b="1">
                <a:latin typeface="明兰"/>
                <a:cs typeface="明兰"/>
              </a:rPr>
              <a:t>廷手机</a:t>
            </a:r>
            <a:r>
              <a:rPr dirty="0" sz="1400" spc="45" b="1">
                <a:latin typeface="明兰"/>
                <a:cs typeface="明兰"/>
              </a:rPr>
              <a:t>市</a:t>
            </a:r>
            <a:r>
              <a:rPr dirty="0" sz="1400" spc="35" b="1">
                <a:latin typeface="明兰"/>
                <a:cs typeface="明兰"/>
              </a:rPr>
              <a:t>场主要</a:t>
            </a:r>
            <a:r>
              <a:rPr dirty="0" sz="1400" spc="45" b="1">
                <a:latin typeface="明兰"/>
                <a:cs typeface="明兰"/>
              </a:rPr>
              <a:t>被</a:t>
            </a:r>
            <a:r>
              <a:rPr dirty="0" sz="1400" spc="35" b="1">
                <a:latin typeface="明兰"/>
                <a:cs typeface="明兰"/>
              </a:rPr>
              <a:t>外资企业</a:t>
            </a:r>
            <a:r>
              <a:rPr dirty="0" sz="1400" spc="45" b="1">
                <a:latin typeface="明兰"/>
                <a:cs typeface="明兰"/>
              </a:rPr>
              <a:t>占</a:t>
            </a:r>
            <a:r>
              <a:rPr dirty="0" sz="1400" spc="65" b="1">
                <a:latin typeface="明兰"/>
                <a:cs typeface="明兰"/>
              </a:rPr>
              <a:t>领</a:t>
            </a:r>
            <a:r>
              <a:rPr dirty="0" sz="1400" spc="60" b="1">
                <a:latin typeface="明兰"/>
                <a:cs typeface="明兰"/>
              </a:rPr>
              <a:t>。</a:t>
            </a:r>
            <a:r>
              <a:rPr dirty="0" sz="1400" spc="-15">
                <a:latin typeface="Arial"/>
                <a:cs typeface="Arial"/>
              </a:rPr>
              <a:t>20</a:t>
            </a:r>
            <a:r>
              <a:rPr dirty="0" sz="1400"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  <a:p>
            <a:pPr algn="just" marL="90805">
              <a:lnSpc>
                <a:spcPct val="100000"/>
              </a:lnSpc>
            </a:pPr>
            <a:r>
              <a:rPr dirty="0" sz="1400" spc="114">
                <a:latin typeface="宋体"/>
                <a:cs typeface="宋体"/>
              </a:rPr>
              <a:t>年销售量</a:t>
            </a:r>
            <a:r>
              <a:rPr dirty="0" sz="1400" spc="105">
                <a:latin typeface="宋体"/>
                <a:cs typeface="宋体"/>
              </a:rPr>
              <a:t>排</a:t>
            </a:r>
            <a:r>
              <a:rPr dirty="0" sz="1400" spc="114">
                <a:latin typeface="宋体"/>
                <a:cs typeface="宋体"/>
              </a:rPr>
              <a:t>名前</a:t>
            </a:r>
            <a:r>
              <a:rPr dirty="0" sz="1400" spc="105">
                <a:latin typeface="宋体"/>
                <a:cs typeface="宋体"/>
              </a:rPr>
              <a:t>九</a:t>
            </a:r>
            <a:r>
              <a:rPr dirty="0" sz="1400" spc="114">
                <a:latin typeface="宋体"/>
                <a:cs typeface="宋体"/>
              </a:rPr>
              <a:t>的公司</a:t>
            </a:r>
            <a:r>
              <a:rPr dirty="0" sz="1400" spc="105">
                <a:latin typeface="宋体"/>
                <a:cs typeface="宋体"/>
              </a:rPr>
              <a:t>仅</a:t>
            </a:r>
            <a:r>
              <a:rPr dirty="0" sz="1400" spc="114">
                <a:latin typeface="宋体"/>
                <a:cs typeface="宋体"/>
              </a:rPr>
              <a:t>有一</a:t>
            </a:r>
            <a:r>
              <a:rPr dirty="0" sz="1400" spc="135">
                <a:latin typeface="宋体"/>
                <a:cs typeface="宋体"/>
              </a:rPr>
              <a:t>家</a:t>
            </a:r>
            <a:r>
              <a:rPr dirty="0" sz="1400">
                <a:latin typeface="宋体"/>
                <a:cs typeface="宋体"/>
              </a:rPr>
              <a:t>（</a:t>
            </a:r>
            <a:r>
              <a:rPr dirty="0" sz="1400">
                <a:latin typeface="Arial"/>
                <a:cs typeface="Arial"/>
              </a:rPr>
              <a:t>Informatica</a:t>
            </a:r>
            <a:endParaRPr sz="1400">
              <a:latin typeface="Arial"/>
              <a:cs typeface="Arial"/>
            </a:endParaRPr>
          </a:p>
          <a:p>
            <a:pPr algn="just" marL="90805" marR="150495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Fueguina</a:t>
            </a:r>
            <a:r>
              <a:rPr dirty="0" sz="1400" spc="-5">
                <a:latin typeface="宋体"/>
                <a:cs typeface="宋体"/>
              </a:rPr>
              <a:t>）</a:t>
            </a:r>
            <a:r>
              <a:rPr dirty="0" sz="1400" spc="10">
                <a:latin typeface="宋体"/>
                <a:cs typeface="宋体"/>
              </a:rPr>
              <a:t>为本</a:t>
            </a:r>
            <a:r>
              <a:rPr dirty="0" sz="1400">
                <a:latin typeface="宋体"/>
                <a:cs typeface="宋体"/>
              </a:rPr>
              <a:t>土</a:t>
            </a:r>
            <a:r>
              <a:rPr dirty="0" sz="1400" spc="10">
                <a:latin typeface="宋体"/>
                <a:cs typeface="宋体"/>
              </a:rPr>
              <a:t>企业，</a:t>
            </a:r>
            <a:r>
              <a:rPr dirty="0" sz="1400">
                <a:latin typeface="宋体"/>
                <a:cs typeface="宋体"/>
              </a:rPr>
              <a:t>其</a:t>
            </a:r>
            <a:r>
              <a:rPr dirty="0" sz="1400" spc="10">
                <a:latin typeface="宋体"/>
                <a:cs typeface="宋体"/>
              </a:rPr>
              <a:t>余八</a:t>
            </a:r>
            <a:r>
              <a:rPr dirty="0" sz="1400">
                <a:latin typeface="宋体"/>
                <a:cs typeface="宋体"/>
              </a:rPr>
              <a:t>家均</a:t>
            </a:r>
            <a:r>
              <a:rPr dirty="0" sz="1400" spc="10">
                <a:latin typeface="宋体"/>
                <a:cs typeface="宋体"/>
              </a:rPr>
              <a:t>为外</a:t>
            </a:r>
            <a:r>
              <a:rPr dirty="0" sz="1400">
                <a:latin typeface="宋体"/>
                <a:cs typeface="宋体"/>
              </a:rPr>
              <a:t>资</a:t>
            </a:r>
            <a:r>
              <a:rPr dirty="0" sz="1400" spc="10">
                <a:latin typeface="宋体"/>
                <a:cs typeface="宋体"/>
              </a:rPr>
              <a:t>企</a:t>
            </a:r>
            <a:r>
              <a:rPr dirty="0" sz="1400" spc="15">
                <a:latin typeface="宋体"/>
                <a:cs typeface="宋体"/>
              </a:rPr>
              <a:t>业</a:t>
            </a:r>
            <a:r>
              <a:rPr dirty="0" sz="1400">
                <a:latin typeface="宋体"/>
                <a:cs typeface="宋体"/>
              </a:rPr>
              <a:t>。 </a:t>
            </a:r>
            <a:r>
              <a:rPr dirty="0" sz="1400" spc="70">
                <a:latin typeface="宋体"/>
                <a:cs typeface="宋体"/>
              </a:rPr>
              <a:t>排</a:t>
            </a:r>
            <a:r>
              <a:rPr dirty="0" sz="1400" spc="55">
                <a:latin typeface="宋体"/>
                <a:cs typeface="宋体"/>
              </a:rPr>
              <a:t>名前</a:t>
            </a:r>
            <a:r>
              <a:rPr dirty="0" sz="1400" spc="70">
                <a:latin typeface="宋体"/>
                <a:cs typeface="宋体"/>
              </a:rPr>
              <a:t>三</a:t>
            </a:r>
            <a:r>
              <a:rPr dirty="0" sz="1400" spc="55">
                <a:latin typeface="宋体"/>
                <a:cs typeface="宋体"/>
              </a:rPr>
              <a:t>的</a:t>
            </a:r>
            <a:r>
              <a:rPr dirty="0" sz="1400" spc="70">
                <a:latin typeface="宋体"/>
                <a:cs typeface="宋体"/>
              </a:rPr>
              <a:t>公</a:t>
            </a:r>
            <a:r>
              <a:rPr dirty="0" sz="1400" spc="55">
                <a:latin typeface="宋体"/>
                <a:cs typeface="宋体"/>
              </a:rPr>
              <a:t>司分</a:t>
            </a:r>
            <a:r>
              <a:rPr dirty="0" sz="1400" spc="70">
                <a:latin typeface="宋体"/>
                <a:cs typeface="宋体"/>
              </a:rPr>
              <a:t>别</a:t>
            </a:r>
            <a:r>
              <a:rPr dirty="0" sz="1400" spc="55">
                <a:latin typeface="宋体"/>
                <a:cs typeface="宋体"/>
              </a:rPr>
              <a:t>为三</a:t>
            </a:r>
            <a:r>
              <a:rPr dirty="0" sz="1400" spc="85">
                <a:latin typeface="宋体"/>
                <a:cs typeface="宋体"/>
              </a:rPr>
              <a:t>星</a:t>
            </a:r>
            <a:r>
              <a:rPr dirty="0" sz="1400" spc="70">
                <a:latin typeface="宋体"/>
                <a:cs typeface="宋体"/>
              </a:rPr>
              <a:t>、</a:t>
            </a:r>
            <a:r>
              <a:rPr dirty="0" sz="1400" spc="20">
                <a:latin typeface="Arial"/>
                <a:cs typeface="Arial"/>
              </a:rPr>
              <a:t>LG</a:t>
            </a:r>
            <a:r>
              <a:rPr dirty="0" sz="1400" spc="60">
                <a:latin typeface="宋体"/>
                <a:cs typeface="宋体"/>
              </a:rPr>
              <a:t>和联</a:t>
            </a:r>
            <a:r>
              <a:rPr dirty="0" sz="1400" spc="65">
                <a:latin typeface="宋体"/>
                <a:cs typeface="宋体"/>
              </a:rPr>
              <a:t>想</a:t>
            </a:r>
            <a:r>
              <a:rPr dirty="0" sz="1400" spc="60">
                <a:latin typeface="宋体"/>
                <a:cs typeface="宋体"/>
              </a:rPr>
              <a:t>，</a:t>
            </a:r>
            <a:r>
              <a:rPr dirty="0" sz="1400" spc="55">
                <a:latin typeface="宋体"/>
                <a:cs typeface="宋体"/>
              </a:rPr>
              <a:t>华</a:t>
            </a:r>
            <a:r>
              <a:rPr dirty="0" sz="1400" spc="70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位 居第四。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556" y="3688079"/>
            <a:ext cx="421703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8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dirty="0" sz="1200" spc="-5" b="1">
                <a:latin typeface="Arial"/>
                <a:cs typeface="Arial"/>
              </a:rPr>
              <a:t>2012-2016</a:t>
            </a:r>
            <a:r>
              <a:rPr dirty="0" sz="1200" b="1">
                <a:latin typeface="明兰"/>
                <a:cs typeface="明兰"/>
              </a:rPr>
              <a:t>年阿根廷智能及传统手机市场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5735" y="3688079"/>
            <a:ext cx="414718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8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dirty="0" sz="1200" b="1">
                <a:latin typeface="Arial"/>
                <a:cs typeface="Arial"/>
              </a:rPr>
              <a:t>2016</a:t>
            </a:r>
            <a:r>
              <a:rPr dirty="0" sz="1200" b="1">
                <a:latin typeface="明兰"/>
                <a:cs typeface="明兰"/>
              </a:rPr>
              <a:t>年阿根廷手机市场公司份额</a:t>
            </a:r>
            <a:r>
              <a:rPr dirty="0" sz="1200" spc="-10" b="1">
                <a:latin typeface="Arial"/>
                <a:cs typeface="Arial"/>
              </a:rPr>
              <a:t>TOP9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33644" y="2479548"/>
            <a:ext cx="91440" cy="297180"/>
          </a:xfrm>
          <a:custGeom>
            <a:avLst/>
            <a:gdLst/>
            <a:ahLst/>
            <a:cxnLst/>
            <a:rect l="l" t="t" r="r" b="b"/>
            <a:pathLst>
              <a:path w="91439" h="297180">
                <a:moveTo>
                  <a:pt x="91439" y="0"/>
                </a:moveTo>
                <a:lnTo>
                  <a:pt x="0" y="0"/>
                </a:lnTo>
                <a:lnTo>
                  <a:pt x="0" y="297179"/>
                </a:lnTo>
                <a:lnTo>
                  <a:pt x="91439" y="297179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42432" y="1859279"/>
            <a:ext cx="91440" cy="917575"/>
          </a:xfrm>
          <a:custGeom>
            <a:avLst/>
            <a:gdLst/>
            <a:ahLst/>
            <a:cxnLst/>
            <a:rect l="l" t="t" r="r" b="b"/>
            <a:pathLst>
              <a:path w="91439" h="917575">
                <a:moveTo>
                  <a:pt x="91439" y="0"/>
                </a:moveTo>
                <a:lnTo>
                  <a:pt x="0" y="0"/>
                </a:lnTo>
                <a:lnTo>
                  <a:pt x="0" y="917448"/>
                </a:lnTo>
                <a:lnTo>
                  <a:pt x="91439" y="917448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52744" y="1804416"/>
            <a:ext cx="91440" cy="972819"/>
          </a:xfrm>
          <a:custGeom>
            <a:avLst/>
            <a:gdLst/>
            <a:ahLst/>
            <a:cxnLst/>
            <a:rect l="l" t="t" r="r" b="b"/>
            <a:pathLst>
              <a:path w="91439" h="972819">
                <a:moveTo>
                  <a:pt x="91439" y="0"/>
                </a:moveTo>
                <a:lnTo>
                  <a:pt x="0" y="0"/>
                </a:lnTo>
                <a:lnTo>
                  <a:pt x="0" y="972312"/>
                </a:lnTo>
                <a:lnTo>
                  <a:pt x="91439" y="972312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61532" y="1927860"/>
            <a:ext cx="91440" cy="848994"/>
          </a:xfrm>
          <a:custGeom>
            <a:avLst/>
            <a:gdLst/>
            <a:ahLst/>
            <a:cxnLst/>
            <a:rect l="l" t="t" r="r" b="b"/>
            <a:pathLst>
              <a:path w="91439" h="848994">
                <a:moveTo>
                  <a:pt x="91439" y="0"/>
                </a:moveTo>
                <a:lnTo>
                  <a:pt x="0" y="0"/>
                </a:lnTo>
                <a:lnTo>
                  <a:pt x="0" y="848867"/>
                </a:lnTo>
                <a:lnTo>
                  <a:pt x="91439" y="848867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371844" y="1972055"/>
            <a:ext cx="91440" cy="805180"/>
          </a:xfrm>
          <a:custGeom>
            <a:avLst/>
            <a:gdLst/>
            <a:ahLst/>
            <a:cxnLst/>
            <a:rect l="l" t="t" r="r" b="b"/>
            <a:pathLst>
              <a:path w="91439" h="805180">
                <a:moveTo>
                  <a:pt x="91439" y="0"/>
                </a:moveTo>
                <a:lnTo>
                  <a:pt x="0" y="0"/>
                </a:lnTo>
                <a:lnTo>
                  <a:pt x="0" y="804672"/>
                </a:lnTo>
                <a:lnTo>
                  <a:pt x="91439" y="804672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80631" y="2028444"/>
            <a:ext cx="91440" cy="748665"/>
          </a:xfrm>
          <a:custGeom>
            <a:avLst/>
            <a:gdLst/>
            <a:ahLst/>
            <a:cxnLst/>
            <a:rect l="l" t="t" r="r" b="b"/>
            <a:pathLst>
              <a:path w="91440" h="748664">
                <a:moveTo>
                  <a:pt x="91440" y="0"/>
                </a:moveTo>
                <a:lnTo>
                  <a:pt x="0" y="0"/>
                </a:lnTo>
                <a:lnTo>
                  <a:pt x="0" y="748283"/>
                </a:lnTo>
                <a:lnTo>
                  <a:pt x="91440" y="748283"/>
                </a:lnTo>
                <a:lnTo>
                  <a:pt x="9144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90943" y="1891283"/>
            <a:ext cx="91440" cy="885825"/>
          </a:xfrm>
          <a:custGeom>
            <a:avLst/>
            <a:gdLst/>
            <a:ahLst/>
            <a:cxnLst/>
            <a:rect l="l" t="t" r="r" b="b"/>
            <a:pathLst>
              <a:path w="91440" h="885825">
                <a:moveTo>
                  <a:pt x="91439" y="0"/>
                </a:moveTo>
                <a:lnTo>
                  <a:pt x="0" y="0"/>
                </a:lnTo>
                <a:lnTo>
                  <a:pt x="0" y="885443"/>
                </a:lnTo>
                <a:lnTo>
                  <a:pt x="91439" y="885443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99731" y="1813560"/>
            <a:ext cx="91440" cy="963294"/>
          </a:xfrm>
          <a:custGeom>
            <a:avLst/>
            <a:gdLst/>
            <a:ahLst/>
            <a:cxnLst/>
            <a:rect l="l" t="t" r="r" b="b"/>
            <a:pathLst>
              <a:path w="91440" h="963294">
                <a:moveTo>
                  <a:pt x="91440" y="0"/>
                </a:moveTo>
                <a:lnTo>
                  <a:pt x="0" y="0"/>
                </a:lnTo>
                <a:lnTo>
                  <a:pt x="0" y="963167"/>
                </a:lnTo>
                <a:lnTo>
                  <a:pt x="91440" y="963167"/>
                </a:lnTo>
                <a:lnTo>
                  <a:pt x="9144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10043" y="1755648"/>
            <a:ext cx="91440" cy="1021080"/>
          </a:xfrm>
          <a:custGeom>
            <a:avLst/>
            <a:gdLst/>
            <a:ahLst/>
            <a:cxnLst/>
            <a:rect l="l" t="t" r="r" b="b"/>
            <a:pathLst>
              <a:path w="91440" h="1021080">
                <a:moveTo>
                  <a:pt x="91439" y="0"/>
                </a:moveTo>
                <a:lnTo>
                  <a:pt x="0" y="0"/>
                </a:lnTo>
                <a:lnTo>
                  <a:pt x="0" y="1021079"/>
                </a:lnTo>
                <a:lnTo>
                  <a:pt x="91439" y="1021079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18831" y="1786127"/>
            <a:ext cx="91440" cy="990600"/>
          </a:xfrm>
          <a:custGeom>
            <a:avLst/>
            <a:gdLst/>
            <a:ahLst/>
            <a:cxnLst/>
            <a:rect l="l" t="t" r="r" b="b"/>
            <a:pathLst>
              <a:path w="91440" h="990600">
                <a:moveTo>
                  <a:pt x="91440" y="0"/>
                </a:moveTo>
                <a:lnTo>
                  <a:pt x="0" y="0"/>
                </a:lnTo>
                <a:lnTo>
                  <a:pt x="0" y="990600"/>
                </a:lnTo>
                <a:lnTo>
                  <a:pt x="91440" y="990600"/>
                </a:lnTo>
                <a:lnTo>
                  <a:pt x="9144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29143" y="1911095"/>
            <a:ext cx="91440" cy="866140"/>
          </a:xfrm>
          <a:custGeom>
            <a:avLst/>
            <a:gdLst/>
            <a:ahLst/>
            <a:cxnLst/>
            <a:rect l="l" t="t" r="r" b="b"/>
            <a:pathLst>
              <a:path w="91440" h="866139">
                <a:moveTo>
                  <a:pt x="91439" y="0"/>
                </a:moveTo>
                <a:lnTo>
                  <a:pt x="0" y="0"/>
                </a:lnTo>
                <a:lnTo>
                  <a:pt x="0" y="865631"/>
                </a:lnTo>
                <a:lnTo>
                  <a:pt x="91439" y="865631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37931" y="2025395"/>
            <a:ext cx="91440" cy="751840"/>
          </a:xfrm>
          <a:custGeom>
            <a:avLst/>
            <a:gdLst/>
            <a:ahLst/>
            <a:cxnLst/>
            <a:rect l="l" t="t" r="r" b="b"/>
            <a:pathLst>
              <a:path w="91440" h="751839">
                <a:moveTo>
                  <a:pt x="91440" y="0"/>
                </a:moveTo>
                <a:lnTo>
                  <a:pt x="0" y="0"/>
                </a:lnTo>
                <a:lnTo>
                  <a:pt x="0" y="751331"/>
                </a:lnTo>
                <a:lnTo>
                  <a:pt x="91440" y="751331"/>
                </a:lnTo>
                <a:lnTo>
                  <a:pt x="9144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048243" y="1991867"/>
            <a:ext cx="91440" cy="784860"/>
          </a:xfrm>
          <a:custGeom>
            <a:avLst/>
            <a:gdLst/>
            <a:ahLst/>
            <a:cxnLst/>
            <a:rect l="l" t="t" r="r" b="b"/>
            <a:pathLst>
              <a:path w="91440" h="784860">
                <a:moveTo>
                  <a:pt x="91439" y="0"/>
                </a:moveTo>
                <a:lnTo>
                  <a:pt x="0" y="0"/>
                </a:lnTo>
                <a:lnTo>
                  <a:pt x="0" y="784860"/>
                </a:lnTo>
                <a:lnTo>
                  <a:pt x="91439" y="784860"/>
                </a:lnTo>
                <a:lnTo>
                  <a:pt x="9143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97595" y="1636776"/>
            <a:ext cx="0" cy="1140460"/>
          </a:xfrm>
          <a:custGeom>
            <a:avLst/>
            <a:gdLst/>
            <a:ahLst/>
            <a:cxnLst/>
            <a:rect l="l" t="t" r="r" b="b"/>
            <a:pathLst>
              <a:path w="0" h="1140460">
                <a:moveTo>
                  <a:pt x="0" y="1139952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50352" y="277672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150352" y="2491739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150352" y="220675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150352" y="19217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150352" y="1636776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474208" y="1636776"/>
            <a:ext cx="0" cy="1140460"/>
          </a:xfrm>
          <a:custGeom>
            <a:avLst/>
            <a:gdLst/>
            <a:ahLst/>
            <a:cxnLst/>
            <a:rect l="l" t="t" r="r" b="b"/>
            <a:pathLst>
              <a:path w="0" h="1140460">
                <a:moveTo>
                  <a:pt x="0" y="1139952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474208" y="277672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74208" y="239572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74208" y="201625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474208" y="1636776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474208" y="2776727"/>
            <a:ext cx="2723515" cy="0"/>
          </a:xfrm>
          <a:custGeom>
            <a:avLst/>
            <a:gdLst/>
            <a:ahLst/>
            <a:cxnLst/>
            <a:rect l="l" t="t" r="r" b="b"/>
            <a:pathLst>
              <a:path w="2723515" h="0">
                <a:moveTo>
                  <a:pt x="0" y="0"/>
                </a:moveTo>
                <a:lnTo>
                  <a:pt x="272338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78602" y="1895094"/>
            <a:ext cx="2514600" cy="634365"/>
          </a:xfrm>
          <a:custGeom>
            <a:avLst/>
            <a:gdLst/>
            <a:ahLst/>
            <a:cxnLst/>
            <a:rect l="l" t="t" r="r" b="b"/>
            <a:pathLst>
              <a:path w="2514600" h="634364">
                <a:moveTo>
                  <a:pt x="0" y="361188"/>
                </a:moveTo>
                <a:lnTo>
                  <a:pt x="210312" y="0"/>
                </a:lnTo>
                <a:lnTo>
                  <a:pt x="419100" y="579119"/>
                </a:lnTo>
                <a:lnTo>
                  <a:pt x="629412" y="632459"/>
                </a:lnTo>
                <a:lnTo>
                  <a:pt x="838200" y="611123"/>
                </a:lnTo>
                <a:lnTo>
                  <a:pt x="1048512" y="615695"/>
                </a:lnTo>
                <a:lnTo>
                  <a:pt x="1257300" y="544067"/>
                </a:lnTo>
                <a:lnTo>
                  <a:pt x="1467612" y="571500"/>
                </a:lnTo>
                <a:lnTo>
                  <a:pt x="1676400" y="579119"/>
                </a:lnTo>
                <a:lnTo>
                  <a:pt x="1886712" y="605027"/>
                </a:lnTo>
                <a:lnTo>
                  <a:pt x="2095500" y="632459"/>
                </a:lnTo>
                <a:lnTo>
                  <a:pt x="2305812" y="633983"/>
                </a:lnTo>
                <a:lnTo>
                  <a:pt x="2514600" y="583691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316594" y="1432161"/>
            <a:ext cx="438784" cy="144970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>
                <a:latin typeface="宋体"/>
                <a:cs typeface="宋体"/>
              </a:rPr>
              <a:t>300%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300">
                <a:latin typeface="宋体"/>
                <a:cs typeface="宋体"/>
              </a:rPr>
              <a:t>200%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300">
                <a:latin typeface="宋体"/>
                <a:cs typeface="宋体"/>
              </a:rPr>
              <a:t>100%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300" spc="-10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300" spc="-5">
                <a:latin typeface="宋体"/>
                <a:cs typeface="宋体"/>
              </a:rPr>
              <a:t>-1</a:t>
            </a:r>
            <a:r>
              <a:rPr dirty="0" sz="1300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67376" y="2658313"/>
            <a:ext cx="107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36921" y="2278761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54371" y="1898649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54371" y="1518919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15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84653" y="2858351"/>
            <a:ext cx="2705735" cy="3562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0</a:t>
            </a:r>
            <a:r>
              <a:rPr dirty="0" sz="1300">
                <a:latin typeface="宋体"/>
                <a:cs typeface="宋体"/>
              </a:rPr>
              <a:t>4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0</a:t>
            </a:r>
            <a:r>
              <a:rPr dirty="0" sz="1300">
                <a:latin typeface="宋体"/>
                <a:cs typeface="宋体"/>
              </a:rPr>
              <a:t>5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0</a:t>
            </a:r>
            <a:r>
              <a:rPr dirty="0" sz="1300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0</a:t>
            </a:r>
            <a:r>
              <a:rPr dirty="0" sz="1300">
                <a:latin typeface="宋体"/>
                <a:cs typeface="宋体"/>
              </a:rPr>
              <a:t>7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0</a:t>
            </a:r>
            <a:r>
              <a:rPr dirty="0" sz="1300">
                <a:latin typeface="宋体"/>
                <a:cs typeface="宋体"/>
              </a:rPr>
              <a:t>8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0</a:t>
            </a:r>
            <a:r>
              <a:rPr dirty="0" sz="1300">
                <a:latin typeface="宋体"/>
                <a:cs typeface="宋体"/>
              </a:rPr>
              <a:t>9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1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2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3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4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5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38215" y="148742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73151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37881" y="148666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795517" y="1378077"/>
            <a:ext cx="217297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12620" algn="l"/>
              </a:tabLst>
            </a:pPr>
            <a:r>
              <a:rPr dirty="0" sz="1300" spc="-5">
                <a:latin typeface="宋体"/>
                <a:cs typeface="宋体"/>
              </a:rPr>
              <a:t>销售量</a:t>
            </a:r>
            <a:r>
              <a:rPr dirty="0" sz="1300" spc="10">
                <a:latin typeface="宋体"/>
                <a:cs typeface="宋体"/>
              </a:rPr>
              <a:t>（</a:t>
            </a:r>
            <a:r>
              <a:rPr dirty="0" sz="1300" spc="-5">
                <a:latin typeface="宋体"/>
                <a:cs typeface="宋体"/>
              </a:rPr>
              <a:t>千台）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baseline="2136" sz="1950" spc="-7">
                <a:latin typeface="宋体"/>
                <a:cs typeface="宋体"/>
              </a:rPr>
              <a:t>YoY</a:t>
            </a:r>
            <a:endParaRPr baseline="2136" sz="195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81100" y="5460491"/>
            <a:ext cx="170815" cy="515620"/>
          </a:xfrm>
          <a:custGeom>
            <a:avLst/>
            <a:gdLst/>
            <a:ahLst/>
            <a:cxnLst/>
            <a:rect l="l" t="t" r="r" b="b"/>
            <a:pathLst>
              <a:path w="170815" h="515620">
                <a:moveTo>
                  <a:pt x="170687" y="0"/>
                </a:moveTo>
                <a:lnTo>
                  <a:pt x="0" y="0"/>
                </a:lnTo>
                <a:lnTo>
                  <a:pt x="0" y="515112"/>
                </a:lnTo>
                <a:lnTo>
                  <a:pt x="170687" y="515112"/>
                </a:lnTo>
                <a:lnTo>
                  <a:pt x="17068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91639" y="5248655"/>
            <a:ext cx="169545" cy="727075"/>
          </a:xfrm>
          <a:custGeom>
            <a:avLst/>
            <a:gdLst/>
            <a:ahLst/>
            <a:cxnLst/>
            <a:rect l="l" t="t" r="r" b="b"/>
            <a:pathLst>
              <a:path w="169544" h="727075">
                <a:moveTo>
                  <a:pt x="169164" y="0"/>
                </a:moveTo>
                <a:lnTo>
                  <a:pt x="0" y="0"/>
                </a:lnTo>
                <a:lnTo>
                  <a:pt x="0" y="726948"/>
                </a:lnTo>
                <a:lnTo>
                  <a:pt x="169164" y="726948"/>
                </a:lnTo>
                <a:lnTo>
                  <a:pt x="16916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202179" y="5013959"/>
            <a:ext cx="169545" cy="962025"/>
          </a:xfrm>
          <a:custGeom>
            <a:avLst/>
            <a:gdLst/>
            <a:ahLst/>
            <a:cxnLst/>
            <a:rect l="l" t="t" r="r" b="b"/>
            <a:pathLst>
              <a:path w="169544" h="962025">
                <a:moveTo>
                  <a:pt x="169163" y="0"/>
                </a:moveTo>
                <a:lnTo>
                  <a:pt x="0" y="0"/>
                </a:lnTo>
                <a:lnTo>
                  <a:pt x="0" y="961643"/>
                </a:lnTo>
                <a:lnTo>
                  <a:pt x="169163" y="961643"/>
                </a:lnTo>
                <a:lnTo>
                  <a:pt x="16916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712720" y="5088635"/>
            <a:ext cx="169545" cy="887094"/>
          </a:xfrm>
          <a:custGeom>
            <a:avLst/>
            <a:gdLst/>
            <a:ahLst/>
            <a:cxnLst/>
            <a:rect l="l" t="t" r="r" b="b"/>
            <a:pathLst>
              <a:path w="169544" h="887095">
                <a:moveTo>
                  <a:pt x="169163" y="0"/>
                </a:moveTo>
                <a:lnTo>
                  <a:pt x="0" y="0"/>
                </a:lnTo>
                <a:lnTo>
                  <a:pt x="0" y="886967"/>
                </a:lnTo>
                <a:lnTo>
                  <a:pt x="169163" y="886967"/>
                </a:lnTo>
                <a:lnTo>
                  <a:pt x="16916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21735" y="5035296"/>
            <a:ext cx="170815" cy="940435"/>
          </a:xfrm>
          <a:custGeom>
            <a:avLst/>
            <a:gdLst/>
            <a:ahLst/>
            <a:cxnLst/>
            <a:rect l="l" t="t" r="r" b="b"/>
            <a:pathLst>
              <a:path w="170814" h="940435">
                <a:moveTo>
                  <a:pt x="170687" y="0"/>
                </a:moveTo>
                <a:lnTo>
                  <a:pt x="0" y="0"/>
                </a:lnTo>
                <a:lnTo>
                  <a:pt x="0" y="940307"/>
                </a:lnTo>
                <a:lnTo>
                  <a:pt x="170687" y="940307"/>
                </a:lnTo>
                <a:lnTo>
                  <a:pt x="17068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51788" y="5183123"/>
            <a:ext cx="169545" cy="792480"/>
          </a:xfrm>
          <a:custGeom>
            <a:avLst/>
            <a:gdLst/>
            <a:ahLst/>
            <a:cxnLst/>
            <a:rect l="l" t="t" r="r" b="b"/>
            <a:pathLst>
              <a:path w="169544" h="792479">
                <a:moveTo>
                  <a:pt x="169164" y="0"/>
                </a:moveTo>
                <a:lnTo>
                  <a:pt x="0" y="0"/>
                </a:lnTo>
                <a:lnTo>
                  <a:pt x="0" y="792479"/>
                </a:lnTo>
                <a:lnTo>
                  <a:pt x="169164" y="792479"/>
                </a:lnTo>
                <a:lnTo>
                  <a:pt x="169164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60804" y="5431535"/>
            <a:ext cx="170815" cy="544195"/>
          </a:xfrm>
          <a:custGeom>
            <a:avLst/>
            <a:gdLst/>
            <a:ahLst/>
            <a:cxnLst/>
            <a:rect l="l" t="t" r="r" b="b"/>
            <a:pathLst>
              <a:path w="170814" h="544195">
                <a:moveTo>
                  <a:pt x="170687" y="0"/>
                </a:moveTo>
                <a:lnTo>
                  <a:pt x="0" y="0"/>
                </a:lnTo>
                <a:lnTo>
                  <a:pt x="0" y="544067"/>
                </a:lnTo>
                <a:lnTo>
                  <a:pt x="170687" y="544067"/>
                </a:lnTo>
                <a:lnTo>
                  <a:pt x="170687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71344" y="5826252"/>
            <a:ext cx="170815" cy="149860"/>
          </a:xfrm>
          <a:custGeom>
            <a:avLst/>
            <a:gdLst/>
            <a:ahLst/>
            <a:cxnLst/>
            <a:rect l="l" t="t" r="r" b="b"/>
            <a:pathLst>
              <a:path w="170814" h="149860">
                <a:moveTo>
                  <a:pt x="170687" y="0"/>
                </a:moveTo>
                <a:lnTo>
                  <a:pt x="0" y="0"/>
                </a:lnTo>
                <a:lnTo>
                  <a:pt x="0" y="149352"/>
                </a:lnTo>
                <a:lnTo>
                  <a:pt x="170687" y="149352"/>
                </a:lnTo>
                <a:lnTo>
                  <a:pt x="170687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881883" y="5938265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 h="0">
                <a:moveTo>
                  <a:pt x="0" y="0"/>
                </a:moveTo>
                <a:lnTo>
                  <a:pt x="170688" y="0"/>
                </a:lnTo>
              </a:path>
            </a:pathLst>
          </a:custGeom>
          <a:ln w="74675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92423" y="5942838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 h="0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65531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46932" y="4514088"/>
            <a:ext cx="0" cy="1461770"/>
          </a:xfrm>
          <a:custGeom>
            <a:avLst/>
            <a:gdLst/>
            <a:ahLst/>
            <a:cxnLst/>
            <a:rect l="l" t="t" r="r" b="b"/>
            <a:pathLst>
              <a:path w="0" h="1461770">
                <a:moveTo>
                  <a:pt x="0" y="1461516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46932" y="597560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46932" y="548792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646932" y="500176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46932" y="4514088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95755" y="4514088"/>
            <a:ext cx="0" cy="1461770"/>
          </a:xfrm>
          <a:custGeom>
            <a:avLst/>
            <a:gdLst/>
            <a:ahLst/>
            <a:cxnLst/>
            <a:rect l="l" t="t" r="r" b="b"/>
            <a:pathLst>
              <a:path w="0" h="1461770">
                <a:moveTo>
                  <a:pt x="0" y="1461516"/>
                </a:moveTo>
                <a:lnTo>
                  <a:pt x="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95755" y="5975603"/>
            <a:ext cx="2551430" cy="0"/>
          </a:xfrm>
          <a:custGeom>
            <a:avLst/>
            <a:gdLst/>
            <a:ahLst/>
            <a:cxnLst/>
            <a:rect l="l" t="t" r="r" b="b"/>
            <a:pathLst>
              <a:path w="2551429" h="0">
                <a:moveTo>
                  <a:pt x="0" y="0"/>
                </a:moveTo>
                <a:lnTo>
                  <a:pt x="2551176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861566" y="4600194"/>
            <a:ext cx="1531620" cy="477520"/>
          </a:xfrm>
          <a:custGeom>
            <a:avLst/>
            <a:gdLst/>
            <a:ahLst/>
            <a:cxnLst/>
            <a:rect l="l" t="t" r="r" b="b"/>
            <a:pathLst>
              <a:path w="1531620" h="477520">
                <a:moveTo>
                  <a:pt x="0" y="0"/>
                </a:moveTo>
                <a:lnTo>
                  <a:pt x="510539" y="85343"/>
                </a:lnTo>
                <a:lnTo>
                  <a:pt x="1021079" y="477011"/>
                </a:lnTo>
                <a:lnTo>
                  <a:pt x="1531620" y="342899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861566" y="5116829"/>
            <a:ext cx="1531620" cy="593090"/>
          </a:xfrm>
          <a:custGeom>
            <a:avLst/>
            <a:gdLst/>
            <a:ahLst/>
            <a:cxnLst/>
            <a:rect l="l" t="t" r="r" b="b"/>
            <a:pathLst>
              <a:path w="1531620" h="593089">
                <a:moveTo>
                  <a:pt x="0" y="190500"/>
                </a:moveTo>
                <a:lnTo>
                  <a:pt x="510539" y="592836"/>
                </a:lnTo>
                <a:lnTo>
                  <a:pt x="1021079" y="367284"/>
                </a:lnTo>
                <a:lnTo>
                  <a:pt x="1531620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765296" y="5858662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-1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65296" y="5371591"/>
            <a:ext cx="3562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-5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65296" y="4884165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65296" y="4397121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8619" y="5858662"/>
            <a:ext cx="107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58216" y="5371591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75920" y="4884165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75920" y="4397121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15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38124" y="6036055"/>
            <a:ext cx="3233420" cy="497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47725">
              <a:lnSpc>
                <a:spcPct val="100000"/>
              </a:lnSpc>
              <a:spcBef>
                <a:spcPts val="95"/>
              </a:spcBef>
              <a:tabLst>
                <a:tab pos="1358265" algn="l"/>
                <a:tab pos="1868805" algn="l"/>
                <a:tab pos="2379345" algn="l"/>
                <a:tab pos="2889250" algn="l"/>
              </a:tabLst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2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3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4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5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27887" y="411403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7467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566416" y="411403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74675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8650" y="428167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85545" y="3996054"/>
            <a:ext cx="1344930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1320"/>
              </a:lnSpc>
              <a:spcBef>
                <a:spcPts val="340"/>
              </a:spcBef>
            </a:pPr>
            <a:r>
              <a:rPr dirty="0" sz="1300" spc="-5">
                <a:latin typeface="宋体"/>
                <a:cs typeface="宋体"/>
              </a:rPr>
              <a:t>智能手</a:t>
            </a:r>
            <a:r>
              <a:rPr dirty="0" sz="1300" spc="5">
                <a:latin typeface="宋体"/>
                <a:cs typeface="宋体"/>
              </a:rPr>
              <a:t>机</a:t>
            </a:r>
            <a:r>
              <a:rPr dirty="0" sz="1300" spc="-5">
                <a:latin typeface="宋体"/>
                <a:cs typeface="宋体"/>
              </a:rPr>
              <a:t>（千</a:t>
            </a:r>
            <a:r>
              <a:rPr dirty="0" sz="1300" spc="5">
                <a:latin typeface="宋体"/>
                <a:cs typeface="宋体"/>
              </a:rPr>
              <a:t>台</a:t>
            </a:r>
            <a:r>
              <a:rPr dirty="0" sz="1300" spc="-5">
                <a:latin typeface="宋体"/>
                <a:cs typeface="宋体"/>
              </a:rPr>
              <a:t>） </a:t>
            </a:r>
            <a:r>
              <a:rPr dirty="0" sz="1300" spc="-5">
                <a:latin typeface="宋体"/>
                <a:cs typeface="宋体"/>
              </a:rPr>
              <a:t>智能手机</a:t>
            </a:r>
            <a:r>
              <a:rPr dirty="0" sz="1300">
                <a:latin typeface="宋体"/>
                <a:cs typeface="宋体"/>
              </a:rPr>
              <a:t>YoY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567177" y="428167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2824352" y="3996054"/>
            <a:ext cx="1344930" cy="3911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1320"/>
              </a:lnSpc>
              <a:spcBef>
                <a:spcPts val="340"/>
              </a:spcBef>
            </a:pPr>
            <a:r>
              <a:rPr dirty="0" sz="1300" spc="-5">
                <a:latin typeface="宋体"/>
                <a:cs typeface="宋体"/>
              </a:rPr>
              <a:t>传统手</a:t>
            </a:r>
            <a:r>
              <a:rPr dirty="0" sz="1300" spc="5">
                <a:latin typeface="宋体"/>
                <a:cs typeface="宋体"/>
              </a:rPr>
              <a:t>机</a:t>
            </a:r>
            <a:r>
              <a:rPr dirty="0" sz="1300" spc="-5">
                <a:latin typeface="宋体"/>
                <a:cs typeface="宋体"/>
              </a:rPr>
              <a:t>（千</a:t>
            </a:r>
            <a:r>
              <a:rPr dirty="0" sz="1300" spc="5">
                <a:latin typeface="宋体"/>
                <a:cs typeface="宋体"/>
              </a:rPr>
              <a:t>台</a:t>
            </a:r>
            <a:r>
              <a:rPr dirty="0" sz="1300" spc="-5">
                <a:latin typeface="宋体"/>
                <a:cs typeface="宋体"/>
              </a:rPr>
              <a:t>） </a:t>
            </a:r>
            <a:r>
              <a:rPr dirty="0" sz="1300" spc="-5">
                <a:latin typeface="宋体"/>
                <a:cs typeface="宋体"/>
              </a:rPr>
              <a:t>传统手机</a:t>
            </a:r>
            <a:r>
              <a:rPr dirty="0" sz="1300">
                <a:latin typeface="宋体"/>
                <a:cs typeface="宋体"/>
              </a:rPr>
              <a:t>YoY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605016" y="5306567"/>
            <a:ext cx="186055" cy="306705"/>
          </a:xfrm>
          <a:custGeom>
            <a:avLst/>
            <a:gdLst/>
            <a:ahLst/>
            <a:cxnLst/>
            <a:rect l="l" t="t" r="r" b="b"/>
            <a:pathLst>
              <a:path w="186054" h="306704">
                <a:moveTo>
                  <a:pt x="0" y="306324"/>
                </a:moveTo>
                <a:lnTo>
                  <a:pt x="185927" y="306324"/>
                </a:lnTo>
                <a:lnTo>
                  <a:pt x="185927" y="0"/>
                </a:lnTo>
                <a:lnTo>
                  <a:pt x="0" y="0"/>
                </a:lnTo>
                <a:lnTo>
                  <a:pt x="0" y="306324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487923" y="4303776"/>
            <a:ext cx="186055" cy="1309370"/>
          </a:xfrm>
          <a:custGeom>
            <a:avLst/>
            <a:gdLst/>
            <a:ahLst/>
            <a:cxnLst/>
            <a:rect l="l" t="t" r="r" b="b"/>
            <a:pathLst>
              <a:path w="186054" h="1309370">
                <a:moveTo>
                  <a:pt x="185927" y="0"/>
                </a:moveTo>
                <a:lnTo>
                  <a:pt x="0" y="0"/>
                </a:lnTo>
                <a:lnTo>
                  <a:pt x="0" y="1309116"/>
                </a:lnTo>
                <a:lnTo>
                  <a:pt x="185927" y="1309116"/>
                </a:lnTo>
                <a:lnTo>
                  <a:pt x="18592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859779" y="4818888"/>
            <a:ext cx="186055" cy="794385"/>
          </a:xfrm>
          <a:custGeom>
            <a:avLst/>
            <a:gdLst/>
            <a:ahLst/>
            <a:cxnLst/>
            <a:rect l="l" t="t" r="r" b="b"/>
            <a:pathLst>
              <a:path w="186054" h="794385">
                <a:moveTo>
                  <a:pt x="185928" y="0"/>
                </a:moveTo>
                <a:lnTo>
                  <a:pt x="0" y="0"/>
                </a:lnTo>
                <a:lnTo>
                  <a:pt x="0" y="794004"/>
                </a:lnTo>
                <a:lnTo>
                  <a:pt x="185928" y="794004"/>
                </a:lnTo>
                <a:lnTo>
                  <a:pt x="18592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233159" y="5164835"/>
            <a:ext cx="186055" cy="448309"/>
          </a:xfrm>
          <a:custGeom>
            <a:avLst/>
            <a:gdLst/>
            <a:ahLst/>
            <a:cxnLst/>
            <a:rect l="l" t="t" r="r" b="b"/>
            <a:pathLst>
              <a:path w="186054" h="448310">
                <a:moveTo>
                  <a:pt x="185927" y="0"/>
                </a:moveTo>
                <a:lnTo>
                  <a:pt x="0" y="0"/>
                </a:lnTo>
                <a:lnTo>
                  <a:pt x="0" y="448055"/>
                </a:lnTo>
                <a:lnTo>
                  <a:pt x="185927" y="448055"/>
                </a:lnTo>
                <a:lnTo>
                  <a:pt x="18592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976871" y="5460491"/>
            <a:ext cx="187960" cy="152400"/>
          </a:xfrm>
          <a:custGeom>
            <a:avLst/>
            <a:gdLst/>
            <a:ahLst/>
            <a:cxnLst/>
            <a:rect l="l" t="t" r="r" b="b"/>
            <a:pathLst>
              <a:path w="187959" h="152400">
                <a:moveTo>
                  <a:pt x="187451" y="0"/>
                </a:moveTo>
                <a:lnTo>
                  <a:pt x="0" y="0"/>
                </a:lnTo>
                <a:lnTo>
                  <a:pt x="0" y="152400"/>
                </a:lnTo>
                <a:lnTo>
                  <a:pt x="187451" y="152400"/>
                </a:lnTo>
                <a:lnTo>
                  <a:pt x="18745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350252" y="5483352"/>
            <a:ext cx="186055" cy="129539"/>
          </a:xfrm>
          <a:custGeom>
            <a:avLst/>
            <a:gdLst/>
            <a:ahLst/>
            <a:cxnLst/>
            <a:rect l="l" t="t" r="r" b="b"/>
            <a:pathLst>
              <a:path w="186054" h="129539">
                <a:moveTo>
                  <a:pt x="185927" y="0"/>
                </a:moveTo>
                <a:lnTo>
                  <a:pt x="0" y="0"/>
                </a:lnTo>
                <a:lnTo>
                  <a:pt x="0" y="129540"/>
                </a:lnTo>
                <a:lnTo>
                  <a:pt x="185927" y="129540"/>
                </a:lnTo>
                <a:lnTo>
                  <a:pt x="18592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722107" y="5477255"/>
            <a:ext cx="186055" cy="135890"/>
          </a:xfrm>
          <a:custGeom>
            <a:avLst/>
            <a:gdLst/>
            <a:ahLst/>
            <a:cxnLst/>
            <a:rect l="l" t="t" r="r" b="b"/>
            <a:pathLst>
              <a:path w="186054" h="135889">
                <a:moveTo>
                  <a:pt x="185927" y="0"/>
                </a:moveTo>
                <a:lnTo>
                  <a:pt x="0" y="0"/>
                </a:lnTo>
                <a:lnTo>
                  <a:pt x="0" y="135636"/>
                </a:lnTo>
                <a:lnTo>
                  <a:pt x="185927" y="135636"/>
                </a:lnTo>
                <a:lnTo>
                  <a:pt x="18592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093964" y="5526023"/>
            <a:ext cx="187960" cy="86995"/>
          </a:xfrm>
          <a:custGeom>
            <a:avLst/>
            <a:gdLst/>
            <a:ahLst/>
            <a:cxnLst/>
            <a:rect l="l" t="t" r="r" b="b"/>
            <a:pathLst>
              <a:path w="187959" h="86995">
                <a:moveTo>
                  <a:pt x="187451" y="0"/>
                </a:moveTo>
                <a:lnTo>
                  <a:pt x="0" y="0"/>
                </a:lnTo>
                <a:lnTo>
                  <a:pt x="0" y="86867"/>
                </a:lnTo>
                <a:lnTo>
                  <a:pt x="187451" y="86867"/>
                </a:lnTo>
                <a:lnTo>
                  <a:pt x="18745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467343" y="5603747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 h="0">
                <a:moveTo>
                  <a:pt x="0" y="0"/>
                </a:moveTo>
                <a:lnTo>
                  <a:pt x="185927" y="0"/>
                </a:lnTo>
              </a:path>
            </a:pathLst>
          </a:custGeom>
          <a:ln w="18287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394959" y="4279391"/>
            <a:ext cx="0" cy="1333500"/>
          </a:xfrm>
          <a:custGeom>
            <a:avLst/>
            <a:gdLst/>
            <a:ahLst/>
            <a:cxnLst/>
            <a:rect l="l" t="t" r="r" b="b"/>
            <a:pathLst>
              <a:path w="0" h="1333500">
                <a:moveTo>
                  <a:pt x="0" y="1333499"/>
                </a:moveTo>
                <a:lnTo>
                  <a:pt x="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394959" y="5612891"/>
            <a:ext cx="3351529" cy="0"/>
          </a:xfrm>
          <a:custGeom>
            <a:avLst/>
            <a:gdLst/>
            <a:ahLst/>
            <a:cxnLst/>
            <a:rect l="l" t="t" r="r" b="b"/>
            <a:pathLst>
              <a:path w="3351529" h="0">
                <a:moveTo>
                  <a:pt x="0" y="0"/>
                </a:moveTo>
                <a:lnTo>
                  <a:pt x="3351275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4757673" y="4162120"/>
            <a:ext cx="438784" cy="1557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4,</a:t>
            </a:r>
            <a:r>
              <a:rPr dirty="0" sz="1300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3,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3,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2,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2,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  <a:p>
            <a:pPr algn="r" marR="5715">
              <a:lnSpc>
                <a:spcPts val="1315"/>
              </a:lnSpc>
            </a:pPr>
            <a:r>
              <a:rPr dirty="0" sz="1300" spc="-5">
                <a:latin typeface="宋体"/>
                <a:cs typeface="宋体"/>
              </a:rPr>
              <a:t>500</a:t>
            </a:r>
            <a:endParaRPr sz="1300">
              <a:latin typeface="宋体"/>
              <a:cs typeface="宋体"/>
            </a:endParaRPr>
          </a:p>
          <a:p>
            <a:pPr algn="r" marR="5080">
              <a:lnSpc>
                <a:spcPts val="1435"/>
              </a:lnSpc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486431" y="5697423"/>
            <a:ext cx="190500" cy="3556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三星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859303" y="5696813"/>
            <a:ext cx="190500" cy="1905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LG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231413" y="5697423"/>
            <a:ext cx="190500" cy="3556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联想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603904" y="5697423"/>
            <a:ext cx="190500" cy="3556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华为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976650" y="5697118"/>
            <a:ext cx="190500" cy="2724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TCL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49140" y="5696618"/>
            <a:ext cx="190500" cy="93345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 spc="-5">
                <a:latin typeface="宋体"/>
                <a:cs typeface="宋体"/>
              </a:rPr>
              <a:t>Informatica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721250" y="5697423"/>
            <a:ext cx="190500" cy="5207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诺基亚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093741" y="5697423"/>
            <a:ext cx="190500" cy="3556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索尼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466232" y="5697423"/>
            <a:ext cx="190500" cy="3556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苹果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824729" y="3310509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" y="314325"/>
            <a:ext cx="411162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华为手机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在阿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根廷市场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的表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现及展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望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5255" y="1057655"/>
            <a:ext cx="4177665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91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dirty="0" sz="1200" b="1">
                <a:latin typeface="明兰"/>
                <a:cs typeface="明兰"/>
              </a:rPr>
              <a:t>华为在阿根廷智能手机市场份额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124" y="6356096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56" y="1053083"/>
            <a:ext cx="4255135" cy="2466340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algn="just" marL="90805" marR="178435" indent="457200">
              <a:lnSpc>
                <a:spcPct val="98800"/>
              </a:lnSpc>
              <a:spcBef>
                <a:spcPts val="455"/>
              </a:spcBef>
            </a:pPr>
            <a:r>
              <a:rPr dirty="0" sz="1400" spc="55" b="1">
                <a:latin typeface="明兰"/>
                <a:cs typeface="明兰"/>
              </a:rPr>
              <a:t>华</a:t>
            </a:r>
            <a:r>
              <a:rPr dirty="0" sz="1400" spc="45" b="1">
                <a:latin typeface="明兰"/>
                <a:cs typeface="明兰"/>
              </a:rPr>
              <a:t>为</a:t>
            </a:r>
            <a:r>
              <a:rPr dirty="0" sz="1400" spc="55" b="1">
                <a:latin typeface="明兰"/>
                <a:cs typeface="明兰"/>
              </a:rPr>
              <a:t>进</a:t>
            </a:r>
            <a:r>
              <a:rPr dirty="0" sz="1400" spc="45" b="1">
                <a:latin typeface="明兰"/>
                <a:cs typeface="明兰"/>
              </a:rPr>
              <a:t>入阿</a:t>
            </a:r>
            <a:r>
              <a:rPr dirty="0" sz="1400" spc="55" b="1">
                <a:latin typeface="明兰"/>
                <a:cs typeface="明兰"/>
              </a:rPr>
              <a:t>根</a:t>
            </a:r>
            <a:r>
              <a:rPr dirty="0" sz="1400" spc="45" b="1">
                <a:latin typeface="明兰"/>
                <a:cs typeface="明兰"/>
              </a:rPr>
              <a:t>廷智</a:t>
            </a:r>
            <a:r>
              <a:rPr dirty="0" sz="1400" spc="55" b="1">
                <a:latin typeface="明兰"/>
                <a:cs typeface="明兰"/>
              </a:rPr>
              <a:t>能</a:t>
            </a:r>
            <a:r>
              <a:rPr dirty="0" sz="1400" spc="45" b="1">
                <a:latin typeface="明兰"/>
                <a:cs typeface="明兰"/>
              </a:rPr>
              <a:t>手</a:t>
            </a:r>
            <a:r>
              <a:rPr dirty="0" sz="1400" spc="55" b="1">
                <a:latin typeface="明兰"/>
                <a:cs typeface="明兰"/>
              </a:rPr>
              <a:t>机</a:t>
            </a:r>
            <a:r>
              <a:rPr dirty="0" sz="1400" spc="45" b="1">
                <a:latin typeface="明兰"/>
                <a:cs typeface="明兰"/>
              </a:rPr>
              <a:t>市场</a:t>
            </a:r>
            <a:r>
              <a:rPr dirty="0" sz="1400" spc="55" b="1">
                <a:latin typeface="明兰"/>
                <a:cs typeface="明兰"/>
              </a:rPr>
              <a:t>第</a:t>
            </a:r>
            <a:r>
              <a:rPr dirty="0" sz="1400" spc="45" b="1">
                <a:latin typeface="明兰"/>
                <a:cs typeface="明兰"/>
              </a:rPr>
              <a:t>二年</a:t>
            </a:r>
            <a:r>
              <a:rPr dirty="0" sz="1400" spc="55" b="1">
                <a:latin typeface="明兰"/>
                <a:cs typeface="明兰"/>
              </a:rPr>
              <a:t>即</a:t>
            </a:r>
            <a:r>
              <a:rPr dirty="0" sz="1400" spc="45" b="1">
                <a:latin typeface="明兰"/>
                <a:cs typeface="明兰"/>
              </a:rPr>
              <a:t>取</a:t>
            </a:r>
            <a:r>
              <a:rPr dirty="0" sz="1400" b="1">
                <a:latin typeface="明兰"/>
                <a:cs typeface="明兰"/>
              </a:rPr>
              <a:t>得 市</a:t>
            </a:r>
            <a:r>
              <a:rPr dirty="0" sz="1400" spc="10" b="1">
                <a:latin typeface="明兰"/>
                <a:cs typeface="明兰"/>
              </a:rPr>
              <a:t>占</a:t>
            </a:r>
            <a:r>
              <a:rPr dirty="0" sz="1400" b="1">
                <a:latin typeface="明兰"/>
                <a:cs typeface="明兰"/>
              </a:rPr>
              <a:t>率第四的</a:t>
            </a:r>
            <a:r>
              <a:rPr dirty="0" sz="1400" spc="10" b="1">
                <a:latin typeface="明兰"/>
                <a:cs typeface="明兰"/>
              </a:rPr>
              <a:t>位</a:t>
            </a:r>
            <a:r>
              <a:rPr dirty="0" sz="1400" b="1">
                <a:latin typeface="明兰"/>
                <a:cs typeface="明兰"/>
              </a:rPr>
              <a:t>置</a:t>
            </a:r>
            <a:r>
              <a:rPr dirty="0" sz="1400" spc="20" b="1">
                <a:latin typeface="明兰"/>
                <a:cs typeface="明兰"/>
              </a:rPr>
              <a:t>。</a:t>
            </a:r>
            <a:r>
              <a:rPr dirty="0" sz="1400" spc="-15">
                <a:latin typeface="Arial"/>
                <a:cs typeface="Arial"/>
              </a:rPr>
              <a:t>2015</a:t>
            </a:r>
            <a:r>
              <a:rPr dirty="0" sz="1400">
                <a:latin typeface="宋体"/>
                <a:cs typeface="宋体"/>
              </a:rPr>
              <a:t>年</a:t>
            </a:r>
            <a:r>
              <a:rPr dirty="0" sz="1400" spc="10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华为正式进</a:t>
            </a:r>
            <a:r>
              <a:rPr dirty="0" sz="1400" spc="10">
                <a:latin typeface="宋体"/>
                <a:cs typeface="宋体"/>
              </a:rPr>
              <a:t>入</a:t>
            </a:r>
            <a:r>
              <a:rPr dirty="0" sz="1400">
                <a:latin typeface="宋体"/>
                <a:cs typeface="宋体"/>
              </a:rPr>
              <a:t>阿根廷 </a:t>
            </a:r>
            <a:r>
              <a:rPr dirty="0" sz="1400" spc="20">
                <a:latin typeface="宋体"/>
                <a:cs typeface="宋体"/>
              </a:rPr>
              <a:t>智</a:t>
            </a:r>
            <a:r>
              <a:rPr dirty="0" sz="1400" spc="10">
                <a:latin typeface="宋体"/>
                <a:cs typeface="宋体"/>
              </a:rPr>
              <a:t>能手</a:t>
            </a:r>
            <a:r>
              <a:rPr dirty="0" sz="1400" spc="20">
                <a:latin typeface="宋体"/>
                <a:cs typeface="宋体"/>
              </a:rPr>
              <a:t>机</a:t>
            </a:r>
            <a:r>
              <a:rPr dirty="0" sz="1400" spc="10">
                <a:latin typeface="宋体"/>
                <a:cs typeface="宋体"/>
              </a:rPr>
              <a:t>市</a:t>
            </a:r>
            <a:r>
              <a:rPr dirty="0" sz="1400" spc="30">
                <a:latin typeface="宋体"/>
                <a:cs typeface="宋体"/>
              </a:rPr>
              <a:t>场</a:t>
            </a:r>
            <a:r>
              <a:rPr dirty="0" sz="1400" spc="10">
                <a:latin typeface="宋体"/>
                <a:cs typeface="宋体"/>
              </a:rPr>
              <a:t>，第</a:t>
            </a:r>
            <a:r>
              <a:rPr dirty="0" sz="1400" spc="20">
                <a:latin typeface="宋体"/>
                <a:cs typeface="宋体"/>
              </a:rPr>
              <a:t>二</a:t>
            </a:r>
            <a:r>
              <a:rPr dirty="0" sz="1400" spc="10">
                <a:latin typeface="宋体"/>
                <a:cs typeface="宋体"/>
              </a:rPr>
              <a:t>年便</a:t>
            </a:r>
            <a:r>
              <a:rPr dirty="0" sz="1400" spc="20">
                <a:latin typeface="宋体"/>
                <a:cs typeface="宋体"/>
              </a:rPr>
              <a:t>跃</a:t>
            </a:r>
            <a:r>
              <a:rPr dirty="0" sz="1400" spc="10">
                <a:latin typeface="宋体"/>
                <a:cs typeface="宋体"/>
              </a:rPr>
              <a:t>升至</a:t>
            </a:r>
            <a:r>
              <a:rPr dirty="0" sz="1400" spc="20">
                <a:latin typeface="宋体"/>
                <a:cs typeface="宋体"/>
              </a:rPr>
              <a:t>市</a:t>
            </a:r>
            <a:r>
              <a:rPr dirty="0" sz="1400" spc="10">
                <a:latin typeface="宋体"/>
                <a:cs typeface="宋体"/>
              </a:rPr>
              <a:t>占</a:t>
            </a:r>
            <a:r>
              <a:rPr dirty="0" sz="1400" spc="20">
                <a:latin typeface="宋体"/>
                <a:cs typeface="宋体"/>
              </a:rPr>
              <a:t>率</a:t>
            </a:r>
            <a:r>
              <a:rPr dirty="0" sz="1400" spc="10">
                <a:latin typeface="宋体"/>
                <a:cs typeface="宋体"/>
              </a:rPr>
              <a:t>第四</a:t>
            </a:r>
            <a:r>
              <a:rPr dirty="0" sz="1400" spc="35">
                <a:latin typeface="宋体"/>
                <a:cs typeface="宋体"/>
              </a:rPr>
              <a:t>名</a:t>
            </a:r>
            <a:r>
              <a:rPr dirty="0" sz="1400" spc="10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当 </a:t>
            </a:r>
            <a:r>
              <a:rPr dirty="0" sz="1400" spc="10">
                <a:latin typeface="宋体"/>
                <a:cs typeface="宋体"/>
              </a:rPr>
              <a:t>年销</a:t>
            </a:r>
            <a:r>
              <a:rPr dirty="0" sz="1400">
                <a:latin typeface="宋体"/>
                <a:cs typeface="宋体"/>
              </a:rPr>
              <a:t>售量</a:t>
            </a:r>
            <a:r>
              <a:rPr dirty="0" sz="1400" spc="-10">
                <a:latin typeface="宋体"/>
                <a:cs typeface="宋体"/>
              </a:rPr>
              <a:t>达</a:t>
            </a:r>
            <a:r>
              <a:rPr dirty="0" sz="1400" spc="-10">
                <a:latin typeface="Arial"/>
                <a:cs typeface="Arial"/>
              </a:rPr>
              <a:t>92</a:t>
            </a:r>
            <a:r>
              <a:rPr dirty="0" sz="1400">
                <a:latin typeface="宋体"/>
                <a:cs typeface="宋体"/>
              </a:rPr>
              <a:t>万台，</a:t>
            </a:r>
            <a:r>
              <a:rPr dirty="0" sz="1400" spc="-15">
                <a:latin typeface="宋体"/>
                <a:cs typeface="宋体"/>
              </a:rPr>
              <a:t>占</a:t>
            </a:r>
            <a:r>
              <a:rPr dirty="0" sz="1400">
                <a:latin typeface="宋体"/>
                <a:cs typeface="宋体"/>
              </a:rPr>
              <a:t>智能</a:t>
            </a:r>
            <a:r>
              <a:rPr dirty="0" sz="1400" spc="-15">
                <a:latin typeface="宋体"/>
                <a:cs typeface="宋体"/>
              </a:rPr>
              <a:t>手</a:t>
            </a:r>
            <a:r>
              <a:rPr dirty="0" sz="1400">
                <a:latin typeface="宋体"/>
                <a:cs typeface="宋体"/>
              </a:rPr>
              <a:t>机市</a:t>
            </a:r>
            <a:r>
              <a:rPr dirty="0" sz="1400" spc="-10">
                <a:latin typeface="宋体"/>
                <a:cs typeface="宋体"/>
              </a:rPr>
              <a:t>场</a:t>
            </a:r>
            <a:r>
              <a:rPr dirty="0" sz="1400" spc="-10">
                <a:latin typeface="Arial"/>
                <a:cs typeface="Arial"/>
              </a:rPr>
              <a:t>9.5%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algn="just" marL="90805" marR="176530" indent="457200">
              <a:lnSpc>
                <a:spcPct val="100000"/>
              </a:lnSpc>
            </a:pPr>
            <a:r>
              <a:rPr dirty="0" sz="1400" spc="10" b="1">
                <a:latin typeface="明兰"/>
                <a:cs typeface="明兰"/>
              </a:rPr>
              <a:t>预计未</a:t>
            </a:r>
            <a:r>
              <a:rPr dirty="0" sz="1400" spc="25" b="1">
                <a:latin typeface="明兰"/>
                <a:cs typeface="明兰"/>
              </a:rPr>
              <a:t>来</a:t>
            </a:r>
            <a:r>
              <a:rPr dirty="0" sz="1400" spc="-15" b="1">
                <a:latin typeface="Arial"/>
                <a:cs typeface="Arial"/>
              </a:rPr>
              <a:t>3</a:t>
            </a:r>
            <a:r>
              <a:rPr dirty="0" sz="1400" spc="10" b="1">
                <a:latin typeface="明兰"/>
                <a:cs typeface="明兰"/>
              </a:rPr>
              <a:t>年阿根</a:t>
            </a:r>
            <a:r>
              <a:rPr dirty="0" sz="1400" b="1">
                <a:latin typeface="明兰"/>
                <a:cs typeface="明兰"/>
              </a:rPr>
              <a:t>廷</a:t>
            </a:r>
            <a:r>
              <a:rPr dirty="0" sz="1400" spc="10" b="1">
                <a:latin typeface="明兰"/>
                <a:cs typeface="明兰"/>
              </a:rPr>
              <a:t>智能手机</a:t>
            </a:r>
            <a:r>
              <a:rPr dirty="0" sz="1400" b="1">
                <a:latin typeface="明兰"/>
                <a:cs typeface="明兰"/>
              </a:rPr>
              <a:t>市</a:t>
            </a:r>
            <a:r>
              <a:rPr dirty="0" sz="1400" spc="10" b="1">
                <a:latin typeface="明兰"/>
                <a:cs typeface="明兰"/>
              </a:rPr>
              <a:t>场稳</a:t>
            </a:r>
            <a:r>
              <a:rPr dirty="0" sz="1400" b="1">
                <a:latin typeface="明兰"/>
                <a:cs typeface="明兰"/>
              </a:rPr>
              <a:t>步</a:t>
            </a:r>
            <a:r>
              <a:rPr dirty="0" sz="1400" spc="10" b="1">
                <a:latin typeface="明兰"/>
                <a:cs typeface="明兰"/>
              </a:rPr>
              <a:t>增</a:t>
            </a:r>
            <a:r>
              <a:rPr dirty="0" sz="1400" spc="20" b="1">
                <a:latin typeface="明兰"/>
                <a:cs typeface="明兰"/>
              </a:rPr>
              <a:t>长</a:t>
            </a:r>
            <a:r>
              <a:rPr dirty="0" sz="1400" b="1">
                <a:latin typeface="明兰"/>
                <a:cs typeface="明兰"/>
              </a:rPr>
              <a:t>，  </a:t>
            </a:r>
            <a:r>
              <a:rPr dirty="0" sz="1400" spc="20" b="1">
                <a:latin typeface="明兰"/>
                <a:cs typeface="明兰"/>
              </a:rPr>
              <a:t>华</a:t>
            </a:r>
            <a:r>
              <a:rPr dirty="0" sz="1400" spc="10" b="1">
                <a:latin typeface="明兰"/>
                <a:cs typeface="明兰"/>
              </a:rPr>
              <a:t>为</a:t>
            </a:r>
            <a:r>
              <a:rPr dirty="0" sz="1400" spc="20" b="1">
                <a:latin typeface="明兰"/>
                <a:cs typeface="明兰"/>
              </a:rPr>
              <a:t>目</a:t>
            </a:r>
            <a:r>
              <a:rPr dirty="0" sz="1400" spc="10" b="1">
                <a:latin typeface="明兰"/>
                <a:cs typeface="明兰"/>
              </a:rPr>
              <a:t>标</a:t>
            </a:r>
            <a:r>
              <a:rPr dirty="0" sz="1400" spc="20" b="1">
                <a:latin typeface="明兰"/>
                <a:cs typeface="明兰"/>
              </a:rPr>
              <a:t>直</a:t>
            </a:r>
            <a:r>
              <a:rPr dirty="0" sz="1400" spc="30" b="1">
                <a:latin typeface="明兰"/>
                <a:cs typeface="明兰"/>
              </a:rPr>
              <a:t>指</a:t>
            </a:r>
            <a:r>
              <a:rPr dirty="0" sz="1400" spc="-5" b="1">
                <a:latin typeface="Arial"/>
                <a:cs typeface="Arial"/>
              </a:rPr>
              <a:t>15%</a:t>
            </a:r>
            <a:r>
              <a:rPr dirty="0" sz="1400" spc="20" b="1">
                <a:latin typeface="明兰"/>
                <a:cs typeface="明兰"/>
              </a:rPr>
              <a:t>的</a:t>
            </a:r>
            <a:r>
              <a:rPr dirty="0" sz="1400" spc="10" b="1">
                <a:latin typeface="明兰"/>
                <a:cs typeface="明兰"/>
              </a:rPr>
              <a:t>市</a:t>
            </a:r>
            <a:r>
              <a:rPr dirty="0" sz="1400" spc="20" b="1">
                <a:latin typeface="明兰"/>
                <a:cs typeface="明兰"/>
              </a:rPr>
              <a:t>占</a:t>
            </a:r>
            <a:r>
              <a:rPr dirty="0" sz="1400" spc="15" b="1">
                <a:latin typeface="明兰"/>
                <a:cs typeface="明兰"/>
              </a:rPr>
              <a:t>率</a:t>
            </a:r>
            <a:r>
              <a:rPr dirty="0" sz="1400" spc="20" b="1">
                <a:latin typeface="明兰"/>
                <a:cs typeface="明兰"/>
              </a:rPr>
              <a:t>。</a:t>
            </a:r>
            <a:r>
              <a:rPr dirty="0" sz="1400" spc="10">
                <a:latin typeface="宋体"/>
                <a:cs typeface="宋体"/>
              </a:rPr>
              <a:t>根据彭</a:t>
            </a:r>
            <a:r>
              <a:rPr dirty="0" sz="1400" spc="20">
                <a:latin typeface="宋体"/>
                <a:cs typeface="宋体"/>
              </a:rPr>
              <a:t>博</a:t>
            </a:r>
            <a:r>
              <a:rPr dirty="0" sz="1400" spc="10">
                <a:latin typeface="宋体"/>
                <a:cs typeface="宋体"/>
              </a:rPr>
              <a:t>预</a:t>
            </a:r>
            <a:r>
              <a:rPr dirty="0" sz="1400" spc="20">
                <a:latin typeface="宋体"/>
                <a:cs typeface="宋体"/>
              </a:rPr>
              <a:t>测</a:t>
            </a:r>
            <a:r>
              <a:rPr dirty="0" sz="1400" spc="10">
                <a:latin typeface="宋体"/>
                <a:cs typeface="宋体"/>
              </a:rPr>
              <a:t>数</a:t>
            </a:r>
            <a:r>
              <a:rPr dirty="0" sz="1400" spc="30">
                <a:latin typeface="宋体"/>
                <a:cs typeface="宋体"/>
              </a:rPr>
              <a:t>据</a:t>
            </a:r>
            <a:r>
              <a:rPr dirty="0" sz="1400">
                <a:latin typeface="宋体"/>
                <a:cs typeface="宋体"/>
              </a:rPr>
              <a:t>，  </a:t>
            </a:r>
            <a:r>
              <a:rPr dirty="0" sz="1400">
                <a:latin typeface="Arial"/>
                <a:cs typeface="Arial"/>
              </a:rPr>
              <a:t>20</a:t>
            </a:r>
            <a:r>
              <a:rPr dirty="0" sz="1400" spc="-20">
                <a:latin typeface="Arial"/>
                <a:cs typeface="Arial"/>
              </a:rPr>
              <a:t>1</a:t>
            </a:r>
            <a:r>
              <a:rPr dirty="0" sz="1400" spc="-5">
                <a:latin typeface="Arial"/>
                <a:cs typeface="Arial"/>
              </a:rPr>
              <a:t>7</a:t>
            </a:r>
            <a:r>
              <a:rPr dirty="0" sz="1400" spc="-15">
                <a:latin typeface="Arial"/>
                <a:cs typeface="Arial"/>
              </a:rPr>
              <a:t>-</a:t>
            </a:r>
            <a:r>
              <a:rPr dirty="0" sz="1400">
                <a:latin typeface="Arial"/>
                <a:cs typeface="Arial"/>
              </a:rPr>
              <a:t>20</a:t>
            </a:r>
            <a:r>
              <a:rPr dirty="0" sz="1400" spc="-20">
                <a:latin typeface="Arial"/>
                <a:cs typeface="Arial"/>
              </a:rPr>
              <a:t>1</a:t>
            </a:r>
            <a:r>
              <a:rPr dirty="0" sz="1400" spc="30">
                <a:latin typeface="Arial"/>
                <a:cs typeface="Arial"/>
              </a:rPr>
              <a:t>9</a:t>
            </a:r>
            <a:r>
              <a:rPr dirty="0" sz="1400" spc="50">
                <a:latin typeface="宋体"/>
                <a:cs typeface="宋体"/>
              </a:rPr>
              <a:t>三</a:t>
            </a:r>
            <a:r>
              <a:rPr dirty="0" sz="1400" spc="40">
                <a:latin typeface="宋体"/>
                <a:cs typeface="宋体"/>
              </a:rPr>
              <a:t>年期</a:t>
            </a:r>
            <a:r>
              <a:rPr dirty="0" sz="1400" spc="50">
                <a:latin typeface="宋体"/>
                <a:cs typeface="宋体"/>
              </a:rPr>
              <a:t>间</a:t>
            </a:r>
            <a:r>
              <a:rPr dirty="0" sz="1400" spc="40">
                <a:latin typeface="宋体"/>
                <a:cs typeface="宋体"/>
              </a:rPr>
              <a:t>阿</a:t>
            </a:r>
            <a:r>
              <a:rPr dirty="0" sz="1400" spc="50">
                <a:latin typeface="宋体"/>
                <a:cs typeface="宋体"/>
              </a:rPr>
              <a:t>根</a:t>
            </a:r>
            <a:r>
              <a:rPr dirty="0" sz="1400" spc="40">
                <a:latin typeface="宋体"/>
                <a:cs typeface="宋体"/>
              </a:rPr>
              <a:t>廷智</a:t>
            </a:r>
            <a:r>
              <a:rPr dirty="0" sz="1400" spc="50">
                <a:latin typeface="宋体"/>
                <a:cs typeface="宋体"/>
              </a:rPr>
              <a:t>能</a:t>
            </a:r>
            <a:r>
              <a:rPr dirty="0" sz="1400" spc="40">
                <a:latin typeface="宋体"/>
                <a:cs typeface="宋体"/>
              </a:rPr>
              <a:t>手机</a:t>
            </a:r>
            <a:r>
              <a:rPr dirty="0" sz="1400" spc="50">
                <a:latin typeface="宋体"/>
                <a:cs typeface="宋体"/>
              </a:rPr>
              <a:t>市</a:t>
            </a:r>
            <a:r>
              <a:rPr dirty="0" sz="1400" spc="40">
                <a:latin typeface="宋体"/>
                <a:cs typeface="宋体"/>
              </a:rPr>
              <a:t>场规</a:t>
            </a:r>
            <a:r>
              <a:rPr dirty="0" sz="1400" spc="50">
                <a:latin typeface="宋体"/>
                <a:cs typeface="宋体"/>
              </a:rPr>
              <a:t>模将</a:t>
            </a:r>
            <a:r>
              <a:rPr dirty="0" sz="1400" spc="5">
                <a:latin typeface="宋体"/>
                <a:cs typeface="宋体"/>
              </a:rPr>
              <a:t>以</a:t>
            </a:r>
            <a:endParaRPr sz="1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</a:pPr>
            <a:r>
              <a:rPr dirty="0" sz="1400" spc="5">
                <a:latin typeface="Arial"/>
                <a:cs typeface="Arial"/>
              </a:rPr>
              <a:t>2.5%</a:t>
            </a:r>
            <a:r>
              <a:rPr dirty="0" sz="1400" spc="55">
                <a:latin typeface="宋体"/>
                <a:cs typeface="宋体"/>
              </a:rPr>
              <a:t>左</a:t>
            </a:r>
            <a:r>
              <a:rPr dirty="0" sz="1400" spc="45">
                <a:latin typeface="宋体"/>
                <a:cs typeface="宋体"/>
              </a:rPr>
              <a:t>右的</a:t>
            </a:r>
            <a:r>
              <a:rPr dirty="0" sz="1400" spc="55">
                <a:latin typeface="宋体"/>
                <a:cs typeface="宋体"/>
              </a:rPr>
              <a:t>速</a:t>
            </a:r>
            <a:r>
              <a:rPr dirty="0" sz="1400" spc="45">
                <a:latin typeface="宋体"/>
                <a:cs typeface="宋体"/>
              </a:rPr>
              <a:t>度增</a:t>
            </a:r>
            <a:r>
              <a:rPr dirty="0" sz="1400" spc="70">
                <a:latin typeface="宋体"/>
                <a:cs typeface="宋体"/>
              </a:rPr>
              <a:t>长</a:t>
            </a:r>
            <a:r>
              <a:rPr dirty="0" sz="1400" spc="15">
                <a:latin typeface="宋体"/>
                <a:cs typeface="宋体"/>
              </a:rPr>
              <a:t>，</a:t>
            </a:r>
            <a:r>
              <a:rPr dirty="0" sz="1400" spc="15">
                <a:latin typeface="Arial"/>
                <a:cs typeface="Arial"/>
              </a:rPr>
              <a:t>2019</a:t>
            </a:r>
            <a:r>
              <a:rPr dirty="0" sz="1400" spc="45">
                <a:latin typeface="宋体"/>
                <a:cs typeface="宋体"/>
              </a:rPr>
              <a:t>年将</a:t>
            </a:r>
            <a:r>
              <a:rPr dirty="0" sz="1400" spc="60">
                <a:latin typeface="宋体"/>
                <a:cs typeface="宋体"/>
              </a:rPr>
              <a:t>达</a:t>
            </a:r>
            <a:r>
              <a:rPr dirty="0" sz="1400" spc="-20">
                <a:latin typeface="Arial"/>
                <a:cs typeface="Arial"/>
              </a:rPr>
              <a:t>1100</a:t>
            </a:r>
            <a:r>
              <a:rPr dirty="0" sz="1400" spc="45">
                <a:latin typeface="宋体"/>
                <a:cs typeface="宋体"/>
              </a:rPr>
              <a:t>万台</a:t>
            </a:r>
            <a:r>
              <a:rPr dirty="0" sz="1400" spc="60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华 为</a:t>
            </a:r>
            <a:r>
              <a:rPr dirty="0" sz="1400" spc="10">
                <a:latin typeface="宋体"/>
                <a:cs typeface="宋体"/>
              </a:rPr>
              <a:t>智</a:t>
            </a:r>
            <a:r>
              <a:rPr dirty="0" sz="1400">
                <a:latin typeface="宋体"/>
                <a:cs typeface="宋体"/>
              </a:rPr>
              <a:t>能手机</a:t>
            </a:r>
            <a:r>
              <a:rPr dirty="0" sz="1400" spc="10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阿根廷</a:t>
            </a:r>
            <a:r>
              <a:rPr dirty="0" sz="1400" spc="10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场目标</a:t>
            </a:r>
            <a:r>
              <a:rPr dirty="0" sz="1400" spc="1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2019</a:t>
            </a:r>
            <a:r>
              <a:rPr dirty="0" sz="1400">
                <a:latin typeface="宋体"/>
                <a:cs typeface="宋体"/>
              </a:rPr>
              <a:t>年</a:t>
            </a:r>
            <a:r>
              <a:rPr dirty="0" sz="1400" spc="10">
                <a:latin typeface="宋体"/>
                <a:cs typeface="宋体"/>
              </a:rPr>
              <a:t>达</a:t>
            </a:r>
            <a:r>
              <a:rPr dirty="0" sz="1400" spc="-10">
                <a:latin typeface="Arial"/>
                <a:cs typeface="Arial"/>
              </a:rPr>
              <a:t>15%</a:t>
            </a:r>
            <a:r>
              <a:rPr dirty="0" sz="1400" spc="10">
                <a:latin typeface="宋体"/>
                <a:cs typeface="宋体"/>
              </a:rPr>
              <a:t>市占 </a:t>
            </a:r>
            <a:r>
              <a:rPr dirty="0" sz="1400" spc="20">
                <a:latin typeface="宋体"/>
                <a:cs typeface="宋体"/>
              </a:rPr>
              <a:t>率，</a:t>
            </a:r>
            <a:r>
              <a:rPr dirty="0" sz="1400" spc="10">
                <a:latin typeface="宋体"/>
                <a:cs typeface="宋体"/>
              </a:rPr>
              <a:t>即</a:t>
            </a:r>
            <a:r>
              <a:rPr dirty="0" sz="1400" spc="20">
                <a:latin typeface="宋体"/>
                <a:cs typeface="宋体"/>
              </a:rPr>
              <a:t>实</a:t>
            </a:r>
            <a:r>
              <a:rPr dirty="0" sz="1400" spc="25">
                <a:latin typeface="宋体"/>
                <a:cs typeface="宋体"/>
              </a:rPr>
              <a:t>现</a:t>
            </a:r>
            <a:r>
              <a:rPr dirty="0" sz="1400" spc="-5">
                <a:latin typeface="Arial"/>
                <a:cs typeface="Arial"/>
              </a:rPr>
              <a:t>160</a:t>
            </a:r>
            <a:r>
              <a:rPr dirty="0" sz="1400" spc="20">
                <a:latin typeface="宋体"/>
                <a:cs typeface="宋体"/>
              </a:rPr>
              <a:t>万台销</a:t>
            </a:r>
            <a:r>
              <a:rPr dirty="0" sz="1400" spc="10">
                <a:latin typeface="宋体"/>
                <a:cs typeface="宋体"/>
              </a:rPr>
              <a:t>售</a:t>
            </a:r>
            <a:r>
              <a:rPr dirty="0" sz="1400" spc="20">
                <a:latin typeface="宋体"/>
                <a:cs typeface="宋体"/>
              </a:rPr>
              <a:t>，较</a:t>
            </a:r>
            <a:r>
              <a:rPr dirty="0" sz="1400" spc="-5">
                <a:latin typeface="Arial"/>
                <a:cs typeface="Arial"/>
              </a:rPr>
              <a:t>2016</a:t>
            </a:r>
            <a:r>
              <a:rPr dirty="0" sz="1400" spc="10">
                <a:latin typeface="宋体"/>
                <a:cs typeface="宋体"/>
              </a:rPr>
              <a:t>年</a:t>
            </a:r>
            <a:r>
              <a:rPr dirty="0" sz="1400" spc="25">
                <a:latin typeface="宋体"/>
                <a:cs typeface="宋体"/>
              </a:rPr>
              <a:t>增加</a:t>
            </a:r>
            <a:r>
              <a:rPr dirty="0" sz="1400" spc="20">
                <a:latin typeface="宋体"/>
                <a:cs typeface="宋体"/>
              </a:rPr>
              <a:t>约</a:t>
            </a:r>
            <a:r>
              <a:rPr dirty="0" sz="1400" spc="-5">
                <a:latin typeface="Arial"/>
                <a:cs typeface="Arial"/>
              </a:rPr>
              <a:t>70</a:t>
            </a:r>
            <a:r>
              <a:rPr dirty="0" sz="1400" spc="20">
                <a:latin typeface="宋体"/>
                <a:cs typeface="宋体"/>
              </a:rPr>
              <a:t>万</a:t>
            </a:r>
            <a:r>
              <a:rPr dirty="0" sz="1400" spc="10">
                <a:latin typeface="宋体"/>
                <a:cs typeface="宋体"/>
              </a:rPr>
              <a:t>台</a:t>
            </a:r>
            <a:r>
              <a:rPr dirty="0" sz="1400">
                <a:latin typeface="宋体"/>
                <a:cs typeface="宋体"/>
              </a:rPr>
              <a:t>，  </a:t>
            </a:r>
            <a:r>
              <a:rPr dirty="0" sz="1400" spc="10">
                <a:latin typeface="宋体"/>
                <a:cs typeface="宋体"/>
              </a:rPr>
              <a:t>超越</a:t>
            </a:r>
            <a:r>
              <a:rPr dirty="0" sz="1400">
                <a:latin typeface="宋体"/>
                <a:cs typeface="宋体"/>
              </a:rPr>
              <a:t>现排</a:t>
            </a:r>
            <a:r>
              <a:rPr dirty="0" sz="1400" spc="-15">
                <a:latin typeface="宋体"/>
                <a:cs typeface="宋体"/>
              </a:rPr>
              <a:t>名</a:t>
            </a:r>
            <a:r>
              <a:rPr dirty="0" sz="1400">
                <a:latin typeface="宋体"/>
                <a:cs typeface="宋体"/>
              </a:rPr>
              <a:t>第三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联想</a:t>
            </a:r>
            <a:r>
              <a:rPr dirty="0" sz="1400" spc="-15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占</a:t>
            </a:r>
            <a:r>
              <a:rPr dirty="0" sz="1400" spc="5">
                <a:latin typeface="宋体"/>
                <a:cs typeface="宋体"/>
              </a:rPr>
              <a:t>率</a:t>
            </a:r>
            <a:r>
              <a:rPr dirty="0" sz="1400" spc="-10">
                <a:latin typeface="宋体"/>
                <a:cs typeface="宋体"/>
              </a:rPr>
              <a:t>（</a:t>
            </a:r>
            <a:r>
              <a:rPr dirty="0" sz="1400" spc="-10">
                <a:latin typeface="Arial"/>
                <a:cs typeface="Arial"/>
              </a:rPr>
              <a:t>13.9%</a:t>
            </a:r>
            <a:r>
              <a:rPr dirty="0" sz="1400" spc="-10">
                <a:latin typeface="宋体"/>
                <a:cs typeface="宋体"/>
              </a:rPr>
              <a:t>）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556" y="3688079"/>
            <a:ext cx="421703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8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dirty="0" sz="1200" b="1">
                <a:latin typeface="明兰"/>
                <a:cs typeface="明兰"/>
              </a:rPr>
              <a:t>阿根廷智能手机市场份额预测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5735" y="3688079"/>
            <a:ext cx="414718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8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dirty="0" sz="1200" spc="10" b="1">
                <a:latin typeface="明兰"/>
                <a:cs typeface="明兰"/>
              </a:rPr>
              <a:t>华为在</a:t>
            </a:r>
            <a:r>
              <a:rPr dirty="0" sz="1200" b="1">
                <a:latin typeface="明兰"/>
                <a:cs typeface="明兰"/>
              </a:rPr>
              <a:t>阿根廷智能手机市场目标直</a:t>
            </a:r>
            <a:r>
              <a:rPr dirty="0" sz="1200" spc="-25" b="1">
                <a:latin typeface="明兰"/>
                <a:cs typeface="明兰"/>
              </a:rPr>
              <a:t>指</a:t>
            </a:r>
            <a:r>
              <a:rPr dirty="0" sz="1200" spc="-15" b="1">
                <a:latin typeface="Arial"/>
                <a:cs typeface="Arial"/>
              </a:rPr>
              <a:t>15%</a:t>
            </a:r>
            <a:r>
              <a:rPr dirty="0" sz="1200" spc="10" b="1">
                <a:latin typeface="明兰"/>
                <a:cs typeface="明兰"/>
              </a:rPr>
              <a:t>市</a:t>
            </a:r>
            <a:r>
              <a:rPr dirty="0" sz="1200" b="1">
                <a:latin typeface="明兰"/>
                <a:cs typeface="明兰"/>
              </a:rPr>
              <a:t>占率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91200" y="2511551"/>
            <a:ext cx="668020" cy="487680"/>
          </a:xfrm>
          <a:custGeom>
            <a:avLst/>
            <a:gdLst/>
            <a:ahLst/>
            <a:cxnLst/>
            <a:rect l="l" t="t" r="r" b="b"/>
            <a:pathLst>
              <a:path w="668020" h="487680">
                <a:moveTo>
                  <a:pt x="667512" y="0"/>
                </a:moveTo>
                <a:lnTo>
                  <a:pt x="0" y="0"/>
                </a:lnTo>
                <a:lnTo>
                  <a:pt x="0" y="487680"/>
                </a:lnTo>
                <a:lnTo>
                  <a:pt x="667512" y="487680"/>
                </a:lnTo>
                <a:lnTo>
                  <a:pt x="66751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19771" y="1767839"/>
            <a:ext cx="668020" cy="1231900"/>
          </a:xfrm>
          <a:custGeom>
            <a:avLst/>
            <a:gdLst/>
            <a:ahLst/>
            <a:cxnLst/>
            <a:rect l="l" t="t" r="r" b="b"/>
            <a:pathLst>
              <a:path w="668020" h="1231900">
                <a:moveTo>
                  <a:pt x="667511" y="0"/>
                </a:moveTo>
                <a:lnTo>
                  <a:pt x="0" y="0"/>
                </a:lnTo>
                <a:lnTo>
                  <a:pt x="0" y="1231392"/>
                </a:lnTo>
                <a:lnTo>
                  <a:pt x="667511" y="1231392"/>
                </a:lnTo>
                <a:lnTo>
                  <a:pt x="66751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418576" y="1659635"/>
            <a:ext cx="0" cy="1339850"/>
          </a:xfrm>
          <a:custGeom>
            <a:avLst/>
            <a:gdLst/>
            <a:ahLst/>
            <a:cxnLst/>
            <a:rect l="l" t="t" r="r" b="b"/>
            <a:pathLst>
              <a:path w="0" h="1339850">
                <a:moveTo>
                  <a:pt x="0" y="1339596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71331" y="299923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71331" y="255270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71331" y="210616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371331" y="165963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59908" y="1659635"/>
            <a:ext cx="0" cy="1339850"/>
          </a:xfrm>
          <a:custGeom>
            <a:avLst/>
            <a:gdLst/>
            <a:ahLst/>
            <a:cxnLst/>
            <a:rect l="l" t="t" r="r" b="b"/>
            <a:pathLst>
              <a:path w="0" h="1339850">
                <a:moveTo>
                  <a:pt x="0" y="1339596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59908" y="299923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359908" y="233019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59908" y="165963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59908" y="2999232"/>
            <a:ext cx="3058795" cy="0"/>
          </a:xfrm>
          <a:custGeom>
            <a:avLst/>
            <a:gdLst/>
            <a:ahLst/>
            <a:cxnLst/>
            <a:rect l="l" t="t" r="r" b="b"/>
            <a:pathLst>
              <a:path w="3058795" h="0">
                <a:moveTo>
                  <a:pt x="0" y="0"/>
                </a:moveTo>
                <a:lnTo>
                  <a:pt x="305866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24194" y="2148077"/>
            <a:ext cx="1530350" cy="494030"/>
          </a:xfrm>
          <a:custGeom>
            <a:avLst/>
            <a:gdLst/>
            <a:ahLst/>
            <a:cxnLst/>
            <a:rect l="l" t="t" r="r" b="b"/>
            <a:pathLst>
              <a:path w="1530350" h="494030">
                <a:moveTo>
                  <a:pt x="0" y="493775"/>
                </a:moveTo>
                <a:lnTo>
                  <a:pt x="1530096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536940" y="2881706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36940" y="2435479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36940" y="1988947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53329" y="2881706"/>
            <a:ext cx="107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88229" y="2212086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3257" y="1542034"/>
            <a:ext cx="40862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25875" algn="l"/>
              </a:tabLst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15%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24729" y="2989725"/>
            <a:ext cx="1479550" cy="49847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4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5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77506" y="3059429"/>
            <a:ext cx="3562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20055" y="149885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7467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718554" y="149885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277103" y="1394841"/>
            <a:ext cx="320865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11325" algn="l"/>
              </a:tabLst>
            </a:pPr>
            <a:r>
              <a:rPr dirty="0" sz="1300" spc="-5">
                <a:latin typeface="宋体"/>
                <a:cs typeface="宋体"/>
              </a:rPr>
              <a:t>销售量</a:t>
            </a:r>
            <a:r>
              <a:rPr dirty="0" sz="1300" spc="5">
                <a:latin typeface="宋体"/>
                <a:cs typeface="宋体"/>
              </a:rPr>
              <a:t>（</a:t>
            </a:r>
            <a:r>
              <a:rPr dirty="0" sz="1300" spc="-5">
                <a:latin typeface="宋体"/>
                <a:cs typeface="宋体"/>
              </a:rPr>
              <a:t>千台）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智能手</a:t>
            </a:r>
            <a:r>
              <a:rPr dirty="0" sz="1300" spc="5">
                <a:latin typeface="宋体"/>
                <a:cs typeface="宋体"/>
              </a:rPr>
              <a:t>机</a:t>
            </a:r>
            <a:r>
              <a:rPr dirty="0" sz="1300" spc="-5">
                <a:latin typeface="宋体"/>
                <a:cs typeface="宋体"/>
              </a:rPr>
              <a:t>市场</a:t>
            </a:r>
            <a:r>
              <a:rPr dirty="0" sz="1300" spc="5">
                <a:latin typeface="宋体"/>
                <a:cs typeface="宋体"/>
              </a:rPr>
              <a:t>占</a:t>
            </a:r>
            <a:r>
              <a:rPr dirty="0" sz="1300" spc="-5">
                <a:latin typeface="宋体"/>
                <a:cs typeface="宋体"/>
              </a:rPr>
              <a:t>有率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82624" y="5334000"/>
            <a:ext cx="332740" cy="668020"/>
          </a:xfrm>
          <a:custGeom>
            <a:avLst/>
            <a:gdLst/>
            <a:ahLst/>
            <a:cxnLst/>
            <a:rect l="l" t="t" r="r" b="b"/>
            <a:pathLst>
              <a:path w="332740" h="668020">
                <a:moveTo>
                  <a:pt x="332231" y="0"/>
                </a:moveTo>
                <a:lnTo>
                  <a:pt x="0" y="0"/>
                </a:lnTo>
                <a:lnTo>
                  <a:pt x="0" y="667512"/>
                </a:lnTo>
                <a:lnTo>
                  <a:pt x="332231" y="667512"/>
                </a:lnTo>
                <a:lnTo>
                  <a:pt x="33223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44623" y="5113020"/>
            <a:ext cx="334010" cy="889000"/>
          </a:xfrm>
          <a:custGeom>
            <a:avLst/>
            <a:gdLst/>
            <a:ahLst/>
            <a:cxnLst/>
            <a:rect l="l" t="t" r="r" b="b"/>
            <a:pathLst>
              <a:path w="334010" h="889000">
                <a:moveTo>
                  <a:pt x="333756" y="0"/>
                </a:moveTo>
                <a:lnTo>
                  <a:pt x="0" y="0"/>
                </a:lnTo>
                <a:lnTo>
                  <a:pt x="0" y="888491"/>
                </a:lnTo>
                <a:lnTo>
                  <a:pt x="333756" y="888491"/>
                </a:lnTo>
                <a:lnTo>
                  <a:pt x="333756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08148" y="4887467"/>
            <a:ext cx="332740" cy="1114425"/>
          </a:xfrm>
          <a:custGeom>
            <a:avLst/>
            <a:gdLst/>
            <a:ahLst/>
            <a:cxnLst/>
            <a:rect l="l" t="t" r="r" b="b"/>
            <a:pathLst>
              <a:path w="332739" h="1114425">
                <a:moveTo>
                  <a:pt x="332231" y="0"/>
                </a:moveTo>
                <a:lnTo>
                  <a:pt x="0" y="0"/>
                </a:lnTo>
                <a:lnTo>
                  <a:pt x="0" y="1114043"/>
                </a:lnTo>
                <a:lnTo>
                  <a:pt x="332231" y="1114043"/>
                </a:lnTo>
                <a:lnTo>
                  <a:pt x="33223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70147" y="4664964"/>
            <a:ext cx="334010" cy="1336675"/>
          </a:xfrm>
          <a:custGeom>
            <a:avLst/>
            <a:gdLst/>
            <a:ahLst/>
            <a:cxnLst/>
            <a:rect l="l" t="t" r="r" b="b"/>
            <a:pathLst>
              <a:path w="334010" h="1336675">
                <a:moveTo>
                  <a:pt x="333755" y="0"/>
                </a:moveTo>
                <a:lnTo>
                  <a:pt x="0" y="0"/>
                </a:lnTo>
                <a:lnTo>
                  <a:pt x="0" y="1336548"/>
                </a:lnTo>
                <a:lnTo>
                  <a:pt x="333755" y="1336548"/>
                </a:lnTo>
                <a:lnTo>
                  <a:pt x="333755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18788" y="4375403"/>
            <a:ext cx="0" cy="1626235"/>
          </a:xfrm>
          <a:custGeom>
            <a:avLst/>
            <a:gdLst/>
            <a:ahLst/>
            <a:cxnLst/>
            <a:rect l="l" t="t" r="r" b="b"/>
            <a:pathLst>
              <a:path w="0" h="1626235">
                <a:moveTo>
                  <a:pt x="0" y="1626108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971544" y="600151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71544" y="567690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971544" y="53507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71544" y="502615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71544" y="470154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71544" y="437540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67739" y="4375403"/>
            <a:ext cx="0" cy="1626235"/>
          </a:xfrm>
          <a:custGeom>
            <a:avLst/>
            <a:gdLst/>
            <a:ahLst/>
            <a:cxnLst/>
            <a:rect l="l" t="t" r="r" b="b"/>
            <a:pathLst>
              <a:path w="0" h="1626235">
                <a:moveTo>
                  <a:pt x="0" y="1626108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67739" y="600151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67739" y="559460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967739" y="518922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67739" y="478231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67739" y="437540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67739" y="6001511"/>
            <a:ext cx="3051175" cy="0"/>
          </a:xfrm>
          <a:custGeom>
            <a:avLst/>
            <a:gdLst/>
            <a:ahLst/>
            <a:cxnLst/>
            <a:rect l="l" t="t" r="r" b="b"/>
            <a:pathLst>
              <a:path w="3051175" h="0">
                <a:moveTo>
                  <a:pt x="0" y="0"/>
                </a:moveTo>
                <a:lnTo>
                  <a:pt x="305104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349502" y="4527041"/>
            <a:ext cx="2287905" cy="657225"/>
          </a:xfrm>
          <a:custGeom>
            <a:avLst/>
            <a:gdLst/>
            <a:ahLst/>
            <a:cxnLst/>
            <a:rect l="l" t="t" r="r" b="b"/>
            <a:pathLst>
              <a:path w="2287904" h="657225">
                <a:moveTo>
                  <a:pt x="0" y="0"/>
                </a:moveTo>
                <a:lnTo>
                  <a:pt x="761999" y="621791"/>
                </a:lnTo>
                <a:lnTo>
                  <a:pt x="1523999" y="618743"/>
                </a:lnTo>
                <a:lnTo>
                  <a:pt x="2287524" y="656843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135882" y="5884570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35882" y="5559348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135882" y="5234177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135882" y="4909184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3%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135882" y="4583938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4%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9895" y="5884570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9,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47294" y="5477967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47294" y="5071617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500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47294" y="4665345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11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47294" y="4258513"/>
            <a:ext cx="407860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00804" algn="l"/>
              </a:tabLst>
            </a:pPr>
            <a:r>
              <a:rPr dirty="0" sz="1300" spc="-5">
                <a:latin typeface="宋体"/>
                <a:cs typeface="宋体"/>
              </a:rPr>
              <a:t>11</a:t>
            </a:r>
            <a:r>
              <a:rPr dirty="0" sz="1300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500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10">
                <a:latin typeface="宋体"/>
                <a:cs typeface="宋体"/>
              </a:rPr>
              <a:t>5%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71447" y="6061659"/>
            <a:ext cx="3562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892935" y="6061659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7E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655570" y="6061659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8E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8459" y="6061659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9E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059180" y="416585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7467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55798" y="416585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316227" y="4048759"/>
            <a:ext cx="2169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09445" algn="l"/>
              </a:tabLst>
            </a:pPr>
            <a:r>
              <a:rPr dirty="0" sz="1300" spc="-5">
                <a:latin typeface="宋体"/>
                <a:cs typeface="宋体"/>
              </a:rPr>
              <a:t>销售量</a:t>
            </a:r>
            <a:r>
              <a:rPr dirty="0" sz="1300" spc="5">
                <a:latin typeface="宋体"/>
                <a:cs typeface="宋体"/>
              </a:rPr>
              <a:t>（</a:t>
            </a:r>
            <a:r>
              <a:rPr dirty="0" sz="1300" spc="-5">
                <a:latin typeface="宋体"/>
                <a:cs typeface="宋体"/>
              </a:rPr>
              <a:t>千台）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YoY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824728" y="5250179"/>
            <a:ext cx="661670" cy="744220"/>
          </a:xfrm>
          <a:custGeom>
            <a:avLst/>
            <a:gdLst/>
            <a:ahLst/>
            <a:cxnLst/>
            <a:rect l="l" t="t" r="r" b="b"/>
            <a:pathLst>
              <a:path w="661670" h="744220">
                <a:moveTo>
                  <a:pt x="661416" y="0"/>
                </a:moveTo>
                <a:lnTo>
                  <a:pt x="0" y="0"/>
                </a:lnTo>
                <a:lnTo>
                  <a:pt x="0" y="743712"/>
                </a:lnTo>
                <a:lnTo>
                  <a:pt x="661416" y="743712"/>
                </a:lnTo>
                <a:lnTo>
                  <a:pt x="661416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339583" y="4698491"/>
            <a:ext cx="662940" cy="1295400"/>
          </a:xfrm>
          <a:custGeom>
            <a:avLst/>
            <a:gdLst/>
            <a:ahLst/>
            <a:cxnLst/>
            <a:rect l="l" t="t" r="r" b="b"/>
            <a:pathLst>
              <a:path w="662940" h="1295400">
                <a:moveTo>
                  <a:pt x="662940" y="0"/>
                </a:moveTo>
                <a:lnTo>
                  <a:pt x="0" y="0"/>
                </a:lnTo>
                <a:lnTo>
                  <a:pt x="0" y="1295399"/>
                </a:lnTo>
                <a:lnTo>
                  <a:pt x="662940" y="1295399"/>
                </a:lnTo>
                <a:lnTo>
                  <a:pt x="66294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429243" y="4375403"/>
            <a:ext cx="0" cy="1618615"/>
          </a:xfrm>
          <a:custGeom>
            <a:avLst/>
            <a:gdLst/>
            <a:ahLst/>
            <a:cxnLst/>
            <a:rect l="l" t="t" r="r" b="b"/>
            <a:pathLst>
              <a:path w="0" h="1618614">
                <a:moveTo>
                  <a:pt x="0" y="1618488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382000" y="599389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382000" y="559003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382000" y="518464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382000" y="4780788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382000" y="437540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398008" y="4375403"/>
            <a:ext cx="0" cy="1618615"/>
          </a:xfrm>
          <a:custGeom>
            <a:avLst/>
            <a:gdLst/>
            <a:ahLst/>
            <a:cxnLst/>
            <a:rect l="l" t="t" r="r" b="b"/>
            <a:pathLst>
              <a:path w="0" h="1618614">
                <a:moveTo>
                  <a:pt x="0" y="1618488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398008" y="599389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398008" y="5590032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398008" y="518464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398008" y="4780788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398008" y="437540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398008" y="5993891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2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156197" y="4780026"/>
            <a:ext cx="1515110" cy="802005"/>
          </a:xfrm>
          <a:custGeom>
            <a:avLst/>
            <a:gdLst/>
            <a:ahLst/>
            <a:cxnLst/>
            <a:rect l="l" t="t" r="r" b="b"/>
            <a:pathLst>
              <a:path w="1515109" h="802004">
                <a:moveTo>
                  <a:pt x="0" y="801624"/>
                </a:moveTo>
                <a:lnTo>
                  <a:pt x="1514855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761357" y="4258513"/>
            <a:ext cx="4058285" cy="1437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3785870" algn="l"/>
              </a:tabLst>
            </a:pPr>
            <a:r>
              <a:rPr dirty="0" sz="1300" spc="-5">
                <a:latin typeface="宋体"/>
                <a:cs typeface="宋体"/>
              </a:rPr>
              <a:t>2,</a:t>
            </a:r>
            <a:r>
              <a:rPr dirty="0" sz="1300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10">
                <a:latin typeface="宋体"/>
                <a:cs typeface="宋体"/>
              </a:rPr>
              <a:t>20%</a:t>
            </a:r>
            <a:endParaRPr sz="1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3785870" algn="l"/>
              </a:tabLst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15%</a:t>
            </a:r>
            <a:endParaRPr sz="1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3785870" algn="l"/>
              </a:tabLst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10%</a:t>
            </a:r>
            <a:endParaRPr sz="1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82550">
              <a:lnSpc>
                <a:spcPct val="100000"/>
              </a:lnSpc>
              <a:tabLst>
                <a:tab pos="3703320" algn="l"/>
              </a:tabLst>
            </a:pPr>
            <a:r>
              <a:rPr dirty="0" sz="1300" spc="-5">
                <a:latin typeface="宋体"/>
                <a:cs typeface="宋体"/>
              </a:rPr>
              <a:t>500	5%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824729" y="5877864"/>
            <a:ext cx="3912870" cy="655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66700">
              <a:lnSpc>
                <a:spcPct val="100000"/>
              </a:lnSpc>
              <a:spcBef>
                <a:spcPts val="95"/>
              </a:spcBef>
              <a:tabLst>
                <a:tab pos="3722370" algn="l"/>
              </a:tabLst>
            </a:pPr>
            <a:r>
              <a:rPr dirty="0" sz="1300" spc="-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  <a:p>
            <a:pPr algn="ctr" marL="263525">
              <a:lnSpc>
                <a:spcPct val="100000"/>
              </a:lnSpc>
              <a:spcBef>
                <a:spcPts val="25"/>
              </a:spcBef>
              <a:tabLst>
                <a:tab pos="1778635" algn="l"/>
              </a:tabLst>
            </a:pPr>
            <a:r>
              <a:rPr dirty="0" sz="1300" spc="-5">
                <a:latin typeface="宋体"/>
                <a:cs typeface="宋体"/>
              </a:rPr>
              <a:t>2016实现	2019目标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106923" y="413994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7467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753606" y="413994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5364226" y="4022852"/>
            <a:ext cx="3155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58620" algn="l"/>
              </a:tabLst>
            </a:pPr>
            <a:r>
              <a:rPr dirty="0" sz="1300" spc="-5">
                <a:latin typeface="宋体"/>
                <a:cs typeface="宋体"/>
              </a:rPr>
              <a:t>销售量</a:t>
            </a:r>
            <a:r>
              <a:rPr dirty="0" sz="1300" spc="10">
                <a:latin typeface="宋体"/>
                <a:cs typeface="宋体"/>
              </a:rPr>
              <a:t>（</a:t>
            </a:r>
            <a:r>
              <a:rPr dirty="0" sz="1300" spc="-5">
                <a:latin typeface="宋体"/>
                <a:cs typeface="宋体"/>
              </a:rPr>
              <a:t>千台）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智能手</a:t>
            </a:r>
            <a:r>
              <a:rPr dirty="0" sz="1300" spc="5">
                <a:latin typeface="宋体"/>
                <a:cs typeface="宋体"/>
              </a:rPr>
              <a:t>机</a:t>
            </a:r>
            <a:r>
              <a:rPr dirty="0" sz="1300" spc="-5">
                <a:latin typeface="宋体"/>
                <a:cs typeface="宋体"/>
              </a:rPr>
              <a:t>市场</a:t>
            </a:r>
            <a:r>
              <a:rPr dirty="0" sz="1300" spc="5">
                <a:latin typeface="宋体"/>
                <a:cs typeface="宋体"/>
              </a:rPr>
              <a:t>占</a:t>
            </a:r>
            <a:r>
              <a:rPr dirty="0" sz="1300" spc="-5">
                <a:latin typeface="宋体"/>
                <a:cs typeface="宋体"/>
              </a:rPr>
              <a:t>有率</a:t>
            </a:r>
            <a:endParaRPr sz="1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8383"/>
            <a:ext cx="33445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阿根廷智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能手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机市场发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展趋势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556" y="2689860"/>
            <a:ext cx="5321935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200" spc="-5" b="1">
                <a:latin typeface="Arial"/>
                <a:cs typeface="Arial"/>
              </a:rPr>
              <a:t>2016</a:t>
            </a:r>
            <a:r>
              <a:rPr dirty="0" sz="1200" b="1">
                <a:latin typeface="明兰"/>
                <a:cs typeface="明兰"/>
              </a:rPr>
              <a:t>年世界主要国家手机销售量与总人口关系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124" y="6356096"/>
            <a:ext cx="19107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r>
              <a:rPr dirty="0" sz="1000" spc="-5">
                <a:latin typeface="宋体"/>
                <a:cs typeface="宋体"/>
              </a:rPr>
              <a:t>、世</a:t>
            </a:r>
            <a:r>
              <a:rPr dirty="0" sz="1000" spc="5">
                <a:latin typeface="宋体"/>
                <a:cs typeface="宋体"/>
              </a:rPr>
              <a:t>界</a:t>
            </a:r>
            <a:r>
              <a:rPr dirty="0" sz="1000" spc="-5">
                <a:latin typeface="宋体"/>
                <a:cs typeface="宋体"/>
              </a:rPr>
              <a:t>银行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686" y="1087374"/>
            <a:ext cx="8632825" cy="1306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随人口</a:t>
            </a:r>
            <a:r>
              <a:rPr dirty="0" sz="1400" spc="-15" b="1">
                <a:latin typeface="明兰"/>
                <a:cs typeface="明兰"/>
              </a:rPr>
              <a:t>增</a:t>
            </a:r>
            <a:r>
              <a:rPr dirty="0" sz="1400" b="1">
                <a:latin typeface="明兰"/>
                <a:cs typeface="明兰"/>
              </a:rPr>
              <a:t>加而</a:t>
            </a:r>
            <a:r>
              <a:rPr dirty="0" sz="1400" spc="-15" b="1">
                <a:latin typeface="明兰"/>
                <a:cs typeface="明兰"/>
              </a:rPr>
              <a:t>扩大</a:t>
            </a:r>
            <a:r>
              <a:rPr dirty="0" sz="1400" b="1">
                <a:latin typeface="明兰"/>
                <a:cs typeface="明兰"/>
              </a:rPr>
              <a:t>：</a:t>
            </a:r>
            <a:endParaRPr sz="1400">
              <a:latin typeface="明兰"/>
              <a:cs typeface="明兰"/>
            </a:endParaRPr>
          </a:p>
          <a:p>
            <a:pPr marL="12700" marR="5080" indent="457200">
              <a:lnSpc>
                <a:spcPct val="98200"/>
              </a:lnSpc>
              <a:spcBef>
                <a:spcPts val="90"/>
              </a:spcBef>
            </a:pPr>
            <a:r>
              <a:rPr dirty="0" sz="1400" spc="20" b="1">
                <a:latin typeface="明兰"/>
                <a:cs typeface="明兰"/>
              </a:rPr>
              <a:t>手机已成为现代</a:t>
            </a:r>
            <a:r>
              <a:rPr dirty="0" sz="1400" spc="10" b="1">
                <a:latin typeface="明兰"/>
                <a:cs typeface="明兰"/>
              </a:rPr>
              <a:t>生</a:t>
            </a:r>
            <a:r>
              <a:rPr dirty="0" sz="1400" spc="20" b="1">
                <a:latin typeface="明兰"/>
                <a:cs typeface="明兰"/>
              </a:rPr>
              <a:t>活的必需</a:t>
            </a:r>
            <a:r>
              <a:rPr dirty="0" sz="1400" spc="25" b="1">
                <a:latin typeface="明兰"/>
                <a:cs typeface="明兰"/>
              </a:rPr>
              <a:t>品</a:t>
            </a:r>
            <a:r>
              <a:rPr dirty="0" sz="1400" spc="20" b="1">
                <a:latin typeface="明兰"/>
                <a:cs typeface="明兰"/>
              </a:rPr>
              <a:t>，市</a:t>
            </a:r>
            <a:r>
              <a:rPr dirty="0" sz="1400" spc="10" b="1">
                <a:latin typeface="明兰"/>
                <a:cs typeface="明兰"/>
              </a:rPr>
              <a:t>场</a:t>
            </a:r>
            <a:r>
              <a:rPr dirty="0" sz="1400" spc="20" b="1">
                <a:latin typeface="明兰"/>
                <a:cs typeface="明兰"/>
              </a:rPr>
              <a:t>规模与人口数量</a:t>
            </a:r>
            <a:r>
              <a:rPr dirty="0" sz="1400" spc="10" b="1">
                <a:latin typeface="明兰"/>
                <a:cs typeface="明兰"/>
              </a:rPr>
              <a:t>密</a:t>
            </a:r>
            <a:r>
              <a:rPr dirty="0" sz="1400" spc="20" b="1">
                <a:latin typeface="明兰"/>
                <a:cs typeface="明兰"/>
              </a:rPr>
              <a:t>切相</a:t>
            </a:r>
            <a:r>
              <a:rPr dirty="0" sz="1400" spc="40" b="1">
                <a:latin typeface="明兰"/>
                <a:cs typeface="明兰"/>
              </a:rPr>
              <a:t>关</a:t>
            </a:r>
            <a:r>
              <a:rPr dirty="0" sz="1400" spc="20" b="1">
                <a:latin typeface="明兰"/>
                <a:cs typeface="明兰"/>
              </a:rPr>
              <a:t>。</a:t>
            </a:r>
            <a:r>
              <a:rPr dirty="0" sz="1400" spc="20">
                <a:latin typeface="宋体"/>
                <a:cs typeface="宋体"/>
              </a:rPr>
              <a:t>在世界</a:t>
            </a:r>
            <a:r>
              <a:rPr dirty="0" sz="1400" spc="10">
                <a:latin typeface="宋体"/>
                <a:cs typeface="宋体"/>
              </a:rPr>
              <a:t>主</a:t>
            </a:r>
            <a:r>
              <a:rPr dirty="0" sz="1400" spc="20">
                <a:latin typeface="宋体"/>
                <a:cs typeface="宋体"/>
              </a:rPr>
              <a:t>要国家</a:t>
            </a:r>
            <a:r>
              <a:rPr dirty="0" sz="1400" spc="35">
                <a:latin typeface="宋体"/>
                <a:cs typeface="宋体"/>
              </a:rPr>
              <a:t>中</a:t>
            </a:r>
            <a:r>
              <a:rPr dirty="0" sz="1400" spc="20">
                <a:latin typeface="宋体"/>
                <a:cs typeface="宋体"/>
              </a:rPr>
              <a:t>，由</a:t>
            </a:r>
            <a:r>
              <a:rPr dirty="0" sz="1400" spc="10">
                <a:latin typeface="宋体"/>
                <a:cs typeface="宋体"/>
              </a:rPr>
              <a:t>于经</a:t>
            </a:r>
            <a:r>
              <a:rPr dirty="0" sz="1400" spc="20">
                <a:latin typeface="宋体"/>
                <a:cs typeface="宋体"/>
              </a:rPr>
              <a:t>济的发</a:t>
            </a:r>
            <a:r>
              <a:rPr dirty="0" sz="1400" spc="30">
                <a:latin typeface="宋体"/>
                <a:cs typeface="宋体"/>
              </a:rPr>
              <a:t>展</a:t>
            </a:r>
            <a:r>
              <a:rPr dirty="0" sz="1400">
                <a:latin typeface="宋体"/>
                <a:cs typeface="宋体"/>
              </a:rPr>
              <a:t>、 </a:t>
            </a:r>
            <a:r>
              <a:rPr dirty="0" sz="1400" spc="35">
                <a:latin typeface="宋体"/>
                <a:cs typeface="宋体"/>
              </a:rPr>
              <a:t>生</a:t>
            </a:r>
            <a:r>
              <a:rPr dirty="0" sz="1400" spc="20">
                <a:latin typeface="宋体"/>
                <a:cs typeface="宋体"/>
              </a:rPr>
              <a:t>活</a:t>
            </a:r>
            <a:r>
              <a:rPr dirty="0" sz="1400" spc="35">
                <a:latin typeface="宋体"/>
                <a:cs typeface="宋体"/>
              </a:rPr>
              <a:t>习</a:t>
            </a:r>
            <a:r>
              <a:rPr dirty="0" sz="1400" spc="20">
                <a:latin typeface="宋体"/>
                <a:cs typeface="宋体"/>
              </a:rPr>
              <a:t>惯的</a:t>
            </a:r>
            <a:r>
              <a:rPr dirty="0" sz="1400" spc="35">
                <a:latin typeface="宋体"/>
                <a:cs typeface="宋体"/>
              </a:rPr>
              <a:t>转</a:t>
            </a:r>
            <a:r>
              <a:rPr dirty="0" sz="1400" spc="30">
                <a:latin typeface="宋体"/>
                <a:cs typeface="宋体"/>
              </a:rPr>
              <a:t>变</a:t>
            </a:r>
            <a:r>
              <a:rPr dirty="0" sz="1400" spc="20">
                <a:latin typeface="宋体"/>
                <a:cs typeface="宋体"/>
              </a:rPr>
              <a:t>，</a:t>
            </a:r>
            <a:r>
              <a:rPr dirty="0" sz="1400" spc="35">
                <a:latin typeface="宋体"/>
                <a:cs typeface="宋体"/>
              </a:rPr>
              <a:t>手</a:t>
            </a:r>
            <a:r>
              <a:rPr dirty="0" sz="1400" spc="20">
                <a:latin typeface="宋体"/>
                <a:cs typeface="宋体"/>
              </a:rPr>
              <a:t>机已</a:t>
            </a:r>
            <a:r>
              <a:rPr dirty="0" sz="1400" spc="35">
                <a:latin typeface="宋体"/>
                <a:cs typeface="宋体"/>
              </a:rPr>
              <a:t>成</a:t>
            </a:r>
            <a:r>
              <a:rPr dirty="0" sz="1400" spc="20">
                <a:latin typeface="宋体"/>
                <a:cs typeface="宋体"/>
              </a:rPr>
              <a:t>为</a:t>
            </a:r>
            <a:r>
              <a:rPr dirty="0" sz="1400" spc="35">
                <a:latin typeface="宋体"/>
                <a:cs typeface="宋体"/>
              </a:rPr>
              <a:t>必</a:t>
            </a:r>
            <a:r>
              <a:rPr dirty="0" sz="1400" spc="20">
                <a:latin typeface="宋体"/>
                <a:cs typeface="宋体"/>
              </a:rPr>
              <a:t>须消</a:t>
            </a:r>
            <a:r>
              <a:rPr dirty="0" sz="1400" spc="45">
                <a:latin typeface="宋体"/>
                <a:cs typeface="宋体"/>
              </a:rPr>
              <a:t>费</a:t>
            </a:r>
            <a:r>
              <a:rPr dirty="0" sz="1400" spc="20">
                <a:latin typeface="宋体"/>
                <a:cs typeface="宋体"/>
              </a:rPr>
              <a:t>（人</a:t>
            </a:r>
            <a:r>
              <a:rPr dirty="0" sz="1400" spc="35">
                <a:latin typeface="宋体"/>
                <a:cs typeface="宋体"/>
              </a:rPr>
              <a:t>均</a:t>
            </a:r>
            <a:r>
              <a:rPr dirty="0" sz="1400" spc="5">
                <a:latin typeface="Arial"/>
                <a:cs typeface="Arial"/>
              </a:rPr>
              <a:t>GDP</a:t>
            </a:r>
            <a:r>
              <a:rPr dirty="0" sz="1400" spc="35">
                <a:latin typeface="宋体"/>
                <a:cs typeface="宋体"/>
              </a:rPr>
              <a:t>小</a:t>
            </a:r>
            <a:r>
              <a:rPr dirty="0" sz="1400" spc="20">
                <a:latin typeface="宋体"/>
                <a:cs typeface="宋体"/>
              </a:rPr>
              <a:t>于</a:t>
            </a:r>
            <a:r>
              <a:rPr dirty="0" sz="1400">
                <a:latin typeface="Arial"/>
                <a:cs typeface="Arial"/>
              </a:rPr>
              <a:t>2500</a:t>
            </a:r>
            <a:r>
              <a:rPr dirty="0" sz="1400" spc="35">
                <a:latin typeface="宋体"/>
                <a:cs typeface="宋体"/>
              </a:rPr>
              <a:t>美</a:t>
            </a:r>
            <a:r>
              <a:rPr dirty="0" sz="1400" spc="20">
                <a:latin typeface="宋体"/>
                <a:cs typeface="宋体"/>
              </a:rPr>
              <a:t>元</a:t>
            </a:r>
            <a:r>
              <a:rPr dirty="0" sz="1400" spc="35">
                <a:latin typeface="宋体"/>
                <a:cs typeface="宋体"/>
              </a:rPr>
              <a:t>的</a:t>
            </a:r>
            <a:r>
              <a:rPr dirty="0" sz="1400" spc="20">
                <a:latin typeface="宋体"/>
                <a:cs typeface="宋体"/>
              </a:rPr>
              <a:t>国家如</a:t>
            </a:r>
            <a:r>
              <a:rPr dirty="0" sz="1400" spc="35">
                <a:latin typeface="宋体"/>
                <a:cs typeface="宋体"/>
              </a:rPr>
              <a:t>印</a:t>
            </a:r>
            <a:r>
              <a:rPr dirty="0" sz="1400" spc="30">
                <a:latin typeface="宋体"/>
                <a:cs typeface="宋体"/>
              </a:rPr>
              <a:t>度</a:t>
            </a:r>
            <a:r>
              <a:rPr dirty="0" sz="1400" spc="20">
                <a:latin typeface="宋体"/>
                <a:cs typeface="宋体"/>
              </a:rPr>
              <a:t>、</a:t>
            </a:r>
            <a:r>
              <a:rPr dirty="0" sz="1400" spc="35">
                <a:latin typeface="宋体"/>
                <a:cs typeface="宋体"/>
              </a:rPr>
              <a:t>巴</a:t>
            </a:r>
            <a:r>
              <a:rPr dirty="0" sz="1400" spc="25">
                <a:latin typeface="宋体"/>
                <a:cs typeface="宋体"/>
              </a:rPr>
              <a:t>基</a:t>
            </a:r>
            <a:r>
              <a:rPr dirty="0" sz="1400" spc="35">
                <a:latin typeface="宋体"/>
                <a:cs typeface="宋体"/>
              </a:rPr>
              <a:t>斯</a:t>
            </a:r>
            <a:r>
              <a:rPr dirty="0" sz="1400" spc="20">
                <a:latin typeface="宋体"/>
                <a:cs typeface="宋体"/>
              </a:rPr>
              <a:t>坦、</a:t>
            </a:r>
            <a:r>
              <a:rPr dirty="0" sz="1400" spc="35">
                <a:latin typeface="宋体"/>
                <a:cs typeface="宋体"/>
              </a:rPr>
              <a:t>尼</a:t>
            </a:r>
            <a:r>
              <a:rPr dirty="0" sz="1400" spc="20">
                <a:latin typeface="宋体"/>
                <a:cs typeface="宋体"/>
              </a:rPr>
              <a:t>日利</a:t>
            </a:r>
            <a:r>
              <a:rPr dirty="0" sz="1400" spc="35">
                <a:latin typeface="宋体"/>
                <a:cs typeface="宋体"/>
              </a:rPr>
              <a:t>亚等</a:t>
            </a:r>
            <a:r>
              <a:rPr dirty="0" sz="1400">
                <a:latin typeface="宋体"/>
                <a:cs typeface="宋体"/>
              </a:rPr>
              <a:t>除 外），</a:t>
            </a:r>
            <a:r>
              <a:rPr dirty="0" sz="1400" spc="-15">
                <a:latin typeface="宋体"/>
                <a:cs typeface="宋体"/>
              </a:rPr>
              <a:t>其</a:t>
            </a:r>
            <a:r>
              <a:rPr dirty="0" sz="1400">
                <a:latin typeface="宋体"/>
                <a:cs typeface="宋体"/>
              </a:rPr>
              <a:t>市场</a:t>
            </a:r>
            <a:r>
              <a:rPr dirty="0" sz="1400" spc="-15">
                <a:latin typeface="宋体"/>
                <a:cs typeface="宋体"/>
              </a:rPr>
              <a:t>销售</a:t>
            </a:r>
            <a:r>
              <a:rPr dirty="0" sz="1400">
                <a:latin typeface="宋体"/>
                <a:cs typeface="宋体"/>
              </a:rPr>
              <a:t>量与人</a:t>
            </a:r>
            <a:r>
              <a:rPr dirty="0" sz="1400" spc="-15">
                <a:latin typeface="宋体"/>
                <a:cs typeface="宋体"/>
              </a:rPr>
              <a:t>口</a:t>
            </a:r>
            <a:r>
              <a:rPr dirty="0" sz="1400">
                <a:latin typeface="宋体"/>
                <a:cs typeface="宋体"/>
              </a:rPr>
              <a:t>数量</a:t>
            </a:r>
            <a:r>
              <a:rPr dirty="0" sz="1400" spc="-15">
                <a:latin typeface="宋体"/>
                <a:cs typeface="宋体"/>
              </a:rPr>
              <a:t>正相</a:t>
            </a:r>
            <a:r>
              <a:rPr dirty="0" sz="1400" spc="5">
                <a:latin typeface="宋体"/>
                <a:cs typeface="宋体"/>
              </a:rPr>
              <a:t>关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 marR="180975" indent="457200">
              <a:lnSpc>
                <a:spcPct val="100000"/>
              </a:lnSpc>
            </a:pPr>
            <a:r>
              <a:rPr dirty="0" sz="1400" spc="20" b="1">
                <a:latin typeface="明兰"/>
                <a:cs typeface="明兰"/>
              </a:rPr>
              <a:t>预</a:t>
            </a:r>
            <a:r>
              <a:rPr dirty="0" sz="1400" spc="10" b="1">
                <a:latin typeface="明兰"/>
                <a:cs typeface="明兰"/>
              </a:rPr>
              <a:t>计未</a:t>
            </a:r>
            <a:r>
              <a:rPr dirty="0" sz="1400" spc="20" b="1">
                <a:latin typeface="明兰"/>
                <a:cs typeface="明兰"/>
              </a:rPr>
              <a:t>来</a:t>
            </a:r>
            <a:r>
              <a:rPr dirty="0" sz="1400" spc="10" b="1">
                <a:latin typeface="明兰"/>
                <a:cs typeface="明兰"/>
              </a:rPr>
              <a:t>阿根</a:t>
            </a:r>
            <a:r>
              <a:rPr dirty="0" sz="1400" spc="20" b="1">
                <a:latin typeface="明兰"/>
                <a:cs typeface="明兰"/>
              </a:rPr>
              <a:t>廷</a:t>
            </a:r>
            <a:r>
              <a:rPr dirty="0" sz="1400" spc="10" b="1">
                <a:latin typeface="明兰"/>
                <a:cs typeface="明兰"/>
              </a:rPr>
              <a:t>人</a:t>
            </a:r>
            <a:r>
              <a:rPr dirty="0" sz="1400" spc="20" b="1">
                <a:latin typeface="明兰"/>
                <a:cs typeface="明兰"/>
              </a:rPr>
              <a:t>口</a:t>
            </a:r>
            <a:r>
              <a:rPr dirty="0" sz="1400" spc="10" b="1">
                <a:latin typeface="明兰"/>
                <a:cs typeface="明兰"/>
              </a:rPr>
              <a:t>数量</a:t>
            </a:r>
            <a:r>
              <a:rPr dirty="0" sz="1400" spc="20" b="1">
                <a:latin typeface="明兰"/>
                <a:cs typeface="明兰"/>
              </a:rPr>
              <a:t>保</a:t>
            </a:r>
            <a:r>
              <a:rPr dirty="0" sz="1400" spc="10" b="1">
                <a:latin typeface="明兰"/>
                <a:cs typeface="明兰"/>
              </a:rPr>
              <a:t>持稳</a:t>
            </a:r>
            <a:r>
              <a:rPr dirty="0" sz="1400" spc="20" b="1">
                <a:latin typeface="明兰"/>
                <a:cs typeface="明兰"/>
              </a:rPr>
              <a:t>定</a:t>
            </a:r>
            <a:r>
              <a:rPr dirty="0" sz="1400" spc="10" b="1">
                <a:latin typeface="明兰"/>
                <a:cs typeface="明兰"/>
              </a:rPr>
              <a:t>增</a:t>
            </a:r>
            <a:r>
              <a:rPr dirty="0" sz="1400" spc="45" b="1">
                <a:latin typeface="明兰"/>
                <a:cs typeface="明兰"/>
              </a:rPr>
              <a:t>长</a:t>
            </a:r>
            <a:r>
              <a:rPr dirty="0" sz="1400" spc="10" b="1">
                <a:latin typeface="明兰"/>
                <a:cs typeface="明兰"/>
              </a:rPr>
              <a:t>，手</a:t>
            </a:r>
            <a:r>
              <a:rPr dirty="0" sz="1400" spc="20" b="1">
                <a:latin typeface="明兰"/>
                <a:cs typeface="明兰"/>
              </a:rPr>
              <a:t>机</a:t>
            </a:r>
            <a:r>
              <a:rPr dirty="0" sz="1400" spc="10" b="1">
                <a:latin typeface="明兰"/>
                <a:cs typeface="明兰"/>
              </a:rPr>
              <a:t>市场</a:t>
            </a:r>
            <a:r>
              <a:rPr dirty="0" sz="1400" spc="20" b="1">
                <a:latin typeface="明兰"/>
                <a:cs typeface="明兰"/>
              </a:rPr>
              <a:t>持</a:t>
            </a:r>
            <a:r>
              <a:rPr dirty="0" sz="1400" spc="10" b="1">
                <a:latin typeface="明兰"/>
                <a:cs typeface="明兰"/>
              </a:rPr>
              <a:t>续</a:t>
            </a:r>
            <a:r>
              <a:rPr dirty="0" sz="1400" spc="20" b="1">
                <a:latin typeface="明兰"/>
                <a:cs typeface="明兰"/>
              </a:rPr>
              <a:t>受益。</a:t>
            </a:r>
            <a:r>
              <a:rPr dirty="0" sz="1400" spc="10">
                <a:latin typeface="宋体"/>
                <a:cs typeface="宋体"/>
              </a:rPr>
              <a:t>根据阿</a:t>
            </a:r>
            <a:r>
              <a:rPr dirty="0" sz="1400" spc="20">
                <a:latin typeface="宋体"/>
                <a:cs typeface="宋体"/>
              </a:rPr>
              <a:t>根</a:t>
            </a:r>
            <a:r>
              <a:rPr dirty="0" sz="1400" spc="10">
                <a:latin typeface="宋体"/>
                <a:cs typeface="宋体"/>
              </a:rPr>
              <a:t>廷</a:t>
            </a:r>
            <a:r>
              <a:rPr dirty="0" sz="1400" spc="20">
                <a:latin typeface="宋体"/>
                <a:cs typeface="宋体"/>
              </a:rPr>
              <a:t>统</a:t>
            </a:r>
            <a:r>
              <a:rPr dirty="0" sz="1400" spc="10">
                <a:latin typeface="宋体"/>
                <a:cs typeface="宋体"/>
              </a:rPr>
              <a:t>计局</a:t>
            </a:r>
            <a:r>
              <a:rPr dirty="0" sz="1400" spc="20">
                <a:latin typeface="宋体"/>
                <a:cs typeface="宋体"/>
              </a:rPr>
              <a:t>预</a:t>
            </a:r>
            <a:r>
              <a:rPr dirty="0" sz="1400" spc="10">
                <a:latin typeface="宋体"/>
                <a:cs typeface="宋体"/>
              </a:rPr>
              <a:t>测数</a:t>
            </a:r>
            <a:r>
              <a:rPr dirty="0" sz="1400" spc="35">
                <a:latin typeface="宋体"/>
                <a:cs typeface="宋体"/>
              </a:rPr>
              <a:t>据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5">
                <a:latin typeface="Arial"/>
                <a:cs typeface="Arial"/>
              </a:rPr>
              <a:t>2017</a:t>
            </a:r>
            <a:r>
              <a:rPr dirty="0" sz="1400" spc="20">
                <a:latin typeface="宋体"/>
                <a:cs typeface="宋体"/>
              </a:rPr>
              <a:t>年及 </a:t>
            </a:r>
            <a:r>
              <a:rPr dirty="0" sz="1400">
                <a:latin typeface="宋体"/>
                <a:cs typeface="宋体"/>
              </a:rPr>
              <a:t>往后阿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廷总</a:t>
            </a:r>
            <a:r>
              <a:rPr dirty="0" sz="1400" spc="-15">
                <a:latin typeface="宋体"/>
                <a:cs typeface="宋体"/>
              </a:rPr>
              <a:t>人口</a:t>
            </a:r>
            <a:r>
              <a:rPr dirty="0" sz="1400">
                <a:latin typeface="宋体"/>
                <a:cs typeface="宋体"/>
              </a:rPr>
              <a:t>不断增</a:t>
            </a:r>
            <a:r>
              <a:rPr dirty="0" sz="1400" spc="-10">
                <a:latin typeface="宋体"/>
                <a:cs typeface="宋体"/>
              </a:rPr>
              <a:t>长</a:t>
            </a:r>
            <a:r>
              <a:rPr dirty="0" sz="1400">
                <a:latin typeface="宋体"/>
                <a:cs typeface="宋体"/>
              </a:rPr>
              <a:t>，为</a:t>
            </a:r>
            <a:r>
              <a:rPr dirty="0" sz="1400" spc="-15">
                <a:latin typeface="宋体"/>
                <a:cs typeface="宋体"/>
              </a:rPr>
              <a:t>手机</a:t>
            </a:r>
            <a:r>
              <a:rPr dirty="0" sz="1400">
                <a:latin typeface="宋体"/>
                <a:cs typeface="宋体"/>
              </a:rPr>
              <a:t>市场带</a:t>
            </a:r>
            <a:r>
              <a:rPr dirty="0" sz="1400" spc="-15">
                <a:latin typeface="宋体"/>
                <a:cs typeface="宋体"/>
              </a:rPr>
              <a:t>来</a:t>
            </a:r>
            <a:r>
              <a:rPr dirty="0" sz="1400">
                <a:latin typeface="宋体"/>
                <a:cs typeface="宋体"/>
              </a:rPr>
              <a:t>增量</a:t>
            </a:r>
            <a:r>
              <a:rPr dirty="0" sz="1400" spc="-15">
                <a:latin typeface="宋体"/>
                <a:cs typeface="宋体"/>
              </a:rPr>
              <a:t>空</a:t>
            </a:r>
            <a:r>
              <a:rPr dirty="0" sz="1400" spc="-10">
                <a:latin typeface="宋体"/>
                <a:cs typeface="宋体"/>
              </a:rPr>
              <a:t>间</a:t>
            </a:r>
            <a:r>
              <a:rPr dirty="0" sz="1400">
                <a:latin typeface="宋体"/>
                <a:cs typeface="宋体"/>
              </a:rPr>
              <a:t>。而智</a:t>
            </a:r>
            <a:r>
              <a:rPr dirty="0" sz="1400" spc="-15">
                <a:latin typeface="宋体"/>
                <a:cs typeface="宋体"/>
              </a:rPr>
              <a:t>能</a:t>
            </a:r>
            <a:r>
              <a:rPr dirty="0" sz="1400">
                <a:latin typeface="宋体"/>
                <a:cs typeface="宋体"/>
              </a:rPr>
              <a:t>手机</a:t>
            </a:r>
            <a:r>
              <a:rPr dirty="0" sz="1400" spc="-15">
                <a:latin typeface="宋体"/>
                <a:cs typeface="宋体"/>
              </a:rPr>
              <a:t>是手</a:t>
            </a:r>
            <a:r>
              <a:rPr dirty="0" sz="1400">
                <a:latin typeface="宋体"/>
                <a:cs typeface="宋体"/>
              </a:rPr>
              <a:t>机市场</a:t>
            </a:r>
            <a:r>
              <a:rPr dirty="0" sz="1400" spc="-15">
                <a:latin typeface="宋体"/>
                <a:cs typeface="宋体"/>
              </a:rPr>
              <a:t>未</a:t>
            </a:r>
            <a:r>
              <a:rPr dirty="0" sz="1400">
                <a:latin typeface="宋体"/>
                <a:cs typeface="宋体"/>
              </a:rPr>
              <a:t>来的</a:t>
            </a:r>
            <a:r>
              <a:rPr dirty="0" sz="1400" spc="-15">
                <a:latin typeface="宋体"/>
                <a:cs typeface="宋体"/>
              </a:rPr>
              <a:t>主要</a:t>
            </a:r>
            <a:r>
              <a:rPr dirty="0" sz="1400">
                <a:latin typeface="宋体"/>
                <a:cs typeface="宋体"/>
              </a:rPr>
              <a:t>发展方</a:t>
            </a:r>
            <a:r>
              <a:rPr dirty="0" sz="1400" spc="-5">
                <a:latin typeface="宋体"/>
                <a:cs typeface="宋体"/>
              </a:rPr>
              <a:t>向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7556" y="1053083"/>
            <a:ext cx="8608060" cy="1388745"/>
          </a:xfrm>
          <a:custGeom>
            <a:avLst/>
            <a:gdLst/>
            <a:ahLst/>
            <a:cxnLst/>
            <a:rect l="l" t="t" r="r" b="b"/>
            <a:pathLst>
              <a:path w="8608060" h="1388745">
                <a:moveTo>
                  <a:pt x="0" y="1388364"/>
                </a:moveTo>
                <a:lnTo>
                  <a:pt x="8607552" y="1388364"/>
                </a:lnTo>
                <a:lnTo>
                  <a:pt x="8607552" y="0"/>
                </a:lnTo>
                <a:lnTo>
                  <a:pt x="0" y="0"/>
                </a:lnTo>
                <a:lnTo>
                  <a:pt x="0" y="1388364"/>
                </a:lnTo>
                <a:close/>
              </a:path>
            </a:pathLst>
          </a:custGeom>
          <a:ln w="12192">
            <a:solidFill>
              <a:srgbClr val="4453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40552" y="2689860"/>
            <a:ext cx="2955290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明兰"/>
                <a:cs typeface="明兰"/>
              </a:rPr>
              <a:t>预计阿根廷总人口稳步增长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27801" y="6356096"/>
            <a:ext cx="142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</a:t>
            </a:r>
            <a:r>
              <a:rPr dirty="0" sz="1000" spc="-5">
                <a:latin typeface="宋体"/>
                <a:cs typeface="宋体"/>
              </a:rPr>
              <a:t>据来</a:t>
            </a:r>
            <a:r>
              <a:rPr dirty="0" sz="1000" spc="5">
                <a:latin typeface="宋体"/>
                <a:cs typeface="宋体"/>
              </a:rPr>
              <a:t>源</a:t>
            </a:r>
            <a:r>
              <a:rPr dirty="0" sz="1000" spc="-5">
                <a:latin typeface="宋体"/>
                <a:cs typeface="宋体"/>
              </a:rPr>
              <a:t>：阿</a:t>
            </a:r>
            <a:r>
              <a:rPr dirty="0" sz="1000" spc="5">
                <a:latin typeface="宋体"/>
                <a:cs typeface="宋体"/>
              </a:rPr>
              <a:t>根</a:t>
            </a:r>
            <a:r>
              <a:rPr dirty="0" sz="1000" spc="-5">
                <a:latin typeface="宋体"/>
                <a:cs typeface="宋体"/>
              </a:rPr>
              <a:t>廷统</a:t>
            </a:r>
            <a:r>
              <a:rPr dirty="0" sz="1000" spc="5">
                <a:latin typeface="宋体"/>
                <a:cs typeface="宋体"/>
              </a:rPr>
              <a:t>计</a:t>
            </a:r>
            <a:r>
              <a:rPr dirty="0" sz="1000" spc="-5">
                <a:latin typeface="宋体"/>
                <a:cs typeface="宋体"/>
              </a:rPr>
              <a:t>局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20902" y="3412235"/>
            <a:ext cx="0" cy="1900555"/>
          </a:xfrm>
          <a:custGeom>
            <a:avLst/>
            <a:gdLst/>
            <a:ahLst/>
            <a:cxnLst/>
            <a:rect l="l" t="t" r="r" b="b"/>
            <a:pathLst>
              <a:path w="0" h="1900554">
                <a:moveTo>
                  <a:pt x="0" y="0"/>
                </a:moveTo>
                <a:lnTo>
                  <a:pt x="0" y="1900427"/>
                </a:lnTo>
              </a:path>
            </a:pathLst>
          </a:custGeom>
          <a:ln w="62484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64158" y="4485132"/>
            <a:ext cx="0" cy="828040"/>
          </a:xfrm>
          <a:custGeom>
            <a:avLst/>
            <a:gdLst/>
            <a:ahLst/>
            <a:cxnLst/>
            <a:rect l="l" t="t" r="r" b="b"/>
            <a:pathLst>
              <a:path w="0" h="828039">
                <a:moveTo>
                  <a:pt x="0" y="0"/>
                </a:moveTo>
                <a:lnTo>
                  <a:pt x="0" y="827532"/>
                </a:lnTo>
              </a:path>
            </a:pathLst>
          </a:custGeom>
          <a:ln w="62484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07413" y="4646676"/>
            <a:ext cx="0" cy="666115"/>
          </a:xfrm>
          <a:custGeom>
            <a:avLst/>
            <a:gdLst/>
            <a:ahLst/>
            <a:cxnLst/>
            <a:rect l="l" t="t" r="r" b="b"/>
            <a:pathLst>
              <a:path w="0" h="666114">
                <a:moveTo>
                  <a:pt x="0" y="0"/>
                </a:moveTo>
                <a:lnTo>
                  <a:pt x="0" y="665988"/>
                </a:lnTo>
              </a:path>
            </a:pathLst>
          </a:custGeom>
          <a:ln w="62484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9146" y="5126735"/>
            <a:ext cx="0" cy="186055"/>
          </a:xfrm>
          <a:custGeom>
            <a:avLst/>
            <a:gdLst/>
            <a:ahLst/>
            <a:cxnLst/>
            <a:rect l="l" t="t" r="r" b="b"/>
            <a:pathLst>
              <a:path w="0" h="186054">
                <a:moveTo>
                  <a:pt x="0" y="0"/>
                </a:moveTo>
                <a:lnTo>
                  <a:pt x="0" y="185927"/>
                </a:lnTo>
              </a:path>
            </a:pathLst>
          </a:custGeom>
          <a:ln w="62484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92401" y="5132832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832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35657" y="5134355"/>
            <a:ext cx="0" cy="178435"/>
          </a:xfrm>
          <a:custGeom>
            <a:avLst/>
            <a:gdLst/>
            <a:ahLst/>
            <a:cxnLst/>
            <a:rect l="l" t="t" r="r" b="b"/>
            <a:pathLst>
              <a:path w="0" h="178435">
                <a:moveTo>
                  <a:pt x="0" y="0"/>
                </a:moveTo>
                <a:lnTo>
                  <a:pt x="0" y="178308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78914" y="5160264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21407" y="5173979"/>
            <a:ext cx="0" cy="139065"/>
          </a:xfrm>
          <a:custGeom>
            <a:avLst/>
            <a:gdLst/>
            <a:ahLst/>
            <a:cxnLst/>
            <a:rect l="l" t="t" r="r" b="b"/>
            <a:pathLst>
              <a:path w="0" h="139064">
                <a:moveTo>
                  <a:pt x="0" y="0"/>
                </a:moveTo>
                <a:lnTo>
                  <a:pt x="0" y="138684"/>
                </a:lnTo>
              </a:path>
            </a:pathLst>
          </a:custGeom>
          <a:ln w="60960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63901" y="5204459"/>
            <a:ext cx="0" cy="108585"/>
          </a:xfrm>
          <a:custGeom>
            <a:avLst/>
            <a:gdLst/>
            <a:ahLst/>
            <a:cxnLst/>
            <a:rect l="l" t="t" r="r" b="b"/>
            <a:pathLst>
              <a:path w="0" h="108585">
                <a:moveTo>
                  <a:pt x="0" y="0"/>
                </a:moveTo>
                <a:lnTo>
                  <a:pt x="0" y="108203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07157" y="5210555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0"/>
                </a:moveTo>
                <a:lnTo>
                  <a:pt x="0" y="102108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50414" y="5212079"/>
            <a:ext cx="0" cy="100965"/>
          </a:xfrm>
          <a:custGeom>
            <a:avLst/>
            <a:gdLst/>
            <a:ahLst/>
            <a:cxnLst/>
            <a:rect l="l" t="t" r="r" b="b"/>
            <a:pathLst>
              <a:path w="0" h="100964">
                <a:moveTo>
                  <a:pt x="0" y="0"/>
                </a:moveTo>
                <a:lnTo>
                  <a:pt x="0" y="100584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93670" y="5212079"/>
            <a:ext cx="0" cy="100965"/>
          </a:xfrm>
          <a:custGeom>
            <a:avLst/>
            <a:gdLst/>
            <a:ahLst/>
            <a:cxnLst/>
            <a:rect l="l" t="t" r="r" b="b"/>
            <a:pathLst>
              <a:path w="0" h="100964">
                <a:moveTo>
                  <a:pt x="0" y="0"/>
                </a:moveTo>
                <a:lnTo>
                  <a:pt x="0" y="100584"/>
                </a:lnTo>
              </a:path>
            </a:pathLst>
          </a:custGeom>
          <a:ln w="62484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35401" y="5218176"/>
            <a:ext cx="0" cy="94615"/>
          </a:xfrm>
          <a:custGeom>
            <a:avLst/>
            <a:gdLst/>
            <a:ahLst/>
            <a:cxnLst/>
            <a:rect l="l" t="t" r="r" b="b"/>
            <a:pathLst>
              <a:path w="0" h="94614">
                <a:moveTo>
                  <a:pt x="0" y="0"/>
                </a:moveTo>
                <a:lnTo>
                  <a:pt x="0" y="94487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78657" y="5221223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0"/>
                </a:moveTo>
                <a:lnTo>
                  <a:pt x="0" y="91439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21914" y="5225796"/>
            <a:ext cx="0" cy="86995"/>
          </a:xfrm>
          <a:custGeom>
            <a:avLst/>
            <a:gdLst/>
            <a:ahLst/>
            <a:cxnLst/>
            <a:rect l="l" t="t" r="r" b="b"/>
            <a:pathLst>
              <a:path w="0" h="86995">
                <a:moveTo>
                  <a:pt x="0" y="0"/>
                </a:moveTo>
                <a:lnTo>
                  <a:pt x="0" y="86867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33927" y="5228844"/>
            <a:ext cx="62865" cy="83820"/>
          </a:xfrm>
          <a:custGeom>
            <a:avLst/>
            <a:gdLst/>
            <a:ahLst/>
            <a:cxnLst/>
            <a:rect l="l" t="t" r="r" b="b"/>
            <a:pathLst>
              <a:path w="62864" h="83820">
                <a:moveTo>
                  <a:pt x="62484" y="0"/>
                </a:moveTo>
                <a:lnTo>
                  <a:pt x="0" y="0"/>
                </a:lnTo>
                <a:lnTo>
                  <a:pt x="0" y="83819"/>
                </a:lnTo>
                <a:lnTo>
                  <a:pt x="62484" y="83819"/>
                </a:lnTo>
                <a:lnTo>
                  <a:pt x="6248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75659" y="5231891"/>
            <a:ext cx="62865" cy="81280"/>
          </a:xfrm>
          <a:custGeom>
            <a:avLst/>
            <a:gdLst/>
            <a:ahLst/>
            <a:cxnLst/>
            <a:rect l="l" t="t" r="r" b="b"/>
            <a:pathLst>
              <a:path w="62864" h="81279">
                <a:moveTo>
                  <a:pt x="62484" y="0"/>
                </a:moveTo>
                <a:lnTo>
                  <a:pt x="0" y="0"/>
                </a:lnTo>
                <a:lnTo>
                  <a:pt x="0" y="80771"/>
                </a:lnTo>
                <a:lnTo>
                  <a:pt x="62484" y="80771"/>
                </a:lnTo>
                <a:lnTo>
                  <a:pt x="6248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518915" y="5234940"/>
            <a:ext cx="62865" cy="78105"/>
          </a:xfrm>
          <a:custGeom>
            <a:avLst/>
            <a:gdLst/>
            <a:ahLst/>
            <a:cxnLst/>
            <a:rect l="l" t="t" r="r" b="b"/>
            <a:pathLst>
              <a:path w="62864" h="78104">
                <a:moveTo>
                  <a:pt x="62484" y="0"/>
                </a:moveTo>
                <a:lnTo>
                  <a:pt x="0" y="0"/>
                </a:lnTo>
                <a:lnTo>
                  <a:pt x="0" y="77724"/>
                </a:lnTo>
                <a:lnTo>
                  <a:pt x="62484" y="77724"/>
                </a:lnTo>
                <a:lnTo>
                  <a:pt x="6248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62171" y="5247132"/>
            <a:ext cx="62865" cy="66040"/>
          </a:xfrm>
          <a:custGeom>
            <a:avLst/>
            <a:gdLst/>
            <a:ahLst/>
            <a:cxnLst/>
            <a:rect l="l" t="t" r="r" b="b"/>
            <a:pathLst>
              <a:path w="62864" h="66039">
                <a:moveTo>
                  <a:pt x="62483" y="0"/>
                </a:moveTo>
                <a:lnTo>
                  <a:pt x="0" y="0"/>
                </a:lnTo>
                <a:lnTo>
                  <a:pt x="0" y="65532"/>
                </a:lnTo>
                <a:lnTo>
                  <a:pt x="62483" y="65532"/>
                </a:lnTo>
                <a:lnTo>
                  <a:pt x="6248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05428" y="5257800"/>
            <a:ext cx="62865" cy="55244"/>
          </a:xfrm>
          <a:custGeom>
            <a:avLst/>
            <a:gdLst/>
            <a:ahLst/>
            <a:cxnLst/>
            <a:rect l="l" t="t" r="r" b="b"/>
            <a:pathLst>
              <a:path w="62864" h="55245">
                <a:moveTo>
                  <a:pt x="62484" y="0"/>
                </a:moveTo>
                <a:lnTo>
                  <a:pt x="0" y="0"/>
                </a:lnTo>
                <a:lnTo>
                  <a:pt x="0" y="54863"/>
                </a:lnTo>
                <a:lnTo>
                  <a:pt x="62484" y="54863"/>
                </a:lnTo>
                <a:lnTo>
                  <a:pt x="6248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48684" y="5259323"/>
            <a:ext cx="62865" cy="53340"/>
          </a:xfrm>
          <a:custGeom>
            <a:avLst/>
            <a:gdLst/>
            <a:ahLst/>
            <a:cxnLst/>
            <a:rect l="l" t="t" r="r" b="b"/>
            <a:pathLst>
              <a:path w="62864" h="53339">
                <a:moveTo>
                  <a:pt x="62483" y="0"/>
                </a:moveTo>
                <a:lnTo>
                  <a:pt x="0" y="0"/>
                </a:lnTo>
                <a:lnTo>
                  <a:pt x="0" y="53339"/>
                </a:lnTo>
                <a:lnTo>
                  <a:pt x="62483" y="53339"/>
                </a:lnTo>
                <a:lnTo>
                  <a:pt x="6248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0415" y="5260847"/>
            <a:ext cx="62865" cy="52069"/>
          </a:xfrm>
          <a:custGeom>
            <a:avLst/>
            <a:gdLst/>
            <a:ahLst/>
            <a:cxnLst/>
            <a:rect l="l" t="t" r="r" b="b"/>
            <a:pathLst>
              <a:path w="62864" h="52070">
                <a:moveTo>
                  <a:pt x="62484" y="0"/>
                </a:moveTo>
                <a:lnTo>
                  <a:pt x="0" y="0"/>
                </a:lnTo>
                <a:lnTo>
                  <a:pt x="0" y="51815"/>
                </a:lnTo>
                <a:lnTo>
                  <a:pt x="62484" y="51815"/>
                </a:lnTo>
                <a:lnTo>
                  <a:pt x="6248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33671" y="5266944"/>
            <a:ext cx="62865" cy="45720"/>
          </a:xfrm>
          <a:custGeom>
            <a:avLst/>
            <a:gdLst/>
            <a:ahLst/>
            <a:cxnLst/>
            <a:rect l="l" t="t" r="r" b="b"/>
            <a:pathLst>
              <a:path w="62864" h="45720">
                <a:moveTo>
                  <a:pt x="62483" y="0"/>
                </a:moveTo>
                <a:lnTo>
                  <a:pt x="0" y="0"/>
                </a:lnTo>
                <a:lnTo>
                  <a:pt x="0" y="45719"/>
                </a:lnTo>
                <a:lnTo>
                  <a:pt x="62483" y="45719"/>
                </a:lnTo>
                <a:lnTo>
                  <a:pt x="6248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76928" y="5269991"/>
            <a:ext cx="62865" cy="43180"/>
          </a:xfrm>
          <a:custGeom>
            <a:avLst/>
            <a:gdLst/>
            <a:ahLst/>
            <a:cxnLst/>
            <a:rect l="l" t="t" r="r" b="b"/>
            <a:pathLst>
              <a:path w="62864" h="43179">
                <a:moveTo>
                  <a:pt x="62484" y="0"/>
                </a:moveTo>
                <a:lnTo>
                  <a:pt x="0" y="0"/>
                </a:lnTo>
                <a:lnTo>
                  <a:pt x="0" y="42672"/>
                </a:lnTo>
                <a:lnTo>
                  <a:pt x="62484" y="42672"/>
                </a:lnTo>
                <a:lnTo>
                  <a:pt x="6248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20184" y="5271515"/>
            <a:ext cx="62865" cy="41275"/>
          </a:xfrm>
          <a:custGeom>
            <a:avLst/>
            <a:gdLst/>
            <a:ahLst/>
            <a:cxnLst/>
            <a:rect l="l" t="t" r="r" b="b"/>
            <a:pathLst>
              <a:path w="62864" h="41275">
                <a:moveTo>
                  <a:pt x="62483" y="0"/>
                </a:moveTo>
                <a:lnTo>
                  <a:pt x="0" y="0"/>
                </a:lnTo>
                <a:lnTo>
                  <a:pt x="0" y="41148"/>
                </a:lnTo>
                <a:lnTo>
                  <a:pt x="62483" y="41148"/>
                </a:lnTo>
                <a:lnTo>
                  <a:pt x="6248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22291" y="3281171"/>
            <a:ext cx="0" cy="2032000"/>
          </a:xfrm>
          <a:custGeom>
            <a:avLst/>
            <a:gdLst/>
            <a:ahLst/>
            <a:cxnLst/>
            <a:rect l="l" t="t" r="r" b="b"/>
            <a:pathLst>
              <a:path w="0" h="2032000">
                <a:moveTo>
                  <a:pt x="0" y="2031491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75047" y="53126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75047" y="50581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575047" y="48051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575047" y="45506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75047" y="42961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75047" y="40431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575047" y="37886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75047" y="35341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75047" y="32811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50036" y="3281171"/>
            <a:ext cx="0" cy="2032000"/>
          </a:xfrm>
          <a:custGeom>
            <a:avLst/>
            <a:gdLst/>
            <a:ahLst/>
            <a:cxnLst/>
            <a:rect l="l" t="t" r="r" b="b"/>
            <a:pathLst>
              <a:path w="0" h="2032000">
                <a:moveTo>
                  <a:pt x="0" y="2031491"/>
                </a:moveTo>
                <a:lnTo>
                  <a:pt x="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50036" y="53126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50036" y="51099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50036" y="49057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50036" y="47030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50036" y="45003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50036" y="42961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50036" y="40934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50036" y="38907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50036" y="368655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50036" y="34838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050036" y="328117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50036" y="5312664"/>
            <a:ext cx="3572510" cy="0"/>
          </a:xfrm>
          <a:custGeom>
            <a:avLst/>
            <a:gdLst/>
            <a:ahLst/>
            <a:cxnLst/>
            <a:rect l="l" t="t" r="r" b="b"/>
            <a:pathLst>
              <a:path w="3572510" h="0">
                <a:moveTo>
                  <a:pt x="0" y="0"/>
                </a:moveTo>
                <a:lnTo>
                  <a:pt x="357225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20902" y="3562350"/>
            <a:ext cx="3430904" cy="1710055"/>
          </a:xfrm>
          <a:custGeom>
            <a:avLst/>
            <a:gdLst/>
            <a:ahLst/>
            <a:cxnLst/>
            <a:rect l="l" t="t" r="r" b="b"/>
            <a:pathLst>
              <a:path w="3430904" h="1710054">
                <a:moveTo>
                  <a:pt x="0" y="0"/>
                </a:moveTo>
                <a:lnTo>
                  <a:pt x="143256" y="68580"/>
                </a:lnTo>
                <a:lnTo>
                  <a:pt x="286511" y="1338072"/>
                </a:lnTo>
                <a:lnTo>
                  <a:pt x="428244" y="1418844"/>
                </a:lnTo>
                <a:lnTo>
                  <a:pt x="571499" y="1487424"/>
                </a:lnTo>
                <a:lnTo>
                  <a:pt x="714755" y="1588008"/>
                </a:lnTo>
                <a:lnTo>
                  <a:pt x="858011" y="1566672"/>
                </a:lnTo>
                <a:lnTo>
                  <a:pt x="999743" y="1589532"/>
                </a:lnTo>
                <a:lnTo>
                  <a:pt x="1142999" y="1667256"/>
                </a:lnTo>
                <a:lnTo>
                  <a:pt x="1286255" y="1645920"/>
                </a:lnTo>
                <a:lnTo>
                  <a:pt x="1429511" y="1673352"/>
                </a:lnTo>
                <a:lnTo>
                  <a:pt x="1572767" y="1620012"/>
                </a:lnTo>
                <a:lnTo>
                  <a:pt x="1714500" y="1665732"/>
                </a:lnTo>
                <a:lnTo>
                  <a:pt x="1857755" y="1685544"/>
                </a:lnTo>
                <a:lnTo>
                  <a:pt x="2001012" y="1505712"/>
                </a:lnTo>
                <a:lnTo>
                  <a:pt x="2144268" y="1630680"/>
                </a:lnTo>
                <a:lnTo>
                  <a:pt x="2286000" y="1709927"/>
                </a:lnTo>
                <a:lnTo>
                  <a:pt x="2429256" y="1662683"/>
                </a:lnTo>
                <a:lnTo>
                  <a:pt x="2572512" y="1514856"/>
                </a:lnTo>
                <a:lnTo>
                  <a:pt x="2715768" y="1703832"/>
                </a:lnTo>
                <a:lnTo>
                  <a:pt x="2859024" y="1691639"/>
                </a:lnTo>
                <a:lnTo>
                  <a:pt x="3000756" y="1648968"/>
                </a:lnTo>
                <a:lnTo>
                  <a:pt x="3144012" y="1688591"/>
                </a:lnTo>
                <a:lnTo>
                  <a:pt x="3287268" y="1702308"/>
                </a:lnTo>
                <a:lnTo>
                  <a:pt x="3430524" y="1694688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740402" y="3106445"/>
            <a:ext cx="767715" cy="231267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300" spc="-5">
                <a:latin typeface="宋体"/>
                <a:cs typeface="宋体"/>
              </a:rPr>
              <a:t>1,600,000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300" spc="-5">
                <a:latin typeface="宋体"/>
                <a:cs typeface="宋体"/>
              </a:rPr>
              <a:t>1,400,000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00" spc="-5">
                <a:latin typeface="宋体"/>
                <a:cs typeface="宋体"/>
              </a:rPr>
              <a:t>1,200,000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300" spc="-5">
                <a:latin typeface="宋体"/>
                <a:cs typeface="宋体"/>
              </a:rPr>
              <a:t>1,000,000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00" spc="-5">
                <a:latin typeface="宋体"/>
                <a:cs typeface="宋体"/>
              </a:rPr>
              <a:t>800,000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300" spc="-5">
                <a:latin typeface="宋体"/>
                <a:cs typeface="宋体"/>
              </a:rPr>
              <a:t>600,000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300" spc="-5">
                <a:latin typeface="宋体"/>
                <a:cs typeface="宋体"/>
              </a:rPr>
              <a:t>400,000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300" spc="-5">
                <a:latin typeface="宋体"/>
                <a:cs typeface="宋体"/>
              </a:rPr>
              <a:t>200,000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46684" y="3163061"/>
            <a:ext cx="603250" cy="2256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50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45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40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35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300" spc="-5">
                <a:latin typeface="宋体"/>
                <a:cs typeface="宋体"/>
              </a:rPr>
              <a:t>30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25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15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,000</a:t>
            </a:r>
            <a:endParaRPr sz="1300">
              <a:latin typeface="宋体"/>
              <a:cs typeface="宋体"/>
            </a:endParaRPr>
          </a:p>
          <a:p>
            <a:pPr algn="ctr" marL="82550">
              <a:lnSpc>
                <a:spcPct val="100000"/>
              </a:lnSpc>
              <a:spcBef>
                <a:spcPts val="40"/>
              </a:spcBef>
            </a:pPr>
            <a:r>
              <a:rPr dirty="0" sz="1300" spc="-5">
                <a:latin typeface="宋体"/>
                <a:cs typeface="宋体"/>
              </a:rPr>
              <a:t>50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  <a:spcBef>
                <a:spcPts val="4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50728" y="5396555"/>
            <a:ext cx="3620770" cy="8509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507365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中国</a:t>
            </a:r>
            <a:endParaRPr sz="1300">
              <a:latin typeface="宋体"/>
              <a:cs typeface="宋体"/>
            </a:endParaRPr>
          </a:p>
          <a:p>
            <a:pPr algn="r" marL="342265" marR="6350" indent="164465">
              <a:lnSpc>
                <a:spcPct val="144200"/>
              </a:lnSpc>
            </a:pPr>
            <a:r>
              <a:rPr dirty="0" sz="1300">
                <a:latin typeface="宋体"/>
                <a:cs typeface="宋体"/>
              </a:rPr>
              <a:t>美国 巴西  俄罗斯</a:t>
            </a:r>
            <a:endParaRPr sz="1300">
              <a:latin typeface="宋体"/>
              <a:cs typeface="宋体"/>
            </a:endParaRPr>
          </a:p>
          <a:p>
            <a:pPr algn="r" marL="342265" marR="6350" indent="164465">
              <a:lnSpc>
                <a:spcPct val="144300"/>
              </a:lnSpc>
            </a:pPr>
            <a:r>
              <a:rPr dirty="0" sz="1300">
                <a:latin typeface="宋体"/>
                <a:cs typeface="宋体"/>
              </a:rPr>
              <a:t>英国 意大利</a:t>
            </a:r>
            <a:endParaRPr sz="1300">
              <a:latin typeface="宋体"/>
              <a:cs typeface="宋体"/>
            </a:endParaRPr>
          </a:p>
          <a:p>
            <a:pPr algn="r" marL="12700" marR="5080" indent="494665">
              <a:lnSpc>
                <a:spcPct val="144300"/>
              </a:lnSpc>
            </a:pPr>
            <a:r>
              <a:rPr dirty="0" sz="1300">
                <a:latin typeface="宋体"/>
                <a:cs typeface="宋体"/>
              </a:rPr>
              <a:t>法国 巴基斯坦  沙特阿</a:t>
            </a:r>
            <a:r>
              <a:rPr dirty="0" sz="1300" spc="15">
                <a:latin typeface="宋体"/>
                <a:cs typeface="宋体"/>
              </a:rPr>
              <a:t>拉</a:t>
            </a:r>
            <a:r>
              <a:rPr dirty="0" sz="1300">
                <a:latin typeface="宋体"/>
                <a:cs typeface="宋体"/>
              </a:rPr>
              <a:t>伯 尼日利亚  西班牙</a:t>
            </a:r>
            <a:endParaRPr sz="1300">
              <a:latin typeface="宋体"/>
              <a:cs typeface="宋体"/>
            </a:endParaRPr>
          </a:p>
          <a:p>
            <a:pPr algn="r" marR="6985">
              <a:lnSpc>
                <a:spcPct val="100000"/>
              </a:lnSpc>
              <a:spcBef>
                <a:spcPts val="690"/>
              </a:spcBef>
            </a:pPr>
            <a:r>
              <a:rPr dirty="0" sz="1300" spc="-5">
                <a:latin typeface="宋体"/>
                <a:cs typeface="宋体"/>
              </a:rPr>
              <a:t>哥伦比亚</a:t>
            </a:r>
            <a:endParaRPr sz="1300">
              <a:latin typeface="宋体"/>
              <a:cs typeface="宋体"/>
            </a:endParaRPr>
          </a:p>
          <a:p>
            <a:pPr algn="r" marR="6350">
              <a:lnSpc>
                <a:spcPct val="100000"/>
              </a:lnSpc>
              <a:spcBef>
                <a:spcPts val="690"/>
              </a:spcBef>
            </a:pPr>
            <a:r>
              <a:rPr dirty="0" sz="1300">
                <a:latin typeface="宋体"/>
                <a:cs typeface="宋体"/>
              </a:rPr>
              <a:t>阿根廷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29055" y="311124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7467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124961" y="311124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085799" y="2993898"/>
            <a:ext cx="39719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08225" algn="l"/>
              </a:tabLst>
            </a:pPr>
            <a:r>
              <a:rPr dirty="0" sz="1300" spc="-5">
                <a:latin typeface="宋体"/>
                <a:cs typeface="宋体"/>
              </a:rPr>
              <a:t>2016年</a:t>
            </a:r>
            <a:r>
              <a:rPr dirty="0" sz="1300" spc="5">
                <a:latin typeface="宋体"/>
                <a:cs typeface="宋体"/>
              </a:rPr>
              <a:t>手</a:t>
            </a:r>
            <a:r>
              <a:rPr dirty="0" sz="1300" spc="-5">
                <a:latin typeface="宋体"/>
                <a:cs typeface="宋体"/>
              </a:rPr>
              <a:t>机销</a:t>
            </a:r>
            <a:r>
              <a:rPr dirty="0" sz="1300" spc="5">
                <a:latin typeface="宋体"/>
                <a:cs typeface="宋体"/>
              </a:rPr>
              <a:t>售</a:t>
            </a:r>
            <a:r>
              <a:rPr dirty="0" sz="1300" spc="-5">
                <a:latin typeface="宋体"/>
                <a:cs typeface="宋体"/>
              </a:rPr>
              <a:t>量</a:t>
            </a:r>
            <a:r>
              <a:rPr dirty="0" sz="1300" spc="5">
                <a:latin typeface="宋体"/>
                <a:cs typeface="宋体"/>
              </a:rPr>
              <a:t>（</a:t>
            </a:r>
            <a:r>
              <a:rPr dirty="0" sz="1300" spc="-5">
                <a:latin typeface="宋体"/>
                <a:cs typeface="宋体"/>
              </a:rPr>
              <a:t>千台）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2016年</a:t>
            </a:r>
            <a:r>
              <a:rPr dirty="0" sz="1300" spc="5">
                <a:latin typeface="宋体"/>
                <a:cs typeface="宋体"/>
              </a:rPr>
              <a:t>总</a:t>
            </a:r>
            <a:r>
              <a:rPr dirty="0" sz="1300" spc="-5">
                <a:latin typeface="宋体"/>
                <a:cs typeface="宋体"/>
              </a:rPr>
              <a:t>人口</a:t>
            </a:r>
            <a:r>
              <a:rPr dirty="0" sz="1300" spc="5">
                <a:latin typeface="宋体"/>
                <a:cs typeface="宋体"/>
              </a:rPr>
              <a:t>（</a:t>
            </a:r>
            <a:r>
              <a:rPr dirty="0" sz="1300" spc="-5">
                <a:latin typeface="宋体"/>
                <a:cs typeface="宋体"/>
              </a:rPr>
              <a:t>千</a:t>
            </a:r>
            <a:r>
              <a:rPr dirty="0" sz="1300" spc="5">
                <a:latin typeface="宋体"/>
                <a:cs typeface="宋体"/>
              </a:rPr>
              <a:t>人</a:t>
            </a:r>
            <a:r>
              <a:rPr dirty="0" sz="1300" spc="-5">
                <a:latin typeface="宋体"/>
                <a:cs typeface="宋体"/>
              </a:rPr>
              <a:t>）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67500" y="3412235"/>
            <a:ext cx="0" cy="2374900"/>
          </a:xfrm>
          <a:custGeom>
            <a:avLst/>
            <a:gdLst/>
            <a:ahLst/>
            <a:cxnLst/>
            <a:rect l="l" t="t" r="r" b="b"/>
            <a:pathLst>
              <a:path w="0" h="2374900">
                <a:moveTo>
                  <a:pt x="0" y="2374391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667500" y="5786628"/>
            <a:ext cx="2228215" cy="0"/>
          </a:xfrm>
          <a:custGeom>
            <a:avLst/>
            <a:gdLst/>
            <a:ahLst/>
            <a:cxnLst/>
            <a:rect l="l" t="t" r="r" b="b"/>
            <a:pathLst>
              <a:path w="2228215" h="0">
                <a:moveTo>
                  <a:pt x="0" y="0"/>
                </a:moveTo>
                <a:lnTo>
                  <a:pt x="2228088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76263" y="3556889"/>
            <a:ext cx="2209800" cy="1368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5947409" y="3194963"/>
            <a:ext cx="520700" cy="269875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300" spc="-5">
                <a:latin typeface="宋体"/>
                <a:cs typeface="宋体"/>
              </a:rPr>
              <a:t>54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5">
                <a:latin typeface="宋体"/>
                <a:cs typeface="宋体"/>
              </a:rPr>
              <a:t>52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5">
                <a:latin typeface="宋体"/>
                <a:cs typeface="宋体"/>
              </a:rPr>
              <a:t>50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300" spc="-5">
                <a:latin typeface="宋体"/>
                <a:cs typeface="宋体"/>
              </a:rPr>
              <a:t>48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5">
                <a:latin typeface="宋体"/>
                <a:cs typeface="宋体"/>
              </a:rPr>
              <a:t>46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5">
                <a:latin typeface="宋体"/>
                <a:cs typeface="宋体"/>
              </a:rPr>
              <a:t>44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300" spc="-5">
                <a:latin typeface="宋体"/>
                <a:cs typeface="宋体"/>
              </a:rPr>
              <a:t>42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5">
                <a:latin typeface="宋体"/>
                <a:cs typeface="宋体"/>
              </a:rPr>
              <a:t>40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5">
                <a:latin typeface="宋体"/>
                <a:cs typeface="宋体"/>
              </a:rPr>
              <a:t>38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619399" y="5870147"/>
            <a:ext cx="2140585" cy="35623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75"/>
              </a:lnSpc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1</a:t>
            </a:r>
            <a:r>
              <a:rPr dirty="0" sz="1300">
                <a:latin typeface="宋体"/>
                <a:cs typeface="宋体"/>
              </a:rPr>
              <a:t>7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2</a:t>
            </a:r>
            <a:r>
              <a:rPr dirty="0" sz="1300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2</a:t>
            </a:r>
            <a:r>
              <a:rPr dirty="0" sz="1300">
                <a:latin typeface="宋体"/>
                <a:cs typeface="宋体"/>
              </a:rPr>
              <a:t>3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2</a:t>
            </a:r>
            <a:r>
              <a:rPr dirty="0" sz="1300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2</a:t>
            </a:r>
            <a:r>
              <a:rPr dirty="0" sz="1300">
                <a:latin typeface="宋体"/>
                <a:cs typeface="宋体"/>
              </a:rPr>
              <a:t>9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3</a:t>
            </a:r>
            <a:r>
              <a:rPr dirty="0" sz="1300">
                <a:latin typeface="宋体"/>
                <a:cs typeface="宋体"/>
              </a:rPr>
              <a:t>2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3</a:t>
            </a:r>
            <a:r>
              <a:rPr dirty="0" sz="1300">
                <a:latin typeface="宋体"/>
                <a:cs typeface="宋体"/>
              </a:rPr>
              <a:t>5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300">
                <a:latin typeface="宋体"/>
                <a:cs typeface="宋体"/>
              </a:rPr>
              <a:t>20</a:t>
            </a:r>
            <a:r>
              <a:rPr dirty="0" sz="1300" spc="10">
                <a:latin typeface="宋体"/>
                <a:cs typeface="宋体"/>
              </a:rPr>
              <a:t>3</a:t>
            </a:r>
            <a:r>
              <a:rPr dirty="0" sz="1300">
                <a:latin typeface="宋体"/>
                <a:cs typeface="宋体"/>
              </a:rPr>
              <a:t>8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735318" y="3095244"/>
            <a:ext cx="243839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992493" y="3014852"/>
            <a:ext cx="15093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预测总</a:t>
            </a:r>
            <a:r>
              <a:rPr dirty="0" sz="1300" spc="5">
                <a:latin typeface="宋体"/>
                <a:cs typeface="宋体"/>
              </a:rPr>
              <a:t>人</a:t>
            </a:r>
            <a:r>
              <a:rPr dirty="0" sz="1300" spc="-5">
                <a:latin typeface="宋体"/>
                <a:cs typeface="宋体"/>
              </a:rPr>
              <a:t>口（</a:t>
            </a:r>
            <a:r>
              <a:rPr dirty="0" sz="1300" spc="5">
                <a:latin typeface="宋体"/>
                <a:cs typeface="宋体"/>
              </a:rPr>
              <a:t>千</a:t>
            </a:r>
            <a:r>
              <a:rPr dirty="0" sz="1300" spc="-5">
                <a:latin typeface="宋体"/>
                <a:cs typeface="宋体"/>
              </a:rPr>
              <a:t>人）</a:t>
            </a:r>
            <a:endParaRPr sz="1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8383"/>
            <a:ext cx="33445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阿根廷智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能手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机市场发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展趋势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556" y="2689860"/>
            <a:ext cx="3990340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明兰"/>
                <a:cs typeface="明兰"/>
              </a:rPr>
              <a:t>阿根廷智能手机平均单价情况及预测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124" y="6356096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56" y="1053083"/>
            <a:ext cx="8608060" cy="1369060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375"/>
              </a:spcBef>
            </a:pPr>
            <a:r>
              <a:rPr dirty="0" sz="1400" b="1">
                <a:latin typeface="明兰"/>
                <a:cs typeface="明兰"/>
              </a:rPr>
              <a:t>智能手</a:t>
            </a:r>
            <a:r>
              <a:rPr dirty="0" sz="1400" spc="-15" b="1">
                <a:latin typeface="明兰"/>
                <a:cs typeface="明兰"/>
              </a:rPr>
              <a:t>机</a:t>
            </a:r>
            <a:r>
              <a:rPr dirty="0" sz="1400" b="1">
                <a:latin typeface="明兰"/>
                <a:cs typeface="明兰"/>
              </a:rPr>
              <a:t>主流</a:t>
            </a:r>
            <a:r>
              <a:rPr dirty="0" sz="1400" spc="-15" b="1">
                <a:latin typeface="明兰"/>
                <a:cs typeface="明兰"/>
              </a:rPr>
              <a:t>消费</a:t>
            </a:r>
            <a:r>
              <a:rPr dirty="0" sz="1400" b="1">
                <a:latin typeface="明兰"/>
                <a:cs typeface="明兰"/>
              </a:rPr>
              <a:t>由低端</a:t>
            </a:r>
            <a:r>
              <a:rPr dirty="0" sz="1400" spc="-15" b="1">
                <a:latin typeface="明兰"/>
                <a:cs typeface="明兰"/>
              </a:rPr>
              <a:t>进</a:t>
            </a:r>
            <a:r>
              <a:rPr dirty="0" sz="1400" b="1">
                <a:latin typeface="明兰"/>
                <a:cs typeface="明兰"/>
              </a:rPr>
              <a:t>入中</a:t>
            </a:r>
            <a:r>
              <a:rPr dirty="0" sz="1400" spc="-15" b="1">
                <a:latin typeface="明兰"/>
                <a:cs typeface="明兰"/>
              </a:rPr>
              <a:t>低</a:t>
            </a:r>
            <a:r>
              <a:rPr dirty="0" sz="1400" spc="-10" b="1">
                <a:latin typeface="明兰"/>
                <a:cs typeface="明兰"/>
              </a:rPr>
              <a:t>端</a:t>
            </a:r>
            <a:r>
              <a:rPr dirty="0" sz="1400" b="1">
                <a:latin typeface="明兰"/>
                <a:cs typeface="明兰"/>
              </a:rPr>
              <a:t>，消费</a:t>
            </a:r>
            <a:r>
              <a:rPr dirty="0" sz="1400" spc="-15" b="1">
                <a:latin typeface="明兰"/>
                <a:cs typeface="明兰"/>
              </a:rPr>
              <a:t>升</a:t>
            </a:r>
            <a:r>
              <a:rPr dirty="0" sz="1400" b="1">
                <a:latin typeface="明兰"/>
                <a:cs typeface="明兰"/>
              </a:rPr>
              <a:t>级趋</a:t>
            </a:r>
            <a:r>
              <a:rPr dirty="0" sz="1400" spc="-15" b="1">
                <a:latin typeface="明兰"/>
                <a:cs typeface="明兰"/>
              </a:rPr>
              <a:t>势明</a:t>
            </a:r>
            <a:r>
              <a:rPr dirty="0" sz="1400" b="1">
                <a:latin typeface="明兰"/>
                <a:cs typeface="明兰"/>
              </a:rPr>
              <a:t>显：</a:t>
            </a:r>
            <a:endParaRPr sz="1400">
              <a:latin typeface="明兰"/>
              <a:cs typeface="明兰"/>
            </a:endParaRPr>
          </a:p>
          <a:p>
            <a:pPr marL="548005">
              <a:lnSpc>
                <a:spcPct val="100000"/>
              </a:lnSpc>
            </a:pPr>
            <a:r>
              <a:rPr dirty="0" sz="1400" spc="10" b="1">
                <a:latin typeface="明兰"/>
                <a:cs typeface="明兰"/>
              </a:rPr>
              <a:t>阿根廷智能手</a:t>
            </a:r>
            <a:r>
              <a:rPr dirty="0" sz="1400" b="1">
                <a:latin typeface="明兰"/>
                <a:cs typeface="明兰"/>
              </a:rPr>
              <a:t>机主</a:t>
            </a:r>
            <a:r>
              <a:rPr dirty="0" sz="1400" spc="10" b="1">
                <a:latin typeface="明兰"/>
                <a:cs typeface="明兰"/>
              </a:rPr>
              <a:t>流消费价格</a:t>
            </a:r>
            <a:r>
              <a:rPr dirty="0" sz="1400" b="1">
                <a:latin typeface="明兰"/>
                <a:cs typeface="明兰"/>
              </a:rPr>
              <a:t>进</a:t>
            </a:r>
            <a:r>
              <a:rPr dirty="0" sz="1400" spc="35" b="1">
                <a:latin typeface="明兰"/>
                <a:cs typeface="明兰"/>
              </a:rPr>
              <a:t>入</a:t>
            </a:r>
            <a:r>
              <a:rPr dirty="0" sz="1400" spc="-15" b="1">
                <a:latin typeface="Arial"/>
                <a:cs typeface="Arial"/>
              </a:rPr>
              <a:t>3000</a:t>
            </a:r>
            <a:r>
              <a:rPr dirty="0" sz="1400" spc="10" b="1">
                <a:latin typeface="明兰"/>
                <a:cs typeface="明兰"/>
              </a:rPr>
              <a:t>比索以上。</a:t>
            </a:r>
            <a:r>
              <a:rPr dirty="0" sz="1400" spc="10">
                <a:latin typeface="宋体"/>
                <a:cs typeface="宋体"/>
              </a:rPr>
              <a:t>根据</a:t>
            </a:r>
            <a:r>
              <a:rPr dirty="0" sz="1400">
                <a:latin typeface="宋体"/>
                <a:cs typeface="宋体"/>
              </a:rPr>
              <a:t>彭</a:t>
            </a:r>
            <a:r>
              <a:rPr dirty="0" sz="1400" spc="10">
                <a:latin typeface="宋体"/>
                <a:cs typeface="宋体"/>
              </a:rPr>
              <a:t>博数</a:t>
            </a:r>
            <a:r>
              <a:rPr dirty="0" sz="1400" spc="15">
                <a:latin typeface="宋体"/>
                <a:cs typeface="宋体"/>
              </a:rPr>
              <a:t>据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5">
                <a:latin typeface="Arial"/>
                <a:cs typeface="Arial"/>
              </a:rPr>
              <a:t>2016</a:t>
            </a:r>
            <a:r>
              <a:rPr dirty="0" sz="1400" spc="10">
                <a:latin typeface="宋体"/>
                <a:cs typeface="宋体"/>
              </a:rPr>
              <a:t>年阿根廷智能</a:t>
            </a:r>
            <a:r>
              <a:rPr dirty="0" sz="1400">
                <a:latin typeface="宋体"/>
                <a:cs typeface="宋体"/>
              </a:rPr>
              <a:t>手</a:t>
            </a:r>
            <a:r>
              <a:rPr dirty="0" sz="1400" spc="10">
                <a:latin typeface="宋体"/>
                <a:cs typeface="宋体"/>
              </a:rPr>
              <a:t>机平</a:t>
            </a:r>
            <a:r>
              <a:rPr dirty="0" sz="1400">
                <a:latin typeface="宋体"/>
                <a:cs typeface="宋体"/>
              </a:rPr>
              <a:t>均</a:t>
            </a:r>
            <a:r>
              <a:rPr dirty="0" sz="1400" spc="10">
                <a:latin typeface="宋体"/>
                <a:cs typeface="宋体"/>
              </a:rPr>
              <a:t>单价</a:t>
            </a:r>
            <a:r>
              <a:rPr dirty="0" sz="1400">
                <a:latin typeface="宋体"/>
                <a:cs typeface="宋体"/>
              </a:rPr>
              <a:t>为</a:t>
            </a:r>
            <a:endParaRPr sz="1400">
              <a:latin typeface="宋体"/>
              <a:cs typeface="宋体"/>
            </a:endParaRPr>
          </a:p>
          <a:p>
            <a:pPr marL="90805" marR="81280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2858</a:t>
            </a:r>
            <a:r>
              <a:rPr dirty="0" sz="1400" spc="10">
                <a:latin typeface="宋体"/>
                <a:cs typeface="宋体"/>
              </a:rPr>
              <a:t>比索（</a:t>
            </a:r>
            <a:r>
              <a:rPr dirty="0" sz="1400">
                <a:latin typeface="宋体"/>
                <a:cs typeface="宋体"/>
              </a:rPr>
              <a:t>约</a:t>
            </a:r>
            <a:r>
              <a:rPr dirty="0" sz="1400" spc="10">
                <a:latin typeface="宋体"/>
                <a:cs typeface="宋体"/>
              </a:rPr>
              <a:t>合</a:t>
            </a:r>
            <a:r>
              <a:rPr dirty="0" sz="1400" spc="-10">
                <a:latin typeface="Arial"/>
                <a:cs typeface="Arial"/>
              </a:rPr>
              <a:t>1250</a:t>
            </a:r>
            <a:r>
              <a:rPr dirty="0" sz="1400" spc="10">
                <a:latin typeface="宋体"/>
                <a:cs typeface="宋体"/>
              </a:rPr>
              <a:t>人民</a:t>
            </a:r>
            <a:r>
              <a:rPr dirty="0" sz="1400">
                <a:latin typeface="宋体"/>
                <a:cs typeface="宋体"/>
              </a:rPr>
              <a:t>币</a:t>
            </a:r>
            <a:r>
              <a:rPr dirty="0" sz="1400" spc="10">
                <a:latin typeface="宋体"/>
                <a:cs typeface="宋体"/>
              </a:rPr>
              <a:t>）。而</a:t>
            </a:r>
            <a:r>
              <a:rPr dirty="0" sz="1400" spc="-10">
                <a:latin typeface="Arial"/>
                <a:cs typeface="Arial"/>
              </a:rPr>
              <a:t>2017</a:t>
            </a:r>
            <a:r>
              <a:rPr dirty="0" sz="1400" spc="10">
                <a:latin typeface="宋体"/>
                <a:cs typeface="宋体"/>
              </a:rPr>
              <a:t>年开</a:t>
            </a:r>
            <a:r>
              <a:rPr dirty="0" sz="1400">
                <a:latin typeface="宋体"/>
                <a:cs typeface="宋体"/>
              </a:rPr>
              <a:t>始</a:t>
            </a:r>
            <a:r>
              <a:rPr dirty="0" sz="1400" spc="10">
                <a:latin typeface="宋体"/>
                <a:cs typeface="宋体"/>
              </a:rPr>
              <a:t>，平</a:t>
            </a:r>
            <a:r>
              <a:rPr dirty="0" sz="1400">
                <a:latin typeface="宋体"/>
                <a:cs typeface="宋体"/>
              </a:rPr>
              <a:t>均单</a:t>
            </a:r>
            <a:r>
              <a:rPr dirty="0" sz="1400" spc="10">
                <a:latin typeface="宋体"/>
                <a:cs typeface="宋体"/>
              </a:rPr>
              <a:t>价将</a:t>
            </a:r>
            <a:r>
              <a:rPr dirty="0" sz="1400">
                <a:latin typeface="宋体"/>
                <a:cs typeface="宋体"/>
              </a:rPr>
              <a:t>进</a:t>
            </a:r>
            <a:r>
              <a:rPr dirty="0" sz="1400" spc="15">
                <a:latin typeface="宋体"/>
                <a:cs typeface="宋体"/>
              </a:rPr>
              <a:t>入</a:t>
            </a:r>
            <a:r>
              <a:rPr dirty="0" sz="1400" spc="-5">
                <a:latin typeface="Arial"/>
                <a:cs typeface="Arial"/>
              </a:rPr>
              <a:t>3000</a:t>
            </a:r>
            <a:r>
              <a:rPr dirty="0" sz="1400" spc="10">
                <a:latin typeface="宋体"/>
                <a:cs typeface="宋体"/>
              </a:rPr>
              <a:t>比</a:t>
            </a:r>
            <a:r>
              <a:rPr dirty="0" sz="1400">
                <a:latin typeface="宋体"/>
                <a:cs typeface="宋体"/>
              </a:rPr>
              <a:t>索</a:t>
            </a:r>
            <a:r>
              <a:rPr dirty="0" sz="1400" spc="10">
                <a:latin typeface="宋体"/>
                <a:cs typeface="宋体"/>
              </a:rPr>
              <a:t>以上</a:t>
            </a:r>
            <a:r>
              <a:rPr dirty="0" sz="1400">
                <a:latin typeface="宋体"/>
                <a:cs typeface="宋体"/>
              </a:rPr>
              <a:t>（</a:t>
            </a:r>
            <a:r>
              <a:rPr dirty="0" sz="1400" spc="10">
                <a:latin typeface="宋体"/>
                <a:cs typeface="宋体"/>
              </a:rPr>
              <a:t>约</a:t>
            </a:r>
            <a:r>
              <a:rPr dirty="0" sz="1400" spc="15">
                <a:latin typeface="宋体"/>
                <a:cs typeface="宋体"/>
              </a:rPr>
              <a:t>合</a:t>
            </a:r>
            <a:r>
              <a:rPr dirty="0" sz="1400" spc="-10">
                <a:latin typeface="Arial"/>
                <a:cs typeface="Arial"/>
              </a:rPr>
              <a:t>1500</a:t>
            </a:r>
            <a:r>
              <a:rPr dirty="0" sz="1400" spc="10">
                <a:latin typeface="宋体"/>
                <a:cs typeface="宋体"/>
              </a:rPr>
              <a:t>人民币</a:t>
            </a:r>
            <a:r>
              <a:rPr dirty="0" sz="1400" spc="5">
                <a:latin typeface="宋体"/>
                <a:cs typeface="宋体"/>
              </a:rPr>
              <a:t>），</a:t>
            </a:r>
            <a:r>
              <a:rPr dirty="0" sz="1400">
                <a:latin typeface="宋体"/>
                <a:cs typeface="宋体"/>
              </a:rPr>
              <a:t>由低 端向中</a:t>
            </a:r>
            <a:r>
              <a:rPr dirty="0" sz="1400" spc="-15">
                <a:latin typeface="宋体"/>
                <a:cs typeface="宋体"/>
              </a:rPr>
              <a:t>端</a:t>
            </a:r>
            <a:r>
              <a:rPr dirty="0" sz="1400">
                <a:latin typeface="宋体"/>
                <a:cs typeface="宋体"/>
              </a:rPr>
              <a:t>过渡。</a:t>
            </a:r>
            <a:endParaRPr sz="1400">
              <a:latin typeface="宋体"/>
              <a:cs typeface="宋体"/>
            </a:endParaRPr>
          </a:p>
          <a:p>
            <a:pPr marL="90805" marR="81280" indent="457200">
              <a:lnSpc>
                <a:spcPct val="100000"/>
              </a:lnSpc>
            </a:pPr>
            <a:r>
              <a:rPr dirty="0" sz="1400" spc="10" b="1">
                <a:latin typeface="明兰"/>
                <a:cs typeface="明兰"/>
              </a:rPr>
              <a:t>大屏幕智能机</a:t>
            </a:r>
            <a:r>
              <a:rPr dirty="0" sz="1400" b="1">
                <a:latin typeface="明兰"/>
                <a:cs typeface="明兰"/>
              </a:rPr>
              <a:t>将越</a:t>
            </a:r>
            <a:r>
              <a:rPr dirty="0" sz="1400" spc="10" b="1">
                <a:latin typeface="明兰"/>
                <a:cs typeface="明兰"/>
              </a:rPr>
              <a:t>来越受消费者</a:t>
            </a:r>
            <a:r>
              <a:rPr dirty="0" sz="1400" b="1">
                <a:latin typeface="明兰"/>
                <a:cs typeface="明兰"/>
              </a:rPr>
              <a:t>欢</a:t>
            </a:r>
            <a:r>
              <a:rPr dirty="0" sz="1400" spc="10" b="1">
                <a:latin typeface="明兰"/>
                <a:cs typeface="明兰"/>
              </a:rPr>
              <a:t>迎</a:t>
            </a:r>
            <a:r>
              <a:rPr dirty="0" sz="1400" spc="20" b="1">
                <a:latin typeface="明兰"/>
                <a:cs typeface="明兰"/>
              </a:rPr>
              <a:t>。</a:t>
            </a:r>
            <a:r>
              <a:rPr dirty="0" sz="1400" spc="-10">
                <a:latin typeface="Arial"/>
                <a:cs typeface="Arial"/>
              </a:rPr>
              <a:t>2016</a:t>
            </a:r>
            <a:r>
              <a:rPr dirty="0" sz="1400" spc="10">
                <a:latin typeface="宋体"/>
                <a:cs typeface="宋体"/>
              </a:rPr>
              <a:t>年，大屏</a:t>
            </a:r>
            <a:r>
              <a:rPr dirty="0" sz="1400">
                <a:latin typeface="宋体"/>
                <a:cs typeface="宋体"/>
              </a:rPr>
              <a:t>幕</a:t>
            </a:r>
            <a:r>
              <a:rPr dirty="0" sz="1400" spc="10">
                <a:latin typeface="宋体"/>
                <a:cs typeface="宋体"/>
              </a:rPr>
              <a:t>手</a:t>
            </a:r>
            <a:r>
              <a:rPr dirty="0" sz="1400" spc="15">
                <a:latin typeface="宋体"/>
                <a:cs typeface="宋体"/>
              </a:rPr>
              <a:t>机</a:t>
            </a:r>
            <a:r>
              <a:rPr dirty="0" sz="1400">
                <a:latin typeface="宋体"/>
                <a:cs typeface="宋体"/>
              </a:rPr>
              <a:t>（</a:t>
            </a:r>
            <a:r>
              <a:rPr dirty="0" sz="1400">
                <a:latin typeface="Arial"/>
                <a:cs typeface="Arial"/>
              </a:rPr>
              <a:t>4.7</a:t>
            </a:r>
            <a:r>
              <a:rPr dirty="0" sz="1400" spc="10">
                <a:latin typeface="宋体"/>
                <a:cs typeface="宋体"/>
              </a:rPr>
              <a:t>英寸以</a:t>
            </a:r>
            <a:r>
              <a:rPr dirty="0" sz="1400">
                <a:latin typeface="宋体"/>
                <a:cs typeface="宋体"/>
              </a:rPr>
              <a:t>上</a:t>
            </a:r>
            <a:r>
              <a:rPr dirty="0" sz="1400" spc="10">
                <a:latin typeface="宋体"/>
                <a:cs typeface="宋体"/>
              </a:rPr>
              <a:t>）销售占比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65.0%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10">
                <a:latin typeface="宋体"/>
                <a:cs typeface="宋体"/>
              </a:rPr>
              <a:t>而到 了</a:t>
            </a:r>
            <a:r>
              <a:rPr dirty="0" sz="1400" spc="-5">
                <a:latin typeface="Arial"/>
                <a:cs typeface="Arial"/>
              </a:rPr>
              <a:t>2019</a:t>
            </a:r>
            <a:r>
              <a:rPr dirty="0" sz="1400">
                <a:latin typeface="宋体"/>
                <a:cs typeface="宋体"/>
              </a:rPr>
              <a:t>年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这一</a:t>
            </a:r>
            <a:r>
              <a:rPr dirty="0" sz="1400" spc="-15">
                <a:latin typeface="宋体"/>
                <a:cs typeface="宋体"/>
              </a:rPr>
              <a:t>占</a:t>
            </a:r>
            <a:r>
              <a:rPr dirty="0" sz="1400">
                <a:latin typeface="宋体"/>
                <a:cs typeface="宋体"/>
              </a:rPr>
              <a:t>比将</a:t>
            </a:r>
            <a:r>
              <a:rPr dirty="0" sz="1400" spc="-15">
                <a:latin typeface="宋体"/>
                <a:cs typeface="宋体"/>
              </a:rPr>
              <a:t>攀</a:t>
            </a:r>
            <a:r>
              <a:rPr dirty="0" sz="1400">
                <a:latin typeface="宋体"/>
                <a:cs typeface="宋体"/>
              </a:rPr>
              <a:t>升至</a:t>
            </a:r>
            <a:r>
              <a:rPr dirty="0" sz="1400" spc="-5">
                <a:latin typeface="Arial"/>
                <a:cs typeface="Arial"/>
              </a:rPr>
              <a:t>87.6%</a:t>
            </a:r>
            <a:r>
              <a:rPr dirty="0" sz="1400" spc="-5">
                <a:latin typeface="宋体"/>
                <a:cs typeface="宋体"/>
              </a:rPr>
              <a:t>（</a:t>
            </a:r>
            <a:r>
              <a:rPr dirty="0" sz="1400" spc="-5">
                <a:latin typeface="Arial"/>
                <a:cs typeface="Arial"/>
              </a:rPr>
              <a:t>+22.6PP</a:t>
            </a:r>
            <a:r>
              <a:rPr dirty="0" sz="1400" spc="-5">
                <a:latin typeface="宋体"/>
                <a:cs typeface="宋体"/>
              </a:rPr>
              <a:t>），</a:t>
            </a:r>
            <a:r>
              <a:rPr dirty="0" sz="1400">
                <a:latin typeface="宋体"/>
                <a:cs typeface="宋体"/>
              </a:rPr>
              <a:t>而</a:t>
            </a:r>
            <a:r>
              <a:rPr dirty="0" sz="1400" spc="-15">
                <a:latin typeface="宋体"/>
                <a:cs typeface="宋体"/>
              </a:rPr>
              <a:t>手</a:t>
            </a:r>
            <a:r>
              <a:rPr dirty="0" sz="1400">
                <a:latin typeface="宋体"/>
                <a:cs typeface="宋体"/>
              </a:rPr>
              <a:t>机的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格往</a:t>
            </a:r>
            <a:r>
              <a:rPr dirty="0" sz="1400" spc="-15">
                <a:latin typeface="宋体"/>
                <a:cs typeface="宋体"/>
              </a:rPr>
              <a:t>往</a:t>
            </a:r>
            <a:r>
              <a:rPr dirty="0" sz="1400">
                <a:latin typeface="宋体"/>
                <a:cs typeface="宋体"/>
              </a:rPr>
              <a:t>与屏</a:t>
            </a:r>
            <a:r>
              <a:rPr dirty="0" sz="1400" spc="-15">
                <a:latin typeface="宋体"/>
                <a:cs typeface="宋体"/>
              </a:rPr>
              <a:t>幕</a:t>
            </a:r>
            <a:r>
              <a:rPr dirty="0" sz="1400">
                <a:latin typeface="宋体"/>
                <a:cs typeface="宋体"/>
              </a:rPr>
              <a:t>的大</a:t>
            </a:r>
            <a:r>
              <a:rPr dirty="0" sz="1400" spc="-15">
                <a:latin typeface="宋体"/>
                <a:cs typeface="宋体"/>
              </a:rPr>
              <a:t>小</a:t>
            </a:r>
            <a:r>
              <a:rPr dirty="0" sz="1400">
                <a:latin typeface="宋体"/>
                <a:cs typeface="宋体"/>
              </a:rPr>
              <a:t>呈正</a:t>
            </a:r>
            <a:r>
              <a:rPr dirty="0" sz="1400" spc="-15">
                <a:latin typeface="宋体"/>
                <a:cs typeface="宋体"/>
              </a:rPr>
              <a:t>相</a:t>
            </a:r>
            <a:r>
              <a:rPr dirty="0" sz="1400" spc="5">
                <a:latin typeface="宋体"/>
                <a:cs typeface="宋体"/>
              </a:rPr>
              <a:t>关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5879" y="2703576"/>
            <a:ext cx="3611879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明兰"/>
                <a:cs typeface="明兰"/>
              </a:rPr>
              <a:t>阿根廷智能手机销售屏幕大小情况及预测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1759" y="6330797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0683" y="3406140"/>
            <a:ext cx="0" cy="2536190"/>
          </a:xfrm>
          <a:custGeom>
            <a:avLst/>
            <a:gdLst/>
            <a:ahLst/>
            <a:cxnLst/>
            <a:rect l="l" t="t" r="r" b="b"/>
            <a:pathLst>
              <a:path w="0" h="2536190">
                <a:moveTo>
                  <a:pt x="0" y="2535936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0683" y="5942076"/>
            <a:ext cx="3314700" cy="0"/>
          </a:xfrm>
          <a:custGeom>
            <a:avLst/>
            <a:gdLst/>
            <a:ahLst/>
            <a:cxnLst/>
            <a:rect l="l" t="t" r="r" b="b"/>
            <a:pathLst>
              <a:path w="3314700" h="0">
                <a:moveTo>
                  <a:pt x="0" y="0"/>
                </a:moveTo>
                <a:lnTo>
                  <a:pt x="331470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8710" y="3809238"/>
            <a:ext cx="2898775" cy="1492250"/>
          </a:xfrm>
          <a:custGeom>
            <a:avLst/>
            <a:gdLst/>
            <a:ahLst/>
            <a:cxnLst/>
            <a:rect l="l" t="t" r="r" b="b"/>
            <a:pathLst>
              <a:path w="2898775" h="1492250">
                <a:moveTo>
                  <a:pt x="0" y="1466088"/>
                </a:moveTo>
                <a:lnTo>
                  <a:pt x="413003" y="1491996"/>
                </a:lnTo>
                <a:lnTo>
                  <a:pt x="827532" y="1339595"/>
                </a:lnTo>
                <a:lnTo>
                  <a:pt x="1242060" y="896112"/>
                </a:lnTo>
                <a:lnTo>
                  <a:pt x="1656588" y="320039"/>
                </a:lnTo>
                <a:lnTo>
                  <a:pt x="2071115" y="0"/>
                </a:lnTo>
                <a:lnTo>
                  <a:pt x="2484119" y="65531"/>
                </a:lnTo>
                <a:lnTo>
                  <a:pt x="2898648" y="115824"/>
                </a:lnTo>
              </a:path>
            </a:pathLst>
          </a:custGeom>
          <a:ln w="2895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70698" y="5240146"/>
            <a:ext cx="73151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85264" y="5264530"/>
            <a:ext cx="73151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99792" y="5112130"/>
            <a:ext cx="73152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14320" y="4668646"/>
            <a:ext cx="73152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27325" y="4094098"/>
            <a:ext cx="73152" cy="73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41852" y="3774059"/>
            <a:ext cx="73152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56380" y="3838066"/>
            <a:ext cx="73152" cy="73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70909" y="3888359"/>
            <a:ext cx="73152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93547" y="5824829"/>
            <a:ext cx="107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345" y="5507532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143" y="5190490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143" y="4873497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3143" y="4556505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3143" y="4239514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3143" y="3922522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3,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3143" y="3605276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3,</a:t>
            </a:r>
            <a:r>
              <a:rPr dirty="0" sz="1300" spc="5">
                <a:latin typeface="宋体"/>
                <a:cs typeface="宋体"/>
              </a:rPr>
              <a:t>5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3143" y="3288284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4,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0655" y="6001918"/>
            <a:ext cx="329755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宋体"/>
                <a:cs typeface="宋体"/>
              </a:rPr>
              <a:t>2012 2013 2014 2015 2016</a:t>
            </a:r>
            <a:r>
              <a:rPr dirty="0" sz="1300" spc="-365">
                <a:latin typeface="宋体"/>
                <a:cs typeface="宋体"/>
              </a:rPr>
              <a:t> </a:t>
            </a:r>
            <a:r>
              <a:rPr dirty="0" sz="1300">
                <a:latin typeface="宋体"/>
                <a:cs typeface="宋体"/>
              </a:rPr>
              <a:t>2017E2018E2019E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13282" y="3332988"/>
            <a:ext cx="243840" cy="731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369822" y="3252597"/>
            <a:ext cx="192341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智能手</a:t>
            </a:r>
            <a:r>
              <a:rPr dirty="0" sz="1300" spc="10">
                <a:latin typeface="宋体"/>
                <a:cs typeface="宋体"/>
              </a:rPr>
              <a:t>机</a:t>
            </a:r>
            <a:r>
              <a:rPr dirty="0" sz="1300" spc="-5">
                <a:latin typeface="宋体"/>
                <a:cs typeface="宋体"/>
              </a:rPr>
              <a:t>平均</a:t>
            </a:r>
            <a:r>
              <a:rPr dirty="0" sz="1300" spc="5">
                <a:latin typeface="宋体"/>
                <a:cs typeface="宋体"/>
              </a:rPr>
              <a:t>单</a:t>
            </a:r>
            <a:r>
              <a:rPr dirty="0" sz="1300" spc="-5">
                <a:latin typeface="宋体"/>
                <a:cs typeface="宋体"/>
              </a:rPr>
              <a:t>价（ARS）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61303" y="5132832"/>
            <a:ext cx="300355" cy="792480"/>
          </a:xfrm>
          <a:custGeom>
            <a:avLst/>
            <a:gdLst/>
            <a:ahLst/>
            <a:cxnLst/>
            <a:rect l="l" t="t" r="r" b="b"/>
            <a:pathLst>
              <a:path w="300354" h="792479">
                <a:moveTo>
                  <a:pt x="300228" y="0"/>
                </a:moveTo>
                <a:lnTo>
                  <a:pt x="0" y="0"/>
                </a:lnTo>
                <a:lnTo>
                  <a:pt x="0" y="792480"/>
                </a:lnTo>
                <a:lnTo>
                  <a:pt x="300228" y="792480"/>
                </a:lnTo>
                <a:lnTo>
                  <a:pt x="30022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12635" y="5419344"/>
            <a:ext cx="300355" cy="506095"/>
          </a:xfrm>
          <a:custGeom>
            <a:avLst/>
            <a:gdLst/>
            <a:ahLst/>
            <a:cxnLst/>
            <a:rect l="l" t="t" r="r" b="b"/>
            <a:pathLst>
              <a:path w="300354" h="506095">
                <a:moveTo>
                  <a:pt x="300228" y="0"/>
                </a:moveTo>
                <a:lnTo>
                  <a:pt x="0" y="0"/>
                </a:lnTo>
                <a:lnTo>
                  <a:pt x="0" y="505967"/>
                </a:lnTo>
                <a:lnTo>
                  <a:pt x="300228" y="505967"/>
                </a:lnTo>
                <a:lnTo>
                  <a:pt x="30022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363968" y="5551932"/>
            <a:ext cx="300355" cy="373380"/>
          </a:xfrm>
          <a:custGeom>
            <a:avLst/>
            <a:gdLst/>
            <a:ahLst/>
            <a:cxnLst/>
            <a:rect l="l" t="t" r="r" b="b"/>
            <a:pathLst>
              <a:path w="300354" h="373379">
                <a:moveTo>
                  <a:pt x="300227" y="0"/>
                </a:moveTo>
                <a:lnTo>
                  <a:pt x="0" y="0"/>
                </a:lnTo>
                <a:lnTo>
                  <a:pt x="0" y="373380"/>
                </a:lnTo>
                <a:lnTo>
                  <a:pt x="300227" y="373380"/>
                </a:lnTo>
                <a:lnTo>
                  <a:pt x="30022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113776" y="5617464"/>
            <a:ext cx="300355" cy="307975"/>
          </a:xfrm>
          <a:custGeom>
            <a:avLst/>
            <a:gdLst/>
            <a:ahLst/>
            <a:cxnLst/>
            <a:rect l="l" t="t" r="r" b="b"/>
            <a:pathLst>
              <a:path w="300354" h="307975">
                <a:moveTo>
                  <a:pt x="300227" y="0"/>
                </a:moveTo>
                <a:lnTo>
                  <a:pt x="0" y="0"/>
                </a:lnTo>
                <a:lnTo>
                  <a:pt x="0" y="307848"/>
                </a:lnTo>
                <a:lnTo>
                  <a:pt x="300227" y="307848"/>
                </a:lnTo>
                <a:lnTo>
                  <a:pt x="30022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61303" y="3976115"/>
            <a:ext cx="300355" cy="1156970"/>
          </a:xfrm>
          <a:custGeom>
            <a:avLst/>
            <a:gdLst/>
            <a:ahLst/>
            <a:cxnLst/>
            <a:rect l="l" t="t" r="r" b="b"/>
            <a:pathLst>
              <a:path w="300354" h="1156970">
                <a:moveTo>
                  <a:pt x="300228" y="0"/>
                </a:moveTo>
                <a:lnTo>
                  <a:pt x="0" y="0"/>
                </a:lnTo>
                <a:lnTo>
                  <a:pt x="0" y="1156715"/>
                </a:lnTo>
                <a:lnTo>
                  <a:pt x="300228" y="1156715"/>
                </a:lnTo>
                <a:lnTo>
                  <a:pt x="300228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612635" y="4166615"/>
            <a:ext cx="300355" cy="1252855"/>
          </a:xfrm>
          <a:custGeom>
            <a:avLst/>
            <a:gdLst/>
            <a:ahLst/>
            <a:cxnLst/>
            <a:rect l="l" t="t" r="r" b="b"/>
            <a:pathLst>
              <a:path w="300354" h="1252854">
                <a:moveTo>
                  <a:pt x="300228" y="0"/>
                </a:moveTo>
                <a:lnTo>
                  <a:pt x="0" y="0"/>
                </a:lnTo>
                <a:lnTo>
                  <a:pt x="0" y="1252727"/>
                </a:lnTo>
                <a:lnTo>
                  <a:pt x="300228" y="1252727"/>
                </a:lnTo>
                <a:lnTo>
                  <a:pt x="300228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63968" y="4293108"/>
            <a:ext cx="300355" cy="1259205"/>
          </a:xfrm>
          <a:custGeom>
            <a:avLst/>
            <a:gdLst/>
            <a:ahLst/>
            <a:cxnLst/>
            <a:rect l="l" t="t" r="r" b="b"/>
            <a:pathLst>
              <a:path w="300354" h="1259204">
                <a:moveTo>
                  <a:pt x="300227" y="0"/>
                </a:moveTo>
                <a:lnTo>
                  <a:pt x="0" y="0"/>
                </a:lnTo>
                <a:lnTo>
                  <a:pt x="0" y="1258824"/>
                </a:lnTo>
                <a:lnTo>
                  <a:pt x="300227" y="1258824"/>
                </a:lnTo>
                <a:lnTo>
                  <a:pt x="300227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113776" y="4329684"/>
            <a:ext cx="300355" cy="1287780"/>
          </a:xfrm>
          <a:custGeom>
            <a:avLst/>
            <a:gdLst/>
            <a:ahLst/>
            <a:cxnLst/>
            <a:rect l="l" t="t" r="r" b="b"/>
            <a:pathLst>
              <a:path w="300354" h="1287779">
                <a:moveTo>
                  <a:pt x="300227" y="0"/>
                </a:moveTo>
                <a:lnTo>
                  <a:pt x="0" y="0"/>
                </a:lnTo>
                <a:lnTo>
                  <a:pt x="0" y="1287780"/>
                </a:lnTo>
                <a:lnTo>
                  <a:pt x="300227" y="1287780"/>
                </a:lnTo>
                <a:lnTo>
                  <a:pt x="300227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861303" y="3662171"/>
            <a:ext cx="300355" cy="314325"/>
          </a:xfrm>
          <a:custGeom>
            <a:avLst/>
            <a:gdLst/>
            <a:ahLst/>
            <a:cxnLst/>
            <a:rect l="l" t="t" r="r" b="b"/>
            <a:pathLst>
              <a:path w="300354" h="314325">
                <a:moveTo>
                  <a:pt x="300228" y="0"/>
                </a:moveTo>
                <a:lnTo>
                  <a:pt x="0" y="0"/>
                </a:lnTo>
                <a:lnTo>
                  <a:pt x="0" y="313944"/>
                </a:lnTo>
                <a:lnTo>
                  <a:pt x="300228" y="313944"/>
                </a:lnTo>
                <a:lnTo>
                  <a:pt x="30022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12635" y="3662171"/>
            <a:ext cx="300355" cy="504825"/>
          </a:xfrm>
          <a:custGeom>
            <a:avLst/>
            <a:gdLst/>
            <a:ahLst/>
            <a:cxnLst/>
            <a:rect l="l" t="t" r="r" b="b"/>
            <a:pathLst>
              <a:path w="300354" h="504825">
                <a:moveTo>
                  <a:pt x="300228" y="0"/>
                </a:moveTo>
                <a:lnTo>
                  <a:pt x="0" y="0"/>
                </a:lnTo>
                <a:lnTo>
                  <a:pt x="0" y="504444"/>
                </a:lnTo>
                <a:lnTo>
                  <a:pt x="300228" y="504444"/>
                </a:lnTo>
                <a:lnTo>
                  <a:pt x="30022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63968" y="3662171"/>
            <a:ext cx="300355" cy="631190"/>
          </a:xfrm>
          <a:custGeom>
            <a:avLst/>
            <a:gdLst/>
            <a:ahLst/>
            <a:cxnLst/>
            <a:rect l="l" t="t" r="r" b="b"/>
            <a:pathLst>
              <a:path w="300354" h="631189">
                <a:moveTo>
                  <a:pt x="300227" y="0"/>
                </a:moveTo>
                <a:lnTo>
                  <a:pt x="0" y="0"/>
                </a:lnTo>
                <a:lnTo>
                  <a:pt x="0" y="630935"/>
                </a:lnTo>
                <a:lnTo>
                  <a:pt x="300227" y="630935"/>
                </a:lnTo>
                <a:lnTo>
                  <a:pt x="30022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113776" y="3662171"/>
            <a:ext cx="300355" cy="668020"/>
          </a:xfrm>
          <a:custGeom>
            <a:avLst/>
            <a:gdLst/>
            <a:ahLst/>
            <a:cxnLst/>
            <a:rect l="l" t="t" r="r" b="b"/>
            <a:pathLst>
              <a:path w="300354" h="668020">
                <a:moveTo>
                  <a:pt x="300227" y="0"/>
                </a:moveTo>
                <a:lnTo>
                  <a:pt x="0" y="0"/>
                </a:lnTo>
                <a:lnTo>
                  <a:pt x="0" y="667511"/>
                </a:lnTo>
                <a:lnTo>
                  <a:pt x="300227" y="667511"/>
                </a:lnTo>
                <a:lnTo>
                  <a:pt x="30022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35752" y="3662171"/>
            <a:ext cx="0" cy="2263140"/>
          </a:xfrm>
          <a:custGeom>
            <a:avLst/>
            <a:gdLst/>
            <a:ahLst/>
            <a:cxnLst/>
            <a:rect l="l" t="t" r="r" b="b"/>
            <a:pathLst>
              <a:path w="0" h="2263140">
                <a:moveTo>
                  <a:pt x="0" y="2263140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635752" y="5925311"/>
            <a:ext cx="3004185" cy="0"/>
          </a:xfrm>
          <a:custGeom>
            <a:avLst/>
            <a:gdLst/>
            <a:ahLst/>
            <a:cxnLst/>
            <a:rect l="l" t="t" r="r" b="b"/>
            <a:pathLst>
              <a:path w="3004184" h="0">
                <a:moveTo>
                  <a:pt x="0" y="0"/>
                </a:moveTo>
                <a:lnTo>
                  <a:pt x="300380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164073" y="3515512"/>
            <a:ext cx="356235" cy="25165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0"/>
              </a:spcBef>
            </a:pPr>
            <a:r>
              <a:rPr dirty="0" sz="1300" spc="-5">
                <a:latin typeface="宋体"/>
                <a:cs typeface="宋体"/>
              </a:rPr>
              <a:t>90%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5"/>
              </a:spcBef>
            </a:pPr>
            <a:r>
              <a:rPr dirty="0" sz="1300" spc="-5">
                <a:latin typeface="宋体"/>
                <a:cs typeface="宋体"/>
              </a:rPr>
              <a:t>80%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5"/>
              </a:spcBef>
            </a:pPr>
            <a:r>
              <a:rPr dirty="0" sz="1300" spc="-5">
                <a:latin typeface="宋体"/>
                <a:cs typeface="宋体"/>
              </a:rPr>
              <a:t>70%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0"/>
              </a:spcBef>
            </a:pPr>
            <a:r>
              <a:rPr dirty="0" sz="1300" spc="-5">
                <a:latin typeface="宋体"/>
                <a:cs typeface="宋体"/>
              </a:rPr>
              <a:t>60%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5"/>
              </a:spcBef>
            </a:pPr>
            <a:r>
              <a:rPr dirty="0" sz="1300" spc="-5">
                <a:latin typeface="宋体"/>
                <a:cs typeface="宋体"/>
              </a:rPr>
              <a:t>50%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0"/>
              </a:spcBef>
            </a:pPr>
            <a:r>
              <a:rPr dirty="0" sz="1300" spc="-10">
                <a:latin typeface="宋体"/>
                <a:cs typeface="宋体"/>
              </a:rPr>
              <a:t>40%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5"/>
              </a:spcBef>
            </a:pPr>
            <a:r>
              <a:rPr dirty="0" sz="1300" spc="-5">
                <a:latin typeface="宋体"/>
                <a:cs typeface="宋体"/>
              </a:rPr>
              <a:t>30%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0"/>
              </a:spcBef>
            </a:pPr>
            <a:r>
              <a:rPr dirty="0" sz="1300" spc="-5">
                <a:latin typeface="宋体"/>
                <a:cs typeface="宋体"/>
              </a:rPr>
              <a:t>20%</a:t>
            </a:r>
            <a:endParaRPr sz="1300">
              <a:latin typeface="宋体"/>
              <a:cs typeface="宋体"/>
            </a:endParaRPr>
          </a:p>
          <a:p>
            <a:pPr algn="ctr" marL="81280">
              <a:lnSpc>
                <a:spcPct val="100000"/>
              </a:lnSpc>
              <a:spcBef>
                <a:spcPts val="225"/>
              </a:spcBef>
            </a:pPr>
            <a:r>
              <a:rPr dirty="0" sz="1300" spc="-5">
                <a:latin typeface="宋体"/>
                <a:cs typeface="宋体"/>
              </a:rPr>
              <a:t>10%</a:t>
            </a:r>
            <a:endParaRPr sz="1300">
              <a:latin typeface="宋体"/>
              <a:cs typeface="宋体"/>
            </a:endParaRPr>
          </a:p>
          <a:p>
            <a:pPr algn="ctr" marL="163830">
              <a:lnSpc>
                <a:spcPct val="100000"/>
              </a:lnSpc>
              <a:spcBef>
                <a:spcPts val="225"/>
              </a:spcBef>
            </a:pP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34634" y="5986068"/>
            <a:ext cx="3562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6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44436" y="5986068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7E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95768" y="5986068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8E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46846" y="5986068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</a:t>
            </a:r>
            <a:r>
              <a:rPr dirty="0" sz="1300" spc="5">
                <a:latin typeface="宋体"/>
                <a:cs typeface="宋体"/>
              </a:rPr>
              <a:t>1</a:t>
            </a:r>
            <a:r>
              <a:rPr dirty="0" sz="1300" spc="-5">
                <a:latin typeface="宋体"/>
                <a:cs typeface="宋体"/>
              </a:rPr>
              <a:t>9E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204459" y="3224783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0" y="74675"/>
                </a:moveTo>
                <a:lnTo>
                  <a:pt x="74675" y="74675"/>
                </a:lnTo>
                <a:lnTo>
                  <a:pt x="74675" y="0"/>
                </a:lnTo>
                <a:lnTo>
                  <a:pt x="0" y="0"/>
                </a:lnTo>
                <a:lnTo>
                  <a:pt x="0" y="74675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294120" y="3224783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0" y="74675"/>
                </a:moveTo>
                <a:lnTo>
                  <a:pt x="74675" y="74675"/>
                </a:lnTo>
                <a:lnTo>
                  <a:pt x="74675" y="0"/>
                </a:lnTo>
                <a:lnTo>
                  <a:pt x="0" y="0"/>
                </a:lnTo>
                <a:lnTo>
                  <a:pt x="0" y="74675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632192" y="3224783"/>
            <a:ext cx="73660" cy="74930"/>
          </a:xfrm>
          <a:custGeom>
            <a:avLst/>
            <a:gdLst/>
            <a:ahLst/>
            <a:cxnLst/>
            <a:rect l="l" t="t" r="r" b="b"/>
            <a:pathLst>
              <a:path w="73659" h="74929">
                <a:moveTo>
                  <a:pt x="0" y="74675"/>
                </a:moveTo>
                <a:lnTo>
                  <a:pt x="73151" y="74675"/>
                </a:lnTo>
                <a:lnTo>
                  <a:pt x="73151" y="0"/>
                </a:lnTo>
                <a:lnTo>
                  <a:pt x="0" y="0"/>
                </a:lnTo>
                <a:lnTo>
                  <a:pt x="0" y="74675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299709" y="3144469"/>
            <a:ext cx="3193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1725" algn="l"/>
                <a:tab pos="2439670" algn="l"/>
              </a:tabLst>
            </a:pPr>
            <a:r>
              <a:rPr dirty="0" sz="1300" spc="-5">
                <a:latin typeface="宋体"/>
                <a:cs typeface="宋体"/>
              </a:rPr>
              <a:t>＜4.7</a:t>
            </a:r>
            <a:r>
              <a:rPr dirty="0" sz="1300" spc="-10">
                <a:latin typeface="宋体"/>
                <a:cs typeface="宋体"/>
              </a:rPr>
              <a:t>英</a:t>
            </a:r>
            <a:r>
              <a:rPr dirty="0" sz="1300" spc="-5">
                <a:latin typeface="宋体"/>
                <a:cs typeface="宋体"/>
              </a:rPr>
              <a:t>寸	4.7-5.49</a:t>
            </a:r>
            <a:r>
              <a:rPr dirty="0" sz="1300" spc="-10">
                <a:latin typeface="宋体"/>
                <a:cs typeface="宋体"/>
              </a:rPr>
              <a:t>英</a:t>
            </a:r>
            <a:r>
              <a:rPr dirty="0" sz="1300" spc="-5">
                <a:latin typeface="宋体"/>
                <a:cs typeface="宋体"/>
              </a:rPr>
              <a:t>寸	</a:t>
            </a:r>
            <a:r>
              <a:rPr dirty="0" sz="1300" spc="-10">
                <a:latin typeface="宋体"/>
                <a:cs typeface="宋体"/>
              </a:rPr>
              <a:t>≥5.5英寸</a:t>
            </a:r>
            <a:endParaRPr sz="1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4325"/>
            <a:ext cx="33445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阿根廷智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能手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机市场发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展趋势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556" y="2689860"/>
            <a:ext cx="3990340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明兰"/>
                <a:cs typeface="明兰"/>
              </a:rPr>
              <a:t>智能手机在阿根廷家庭中的渗透情况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124" y="6356096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56" y="1053083"/>
            <a:ext cx="8608060" cy="1369060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375"/>
              </a:spcBef>
            </a:pPr>
            <a:r>
              <a:rPr dirty="0" sz="1400" b="1">
                <a:latin typeface="明兰"/>
                <a:cs typeface="明兰"/>
              </a:rPr>
              <a:t>渗透率不足，仍</a:t>
            </a:r>
            <a:r>
              <a:rPr dirty="0" sz="1400" spc="-15" b="1">
                <a:latin typeface="明兰"/>
                <a:cs typeface="明兰"/>
              </a:rPr>
              <a:t>有</a:t>
            </a:r>
            <a:r>
              <a:rPr dirty="0" sz="1400" b="1">
                <a:latin typeface="明兰"/>
                <a:cs typeface="明兰"/>
              </a:rPr>
              <a:t>较大增量市场</a:t>
            </a:r>
            <a:r>
              <a:rPr dirty="0" sz="1400" spc="-5" b="1">
                <a:latin typeface="明兰"/>
                <a:cs typeface="明兰"/>
              </a:rPr>
              <a:t>：</a:t>
            </a:r>
            <a:r>
              <a:rPr dirty="0" sz="1400" spc="-5">
                <a:latin typeface="Arial"/>
                <a:cs typeface="Arial"/>
              </a:rPr>
              <a:t>2008-2016</a:t>
            </a:r>
            <a:r>
              <a:rPr dirty="0" sz="1400">
                <a:latin typeface="宋体"/>
                <a:cs typeface="宋体"/>
              </a:rPr>
              <a:t>年期间，</a:t>
            </a:r>
            <a:r>
              <a:rPr dirty="0" sz="1400" spc="-15">
                <a:latin typeface="宋体"/>
                <a:cs typeface="宋体"/>
              </a:rPr>
              <a:t>智</a:t>
            </a:r>
            <a:r>
              <a:rPr dirty="0" sz="1400">
                <a:latin typeface="宋体"/>
                <a:cs typeface="宋体"/>
              </a:rPr>
              <a:t>能手机在阿根廷</a:t>
            </a:r>
            <a:r>
              <a:rPr dirty="0" sz="1400" spc="-15">
                <a:latin typeface="宋体"/>
                <a:cs typeface="宋体"/>
              </a:rPr>
              <a:t>家</a:t>
            </a:r>
            <a:r>
              <a:rPr dirty="0" sz="1400">
                <a:latin typeface="宋体"/>
                <a:cs typeface="宋体"/>
              </a:rPr>
              <a:t>庭中的渗透率</a:t>
            </a:r>
            <a:r>
              <a:rPr dirty="0" sz="1400" spc="-15">
                <a:latin typeface="宋体"/>
                <a:cs typeface="宋体"/>
              </a:rPr>
              <a:t>不断</a:t>
            </a:r>
            <a:r>
              <a:rPr dirty="0" sz="1400">
                <a:latin typeface="宋体"/>
                <a:cs typeface="宋体"/>
              </a:rPr>
              <a:t>提</a:t>
            </a:r>
            <a:r>
              <a:rPr dirty="0" sz="1400" spc="5">
                <a:latin typeface="宋体"/>
                <a:cs typeface="宋体"/>
              </a:rPr>
              <a:t>升</a:t>
            </a:r>
            <a:r>
              <a:rPr dirty="0" sz="1400">
                <a:latin typeface="宋体"/>
                <a:cs typeface="宋体"/>
              </a:rPr>
              <a:t>，到</a:t>
            </a:r>
            <a:endParaRPr sz="1400">
              <a:latin typeface="宋体"/>
              <a:cs typeface="宋体"/>
            </a:endParaRPr>
          </a:p>
          <a:p>
            <a:pPr marL="90805" marR="8064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2016</a:t>
            </a:r>
            <a:r>
              <a:rPr dirty="0" sz="1400" spc="35">
                <a:latin typeface="宋体"/>
                <a:cs typeface="宋体"/>
              </a:rPr>
              <a:t>年</a:t>
            </a:r>
            <a:r>
              <a:rPr dirty="0" sz="1400" spc="20">
                <a:latin typeface="宋体"/>
                <a:cs typeface="宋体"/>
              </a:rPr>
              <a:t>已</a:t>
            </a:r>
            <a:r>
              <a:rPr dirty="0" sz="1400" spc="40">
                <a:latin typeface="宋体"/>
                <a:cs typeface="宋体"/>
              </a:rPr>
              <a:t>有</a:t>
            </a:r>
            <a:r>
              <a:rPr dirty="0" sz="1400">
                <a:latin typeface="Arial"/>
                <a:cs typeface="Arial"/>
              </a:rPr>
              <a:t>54.5%</a:t>
            </a:r>
            <a:r>
              <a:rPr dirty="0" sz="1400" spc="35">
                <a:latin typeface="宋体"/>
                <a:cs typeface="宋体"/>
              </a:rPr>
              <a:t>的</a:t>
            </a:r>
            <a:r>
              <a:rPr dirty="0" sz="1400" spc="20">
                <a:latin typeface="宋体"/>
                <a:cs typeface="宋体"/>
              </a:rPr>
              <a:t>家庭</a:t>
            </a:r>
            <a:r>
              <a:rPr dirty="0" sz="1400" spc="35">
                <a:latin typeface="宋体"/>
                <a:cs typeface="宋体"/>
              </a:rPr>
              <a:t>拥</a:t>
            </a:r>
            <a:r>
              <a:rPr dirty="0" sz="1400" spc="20">
                <a:latin typeface="宋体"/>
                <a:cs typeface="宋体"/>
              </a:rPr>
              <a:t>有至</a:t>
            </a:r>
            <a:r>
              <a:rPr dirty="0" sz="1400" spc="35">
                <a:latin typeface="宋体"/>
                <a:cs typeface="宋体"/>
              </a:rPr>
              <a:t>少</a:t>
            </a:r>
            <a:r>
              <a:rPr dirty="0" sz="1400" spc="20">
                <a:latin typeface="宋体"/>
                <a:cs typeface="宋体"/>
              </a:rPr>
              <a:t>一</a:t>
            </a:r>
            <a:r>
              <a:rPr dirty="0" sz="1400" spc="35">
                <a:latin typeface="宋体"/>
                <a:cs typeface="宋体"/>
              </a:rPr>
              <a:t>部</a:t>
            </a:r>
            <a:r>
              <a:rPr dirty="0" sz="1400" spc="20">
                <a:latin typeface="宋体"/>
                <a:cs typeface="宋体"/>
              </a:rPr>
              <a:t>智能</a:t>
            </a:r>
            <a:r>
              <a:rPr dirty="0" sz="1400" spc="35">
                <a:latin typeface="宋体"/>
                <a:cs typeface="宋体"/>
              </a:rPr>
              <a:t>手</a:t>
            </a:r>
            <a:r>
              <a:rPr dirty="0" sz="1400" spc="40">
                <a:latin typeface="宋体"/>
                <a:cs typeface="宋体"/>
              </a:rPr>
              <a:t>机</a:t>
            </a:r>
            <a:r>
              <a:rPr dirty="0" sz="1400" spc="20">
                <a:latin typeface="宋体"/>
                <a:cs typeface="宋体"/>
              </a:rPr>
              <a:t>，</a:t>
            </a:r>
            <a:r>
              <a:rPr dirty="0" sz="1400" spc="35">
                <a:latin typeface="宋体"/>
                <a:cs typeface="宋体"/>
              </a:rPr>
              <a:t>平</a:t>
            </a:r>
            <a:r>
              <a:rPr dirty="0" sz="1400" spc="20">
                <a:latin typeface="宋体"/>
                <a:cs typeface="宋体"/>
              </a:rPr>
              <a:t>均</a:t>
            </a:r>
            <a:r>
              <a:rPr dirty="0" sz="1400" spc="35">
                <a:latin typeface="宋体"/>
                <a:cs typeface="宋体"/>
              </a:rPr>
              <a:t>每</a:t>
            </a:r>
            <a:r>
              <a:rPr dirty="0" sz="1400" spc="20">
                <a:latin typeface="宋体"/>
                <a:cs typeface="宋体"/>
              </a:rPr>
              <a:t>个家</a:t>
            </a:r>
            <a:r>
              <a:rPr dirty="0" sz="1400" spc="35">
                <a:latin typeface="宋体"/>
                <a:cs typeface="宋体"/>
              </a:rPr>
              <a:t>庭</a:t>
            </a:r>
            <a:r>
              <a:rPr dirty="0" sz="1400" spc="20">
                <a:latin typeface="宋体"/>
                <a:cs typeface="宋体"/>
              </a:rPr>
              <a:t>拥</a:t>
            </a:r>
            <a:r>
              <a:rPr dirty="0" sz="1400" spc="45">
                <a:latin typeface="宋体"/>
                <a:cs typeface="宋体"/>
              </a:rPr>
              <a:t>有</a:t>
            </a:r>
            <a:r>
              <a:rPr dirty="0" sz="1400">
                <a:latin typeface="Arial"/>
                <a:cs typeface="Arial"/>
              </a:rPr>
              <a:t>1.3</a:t>
            </a:r>
            <a:r>
              <a:rPr dirty="0" sz="1400" spc="20">
                <a:latin typeface="宋体"/>
                <a:cs typeface="宋体"/>
              </a:rPr>
              <a:t>部</a:t>
            </a:r>
            <a:r>
              <a:rPr dirty="0" sz="1400" spc="35">
                <a:latin typeface="宋体"/>
                <a:cs typeface="宋体"/>
              </a:rPr>
              <a:t>手</a:t>
            </a:r>
            <a:r>
              <a:rPr dirty="0" sz="1400" spc="25">
                <a:latin typeface="宋体"/>
                <a:cs typeface="宋体"/>
              </a:rPr>
              <a:t>机</a:t>
            </a:r>
            <a:r>
              <a:rPr dirty="0" sz="1400" spc="20">
                <a:latin typeface="宋体"/>
                <a:cs typeface="宋体"/>
              </a:rPr>
              <a:t>。</a:t>
            </a:r>
            <a:r>
              <a:rPr dirty="0" sz="1400" spc="25">
                <a:latin typeface="宋体"/>
                <a:cs typeface="宋体"/>
              </a:rPr>
              <a:t>但</a:t>
            </a:r>
            <a:r>
              <a:rPr dirty="0" sz="1400" spc="35">
                <a:latin typeface="宋体"/>
                <a:cs typeface="宋体"/>
              </a:rPr>
              <a:t>对</a:t>
            </a:r>
            <a:r>
              <a:rPr dirty="0" sz="1400" spc="25">
                <a:latin typeface="宋体"/>
                <a:cs typeface="宋体"/>
              </a:rPr>
              <a:t>于必须</a:t>
            </a:r>
            <a:r>
              <a:rPr dirty="0" sz="1400" spc="35">
                <a:latin typeface="宋体"/>
                <a:cs typeface="宋体"/>
              </a:rPr>
              <a:t>品</a:t>
            </a:r>
            <a:r>
              <a:rPr dirty="0" sz="1400" spc="25">
                <a:latin typeface="宋体"/>
                <a:cs typeface="宋体"/>
              </a:rPr>
              <a:t>来说渗</a:t>
            </a:r>
            <a:r>
              <a:rPr dirty="0" sz="1400" spc="35">
                <a:latin typeface="宋体"/>
                <a:cs typeface="宋体"/>
              </a:rPr>
              <a:t>透</a:t>
            </a:r>
            <a:r>
              <a:rPr dirty="0" sz="1400">
                <a:latin typeface="宋体"/>
                <a:cs typeface="宋体"/>
              </a:rPr>
              <a:t>率 仍然很</a:t>
            </a:r>
            <a:r>
              <a:rPr dirty="0" sz="1400" spc="-15">
                <a:latin typeface="宋体"/>
                <a:cs typeface="宋体"/>
              </a:rPr>
              <a:t>低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algn="just" marL="90805" marR="78740" indent="457200">
              <a:lnSpc>
                <a:spcPct val="100000"/>
              </a:lnSpc>
            </a:pPr>
            <a:r>
              <a:rPr dirty="0" sz="1400" spc="20" b="1">
                <a:latin typeface="明兰"/>
                <a:cs typeface="明兰"/>
              </a:rPr>
              <a:t>手</a:t>
            </a:r>
            <a:r>
              <a:rPr dirty="0" sz="1400" spc="10" b="1">
                <a:latin typeface="明兰"/>
                <a:cs typeface="明兰"/>
              </a:rPr>
              <a:t>机专</a:t>
            </a:r>
            <a:r>
              <a:rPr dirty="0" sz="1400" spc="20" b="1">
                <a:latin typeface="明兰"/>
                <a:cs typeface="明兰"/>
              </a:rPr>
              <a:t>卖</a:t>
            </a:r>
            <a:r>
              <a:rPr dirty="0" sz="1400" spc="10" b="1">
                <a:latin typeface="明兰"/>
                <a:cs typeface="明兰"/>
              </a:rPr>
              <a:t>店仍</a:t>
            </a:r>
            <a:r>
              <a:rPr dirty="0" sz="1400" spc="20" b="1">
                <a:latin typeface="明兰"/>
                <a:cs typeface="明兰"/>
              </a:rPr>
              <a:t>是</a:t>
            </a:r>
            <a:r>
              <a:rPr dirty="0" sz="1400" spc="10" b="1">
                <a:latin typeface="明兰"/>
                <a:cs typeface="明兰"/>
              </a:rPr>
              <a:t>最</a:t>
            </a:r>
            <a:r>
              <a:rPr dirty="0" sz="1400" spc="20" b="1">
                <a:latin typeface="明兰"/>
                <a:cs typeface="明兰"/>
              </a:rPr>
              <a:t>主</a:t>
            </a:r>
            <a:r>
              <a:rPr dirty="0" sz="1400" spc="10" b="1">
                <a:latin typeface="明兰"/>
                <a:cs typeface="明兰"/>
              </a:rPr>
              <a:t>要的</a:t>
            </a:r>
            <a:r>
              <a:rPr dirty="0" sz="1400" spc="20" b="1">
                <a:latin typeface="明兰"/>
                <a:cs typeface="明兰"/>
              </a:rPr>
              <a:t>销</a:t>
            </a:r>
            <a:r>
              <a:rPr dirty="0" sz="1400" spc="10" b="1">
                <a:latin typeface="明兰"/>
                <a:cs typeface="明兰"/>
              </a:rPr>
              <a:t>售渠</a:t>
            </a:r>
            <a:r>
              <a:rPr dirty="0" sz="1400" spc="40" b="1">
                <a:latin typeface="明兰"/>
                <a:cs typeface="明兰"/>
              </a:rPr>
              <a:t>道</a:t>
            </a:r>
            <a:r>
              <a:rPr dirty="0" sz="1400" spc="10" b="1">
                <a:latin typeface="明兰"/>
                <a:cs typeface="明兰"/>
              </a:rPr>
              <a:t>，</a:t>
            </a:r>
            <a:r>
              <a:rPr dirty="0" sz="1400" spc="20" b="1">
                <a:latin typeface="明兰"/>
                <a:cs typeface="明兰"/>
              </a:rPr>
              <a:t>该</a:t>
            </a:r>
            <a:r>
              <a:rPr dirty="0" sz="1400" spc="10" b="1">
                <a:latin typeface="明兰"/>
                <a:cs typeface="明兰"/>
              </a:rPr>
              <a:t>资源</a:t>
            </a:r>
            <a:r>
              <a:rPr dirty="0" sz="1400" spc="20" b="1">
                <a:latin typeface="明兰"/>
                <a:cs typeface="明兰"/>
              </a:rPr>
              <a:t>主</a:t>
            </a:r>
            <a:r>
              <a:rPr dirty="0" sz="1400" spc="10" b="1">
                <a:latin typeface="明兰"/>
                <a:cs typeface="明兰"/>
              </a:rPr>
              <a:t>要由</a:t>
            </a:r>
            <a:r>
              <a:rPr dirty="0" sz="1400" spc="20" b="1">
                <a:latin typeface="明兰"/>
                <a:cs typeface="明兰"/>
              </a:rPr>
              <a:t>本</a:t>
            </a:r>
            <a:r>
              <a:rPr dirty="0" sz="1400" spc="10" b="1">
                <a:latin typeface="明兰"/>
                <a:cs typeface="明兰"/>
              </a:rPr>
              <a:t>土</a:t>
            </a:r>
            <a:r>
              <a:rPr dirty="0" sz="1400" spc="20" b="1">
                <a:latin typeface="明兰"/>
                <a:cs typeface="明兰"/>
              </a:rPr>
              <a:t>代</a:t>
            </a:r>
            <a:r>
              <a:rPr dirty="0" sz="1400" spc="10" b="1">
                <a:latin typeface="明兰"/>
                <a:cs typeface="明兰"/>
              </a:rPr>
              <a:t>理商</a:t>
            </a:r>
            <a:r>
              <a:rPr dirty="0" sz="1400" spc="20" b="1">
                <a:latin typeface="明兰"/>
                <a:cs typeface="明兰"/>
              </a:rPr>
              <a:t>和</a:t>
            </a:r>
            <a:r>
              <a:rPr dirty="0" sz="1400" spc="10" b="1">
                <a:latin typeface="明兰"/>
                <a:cs typeface="明兰"/>
              </a:rPr>
              <a:t>渠道</a:t>
            </a:r>
            <a:r>
              <a:rPr dirty="0" sz="1400" spc="20" b="1">
                <a:latin typeface="明兰"/>
                <a:cs typeface="明兰"/>
              </a:rPr>
              <a:t>商</a:t>
            </a:r>
            <a:r>
              <a:rPr dirty="0" sz="1400" spc="10" b="1">
                <a:latin typeface="明兰"/>
                <a:cs typeface="明兰"/>
              </a:rPr>
              <a:t>掌</a:t>
            </a:r>
            <a:r>
              <a:rPr dirty="0" sz="1400" spc="40" b="1">
                <a:latin typeface="明兰"/>
                <a:cs typeface="明兰"/>
              </a:rPr>
              <a:t>握</a:t>
            </a:r>
            <a:r>
              <a:rPr dirty="0" sz="1400" spc="25" b="1">
                <a:latin typeface="明兰"/>
                <a:cs typeface="明兰"/>
              </a:rPr>
              <a:t>。</a:t>
            </a:r>
            <a:r>
              <a:rPr dirty="0" sz="1400" spc="20">
                <a:latin typeface="宋体"/>
                <a:cs typeface="宋体"/>
              </a:rPr>
              <a:t>自</a:t>
            </a:r>
            <a:r>
              <a:rPr dirty="0" sz="1400" spc="-10">
                <a:latin typeface="Arial"/>
                <a:cs typeface="Arial"/>
              </a:rPr>
              <a:t>2003</a:t>
            </a:r>
            <a:r>
              <a:rPr dirty="0" sz="1400" spc="20">
                <a:latin typeface="宋体"/>
                <a:cs typeface="宋体"/>
              </a:rPr>
              <a:t>年</a:t>
            </a:r>
            <a:r>
              <a:rPr dirty="0" sz="1400" spc="10">
                <a:latin typeface="宋体"/>
                <a:cs typeface="宋体"/>
              </a:rPr>
              <a:t>起，</a:t>
            </a:r>
            <a:r>
              <a:rPr dirty="0" sz="1400" spc="20">
                <a:latin typeface="宋体"/>
                <a:cs typeface="宋体"/>
              </a:rPr>
              <a:t>手</a:t>
            </a:r>
            <a:r>
              <a:rPr dirty="0" sz="1400" spc="10">
                <a:latin typeface="宋体"/>
                <a:cs typeface="宋体"/>
              </a:rPr>
              <a:t>机</a:t>
            </a:r>
            <a:r>
              <a:rPr dirty="0" sz="1400" spc="20">
                <a:latin typeface="宋体"/>
                <a:cs typeface="宋体"/>
              </a:rPr>
              <a:t>专</a:t>
            </a:r>
            <a:r>
              <a:rPr dirty="0" sz="1400">
                <a:latin typeface="宋体"/>
                <a:cs typeface="宋体"/>
              </a:rPr>
              <a:t>卖 </a:t>
            </a:r>
            <a:r>
              <a:rPr dirty="0" sz="1400" spc="10">
                <a:latin typeface="宋体"/>
                <a:cs typeface="宋体"/>
              </a:rPr>
              <a:t>店就是</a:t>
            </a:r>
            <a:r>
              <a:rPr dirty="0" sz="1400">
                <a:latin typeface="宋体"/>
                <a:cs typeface="宋体"/>
              </a:rPr>
              <a:t>阿</a:t>
            </a:r>
            <a:r>
              <a:rPr dirty="0" sz="1400" spc="10">
                <a:latin typeface="宋体"/>
                <a:cs typeface="宋体"/>
              </a:rPr>
              <a:t>根廷</a:t>
            </a:r>
            <a:r>
              <a:rPr dirty="0" sz="1400">
                <a:latin typeface="宋体"/>
                <a:cs typeface="宋体"/>
              </a:rPr>
              <a:t>手机</a:t>
            </a:r>
            <a:r>
              <a:rPr dirty="0" sz="1400" spc="10">
                <a:latin typeface="宋体"/>
                <a:cs typeface="宋体"/>
              </a:rPr>
              <a:t>销售市</a:t>
            </a:r>
            <a:r>
              <a:rPr dirty="0" sz="1400">
                <a:latin typeface="宋体"/>
                <a:cs typeface="宋体"/>
              </a:rPr>
              <a:t>场</a:t>
            </a:r>
            <a:r>
              <a:rPr dirty="0" sz="1400" spc="10">
                <a:latin typeface="宋体"/>
                <a:cs typeface="宋体"/>
              </a:rPr>
              <a:t>最主</a:t>
            </a:r>
            <a:r>
              <a:rPr dirty="0" sz="1400">
                <a:latin typeface="宋体"/>
                <a:cs typeface="宋体"/>
              </a:rPr>
              <a:t>要的</a:t>
            </a:r>
            <a:r>
              <a:rPr dirty="0" sz="1400" spc="10">
                <a:latin typeface="宋体"/>
                <a:cs typeface="宋体"/>
              </a:rPr>
              <a:t>渠</a:t>
            </a:r>
            <a:r>
              <a:rPr dirty="0" sz="1400" spc="25">
                <a:latin typeface="宋体"/>
                <a:cs typeface="宋体"/>
              </a:rPr>
              <a:t>道</a:t>
            </a:r>
            <a:r>
              <a:rPr dirty="0" sz="1400" spc="10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近</a:t>
            </a:r>
            <a:r>
              <a:rPr dirty="0" sz="1400" spc="10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来</a:t>
            </a:r>
            <a:r>
              <a:rPr dirty="0" sz="1400" spc="10">
                <a:latin typeface="宋体"/>
                <a:cs typeface="宋体"/>
              </a:rPr>
              <a:t>该</a:t>
            </a:r>
            <a:r>
              <a:rPr dirty="0" sz="1400">
                <a:latin typeface="宋体"/>
                <a:cs typeface="宋体"/>
              </a:rPr>
              <a:t>渠</a:t>
            </a:r>
            <a:r>
              <a:rPr dirty="0" sz="1400" spc="10">
                <a:latin typeface="宋体"/>
                <a:cs typeface="宋体"/>
              </a:rPr>
              <a:t>道的</a:t>
            </a:r>
            <a:r>
              <a:rPr dirty="0" sz="1400">
                <a:latin typeface="宋体"/>
                <a:cs typeface="宋体"/>
              </a:rPr>
              <a:t>规</a:t>
            </a:r>
            <a:r>
              <a:rPr dirty="0" sz="1400" spc="10">
                <a:latin typeface="宋体"/>
                <a:cs typeface="宋体"/>
              </a:rPr>
              <a:t>模优</a:t>
            </a:r>
            <a:r>
              <a:rPr dirty="0" sz="1400">
                <a:latin typeface="宋体"/>
                <a:cs typeface="宋体"/>
              </a:rPr>
              <a:t>势</a:t>
            </a:r>
            <a:r>
              <a:rPr dirty="0" sz="1400" spc="10">
                <a:latin typeface="宋体"/>
                <a:cs typeface="宋体"/>
              </a:rPr>
              <a:t>较</a:t>
            </a:r>
            <a:r>
              <a:rPr dirty="0" sz="1400">
                <a:latin typeface="宋体"/>
                <a:cs typeface="宋体"/>
              </a:rPr>
              <a:t>其</a:t>
            </a:r>
            <a:r>
              <a:rPr dirty="0" sz="1400" spc="10">
                <a:latin typeface="宋体"/>
                <a:cs typeface="宋体"/>
              </a:rPr>
              <a:t>他渠</a:t>
            </a:r>
            <a:r>
              <a:rPr dirty="0" sz="1400">
                <a:latin typeface="宋体"/>
                <a:cs typeface="宋体"/>
              </a:rPr>
              <a:t>道</a:t>
            </a:r>
            <a:r>
              <a:rPr dirty="0" sz="1400" spc="10">
                <a:latin typeface="宋体"/>
                <a:cs typeface="宋体"/>
              </a:rPr>
              <a:t>十分</a:t>
            </a:r>
            <a:r>
              <a:rPr dirty="0" sz="1400">
                <a:latin typeface="宋体"/>
                <a:cs typeface="宋体"/>
              </a:rPr>
              <a:t>显</a:t>
            </a:r>
            <a:r>
              <a:rPr dirty="0" sz="1400" spc="25">
                <a:latin typeface="宋体"/>
                <a:cs typeface="宋体"/>
              </a:rPr>
              <a:t>著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10">
                <a:latin typeface="宋体"/>
                <a:cs typeface="宋体"/>
              </a:rPr>
              <a:t>预计</a:t>
            </a:r>
            <a:r>
              <a:rPr dirty="0" sz="1400">
                <a:latin typeface="宋体"/>
                <a:cs typeface="宋体"/>
              </a:rPr>
              <a:t>未</a:t>
            </a:r>
            <a:r>
              <a:rPr dirty="0" sz="1400" spc="10">
                <a:latin typeface="宋体"/>
                <a:cs typeface="宋体"/>
              </a:rPr>
              <a:t>来该</a:t>
            </a:r>
            <a:r>
              <a:rPr dirty="0" sz="1400">
                <a:latin typeface="宋体"/>
                <a:cs typeface="宋体"/>
              </a:rPr>
              <a:t>趋势 将继续</a:t>
            </a:r>
            <a:r>
              <a:rPr dirty="0" sz="1400" spc="-15">
                <a:latin typeface="宋体"/>
                <a:cs typeface="宋体"/>
              </a:rPr>
              <a:t>保</a:t>
            </a:r>
            <a:r>
              <a:rPr dirty="0" sz="1400">
                <a:latin typeface="宋体"/>
                <a:cs typeface="宋体"/>
              </a:rPr>
              <a:t>持。</a:t>
            </a:r>
            <a:r>
              <a:rPr dirty="0" sz="1400" spc="-15">
                <a:latin typeface="宋体"/>
                <a:cs typeface="宋体"/>
              </a:rPr>
              <a:t>而该</a:t>
            </a:r>
            <a:r>
              <a:rPr dirty="0" sz="1400">
                <a:latin typeface="宋体"/>
                <a:cs typeface="宋体"/>
              </a:rPr>
              <a:t>渠道资</a:t>
            </a:r>
            <a:r>
              <a:rPr dirty="0" sz="1400" spc="-15">
                <a:latin typeface="宋体"/>
                <a:cs typeface="宋体"/>
              </a:rPr>
              <a:t>源</a:t>
            </a:r>
            <a:r>
              <a:rPr dirty="0" sz="1400">
                <a:latin typeface="宋体"/>
                <a:cs typeface="宋体"/>
              </a:rPr>
              <a:t>基本</a:t>
            </a:r>
            <a:r>
              <a:rPr dirty="0" sz="1400" spc="-15">
                <a:latin typeface="宋体"/>
                <a:cs typeface="宋体"/>
              </a:rPr>
              <a:t>由阿</a:t>
            </a:r>
            <a:r>
              <a:rPr dirty="0" sz="1400">
                <a:latin typeface="宋体"/>
                <a:cs typeface="宋体"/>
              </a:rPr>
              <a:t>根廷本</a:t>
            </a:r>
            <a:r>
              <a:rPr dirty="0" sz="1400" spc="-15">
                <a:latin typeface="宋体"/>
                <a:cs typeface="宋体"/>
              </a:rPr>
              <a:t>土</a:t>
            </a:r>
            <a:r>
              <a:rPr dirty="0" sz="1400">
                <a:latin typeface="宋体"/>
                <a:cs typeface="宋体"/>
              </a:rPr>
              <a:t>代理</a:t>
            </a:r>
            <a:r>
              <a:rPr dirty="0" sz="1400" spc="-15">
                <a:latin typeface="宋体"/>
                <a:cs typeface="宋体"/>
              </a:rPr>
              <a:t>商和</a:t>
            </a:r>
            <a:r>
              <a:rPr dirty="0" sz="1400">
                <a:latin typeface="宋体"/>
                <a:cs typeface="宋体"/>
              </a:rPr>
              <a:t>渠道商</a:t>
            </a:r>
            <a:r>
              <a:rPr dirty="0" sz="1400" spc="-15">
                <a:latin typeface="宋体"/>
                <a:cs typeface="宋体"/>
              </a:rPr>
              <a:t>掌</a:t>
            </a:r>
            <a:r>
              <a:rPr dirty="0" sz="1400" spc="5">
                <a:latin typeface="宋体"/>
                <a:cs typeface="宋体"/>
              </a:rPr>
              <a:t>握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60035" y="2689860"/>
            <a:ext cx="4036060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明兰"/>
                <a:cs typeface="明兰"/>
              </a:rPr>
              <a:t>阿根廷手机市场各渠道销售量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9665" y="6318300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5152" y="3732276"/>
            <a:ext cx="2761615" cy="2190115"/>
          </a:xfrm>
          <a:custGeom>
            <a:avLst/>
            <a:gdLst/>
            <a:ahLst/>
            <a:cxnLst/>
            <a:rect l="l" t="t" r="r" b="b"/>
            <a:pathLst>
              <a:path w="2761615" h="2190115">
                <a:moveTo>
                  <a:pt x="2761488" y="0"/>
                </a:moveTo>
                <a:lnTo>
                  <a:pt x="2415540" y="262128"/>
                </a:lnTo>
                <a:lnTo>
                  <a:pt x="2071115" y="598932"/>
                </a:lnTo>
                <a:lnTo>
                  <a:pt x="1725167" y="932688"/>
                </a:lnTo>
                <a:lnTo>
                  <a:pt x="1380743" y="1237488"/>
                </a:lnTo>
                <a:lnTo>
                  <a:pt x="1036320" y="1491996"/>
                </a:lnTo>
                <a:lnTo>
                  <a:pt x="690372" y="1703832"/>
                </a:lnTo>
                <a:lnTo>
                  <a:pt x="345947" y="1877568"/>
                </a:lnTo>
                <a:lnTo>
                  <a:pt x="0" y="2010156"/>
                </a:lnTo>
                <a:lnTo>
                  <a:pt x="0" y="2189988"/>
                </a:lnTo>
                <a:lnTo>
                  <a:pt x="2761488" y="2189988"/>
                </a:lnTo>
                <a:lnTo>
                  <a:pt x="276148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68852" y="3511296"/>
            <a:ext cx="0" cy="2411095"/>
          </a:xfrm>
          <a:custGeom>
            <a:avLst/>
            <a:gdLst/>
            <a:ahLst/>
            <a:cxnLst/>
            <a:rect l="l" t="t" r="r" b="b"/>
            <a:pathLst>
              <a:path w="0" h="2411095">
                <a:moveTo>
                  <a:pt x="0" y="2410967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68852" y="592226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68852" y="557784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8852" y="5233415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8852" y="488899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8852" y="454456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68852" y="4200144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68852" y="385572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68852" y="3511296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244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2940" y="3511296"/>
            <a:ext cx="0" cy="2411095"/>
          </a:xfrm>
          <a:custGeom>
            <a:avLst/>
            <a:gdLst/>
            <a:ahLst/>
            <a:cxnLst/>
            <a:rect l="l" t="t" r="r" b="b"/>
            <a:pathLst>
              <a:path w="0" h="2411095">
                <a:moveTo>
                  <a:pt x="0" y="2410967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2940" y="5922264"/>
            <a:ext cx="3106420" cy="0"/>
          </a:xfrm>
          <a:custGeom>
            <a:avLst/>
            <a:gdLst/>
            <a:ahLst/>
            <a:cxnLst/>
            <a:rect l="l" t="t" r="r" b="b"/>
            <a:pathLst>
              <a:path w="3106420" h="0">
                <a:moveTo>
                  <a:pt x="0" y="0"/>
                </a:moveTo>
                <a:lnTo>
                  <a:pt x="3105912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1082" y="3684270"/>
            <a:ext cx="1035050" cy="1290955"/>
          </a:xfrm>
          <a:custGeom>
            <a:avLst/>
            <a:gdLst/>
            <a:ahLst/>
            <a:cxnLst/>
            <a:rect l="l" t="t" r="r" b="b"/>
            <a:pathLst>
              <a:path w="1035050" h="1290954">
                <a:moveTo>
                  <a:pt x="0" y="1290827"/>
                </a:moveTo>
                <a:lnTo>
                  <a:pt x="344424" y="722375"/>
                </a:lnTo>
                <a:lnTo>
                  <a:pt x="690371" y="224027"/>
                </a:lnTo>
                <a:lnTo>
                  <a:pt x="1034795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86580" y="5806236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0.0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86580" y="5461812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0.2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6580" y="5117083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0.4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86580" y="4772659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0.6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86580" y="4427982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0.8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86580" y="4083558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1.0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6580" y="3738753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1.2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86580" y="3394329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1.4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5498" y="5806236"/>
            <a:ext cx="1905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2897" y="5404230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2897" y="5002148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2897" y="4600194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30%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2897" y="4197807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宋体"/>
                <a:cs typeface="宋体"/>
              </a:rPr>
              <a:t>40%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2897" y="3796410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50%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2897" y="3394329"/>
            <a:ext cx="272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60%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7859" y="5983325"/>
            <a:ext cx="31172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宋体"/>
                <a:cs typeface="宋体"/>
              </a:rPr>
              <a:t>2008</a:t>
            </a:r>
            <a:r>
              <a:rPr dirty="0" sz="1300" spc="-530">
                <a:latin typeface="宋体"/>
                <a:cs typeface="宋体"/>
              </a:rPr>
              <a:t> </a:t>
            </a:r>
            <a:r>
              <a:rPr dirty="0" sz="1300" spc="15">
                <a:latin typeface="宋体"/>
                <a:cs typeface="宋体"/>
              </a:rPr>
              <a:t>200920102011</a:t>
            </a:r>
            <a:r>
              <a:rPr dirty="0" sz="1300" spc="-530">
                <a:latin typeface="宋体"/>
                <a:cs typeface="宋体"/>
              </a:rPr>
              <a:t> </a:t>
            </a:r>
            <a:r>
              <a:rPr dirty="0" sz="1300" spc="15">
                <a:latin typeface="宋体"/>
                <a:cs typeface="宋体"/>
              </a:rPr>
              <a:t>201220132014</a:t>
            </a:r>
            <a:r>
              <a:rPr dirty="0" sz="1300" spc="-525">
                <a:latin typeface="宋体"/>
                <a:cs typeface="宋体"/>
              </a:rPr>
              <a:t> </a:t>
            </a:r>
            <a:r>
              <a:rPr dirty="0" sz="1300" spc="10">
                <a:latin typeface="宋体"/>
                <a:cs typeface="宋体"/>
              </a:rPr>
              <a:t>20152016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95755" y="319125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73151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352803" y="3073399"/>
            <a:ext cx="18402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拥有智</a:t>
            </a:r>
            <a:r>
              <a:rPr dirty="0" sz="1300" spc="5">
                <a:latin typeface="宋体"/>
                <a:cs typeface="宋体"/>
              </a:rPr>
              <a:t>能</a:t>
            </a:r>
            <a:r>
              <a:rPr dirty="0" sz="1300" spc="-5">
                <a:latin typeface="宋体"/>
                <a:cs typeface="宋体"/>
              </a:rPr>
              <a:t>手机</a:t>
            </a:r>
            <a:r>
              <a:rPr dirty="0" sz="1300" spc="5">
                <a:latin typeface="宋体"/>
                <a:cs typeface="宋体"/>
              </a:rPr>
              <a:t>的</a:t>
            </a:r>
            <a:r>
              <a:rPr dirty="0" sz="1300" spc="-5">
                <a:latin typeface="宋体"/>
                <a:cs typeface="宋体"/>
              </a:rPr>
              <a:t>家</a:t>
            </a:r>
            <a:r>
              <a:rPr dirty="0" sz="1300" spc="5">
                <a:latin typeface="宋体"/>
                <a:cs typeface="宋体"/>
              </a:rPr>
              <a:t>庭</a:t>
            </a:r>
            <a:r>
              <a:rPr dirty="0" sz="1300" spc="-5">
                <a:latin typeface="宋体"/>
                <a:cs typeface="宋体"/>
              </a:rPr>
              <a:t>占比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96517" y="340232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352803" y="3285236"/>
            <a:ext cx="167576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户均使</a:t>
            </a:r>
            <a:r>
              <a:rPr dirty="0" sz="1300" spc="5">
                <a:latin typeface="宋体"/>
                <a:cs typeface="宋体"/>
              </a:rPr>
              <a:t>用</a:t>
            </a:r>
            <a:r>
              <a:rPr dirty="0" sz="1300" spc="-5">
                <a:latin typeface="宋体"/>
                <a:cs typeface="宋体"/>
              </a:rPr>
              <a:t>智能</a:t>
            </a:r>
            <a:r>
              <a:rPr dirty="0" sz="1300" spc="5">
                <a:latin typeface="宋体"/>
                <a:cs typeface="宋体"/>
              </a:rPr>
              <a:t>手</a:t>
            </a:r>
            <a:r>
              <a:rPr dirty="0" sz="1300" spc="-5">
                <a:latin typeface="宋体"/>
                <a:cs typeface="宋体"/>
              </a:rPr>
              <a:t>机</a:t>
            </a:r>
            <a:r>
              <a:rPr dirty="0" sz="1300" spc="5">
                <a:latin typeface="宋体"/>
                <a:cs typeface="宋体"/>
              </a:rPr>
              <a:t>数</a:t>
            </a:r>
            <a:r>
              <a:rPr dirty="0" sz="1300" spc="-5">
                <a:latin typeface="宋体"/>
                <a:cs typeface="宋体"/>
              </a:rPr>
              <a:t>量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586984" y="3392423"/>
            <a:ext cx="0" cy="2364105"/>
          </a:xfrm>
          <a:custGeom>
            <a:avLst/>
            <a:gdLst/>
            <a:ahLst/>
            <a:cxnLst/>
            <a:rect l="l" t="t" r="r" b="b"/>
            <a:pathLst>
              <a:path w="0" h="2364104">
                <a:moveTo>
                  <a:pt x="0" y="2363724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586984" y="5756147"/>
            <a:ext cx="3229610" cy="0"/>
          </a:xfrm>
          <a:custGeom>
            <a:avLst/>
            <a:gdLst/>
            <a:ahLst/>
            <a:cxnLst/>
            <a:rect l="l" t="t" r="r" b="b"/>
            <a:pathLst>
              <a:path w="3229609" h="0">
                <a:moveTo>
                  <a:pt x="0" y="0"/>
                </a:moveTo>
                <a:lnTo>
                  <a:pt x="3229356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02046" y="3809238"/>
            <a:ext cx="2997835" cy="1607820"/>
          </a:xfrm>
          <a:custGeom>
            <a:avLst/>
            <a:gdLst/>
            <a:ahLst/>
            <a:cxnLst/>
            <a:rect l="l" t="t" r="r" b="b"/>
            <a:pathLst>
              <a:path w="2997834" h="1607820">
                <a:moveTo>
                  <a:pt x="0" y="1607820"/>
                </a:moveTo>
                <a:lnTo>
                  <a:pt x="230124" y="1336548"/>
                </a:lnTo>
                <a:lnTo>
                  <a:pt x="461771" y="92963"/>
                </a:lnTo>
                <a:lnTo>
                  <a:pt x="691895" y="0"/>
                </a:lnTo>
                <a:lnTo>
                  <a:pt x="922020" y="263651"/>
                </a:lnTo>
                <a:lnTo>
                  <a:pt x="1153668" y="373380"/>
                </a:lnTo>
                <a:lnTo>
                  <a:pt x="1383792" y="501395"/>
                </a:lnTo>
                <a:lnTo>
                  <a:pt x="1613915" y="257556"/>
                </a:lnTo>
                <a:lnTo>
                  <a:pt x="1845563" y="178307"/>
                </a:lnTo>
                <a:lnTo>
                  <a:pt x="2075687" y="120395"/>
                </a:lnTo>
                <a:lnTo>
                  <a:pt x="2305811" y="170687"/>
                </a:lnTo>
                <a:lnTo>
                  <a:pt x="2537459" y="385572"/>
                </a:lnTo>
                <a:lnTo>
                  <a:pt x="2767583" y="592836"/>
                </a:lnTo>
                <a:lnTo>
                  <a:pt x="2997707" y="521207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702046" y="5449061"/>
            <a:ext cx="2997835" cy="299085"/>
          </a:xfrm>
          <a:custGeom>
            <a:avLst/>
            <a:gdLst/>
            <a:ahLst/>
            <a:cxnLst/>
            <a:rect l="l" t="t" r="r" b="b"/>
            <a:pathLst>
              <a:path w="2997834" h="299085">
                <a:moveTo>
                  <a:pt x="0" y="298703"/>
                </a:moveTo>
                <a:lnTo>
                  <a:pt x="230124" y="288035"/>
                </a:lnTo>
                <a:lnTo>
                  <a:pt x="461771" y="222503"/>
                </a:lnTo>
                <a:lnTo>
                  <a:pt x="691895" y="207263"/>
                </a:lnTo>
                <a:lnTo>
                  <a:pt x="922020" y="211835"/>
                </a:lnTo>
                <a:lnTo>
                  <a:pt x="1153668" y="208787"/>
                </a:lnTo>
                <a:lnTo>
                  <a:pt x="1383792" y="202691"/>
                </a:lnTo>
                <a:lnTo>
                  <a:pt x="1613915" y="163068"/>
                </a:lnTo>
                <a:lnTo>
                  <a:pt x="1845563" y="68579"/>
                </a:lnTo>
                <a:lnTo>
                  <a:pt x="2075687" y="0"/>
                </a:lnTo>
                <a:lnTo>
                  <a:pt x="2305811" y="4571"/>
                </a:lnTo>
                <a:lnTo>
                  <a:pt x="2537459" y="47243"/>
                </a:lnTo>
                <a:lnTo>
                  <a:pt x="2767583" y="80772"/>
                </a:lnTo>
                <a:lnTo>
                  <a:pt x="2997707" y="80772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02046" y="5656326"/>
            <a:ext cx="2997835" cy="83820"/>
          </a:xfrm>
          <a:custGeom>
            <a:avLst/>
            <a:gdLst/>
            <a:ahLst/>
            <a:cxnLst/>
            <a:rect l="l" t="t" r="r" b="b"/>
            <a:pathLst>
              <a:path w="2997834" h="83820">
                <a:moveTo>
                  <a:pt x="0" y="83820"/>
                </a:moveTo>
                <a:lnTo>
                  <a:pt x="230124" y="70104"/>
                </a:lnTo>
                <a:lnTo>
                  <a:pt x="461771" y="9143"/>
                </a:lnTo>
                <a:lnTo>
                  <a:pt x="691895" y="3048"/>
                </a:lnTo>
                <a:lnTo>
                  <a:pt x="922020" y="15240"/>
                </a:lnTo>
                <a:lnTo>
                  <a:pt x="1153668" y="15240"/>
                </a:lnTo>
                <a:lnTo>
                  <a:pt x="1383792" y="19812"/>
                </a:lnTo>
                <a:lnTo>
                  <a:pt x="1613915" y="3048"/>
                </a:lnTo>
                <a:lnTo>
                  <a:pt x="1845563" y="3048"/>
                </a:lnTo>
                <a:lnTo>
                  <a:pt x="2075687" y="0"/>
                </a:lnTo>
                <a:lnTo>
                  <a:pt x="2305811" y="4571"/>
                </a:lnTo>
                <a:lnTo>
                  <a:pt x="2537459" y="18287"/>
                </a:lnTo>
                <a:lnTo>
                  <a:pt x="2767583" y="32004"/>
                </a:lnTo>
                <a:lnTo>
                  <a:pt x="2997707" y="30480"/>
                </a:lnTo>
              </a:path>
            </a:pathLst>
          </a:custGeom>
          <a:ln w="2895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32170" y="5718809"/>
            <a:ext cx="2767965" cy="35560"/>
          </a:xfrm>
          <a:custGeom>
            <a:avLst/>
            <a:gdLst/>
            <a:ahLst/>
            <a:cxnLst/>
            <a:rect l="l" t="t" r="r" b="b"/>
            <a:pathLst>
              <a:path w="2767965" h="35560">
                <a:moveTo>
                  <a:pt x="0" y="35051"/>
                </a:moveTo>
                <a:lnTo>
                  <a:pt x="231647" y="25907"/>
                </a:lnTo>
                <a:lnTo>
                  <a:pt x="461771" y="19811"/>
                </a:lnTo>
                <a:lnTo>
                  <a:pt x="691896" y="12191"/>
                </a:lnTo>
                <a:lnTo>
                  <a:pt x="923544" y="6095"/>
                </a:lnTo>
                <a:lnTo>
                  <a:pt x="1153668" y="3047"/>
                </a:lnTo>
                <a:lnTo>
                  <a:pt x="1383791" y="0"/>
                </a:lnTo>
                <a:lnTo>
                  <a:pt x="1615439" y="0"/>
                </a:lnTo>
                <a:lnTo>
                  <a:pt x="1845563" y="3047"/>
                </a:lnTo>
                <a:lnTo>
                  <a:pt x="2075687" y="7619"/>
                </a:lnTo>
                <a:lnTo>
                  <a:pt x="2307335" y="13715"/>
                </a:lnTo>
                <a:lnTo>
                  <a:pt x="2537459" y="15239"/>
                </a:lnTo>
                <a:lnTo>
                  <a:pt x="2767583" y="13715"/>
                </a:lnTo>
              </a:path>
            </a:pathLst>
          </a:custGeom>
          <a:ln w="28956">
            <a:solidFill>
              <a:srgbClr val="7C5F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279897" y="5638596"/>
            <a:ext cx="107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49697" y="5300852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2,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49697" y="4963159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4,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49697" y="4625721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6,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49697" y="4288028"/>
            <a:ext cx="43878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8,</a:t>
            </a:r>
            <a:r>
              <a:rPr dirty="0" sz="1300" spc="5">
                <a:latin typeface="宋体"/>
                <a:cs typeface="宋体"/>
              </a:rPr>
              <a:t>0</a:t>
            </a:r>
            <a:r>
              <a:rPr dirty="0" sz="1300" spc="-5">
                <a:latin typeface="宋体"/>
                <a:cs typeface="宋体"/>
              </a:rPr>
              <a:t>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67147" y="3950334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10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867147" y="3612641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12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67147" y="3274822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宋体"/>
                <a:cs typeface="宋体"/>
              </a:rPr>
              <a:t>14</a:t>
            </a:r>
            <a:r>
              <a:rPr dirty="0" sz="1300" spc="5">
                <a:latin typeface="宋体"/>
                <a:cs typeface="宋体"/>
              </a:rPr>
              <a:t>,</a:t>
            </a:r>
            <a:r>
              <a:rPr dirty="0" sz="1300" spc="-5">
                <a:latin typeface="宋体"/>
                <a:cs typeface="宋体"/>
              </a:rPr>
              <a:t>000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448305" y="5878029"/>
            <a:ext cx="3270244" cy="291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915405" y="318744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27214" y="318744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6173215" y="3069081"/>
            <a:ext cx="186817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24635" algn="l"/>
              </a:tabLst>
            </a:pPr>
            <a:r>
              <a:rPr dirty="0" sz="1300" spc="-5">
                <a:latin typeface="宋体"/>
                <a:cs typeface="宋体"/>
              </a:rPr>
              <a:t>手机专</a:t>
            </a:r>
            <a:r>
              <a:rPr dirty="0" sz="1300" spc="5">
                <a:latin typeface="宋体"/>
                <a:cs typeface="宋体"/>
              </a:rPr>
              <a:t>卖</a:t>
            </a:r>
            <a:r>
              <a:rPr dirty="0" sz="1300" spc="-5">
                <a:latin typeface="宋体"/>
                <a:cs typeface="宋体"/>
              </a:rPr>
              <a:t>店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sz="1300" spc="-5">
                <a:latin typeface="宋体"/>
                <a:cs typeface="宋体"/>
              </a:rPr>
              <a:t>电商</a:t>
            </a:r>
            <a:endParaRPr sz="1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258000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华为提升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市占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率的战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略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49167" y="1789176"/>
            <a:ext cx="1565275" cy="490855"/>
          </a:xfrm>
          <a:custGeom>
            <a:avLst/>
            <a:gdLst/>
            <a:ahLst/>
            <a:cxnLst/>
            <a:rect l="l" t="t" r="r" b="b"/>
            <a:pathLst>
              <a:path w="1565275" h="490855">
                <a:moveTo>
                  <a:pt x="1483359" y="0"/>
                </a:moveTo>
                <a:lnTo>
                  <a:pt x="81787" y="0"/>
                </a:lnTo>
                <a:lnTo>
                  <a:pt x="49934" y="6421"/>
                </a:lnTo>
                <a:lnTo>
                  <a:pt x="23939" y="23939"/>
                </a:lnTo>
                <a:lnTo>
                  <a:pt x="6421" y="49934"/>
                </a:lnTo>
                <a:lnTo>
                  <a:pt x="0" y="81787"/>
                </a:lnTo>
                <a:lnTo>
                  <a:pt x="0" y="408939"/>
                </a:lnTo>
                <a:lnTo>
                  <a:pt x="6421" y="440793"/>
                </a:lnTo>
                <a:lnTo>
                  <a:pt x="23939" y="466788"/>
                </a:lnTo>
                <a:lnTo>
                  <a:pt x="49934" y="484306"/>
                </a:lnTo>
                <a:lnTo>
                  <a:pt x="81787" y="490727"/>
                </a:lnTo>
                <a:lnTo>
                  <a:pt x="1483359" y="490727"/>
                </a:lnTo>
                <a:lnTo>
                  <a:pt x="1515213" y="484306"/>
                </a:lnTo>
                <a:lnTo>
                  <a:pt x="1541208" y="466788"/>
                </a:lnTo>
                <a:lnTo>
                  <a:pt x="1558726" y="440793"/>
                </a:lnTo>
                <a:lnTo>
                  <a:pt x="1565147" y="408939"/>
                </a:lnTo>
                <a:lnTo>
                  <a:pt x="1565147" y="81787"/>
                </a:lnTo>
                <a:lnTo>
                  <a:pt x="1558726" y="49934"/>
                </a:lnTo>
                <a:lnTo>
                  <a:pt x="1541208" y="23939"/>
                </a:lnTo>
                <a:lnTo>
                  <a:pt x="1515213" y="6421"/>
                </a:lnTo>
                <a:lnTo>
                  <a:pt x="1483359" y="0"/>
                </a:lnTo>
                <a:close/>
              </a:path>
            </a:pathLst>
          </a:custGeom>
          <a:solidFill>
            <a:srgbClr val="BA8E51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59302" y="1879803"/>
            <a:ext cx="9461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latin typeface="明兰"/>
                <a:cs typeface="明兰"/>
              </a:rPr>
              <a:t>消费升级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49167" y="4390644"/>
            <a:ext cx="1565275" cy="1071880"/>
          </a:xfrm>
          <a:custGeom>
            <a:avLst/>
            <a:gdLst/>
            <a:ahLst/>
            <a:cxnLst/>
            <a:rect l="l" t="t" r="r" b="b"/>
            <a:pathLst>
              <a:path w="1565275" h="1071879">
                <a:moveTo>
                  <a:pt x="1386585" y="0"/>
                </a:moveTo>
                <a:lnTo>
                  <a:pt x="178561" y="0"/>
                </a:lnTo>
                <a:lnTo>
                  <a:pt x="131115" y="6374"/>
                </a:lnTo>
                <a:lnTo>
                  <a:pt x="88467" y="24365"/>
                </a:lnTo>
                <a:lnTo>
                  <a:pt x="52323" y="52276"/>
                </a:lnTo>
                <a:lnTo>
                  <a:pt x="24393" y="88410"/>
                </a:lnTo>
                <a:lnTo>
                  <a:pt x="6382" y="131071"/>
                </a:lnTo>
                <a:lnTo>
                  <a:pt x="0" y="178561"/>
                </a:lnTo>
                <a:lnTo>
                  <a:pt x="0" y="892809"/>
                </a:lnTo>
                <a:lnTo>
                  <a:pt x="6382" y="940256"/>
                </a:lnTo>
                <a:lnTo>
                  <a:pt x="24393" y="982904"/>
                </a:lnTo>
                <a:lnTo>
                  <a:pt x="52323" y="1019047"/>
                </a:lnTo>
                <a:lnTo>
                  <a:pt x="88467" y="1046978"/>
                </a:lnTo>
                <a:lnTo>
                  <a:pt x="131115" y="1064989"/>
                </a:lnTo>
                <a:lnTo>
                  <a:pt x="178561" y="1071371"/>
                </a:lnTo>
                <a:lnTo>
                  <a:pt x="1386585" y="1071371"/>
                </a:lnTo>
                <a:lnTo>
                  <a:pt x="1434032" y="1064989"/>
                </a:lnTo>
                <a:lnTo>
                  <a:pt x="1476680" y="1046978"/>
                </a:lnTo>
                <a:lnTo>
                  <a:pt x="1512824" y="1019047"/>
                </a:lnTo>
                <a:lnTo>
                  <a:pt x="1540754" y="982904"/>
                </a:lnTo>
                <a:lnTo>
                  <a:pt x="1558765" y="940256"/>
                </a:lnTo>
                <a:lnTo>
                  <a:pt x="1565147" y="892809"/>
                </a:lnTo>
                <a:lnTo>
                  <a:pt x="1565147" y="178561"/>
                </a:lnTo>
                <a:lnTo>
                  <a:pt x="1558765" y="131071"/>
                </a:lnTo>
                <a:lnTo>
                  <a:pt x="1540754" y="88410"/>
                </a:lnTo>
                <a:lnTo>
                  <a:pt x="1512823" y="52276"/>
                </a:lnTo>
                <a:lnTo>
                  <a:pt x="1476680" y="24365"/>
                </a:lnTo>
                <a:lnTo>
                  <a:pt x="1434032" y="6374"/>
                </a:lnTo>
                <a:lnTo>
                  <a:pt x="1386585" y="0"/>
                </a:lnTo>
                <a:close/>
              </a:path>
            </a:pathLst>
          </a:custGeom>
          <a:solidFill>
            <a:srgbClr val="BA8E51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44621" y="4510785"/>
            <a:ext cx="1176020" cy="836294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L="12700" marR="5080">
              <a:lnSpc>
                <a:spcPct val="97800"/>
              </a:lnSpc>
              <a:spcBef>
                <a:spcPts val="145"/>
              </a:spcBef>
            </a:pPr>
            <a:r>
              <a:rPr dirty="0" sz="1800" spc="10" b="1">
                <a:latin typeface="明兰"/>
                <a:cs typeface="明兰"/>
              </a:rPr>
              <a:t>手机专卖店 仍是最主要 渠道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6615" y="3104388"/>
            <a:ext cx="1865630" cy="893444"/>
          </a:xfrm>
          <a:custGeom>
            <a:avLst/>
            <a:gdLst/>
            <a:ahLst/>
            <a:cxnLst/>
            <a:rect l="l" t="t" r="r" b="b"/>
            <a:pathLst>
              <a:path w="1865630" h="893445">
                <a:moveTo>
                  <a:pt x="1716532" y="0"/>
                </a:moveTo>
                <a:lnTo>
                  <a:pt x="148844" y="0"/>
                </a:lnTo>
                <a:lnTo>
                  <a:pt x="101796" y="7591"/>
                </a:lnTo>
                <a:lnTo>
                  <a:pt x="60937" y="28728"/>
                </a:lnTo>
                <a:lnTo>
                  <a:pt x="28717" y="60953"/>
                </a:lnTo>
                <a:lnTo>
                  <a:pt x="7587" y="101811"/>
                </a:lnTo>
                <a:lnTo>
                  <a:pt x="0" y="148844"/>
                </a:lnTo>
                <a:lnTo>
                  <a:pt x="0" y="744219"/>
                </a:lnTo>
                <a:lnTo>
                  <a:pt x="7587" y="791252"/>
                </a:lnTo>
                <a:lnTo>
                  <a:pt x="28717" y="832110"/>
                </a:lnTo>
                <a:lnTo>
                  <a:pt x="60937" y="864335"/>
                </a:lnTo>
                <a:lnTo>
                  <a:pt x="101796" y="885472"/>
                </a:lnTo>
                <a:lnTo>
                  <a:pt x="148844" y="893063"/>
                </a:lnTo>
                <a:lnTo>
                  <a:pt x="1716532" y="893063"/>
                </a:lnTo>
                <a:lnTo>
                  <a:pt x="1763564" y="885472"/>
                </a:lnTo>
                <a:lnTo>
                  <a:pt x="1804422" y="864335"/>
                </a:lnTo>
                <a:lnTo>
                  <a:pt x="1836647" y="832110"/>
                </a:lnTo>
                <a:lnTo>
                  <a:pt x="1857784" y="791252"/>
                </a:lnTo>
                <a:lnTo>
                  <a:pt x="1865376" y="744219"/>
                </a:lnTo>
                <a:lnTo>
                  <a:pt x="1865376" y="148844"/>
                </a:lnTo>
                <a:lnTo>
                  <a:pt x="1857784" y="101811"/>
                </a:lnTo>
                <a:lnTo>
                  <a:pt x="1836647" y="60953"/>
                </a:lnTo>
                <a:lnTo>
                  <a:pt x="1804422" y="28728"/>
                </a:lnTo>
                <a:lnTo>
                  <a:pt x="1763564" y="7591"/>
                </a:lnTo>
                <a:lnTo>
                  <a:pt x="1716532" y="0"/>
                </a:lnTo>
                <a:close/>
              </a:path>
            </a:pathLst>
          </a:custGeom>
          <a:solidFill>
            <a:srgbClr val="66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3748" y="3260216"/>
            <a:ext cx="15328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3</a:t>
            </a:r>
            <a:r>
              <a:rPr dirty="0" sz="1800" spc="10" b="1">
                <a:latin typeface="明兰"/>
                <a:cs typeface="明兰"/>
              </a:rPr>
              <a:t>年内市占率提 升至</a:t>
            </a:r>
            <a:r>
              <a:rPr dirty="0" sz="1800" spc="-10" b="1">
                <a:latin typeface="Arial"/>
                <a:cs typeface="Arial"/>
              </a:rPr>
              <a:t>15%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992" y="1982851"/>
            <a:ext cx="1026160" cy="1574800"/>
          </a:xfrm>
          <a:custGeom>
            <a:avLst/>
            <a:gdLst/>
            <a:ahLst/>
            <a:cxnLst/>
            <a:rect l="l" t="t" r="r" b="b"/>
            <a:pathLst>
              <a:path w="1026160" h="1574800">
                <a:moveTo>
                  <a:pt x="506730" y="1562100"/>
                </a:moveTo>
                <a:lnTo>
                  <a:pt x="0" y="1562100"/>
                </a:lnTo>
                <a:lnTo>
                  <a:pt x="0" y="1574800"/>
                </a:lnTo>
                <a:lnTo>
                  <a:pt x="519430" y="1574800"/>
                </a:lnTo>
                <a:lnTo>
                  <a:pt x="519430" y="1568450"/>
                </a:lnTo>
                <a:lnTo>
                  <a:pt x="506730" y="1568450"/>
                </a:lnTo>
                <a:lnTo>
                  <a:pt x="506730" y="1562100"/>
                </a:lnTo>
                <a:close/>
              </a:path>
              <a:path w="1026160" h="1574800">
                <a:moveTo>
                  <a:pt x="990037" y="45338"/>
                </a:moveTo>
                <a:lnTo>
                  <a:pt x="506730" y="45338"/>
                </a:lnTo>
                <a:lnTo>
                  <a:pt x="506730" y="1568450"/>
                </a:lnTo>
                <a:lnTo>
                  <a:pt x="513080" y="1562100"/>
                </a:lnTo>
                <a:lnTo>
                  <a:pt x="519430" y="1562100"/>
                </a:lnTo>
                <a:lnTo>
                  <a:pt x="519430" y="58038"/>
                </a:lnTo>
                <a:lnTo>
                  <a:pt x="513080" y="58038"/>
                </a:lnTo>
                <a:lnTo>
                  <a:pt x="519430" y="51688"/>
                </a:lnTo>
                <a:lnTo>
                  <a:pt x="1000923" y="51688"/>
                </a:lnTo>
                <a:lnTo>
                  <a:pt x="990037" y="45338"/>
                </a:lnTo>
                <a:close/>
              </a:path>
              <a:path w="1026160" h="1574800">
                <a:moveTo>
                  <a:pt x="519430" y="1562100"/>
                </a:moveTo>
                <a:lnTo>
                  <a:pt x="513080" y="1562100"/>
                </a:lnTo>
                <a:lnTo>
                  <a:pt x="506730" y="1568450"/>
                </a:lnTo>
                <a:lnTo>
                  <a:pt x="519430" y="1568450"/>
                </a:lnTo>
                <a:lnTo>
                  <a:pt x="519430" y="1562100"/>
                </a:lnTo>
                <a:close/>
              </a:path>
              <a:path w="1026160" h="1574800">
                <a:moveTo>
                  <a:pt x="1000923" y="51688"/>
                </a:moveTo>
                <a:lnTo>
                  <a:pt x="934084" y="90677"/>
                </a:lnTo>
                <a:lnTo>
                  <a:pt x="931163" y="92456"/>
                </a:lnTo>
                <a:lnTo>
                  <a:pt x="930147" y="96265"/>
                </a:lnTo>
                <a:lnTo>
                  <a:pt x="931799" y="99313"/>
                </a:lnTo>
                <a:lnTo>
                  <a:pt x="933576" y="102362"/>
                </a:lnTo>
                <a:lnTo>
                  <a:pt x="937513" y="103377"/>
                </a:lnTo>
                <a:lnTo>
                  <a:pt x="1015269" y="58038"/>
                </a:lnTo>
                <a:lnTo>
                  <a:pt x="1013587" y="58038"/>
                </a:lnTo>
                <a:lnTo>
                  <a:pt x="1013587" y="57150"/>
                </a:lnTo>
                <a:lnTo>
                  <a:pt x="1010284" y="57150"/>
                </a:lnTo>
                <a:lnTo>
                  <a:pt x="1000923" y="51688"/>
                </a:lnTo>
                <a:close/>
              </a:path>
              <a:path w="1026160" h="1574800">
                <a:moveTo>
                  <a:pt x="519430" y="51688"/>
                </a:moveTo>
                <a:lnTo>
                  <a:pt x="513080" y="58038"/>
                </a:lnTo>
                <a:lnTo>
                  <a:pt x="519430" y="58038"/>
                </a:lnTo>
                <a:lnTo>
                  <a:pt x="519430" y="51688"/>
                </a:lnTo>
                <a:close/>
              </a:path>
              <a:path w="1026160" h="1574800">
                <a:moveTo>
                  <a:pt x="1000923" y="51688"/>
                </a:moveTo>
                <a:lnTo>
                  <a:pt x="519430" y="51688"/>
                </a:lnTo>
                <a:lnTo>
                  <a:pt x="519430" y="58038"/>
                </a:lnTo>
                <a:lnTo>
                  <a:pt x="990037" y="58038"/>
                </a:lnTo>
                <a:lnTo>
                  <a:pt x="1000923" y="51688"/>
                </a:lnTo>
                <a:close/>
              </a:path>
              <a:path w="1026160" h="1574800">
                <a:moveTo>
                  <a:pt x="1015269" y="45338"/>
                </a:moveTo>
                <a:lnTo>
                  <a:pt x="1013587" y="45338"/>
                </a:lnTo>
                <a:lnTo>
                  <a:pt x="1013587" y="58038"/>
                </a:lnTo>
                <a:lnTo>
                  <a:pt x="1015269" y="58038"/>
                </a:lnTo>
                <a:lnTo>
                  <a:pt x="1026159" y="51688"/>
                </a:lnTo>
                <a:lnTo>
                  <a:pt x="1015269" y="45338"/>
                </a:lnTo>
                <a:close/>
              </a:path>
              <a:path w="1026160" h="1574800">
                <a:moveTo>
                  <a:pt x="1010284" y="46227"/>
                </a:moveTo>
                <a:lnTo>
                  <a:pt x="1000923" y="51688"/>
                </a:lnTo>
                <a:lnTo>
                  <a:pt x="1010284" y="57150"/>
                </a:lnTo>
                <a:lnTo>
                  <a:pt x="1010284" y="46227"/>
                </a:lnTo>
                <a:close/>
              </a:path>
              <a:path w="1026160" h="1574800">
                <a:moveTo>
                  <a:pt x="1013587" y="46227"/>
                </a:moveTo>
                <a:lnTo>
                  <a:pt x="1010284" y="46227"/>
                </a:lnTo>
                <a:lnTo>
                  <a:pt x="1010284" y="57150"/>
                </a:lnTo>
                <a:lnTo>
                  <a:pt x="1013587" y="57150"/>
                </a:lnTo>
                <a:lnTo>
                  <a:pt x="1013587" y="46227"/>
                </a:lnTo>
                <a:close/>
              </a:path>
              <a:path w="1026160" h="1574800">
                <a:moveTo>
                  <a:pt x="937513" y="0"/>
                </a:moveTo>
                <a:lnTo>
                  <a:pt x="933576" y="1015"/>
                </a:lnTo>
                <a:lnTo>
                  <a:pt x="931799" y="4063"/>
                </a:lnTo>
                <a:lnTo>
                  <a:pt x="930147" y="7112"/>
                </a:lnTo>
                <a:lnTo>
                  <a:pt x="931163" y="10922"/>
                </a:lnTo>
                <a:lnTo>
                  <a:pt x="934084" y="12700"/>
                </a:lnTo>
                <a:lnTo>
                  <a:pt x="1000923" y="51688"/>
                </a:lnTo>
                <a:lnTo>
                  <a:pt x="1010284" y="46227"/>
                </a:lnTo>
                <a:lnTo>
                  <a:pt x="1013587" y="46227"/>
                </a:lnTo>
                <a:lnTo>
                  <a:pt x="1013587" y="45338"/>
                </a:lnTo>
                <a:lnTo>
                  <a:pt x="1015269" y="45338"/>
                </a:lnTo>
                <a:lnTo>
                  <a:pt x="93751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21992" y="3544570"/>
            <a:ext cx="1026160" cy="1433830"/>
          </a:xfrm>
          <a:custGeom>
            <a:avLst/>
            <a:gdLst/>
            <a:ahLst/>
            <a:cxnLst/>
            <a:rect l="l" t="t" r="r" b="b"/>
            <a:pathLst>
              <a:path w="1026160" h="1433829">
                <a:moveTo>
                  <a:pt x="1000923" y="1381632"/>
                </a:moveTo>
                <a:lnTo>
                  <a:pt x="934084" y="1420621"/>
                </a:lnTo>
                <a:lnTo>
                  <a:pt x="931163" y="1422399"/>
                </a:lnTo>
                <a:lnTo>
                  <a:pt x="930147" y="1426209"/>
                </a:lnTo>
                <a:lnTo>
                  <a:pt x="931799" y="1429257"/>
                </a:lnTo>
                <a:lnTo>
                  <a:pt x="933576" y="1432305"/>
                </a:lnTo>
                <a:lnTo>
                  <a:pt x="937513" y="1433321"/>
                </a:lnTo>
                <a:lnTo>
                  <a:pt x="1015269" y="1387982"/>
                </a:lnTo>
                <a:lnTo>
                  <a:pt x="1013587" y="1387982"/>
                </a:lnTo>
                <a:lnTo>
                  <a:pt x="1013587" y="1387093"/>
                </a:lnTo>
                <a:lnTo>
                  <a:pt x="1010284" y="1387093"/>
                </a:lnTo>
                <a:lnTo>
                  <a:pt x="1000923" y="1381632"/>
                </a:lnTo>
                <a:close/>
              </a:path>
              <a:path w="1026160" h="1433829">
                <a:moveTo>
                  <a:pt x="506730" y="6350"/>
                </a:moveTo>
                <a:lnTo>
                  <a:pt x="506730" y="1387982"/>
                </a:lnTo>
                <a:lnTo>
                  <a:pt x="990037" y="1387982"/>
                </a:lnTo>
                <a:lnTo>
                  <a:pt x="1000923" y="1381632"/>
                </a:lnTo>
                <a:lnTo>
                  <a:pt x="519430" y="1381632"/>
                </a:lnTo>
                <a:lnTo>
                  <a:pt x="513080" y="1375282"/>
                </a:lnTo>
                <a:lnTo>
                  <a:pt x="519430" y="1375282"/>
                </a:lnTo>
                <a:lnTo>
                  <a:pt x="519430" y="12700"/>
                </a:lnTo>
                <a:lnTo>
                  <a:pt x="513080" y="12700"/>
                </a:lnTo>
                <a:lnTo>
                  <a:pt x="506730" y="6350"/>
                </a:lnTo>
                <a:close/>
              </a:path>
              <a:path w="1026160" h="1433829">
                <a:moveTo>
                  <a:pt x="1015269" y="1375282"/>
                </a:moveTo>
                <a:lnTo>
                  <a:pt x="1013587" y="1375282"/>
                </a:lnTo>
                <a:lnTo>
                  <a:pt x="1013587" y="1387982"/>
                </a:lnTo>
                <a:lnTo>
                  <a:pt x="1015269" y="1387982"/>
                </a:lnTo>
                <a:lnTo>
                  <a:pt x="1026159" y="1381632"/>
                </a:lnTo>
                <a:lnTo>
                  <a:pt x="1015269" y="1375282"/>
                </a:lnTo>
                <a:close/>
              </a:path>
              <a:path w="1026160" h="1433829">
                <a:moveTo>
                  <a:pt x="1010284" y="1376171"/>
                </a:moveTo>
                <a:lnTo>
                  <a:pt x="1000923" y="1381632"/>
                </a:lnTo>
                <a:lnTo>
                  <a:pt x="1010284" y="1387093"/>
                </a:lnTo>
                <a:lnTo>
                  <a:pt x="1010284" y="1376171"/>
                </a:lnTo>
                <a:close/>
              </a:path>
              <a:path w="1026160" h="1433829">
                <a:moveTo>
                  <a:pt x="1013587" y="1376171"/>
                </a:moveTo>
                <a:lnTo>
                  <a:pt x="1010284" y="1376171"/>
                </a:lnTo>
                <a:lnTo>
                  <a:pt x="1010284" y="1387093"/>
                </a:lnTo>
                <a:lnTo>
                  <a:pt x="1013587" y="1387093"/>
                </a:lnTo>
                <a:lnTo>
                  <a:pt x="1013587" y="1376171"/>
                </a:lnTo>
                <a:close/>
              </a:path>
              <a:path w="1026160" h="1433829">
                <a:moveTo>
                  <a:pt x="519430" y="1375282"/>
                </a:moveTo>
                <a:lnTo>
                  <a:pt x="513080" y="1375282"/>
                </a:lnTo>
                <a:lnTo>
                  <a:pt x="519430" y="1381632"/>
                </a:lnTo>
                <a:lnTo>
                  <a:pt x="519430" y="1375282"/>
                </a:lnTo>
                <a:close/>
              </a:path>
              <a:path w="1026160" h="1433829">
                <a:moveTo>
                  <a:pt x="990037" y="1375282"/>
                </a:moveTo>
                <a:lnTo>
                  <a:pt x="519430" y="1375282"/>
                </a:lnTo>
                <a:lnTo>
                  <a:pt x="519430" y="1381632"/>
                </a:lnTo>
                <a:lnTo>
                  <a:pt x="1000923" y="1381632"/>
                </a:lnTo>
                <a:lnTo>
                  <a:pt x="990037" y="1375282"/>
                </a:lnTo>
                <a:close/>
              </a:path>
              <a:path w="1026160" h="1433829">
                <a:moveTo>
                  <a:pt x="937513" y="1329943"/>
                </a:moveTo>
                <a:lnTo>
                  <a:pt x="933576" y="1330959"/>
                </a:lnTo>
                <a:lnTo>
                  <a:pt x="931799" y="1334007"/>
                </a:lnTo>
                <a:lnTo>
                  <a:pt x="930147" y="1337055"/>
                </a:lnTo>
                <a:lnTo>
                  <a:pt x="931163" y="1340865"/>
                </a:lnTo>
                <a:lnTo>
                  <a:pt x="934084" y="1342643"/>
                </a:lnTo>
                <a:lnTo>
                  <a:pt x="1000923" y="1381632"/>
                </a:lnTo>
                <a:lnTo>
                  <a:pt x="1010284" y="1376171"/>
                </a:lnTo>
                <a:lnTo>
                  <a:pt x="1013587" y="1376171"/>
                </a:lnTo>
                <a:lnTo>
                  <a:pt x="1013587" y="1375282"/>
                </a:lnTo>
                <a:lnTo>
                  <a:pt x="1015269" y="1375282"/>
                </a:lnTo>
                <a:lnTo>
                  <a:pt x="937513" y="1329943"/>
                </a:lnTo>
                <a:close/>
              </a:path>
              <a:path w="1026160" h="1433829">
                <a:moveTo>
                  <a:pt x="519430" y="0"/>
                </a:moveTo>
                <a:lnTo>
                  <a:pt x="0" y="0"/>
                </a:lnTo>
                <a:lnTo>
                  <a:pt x="0" y="12700"/>
                </a:lnTo>
                <a:lnTo>
                  <a:pt x="506730" y="12700"/>
                </a:lnTo>
                <a:lnTo>
                  <a:pt x="506730" y="6350"/>
                </a:lnTo>
                <a:lnTo>
                  <a:pt x="519430" y="6350"/>
                </a:lnTo>
                <a:lnTo>
                  <a:pt x="519430" y="0"/>
                </a:lnTo>
                <a:close/>
              </a:path>
              <a:path w="1026160" h="1433829">
                <a:moveTo>
                  <a:pt x="519430" y="6350"/>
                </a:moveTo>
                <a:lnTo>
                  <a:pt x="506730" y="6350"/>
                </a:lnTo>
                <a:lnTo>
                  <a:pt x="513080" y="12700"/>
                </a:lnTo>
                <a:lnTo>
                  <a:pt x="519430" y="12700"/>
                </a:lnTo>
                <a:lnTo>
                  <a:pt x="519430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23432" y="1316736"/>
            <a:ext cx="2537460" cy="1435735"/>
          </a:xfrm>
          <a:custGeom>
            <a:avLst/>
            <a:gdLst/>
            <a:ahLst/>
            <a:cxnLst/>
            <a:rect l="l" t="t" r="r" b="b"/>
            <a:pathLst>
              <a:path w="2537459" h="1435735">
                <a:moveTo>
                  <a:pt x="2298191" y="0"/>
                </a:moveTo>
                <a:lnTo>
                  <a:pt x="239267" y="0"/>
                </a:lnTo>
                <a:lnTo>
                  <a:pt x="191065" y="4863"/>
                </a:lnTo>
                <a:lnTo>
                  <a:pt x="146161" y="18811"/>
                </a:lnTo>
                <a:lnTo>
                  <a:pt x="105519" y="40880"/>
                </a:lnTo>
                <a:lnTo>
                  <a:pt x="70103" y="70103"/>
                </a:lnTo>
                <a:lnTo>
                  <a:pt x="40880" y="105519"/>
                </a:lnTo>
                <a:lnTo>
                  <a:pt x="18811" y="146161"/>
                </a:lnTo>
                <a:lnTo>
                  <a:pt x="4863" y="191065"/>
                </a:lnTo>
                <a:lnTo>
                  <a:pt x="0" y="239267"/>
                </a:lnTo>
                <a:lnTo>
                  <a:pt x="0" y="1196339"/>
                </a:lnTo>
                <a:lnTo>
                  <a:pt x="4863" y="1244542"/>
                </a:lnTo>
                <a:lnTo>
                  <a:pt x="18811" y="1289446"/>
                </a:lnTo>
                <a:lnTo>
                  <a:pt x="40880" y="1330088"/>
                </a:lnTo>
                <a:lnTo>
                  <a:pt x="70103" y="1365504"/>
                </a:lnTo>
                <a:lnTo>
                  <a:pt x="105519" y="1394727"/>
                </a:lnTo>
                <a:lnTo>
                  <a:pt x="146161" y="1416796"/>
                </a:lnTo>
                <a:lnTo>
                  <a:pt x="191065" y="1430744"/>
                </a:lnTo>
                <a:lnTo>
                  <a:pt x="239267" y="1435608"/>
                </a:lnTo>
                <a:lnTo>
                  <a:pt x="2298191" y="1435608"/>
                </a:lnTo>
                <a:lnTo>
                  <a:pt x="2346394" y="1430744"/>
                </a:lnTo>
                <a:lnTo>
                  <a:pt x="2391298" y="1416796"/>
                </a:lnTo>
                <a:lnTo>
                  <a:pt x="2431940" y="1394727"/>
                </a:lnTo>
                <a:lnTo>
                  <a:pt x="2467355" y="1365504"/>
                </a:lnTo>
                <a:lnTo>
                  <a:pt x="2496579" y="1330088"/>
                </a:lnTo>
                <a:lnTo>
                  <a:pt x="2518648" y="1289446"/>
                </a:lnTo>
                <a:lnTo>
                  <a:pt x="2532596" y="1244542"/>
                </a:lnTo>
                <a:lnTo>
                  <a:pt x="2537460" y="1196339"/>
                </a:lnTo>
                <a:lnTo>
                  <a:pt x="2537460" y="239267"/>
                </a:lnTo>
                <a:lnTo>
                  <a:pt x="2532596" y="191065"/>
                </a:lnTo>
                <a:lnTo>
                  <a:pt x="2518648" y="146161"/>
                </a:lnTo>
                <a:lnTo>
                  <a:pt x="2496579" y="105519"/>
                </a:lnTo>
                <a:lnTo>
                  <a:pt x="2467355" y="70103"/>
                </a:lnTo>
                <a:lnTo>
                  <a:pt x="2431940" y="40880"/>
                </a:lnTo>
                <a:lnTo>
                  <a:pt x="2391298" y="18811"/>
                </a:lnTo>
                <a:lnTo>
                  <a:pt x="2346394" y="4863"/>
                </a:lnTo>
                <a:lnTo>
                  <a:pt x="2298191" y="0"/>
                </a:lnTo>
                <a:close/>
              </a:path>
            </a:pathLst>
          </a:custGeom>
          <a:solidFill>
            <a:srgbClr val="A6A6A6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344792" y="1343659"/>
            <a:ext cx="2099310" cy="1385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2065" marR="5080" indent="-3810">
              <a:lnSpc>
                <a:spcPct val="98900"/>
              </a:lnSpc>
              <a:spcBef>
                <a:spcPts val="120"/>
              </a:spcBef>
            </a:pPr>
            <a:r>
              <a:rPr dirty="0" sz="1800" spc="10" b="1">
                <a:latin typeface="明兰"/>
                <a:cs typeface="明兰"/>
              </a:rPr>
              <a:t>明确中低端市场定 位，主推相应价位产 </a:t>
            </a:r>
            <a:r>
              <a:rPr dirty="0" sz="1800" spc="10" b="1">
                <a:latin typeface="明兰"/>
                <a:cs typeface="明兰"/>
              </a:rPr>
              <a:t>品，对其可进行适当 </a:t>
            </a:r>
            <a:r>
              <a:rPr dirty="0" sz="1800" spc="10" b="1">
                <a:latin typeface="明兰"/>
                <a:cs typeface="明兰"/>
              </a:rPr>
              <a:t>让利，以价格优势快 速占领市场。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14315" y="1982851"/>
            <a:ext cx="1308735" cy="103505"/>
          </a:xfrm>
          <a:custGeom>
            <a:avLst/>
            <a:gdLst/>
            <a:ahLst/>
            <a:cxnLst/>
            <a:rect l="l" t="t" r="r" b="b"/>
            <a:pathLst>
              <a:path w="1308735" h="103505">
                <a:moveTo>
                  <a:pt x="1283244" y="51688"/>
                </a:moveTo>
                <a:lnTo>
                  <a:pt x="1213358" y="92456"/>
                </a:lnTo>
                <a:lnTo>
                  <a:pt x="1212342" y="96265"/>
                </a:lnTo>
                <a:lnTo>
                  <a:pt x="1215898" y="102362"/>
                </a:lnTo>
                <a:lnTo>
                  <a:pt x="1219708" y="103377"/>
                </a:lnTo>
                <a:lnTo>
                  <a:pt x="1297463" y="58038"/>
                </a:lnTo>
                <a:lnTo>
                  <a:pt x="1295781" y="58038"/>
                </a:lnTo>
                <a:lnTo>
                  <a:pt x="1295781" y="57150"/>
                </a:lnTo>
                <a:lnTo>
                  <a:pt x="1292606" y="57150"/>
                </a:lnTo>
                <a:lnTo>
                  <a:pt x="1283244" y="51688"/>
                </a:lnTo>
                <a:close/>
              </a:path>
              <a:path w="1308735" h="103505">
                <a:moveTo>
                  <a:pt x="1272358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272358" y="58038"/>
                </a:lnTo>
                <a:lnTo>
                  <a:pt x="1283244" y="51688"/>
                </a:lnTo>
                <a:lnTo>
                  <a:pt x="1272358" y="45338"/>
                </a:lnTo>
                <a:close/>
              </a:path>
              <a:path w="1308735" h="103505">
                <a:moveTo>
                  <a:pt x="1297463" y="45338"/>
                </a:moveTo>
                <a:lnTo>
                  <a:pt x="1295781" y="45338"/>
                </a:lnTo>
                <a:lnTo>
                  <a:pt x="1295781" y="58038"/>
                </a:lnTo>
                <a:lnTo>
                  <a:pt x="1297463" y="58038"/>
                </a:lnTo>
                <a:lnTo>
                  <a:pt x="1308354" y="51688"/>
                </a:lnTo>
                <a:lnTo>
                  <a:pt x="1297463" y="45338"/>
                </a:lnTo>
                <a:close/>
              </a:path>
              <a:path w="1308735" h="103505">
                <a:moveTo>
                  <a:pt x="1292606" y="46227"/>
                </a:moveTo>
                <a:lnTo>
                  <a:pt x="1283244" y="51688"/>
                </a:lnTo>
                <a:lnTo>
                  <a:pt x="1292606" y="57150"/>
                </a:lnTo>
                <a:lnTo>
                  <a:pt x="1292606" y="46227"/>
                </a:lnTo>
                <a:close/>
              </a:path>
              <a:path w="1308735" h="103505">
                <a:moveTo>
                  <a:pt x="1295781" y="46227"/>
                </a:moveTo>
                <a:lnTo>
                  <a:pt x="1292606" y="46227"/>
                </a:lnTo>
                <a:lnTo>
                  <a:pt x="1292606" y="57150"/>
                </a:lnTo>
                <a:lnTo>
                  <a:pt x="1295781" y="57150"/>
                </a:lnTo>
                <a:lnTo>
                  <a:pt x="1295781" y="46227"/>
                </a:lnTo>
                <a:close/>
              </a:path>
              <a:path w="1308735" h="103505">
                <a:moveTo>
                  <a:pt x="1219708" y="0"/>
                </a:moveTo>
                <a:lnTo>
                  <a:pt x="1215898" y="1015"/>
                </a:lnTo>
                <a:lnTo>
                  <a:pt x="1212342" y="7112"/>
                </a:lnTo>
                <a:lnTo>
                  <a:pt x="1213358" y="10922"/>
                </a:lnTo>
                <a:lnTo>
                  <a:pt x="1283244" y="51688"/>
                </a:lnTo>
                <a:lnTo>
                  <a:pt x="1292606" y="46227"/>
                </a:lnTo>
                <a:lnTo>
                  <a:pt x="1295781" y="46227"/>
                </a:lnTo>
                <a:lnTo>
                  <a:pt x="1295781" y="45338"/>
                </a:lnTo>
                <a:lnTo>
                  <a:pt x="1297463" y="45338"/>
                </a:lnTo>
                <a:lnTo>
                  <a:pt x="121970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23432" y="4207764"/>
            <a:ext cx="2537460" cy="1435735"/>
          </a:xfrm>
          <a:custGeom>
            <a:avLst/>
            <a:gdLst/>
            <a:ahLst/>
            <a:cxnLst/>
            <a:rect l="l" t="t" r="r" b="b"/>
            <a:pathLst>
              <a:path w="2537459" h="1435735">
                <a:moveTo>
                  <a:pt x="2298191" y="0"/>
                </a:moveTo>
                <a:lnTo>
                  <a:pt x="239267" y="0"/>
                </a:lnTo>
                <a:lnTo>
                  <a:pt x="191065" y="4863"/>
                </a:lnTo>
                <a:lnTo>
                  <a:pt x="146161" y="18811"/>
                </a:lnTo>
                <a:lnTo>
                  <a:pt x="105519" y="40880"/>
                </a:lnTo>
                <a:lnTo>
                  <a:pt x="70103" y="70104"/>
                </a:lnTo>
                <a:lnTo>
                  <a:pt x="40880" y="105519"/>
                </a:lnTo>
                <a:lnTo>
                  <a:pt x="18811" y="146161"/>
                </a:lnTo>
                <a:lnTo>
                  <a:pt x="4863" y="191065"/>
                </a:lnTo>
                <a:lnTo>
                  <a:pt x="0" y="239268"/>
                </a:lnTo>
                <a:lnTo>
                  <a:pt x="0" y="1196340"/>
                </a:lnTo>
                <a:lnTo>
                  <a:pt x="4863" y="1244542"/>
                </a:lnTo>
                <a:lnTo>
                  <a:pt x="18811" y="1289446"/>
                </a:lnTo>
                <a:lnTo>
                  <a:pt x="40880" y="1330088"/>
                </a:lnTo>
                <a:lnTo>
                  <a:pt x="70103" y="1365504"/>
                </a:lnTo>
                <a:lnTo>
                  <a:pt x="105519" y="1394727"/>
                </a:lnTo>
                <a:lnTo>
                  <a:pt x="146161" y="1416796"/>
                </a:lnTo>
                <a:lnTo>
                  <a:pt x="191065" y="1430744"/>
                </a:lnTo>
                <a:lnTo>
                  <a:pt x="239267" y="1435608"/>
                </a:lnTo>
                <a:lnTo>
                  <a:pt x="2298191" y="1435608"/>
                </a:lnTo>
                <a:lnTo>
                  <a:pt x="2346394" y="1430744"/>
                </a:lnTo>
                <a:lnTo>
                  <a:pt x="2391298" y="1416796"/>
                </a:lnTo>
                <a:lnTo>
                  <a:pt x="2431940" y="1394727"/>
                </a:lnTo>
                <a:lnTo>
                  <a:pt x="2467355" y="1365504"/>
                </a:lnTo>
                <a:lnTo>
                  <a:pt x="2496579" y="1330088"/>
                </a:lnTo>
                <a:lnTo>
                  <a:pt x="2518648" y="1289446"/>
                </a:lnTo>
                <a:lnTo>
                  <a:pt x="2532596" y="1244542"/>
                </a:lnTo>
                <a:lnTo>
                  <a:pt x="2537460" y="1196340"/>
                </a:lnTo>
                <a:lnTo>
                  <a:pt x="2537460" y="239268"/>
                </a:lnTo>
                <a:lnTo>
                  <a:pt x="2532596" y="191065"/>
                </a:lnTo>
                <a:lnTo>
                  <a:pt x="2518648" y="146161"/>
                </a:lnTo>
                <a:lnTo>
                  <a:pt x="2496579" y="105519"/>
                </a:lnTo>
                <a:lnTo>
                  <a:pt x="2467355" y="70104"/>
                </a:lnTo>
                <a:lnTo>
                  <a:pt x="2431940" y="40880"/>
                </a:lnTo>
                <a:lnTo>
                  <a:pt x="2391298" y="18811"/>
                </a:lnTo>
                <a:lnTo>
                  <a:pt x="2346394" y="4863"/>
                </a:lnTo>
                <a:lnTo>
                  <a:pt x="2298191" y="0"/>
                </a:lnTo>
                <a:close/>
              </a:path>
            </a:pathLst>
          </a:custGeom>
          <a:solidFill>
            <a:srgbClr val="A6A6A6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344792" y="4373626"/>
            <a:ext cx="2099310" cy="1110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065" marR="5080">
              <a:lnSpc>
                <a:spcPct val="98500"/>
              </a:lnSpc>
              <a:spcBef>
                <a:spcPts val="130"/>
              </a:spcBef>
            </a:pPr>
            <a:r>
              <a:rPr dirty="0" sz="1800" spc="10" b="1">
                <a:latin typeface="明兰"/>
                <a:cs typeface="明兰"/>
              </a:rPr>
              <a:t>与阿根廷企业建立合 作关系，利用合作方 </a:t>
            </a:r>
            <a:r>
              <a:rPr dirty="0" sz="1800" spc="15" b="1">
                <a:latin typeface="明兰"/>
                <a:cs typeface="明兰"/>
              </a:rPr>
              <a:t>的</a:t>
            </a:r>
            <a:r>
              <a:rPr dirty="0" sz="1800" spc="10" b="1">
                <a:latin typeface="明兰"/>
                <a:cs typeface="明兰"/>
              </a:rPr>
              <a:t>渠道等本土化资源 建立竞争优势。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14315" y="4873878"/>
            <a:ext cx="1308735" cy="103505"/>
          </a:xfrm>
          <a:custGeom>
            <a:avLst/>
            <a:gdLst/>
            <a:ahLst/>
            <a:cxnLst/>
            <a:rect l="l" t="t" r="r" b="b"/>
            <a:pathLst>
              <a:path w="1308735" h="103504">
                <a:moveTo>
                  <a:pt x="1283244" y="51689"/>
                </a:moveTo>
                <a:lnTo>
                  <a:pt x="1213358" y="92456"/>
                </a:lnTo>
                <a:lnTo>
                  <a:pt x="1212342" y="96266"/>
                </a:lnTo>
                <a:lnTo>
                  <a:pt x="1215898" y="102362"/>
                </a:lnTo>
                <a:lnTo>
                  <a:pt x="1219708" y="103378"/>
                </a:lnTo>
                <a:lnTo>
                  <a:pt x="1297463" y="58039"/>
                </a:lnTo>
                <a:lnTo>
                  <a:pt x="1295781" y="58039"/>
                </a:lnTo>
                <a:lnTo>
                  <a:pt x="1295781" y="57150"/>
                </a:lnTo>
                <a:lnTo>
                  <a:pt x="1292606" y="57150"/>
                </a:lnTo>
                <a:lnTo>
                  <a:pt x="1283244" y="51689"/>
                </a:lnTo>
                <a:close/>
              </a:path>
              <a:path w="1308735" h="103504">
                <a:moveTo>
                  <a:pt x="1272358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272358" y="58039"/>
                </a:lnTo>
                <a:lnTo>
                  <a:pt x="1283244" y="51689"/>
                </a:lnTo>
                <a:lnTo>
                  <a:pt x="1272358" y="45339"/>
                </a:lnTo>
                <a:close/>
              </a:path>
              <a:path w="1308735" h="103504">
                <a:moveTo>
                  <a:pt x="1297463" y="45339"/>
                </a:moveTo>
                <a:lnTo>
                  <a:pt x="1295781" y="45339"/>
                </a:lnTo>
                <a:lnTo>
                  <a:pt x="1295781" y="58039"/>
                </a:lnTo>
                <a:lnTo>
                  <a:pt x="1297463" y="58039"/>
                </a:lnTo>
                <a:lnTo>
                  <a:pt x="1308354" y="51689"/>
                </a:lnTo>
                <a:lnTo>
                  <a:pt x="1297463" y="45339"/>
                </a:lnTo>
                <a:close/>
              </a:path>
              <a:path w="1308735" h="103504">
                <a:moveTo>
                  <a:pt x="1292606" y="46228"/>
                </a:moveTo>
                <a:lnTo>
                  <a:pt x="1283244" y="51689"/>
                </a:lnTo>
                <a:lnTo>
                  <a:pt x="1292606" y="57150"/>
                </a:lnTo>
                <a:lnTo>
                  <a:pt x="1292606" y="46228"/>
                </a:lnTo>
                <a:close/>
              </a:path>
              <a:path w="1308735" h="103504">
                <a:moveTo>
                  <a:pt x="1295781" y="46228"/>
                </a:moveTo>
                <a:lnTo>
                  <a:pt x="1292606" y="46228"/>
                </a:lnTo>
                <a:lnTo>
                  <a:pt x="1292606" y="57150"/>
                </a:lnTo>
                <a:lnTo>
                  <a:pt x="1295781" y="57150"/>
                </a:lnTo>
                <a:lnTo>
                  <a:pt x="1295781" y="46228"/>
                </a:lnTo>
                <a:close/>
              </a:path>
              <a:path w="1308735" h="103504">
                <a:moveTo>
                  <a:pt x="1219708" y="0"/>
                </a:moveTo>
                <a:lnTo>
                  <a:pt x="1215898" y="1016"/>
                </a:lnTo>
                <a:lnTo>
                  <a:pt x="1212342" y="7112"/>
                </a:lnTo>
                <a:lnTo>
                  <a:pt x="1213358" y="10922"/>
                </a:lnTo>
                <a:lnTo>
                  <a:pt x="1283244" y="51689"/>
                </a:lnTo>
                <a:lnTo>
                  <a:pt x="1292606" y="46228"/>
                </a:lnTo>
                <a:lnTo>
                  <a:pt x="1295781" y="46228"/>
                </a:lnTo>
                <a:lnTo>
                  <a:pt x="1295781" y="45339"/>
                </a:lnTo>
                <a:lnTo>
                  <a:pt x="1297463" y="45339"/>
                </a:lnTo>
                <a:lnTo>
                  <a:pt x="121970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" y="317753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目录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3546" y="3060954"/>
            <a:ext cx="302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latin typeface="Malgun Gothic Semilight"/>
                <a:cs typeface="Malgun Gothic Semilight"/>
              </a:rPr>
              <a:t>02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6307" y="3925315"/>
            <a:ext cx="3035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" b="0">
                <a:solidFill>
                  <a:srgbClr val="A6A6A6"/>
                </a:solidFill>
                <a:latin typeface="Malgun Gothic Semilight"/>
                <a:cs typeface="Malgun Gothic Semilight"/>
              </a:rPr>
              <a:t>03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801" y="4827777"/>
            <a:ext cx="308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0">
                <a:solidFill>
                  <a:srgbClr val="A6A6A6"/>
                </a:solidFill>
                <a:latin typeface="Malgun Gothic Semilight"/>
                <a:cs typeface="Malgun Gothic Semilight"/>
              </a:rPr>
              <a:t>04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3514" y="3094736"/>
            <a:ext cx="36042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1">
                <a:latin typeface="明兰"/>
                <a:cs typeface="明兰"/>
              </a:rPr>
              <a:t>整机进口</a:t>
            </a:r>
            <a:r>
              <a:rPr dirty="0" sz="2000" b="1">
                <a:latin typeface="明兰"/>
                <a:cs typeface="明兰"/>
              </a:rPr>
              <a:t>与散</a:t>
            </a:r>
            <a:r>
              <a:rPr dirty="0" sz="2000" spc="15" b="1">
                <a:latin typeface="明兰"/>
                <a:cs typeface="明兰"/>
              </a:rPr>
              <a:t>件</a:t>
            </a:r>
            <a:r>
              <a:rPr dirty="0" sz="2000" spc="10" b="1">
                <a:latin typeface="明兰"/>
                <a:cs typeface="明兰"/>
              </a:rPr>
              <a:t>组装模</a:t>
            </a:r>
            <a:r>
              <a:rPr dirty="0" sz="2000" b="1">
                <a:latin typeface="明兰"/>
                <a:cs typeface="明兰"/>
              </a:rPr>
              <a:t>式之</a:t>
            </a:r>
            <a:r>
              <a:rPr dirty="0" sz="2000" spc="15" b="1">
                <a:latin typeface="明兰"/>
                <a:cs typeface="明兰"/>
              </a:rPr>
              <a:t>分</a:t>
            </a:r>
            <a:r>
              <a:rPr dirty="0" sz="2000" b="1"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3514" y="3922267"/>
            <a:ext cx="3092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代工模式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与自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建厂</a:t>
            </a:r>
            <a:r>
              <a:rPr dirty="0" sz="2000" spc="25" b="1">
                <a:solidFill>
                  <a:srgbClr val="A6A6A6"/>
                </a:solidFill>
                <a:latin typeface="明兰"/>
                <a:cs typeface="明兰"/>
              </a:rPr>
              <a:t>商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之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优劣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3071" y="2232787"/>
            <a:ext cx="38423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3865" algn="l"/>
                <a:tab pos="762635" algn="l"/>
              </a:tabLst>
            </a:pPr>
            <a:r>
              <a:rPr dirty="0" sz="2000" spc="5" b="0">
                <a:solidFill>
                  <a:srgbClr val="A6A6A6"/>
                </a:solidFill>
                <a:latin typeface="Malgun Gothic Semilight"/>
                <a:cs typeface="Malgun Gothic Semilight"/>
              </a:rPr>
              <a:t>01	</a:t>
            </a:r>
            <a:r>
              <a:rPr dirty="0" baseline="2777" sz="3000" spc="540" b="1">
                <a:solidFill>
                  <a:srgbClr val="A6A6A6"/>
                </a:solidFill>
                <a:latin typeface="明兰"/>
                <a:cs typeface="明兰"/>
              </a:rPr>
              <a:t>-	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阿根廷智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能手</a:t>
            </a:r>
            <a:r>
              <a:rPr dirty="0" sz="2000" spc="20" b="1">
                <a:solidFill>
                  <a:srgbClr val="A6A6A6"/>
                </a:solidFill>
                <a:latin typeface="明兰"/>
                <a:cs typeface="明兰"/>
              </a:rPr>
              <a:t>机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市场之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初探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4363" y="305600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303" y="3955744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303" y="4820539"/>
            <a:ext cx="2863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	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建模分析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代工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厂之抉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择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6635" y="1071503"/>
            <a:ext cx="1711325" cy="55880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035"/>
              </a:lnSpc>
            </a:pPr>
            <a:r>
              <a:rPr dirty="0" sz="11500" spc="-10">
                <a:solidFill>
                  <a:srgbClr val="660000"/>
                </a:solidFill>
                <a:latin typeface="Calisto MT"/>
                <a:cs typeface="Calisto MT"/>
              </a:rPr>
              <a:t>Contents</a:t>
            </a:r>
            <a:endParaRPr sz="115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4210" y="569213"/>
            <a:ext cx="0" cy="5977255"/>
          </a:xfrm>
          <a:custGeom>
            <a:avLst/>
            <a:gdLst/>
            <a:ahLst/>
            <a:cxnLst/>
            <a:rect l="l" t="t" r="r" b="b"/>
            <a:pathLst>
              <a:path w="0" h="5977255">
                <a:moveTo>
                  <a:pt x="0" y="0"/>
                </a:moveTo>
                <a:lnTo>
                  <a:pt x="0" y="5976658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8383"/>
            <a:ext cx="33445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两种模式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下的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财务风险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关注点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59" y="2226564"/>
            <a:ext cx="1009015" cy="718185"/>
          </a:xfrm>
          <a:custGeom>
            <a:avLst/>
            <a:gdLst/>
            <a:ahLst/>
            <a:cxnLst/>
            <a:rect l="l" t="t" r="r" b="b"/>
            <a:pathLst>
              <a:path w="1009015" h="718185">
                <a:moveTo>
                  <a:pt x="889254" y="0"/>
                </a:moveTo>
                <a:lnTo>
                  <a:pt x="119633" y="0"/>
                </a:lnTo>
                <a:lnTo>
                  <a:pt x="73069" y="9405"/>
                </a:lnTo>
                <a:lnTo>
                  <a:pt x="35042" y="35052"/>
                </a:lnTo>
                <a:lnTo>
                  <a:pt x="9402" y="73080"/>
                </a:lnTo>
                <a:lnTo>
                  <a:pt x="0" y="119634"/>
                </a:lnTo>
                <a:lnTo>
                  <a:pt x="0" y="598170"/>
                </a:lnTo>
                <a:lnTo>
                  <a:pt x="9402" y="644723"/>
                </a:lnTo>
                <a:lnTo>
                  <a:pt x="35042" y="682751"/>
                </a:lnTo>
                <a:lnTo>
                  <a:pt x="73069" y="708398"/>
                </a:lnTo>
                <a:lnTo>
                  <a:pt x="119633" y="717803"/>
                </a:lnTo>
                <a:lnTo>
                  <a:pt x="889254" y="717803"/>
                </a:lnTo>
                <a:lnTo>
                  <a:pt x="935818" y="708398"/>
                </a:lnTo>
                <a:lnTo>
                  <a:pt x="973845" y="682751"/>
                </a:lnTo>
                <a:lnTo>
                  <a:pt x="999485" y="644723"/>
                </a:lnTo>
                <a:lnTo>
                  <a:pt x="1008888" y="598170"/>
                </a:lnTo>
                <a:lnTo>
                  <a:pt x="1008888" y="119634"/>
                </a:lnTo>
                <a:lnTo>
                  <a:pt x="999485" y="73080"/>
                </a:lnTo>
                <a:lnTo>
                  <a:pt x="973845" y="35052"/>
                </a:lnTo>
                <a:lnTo>
                  <a:pt x="935818" y="9405"/>
                </a:lnTo>
                <a:lnTo>
                  <a:pt x="88925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7197" y="2463545"/>
            <a:ext cx="739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明兰"/>
                <a:cs typeface="明兰"/>
              </a:rPr>
              <a:t>账款回收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8216" y="1162811"/>
            <a:ext cx="2376170" cy="718185"/>
          </a:xfrm>
          <a:custGeom>
            <a:avLst/>
            <a:gdLst/>
            <a:ahLst/>
            <a:cxnLst/>
            <a:rect l="l" t="t" r="r" b="b"/>
            <a:pathLst>
              <a:path w="2376170" h="718185">
                <a:moveTo>
                  <a:pt x="2256282" y="0"/>
                </a:moveTo>
                <a:lnTo>
                  <a:pt x="119633" y="0"/>
                </a:lnTo>
                <a:lnTo>
                  <a:pt x="73080" y="9405"/>
                </a:lnTo>
                <a:lnTo>
                  <a:pt x="35051" y="35051"/>
                </a:lnTo>
                <a:lnTo>
                  <a:pt x="9405" y="73080"/>
                </a:lnTo>
                <a:lnTo>
                  <a:pt x="0" y="119634"/>
                </a:lnTo>
                <a:lnTo>
                  <a:pt x="0" y="598170"/>
                </a:lnTo>
                <a:lnTo>
                  <a:pt x="9405" y="644723"/>
                </a:lnTo>
                <a:lnTo>
                  <a:pt x="35051" y="682751"/>
                </a:lnTo>
                <a:lnTo>
                  <a:pt x="73080" y="708398"/>
                </a:lnTo>
                <a:lnTo>
                  <a:pt x="119633" y="717803"/>
                </a:lnTo>
                <a:lnTo>
                  <a:pt x="2256282" y="717803"/>
                </a:lnTo>
                <a:lnTo>
                  <a:pt x="2302835" y="708398"/>
                </a:lnTo>
                <a:lnTo>
                  <a:pt x="2340863" y="682751"/>
                </a:lnTo>
                <a:lnTo>
                  <a:pt x="2366510" y="644723"/>
                </a:lnTo>
                <a:lnTo>
                  <a:pt x="2375916" y="598170"/>
                </a:lnTo>
                <a:lnTo>
                  <a:pt x="2375916" y="119634"/>
                </a:lnTo>
                <a:lnTo>
                  <a:pt x="2366510" y="73080"/>
                </a:lnTo>
                <a:lnTo>
                  <a:pt x="2340863" y="35051"/>
                </a:lnTo>
                <a:lnTo>
                  <a:pt x="2302835" y="9405"/>
                </a:lnTo>
                <a:lnTo>
                  <a:pt x="2256282" y="0"/>
                </a:lnTo>
                <a:close/>
              </a:path>
            </a:pathLst>
          </a:custGeom>
          <a:solidFill>
            <a:srgbClr val="660000">
              <a:alpha val="8117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35226" y="1352169"/>
            <a:ext cx="19589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0" b="1">
                <a:solidFill>
                  <a:srgbClr val="FFFFFF"/>
                </a:solidFill>
                <a:latin typeface="明兰"/>
                <a:cs typeface="明兰"/>
              </a:rPr>
              <a:t>模式</a:t>
            </a:r>
            <a:r>
              <a:rPr dirty="0" sz="2000" spc="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000" spc="5" b="1">
                <a:solidFill>
                  <a:srgbClr val="FFFFFF"/>
                </a:solidFill>
                <a:latin typeface="明兰"/>
                <a:cs typeface="明兰"/>
              </a:rPr>
              <a:t>：</a:t>
            </a:r>
            <a:r>
              <a:rPr dirty="0" sz="2000" spc="10" b="1">
                <a:solidFill>
                  <a:srgbClr val="FFFFFF"/>
                </a:solidFill>
                <a:latin typeface="明兰"/>
                <a:cs typeface="明兰"/>
              </a:rPr>
              <a:t>散</a:t>
            </a:r>
            <a:r>
              <a:rPr dirty="0" sz="2000" b="1">
                <a:solidFill>
                  <a:srgbClr val="FFFFFF"/>
                </a:solidFill>
                <a:latin typeface="明兰"/>
                <a:cs typeface="明兰"/>
              </a:rPr>
              <a:t>件</a:t>
            </a:r>
            <a:r>
              <a:rPr dirty="0" sz="2000" spc="10" b="1">
                <a:solidFill>
                  <a:srgbClr val="FFFFFF"/>
                </a:solidFill>
                <a:latin typeface="明兰"/>
                <a:cs typeface="明兰"/>
              </a:rPr>
              <a:t>组</a:t>
            </a:r>
            <a:r>
              <a:rPr dirty="0" sz="2000" b="1">
                <a:solidFill>
                  <a:srgbClr val="FFFFFF"/>
                </a:solidFill>
                <a:latin typeface="明兰"/>
                <a:cs typeface="明兰"/>
              </a:rPr>
              <a:t>装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12747" y="2097023"/>
            <a:ext cx="3663696" cy="976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39366" y="2098903"/>
            <a:ext cx="3589654" cy="900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800"/>
              </a:lnSpc>
              <a:spcBef>
                <a:spcPts val="90"/>
              </a:spcBef>
            </a:pPr>
            <a:r>
              <a:rPr dirty="0" sz="1400" b="1">
                <a:latin typeface="明兰"/>
                <a:cs typeface="明兰"/>
              </a:rPr>
              <a:t>华为与阿根廷代</a:t>
            </a:r>
            <a:r>
              <a:rPr dirty="0" sz="1400" spc="-15" b="1">
                <a:latin typeface="明兰"/>
                <a:cs typeface="明兰"/>
              </a:rPr>
              <a:t>工</a:t>
            </a:r>
            <a:r>
              <a:rPr dirty="0" sz="1400" b="1">
                <a:latin typeface="明兰"/>
                <a:cs typeface="明兰"/>
              </a:rPr>
              <a:t>供应商法人仅为</a:t>
            </a:r>
            <a:r>
              <a:rPr dirty="0" sz="1400" spc="-15" b="1">
                <a:latin typeface="明兰"/>
                <a:cs typeface="明兰"/>
              </a:rPr>
              <a:t>合</a:t>
            </a:r>
            <a:r>
              <a:rPr dirty="0" sz="1400" b="1">
                <a:latin typeface="明兰"/>
                <a:cs typeface="明兰"/>
              </a:rPr>
              <a:t>作关</a:t>
            </a:r>
            <a:r>
              <a:rPr dirty="0" sz="1400" spc="5" b="1">
                <a:latin typeface="明兰"/>
                <a:cs typeface="明兰"/>
              </a:rPr>
              <a:t>系</a:t>
            </a:r>
            <a:r>
              <a:rPr dirty="0" sz="1400" b="1">
                <a:latin typeface="明兰"/>
                <a:cs typeface="明兰"/>
              </a:rPr>
              <a:t>， </a:t>
            </a:r>
            <a:r>
              <a:rPr dirty="0" sz="1400" b="1">
                <a:latin typeface="明兰"/>
                <a:cs typeface="明兰"/>
              </a:rPr>
              <a:t>供应商可能会拖</a:t>
            </a:r>
            <a:r>
              <a:rPr dirty="0" sz="1400" spc="-15" b="1">
                <a:latin typeface="明兰"/>
                <a:cs typeface="明兰"/>
              </a:rPr>
              <a:t>欠</a:t>
            </a:r>
            <a:r>
              <a:rPr dirty="0" sz="1400" b="1">
                <a:latin typeface="明兰"/>
                <a:cs typeface="明兰"/>
              </a:rPr>
              <a:t>账款。同时华为</a:t>
            </a:r>
            <a:r>
              <a:rPr dirty="0" sz="1400" spc="-15" b="1">
                <a:latin typeface="明兰"/>
                <a:cs typeface="明兰"/>
              </a:rPr>
              <a:t>在</a:t>
            </a:r>
            <a:r>
              <a:rPr dirty="0" sz="1400" b="1">
                <a:latin typeface="明兰"/>
                <a:cs typeface="明兰"/>
              </a:rPr>
              <a:t>阿根廷 </a:t>
            </a:r>
            <a:r>
              <a:rPr dirty="0" sz="1400" spc="5" b="1">
                <a:latin typeface="明兰"/>
                <a:cs typeface="明兰"/>
              </a:rPr>
              <a:t>无</a:t>
            </a:r>
            <a:r>
              <a:rPr dirty="0" sz="1400" b="1">
                <a:latin typeface="明兰"/>
                <a:cs typeface="明兰"/>
              </a:rPr>
              <a:t>独</a:t>
            </a:r>
            <a:r>
              <a:rPr dirty="0" sz="1400" spc="5" b="1">
                <a:latin typeface="明兰"/>
                <a:cs typeface="明兰"/>
              </a:rPr>
              <a:t>立</a:t>
            </a:r>
            <a:r>
              <a:rPr dirty="0" sz="1400" spc="-15" b="1">
                <a:latin typeface="明兰"/>
                <a:cs typeface="明兰"/>
              </a:rPr>
              <a:t>办</a:t>
            </a:r>
            <a:r>
              <a:rPr dirty="0" sz="1400" spc="5" b="1">
                <a:latin typeface="明兰"/>
                <a:cs typeface="明兰"/>
              </a:rPr>
              <a:t>公</a:t>
            </a:r>
            <a:r>
              <a:rPr dirty="0" sz="1400" b="1">
                <a:latin typeface="明兰"/>
                <a:cs typeface="明兰"/>
              </a:rPr>
              <a:t>实</a:t>
            </a:r>
            <a:r>
              <a:rPr dirty="0" sz="1400" spc="-10" b="1">
                <a:latin typeface="明兰"/>
                <a:cs typeface="明兰"/>
              </a:rPr>
              <a:t>体，</a:t>
            </a:r>
            <a:r>
              <a:rPr dirty="0" sz="1400" spc="5" b="1">
                <a:latin typeface="明兰"/>
                <a:cs typeface="明兰"/>
              </a:rPr>
              <a:t>催</a:t>
            </a:r>
            <a:r>
              <a:rPr dirty="0" sz="1400" b="1">
                <a:latin typeface="明兰"/>
                <a:cs typeface="明兰"/>
              </a:rPr>
              <a:t>收</a:t>
            </a:r>
            <a:r>
              <a:rPr dirty="0" sz="1400" spc="5" b="1">
                <a:latin typeface="明兰"/>
                <a:cs typeface="明兰"/>
              </a:rPr>
              <a:t>账</a:t>
            </a:r>
            <a:r>
              <a:rPr dirty="0" sz="1400" spc="-15" b="1">
                <a:latin typeface="明兰"/>
                <a:cs typeface="明兰"/>
              </a:rPr>
              <a:t>款</a:t>
            </a:r>
            <a:r>
              <a:rPr dirty="0" sz="1400" spc="5" b="1">
                <a:latin typeface="明兰"/>
                <a:cs typeface="明兰"/>
              </a:rPr>
              <a:t>存</a:t>
            </a:r>
            <a:r>
              <a:rPr dirty="0" sz="1400" b="1">
                <a:latin typeface="明兰"/>
                <a:cs typeface="明兰"/>
              </a:rPr>
              <a:t>在</a:t>
            </a:r>
            <a:r>
              <a:rPr dirty="0" sz="1400" spc="-10" b="1">
                <a:latin typeface="明兰"/>
                <a:cs typeface="明兰"/>
              </a:rPr>
              <a:t>难度</a:t>
            </a:r>
            <a:r>
              <a:rPr dirty="0" sz="1400" spc="5" b="1">
                <a:latin typeface="明兰"/>
                <a:cs typeface="明兰"/>
              </a:rPr>
              <a:t>。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07735" y="1176527"/>
            <a:ext cx="2269490" cy="704215"/>
          </a:xfrm>
          <a:custGeom>
            <a:avLst/>
            <a:gdLst/>
            <a:ahLst/>
            <a:cxnLst/>
            <a:rect l="l" t="t" r="r" b="b"/>
            <a:pathLst>
              <a:path w="2269490" h="704214">
                <a:moveTo>
                  <a:pt x="2151888" y="0"/>
                </a:moveTo>
                <a:lnTo>
                  <a:pt x="117348" y="0"/>
                </a:lnTo>
                <a:lnTo>
                  <a:pt x="71687" y="9227"/>
                </a:lnTo>
                <a:lnTo>
                  <a:pt x="34385" y="34385"/>
                </a:lnTo>
                <a:lnTo>
                  <a:pt x="9227" y="71687"/>
                </a:lnTo>
                <a:lnTo>
                  <a:pt x="0" y="117348"/>
                </a:lnTo>
                <a:lnTo>
                  <a:pt x="0" y="586739"/>
                </a:lnTo>
                <a:lnTo>
                  <a:pt x="9227" y="632400"/>
                </a:lnTo>
                <a:lnTo>
                  <a:pt x="34385" y="669702"/>
                </a:lnTo>
                <a:lnTo>
                  <a:pt x="71687" y="694860"/>
                </a:lnTo>
                <a:lnTo>
                  <a:pt x="117348" y="704088"/>
                </a:lnTo>
                <a:lnTo>
                  <a:pt x="2151888" y="704088"/>
                </a:lnTo>
                <a:lnTo>
                  <a:pt x="2197548" y="694860"/>
                </a:lnTo>
                <a:lnTo>
                  <a:pt x="2234850" y="669702"/>
                </a:lnTo>
                <a:lnTo>
                  <a:pt x="2260008" y="632400"/>
                </a:lnTo>
                <a:lnTo>
                  <a:pt x="2269236" y="586739"/>
                </a:lnTo>
                <a:lnTo>
                  <a:pt x="2269236" y="117348"/>
                </a:lnTo>
                <a:lnTo>
                  <a:pt x="2260008" y="71687"/>
                </a:lnTo>
                <a:lnTo>
                  <a:pt x="2234850" y="34385"/>
                </a:lnTo>
                <a:lnTo>
                  <a:pt x="2197548" y="9227"/>
                </a:lnTo>
                <a:lnTo>
                  <a:pt x="2151888" y="0"/>
                </a:lnTo>
                <a:close/>
              </a:path>
            </a:pathLst>
          </a:custGeom>
          <a:solidFill>
            <a:srgbClr val="BA8E51">
              <a:alpha val="8313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62040" y="1358900"/>
            <a:ext cx="19589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0" b="1">
                <a:solidFill>
                  <a:srgbClr val="FFFFFF"/>
                </a:solidFill>
                <a:latin typeface="明兰"/>
                <a:cs typeface="明兰"/>
              </a:rPr>
              <a:t>模式</a:t>
            </a:r>
            <a:r>
              <a:rPr dirty="0" sz="2000" spc="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 spc="5" b="1">
                <a:solidFill>
                  <a:srgbClr val="FFFFFF"/>
                </a:solidFill>
                <a:latin typeface="明兰"/>
                <a:cs typeface="明兰"/>
              </a:rPr>
              <a:t>：</a:t>
            </a:r>
            <a:r>
              <a:rPr dirty="0" sz="2000" spc="10" b="1">
                <a:solidFill>
                  <a:srgbClr val="FFFFFF"/>
                </a:solidFill>
                <a:latin typeface="明兰"/>
                <a:cs typeface="明兰"/>
              </a:rPr>
              <a:t>整</a:t>
            </a:r>
            <a:r>
              <a:rPr dirty="0" sz="2000" b="1">
                <a:solidFill>
                  <a:srgbClr val="FFFFFF"/>
                </a:solidFill>
                <a:latin typeface="明兰"/>
                <a:cs typeface="明兰"/>
              </a:rPr>
              <a:t>机</a:t>
            </a:r>
            <a:r>
              <a:rPr dirty="0" sz="2000" spc="10" b="1">
                <a:solidFill>
                  <a:srgbClr val="FFFFFF"/>
                </a:solidFill>
                <a:latin typeface="明兰"/>
                <a:cs typeface="明兰"/>
              </a:rPr>
              <a:t>进</a:t>
            </a:r>
            <a:r>
              <a:rPr dirty="0" sz="2000" b="1">
                <a:solidFill>
                  <a:srgbClr val="FFFFFF"/>
                </a:solidFill>
                <a:latin typeface="明兰"/>
                <a:cs typeface="明兰"/>
              </a:rPr>
              <a:t>口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84647" y="2097023"/>
            <a:ext cx="3753611" cy="976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1459" y="3320796"/>
            <a:ext cx="1009015" cy="718185"/>
          </a:xfrm>
          <a:custGeom>
            <a:avLst/>
            <a:gdLst/>
            <a:ahLst/>
            <a:cxnLst/>
            <a:rect l="l" t="t" r="r" b="b"/>
            <a:pathLst>
              <a:path w="1009015" h="718185">
                <a:moveTo>
                  <a:pt x="889254" y="0"/>
                </a:moveTo>
                <a:lnTo>
                  <a:pt x="119633" y="0"/>
                </a:lnTo>
                <a:lnTo>
                  <a:pt x="73069" y="9405"/>
                </a:lnTo>
                <a:lnTo>
                  <a:pt x="35042" y="35051"/>
                </a:lnTo>
                <a:lnTo>
                  <a:pt x="9402" y="73080"/>
                </a:lnTo>
                <a:lnTo>
                  <a:pt x="0" y="119633"/>
                </a:lnTo>
                <a:lnTo>
                  <a:pt x="0" y="598169"/>
                </a:lnTo>
                <a:lnTo>
                  <a:pt x="9402" y="644723"/>
                </a:lnTo>
                <a:lnTo>
                  <a:pt x="35042" y="682751"/>
                </a:lnTo>
                <a:lnTo>
                  <a:pt x="73069" y="708398"/>
                </a:lnTo>
                <a:lnTo>
                  <a:pt x="119633" y="717803"/>
                </a:lnTo>
                <a:lnTo>
                  <a:pt x="889254" y="717803"/>
                </a:lnTo>
                <a:lnTo>
                  <a:pt x="935818" y="708398"/>
                </a:lnTo>
                <a:lnTo>
                  <a:pt x="973845" y="682751"/>
                </a:lnTo>
                <a:lnTo>
                  <a:pt x="999485" y="644723"/>
                </a:lnTo>
                <a:lnTo>
                  <a:pt x="1008888" y="598169"/>
                </a:lnTo>
                <a:lnTo>
                  <a:pt x="1008888" y="119633"/>
                </a:lnTo>
                <a:lnTo>
                  <a:pt x="999485" y="73080"/>
                </a:lnTo>
                <a:lnTo>
                  <a:pt x="973845" y="35051"/>
                </a:lnTo>
                <a:lnTo>
                  <a:pt x="935818" y="9405"/>
                </a:lnTo>
                <a:lnTo>
                  <a:pt x="88925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7197" y="3558285"/>
            <a:ext cx="739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明兰"/>
                <a:cs typeface="明兰"/>
              </a:rPr>
              <a:t>汇率风险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1459" y="4419600"/>
            <a:ext cx="1009015" cy="716280"/>
          </a:xfrm>
          <a:custGeom>
            <a:avLst/>
            <a:gdLst/>
            <a:ahLst/>
            <a:cxnLst/>
            <a:rect l="l" t="t" r="r" b="b"/>
            <a:pathLst>
              <a:path w="1009015" h="716279">
                <a:moveTo>
                  <a:pt x="889508" y="0"/>
                </a:moveTo>
                <a:lnTo>
                  <a:pt x="119379" y="0"/>
                </a:lnTo>
                <a:lnTo>
                  <a:pt x="72914" y="9384"/>
                </a:lnTo>
                <a:lnTo>
                  <a:pt x="34967" y="34972"/>
                </a:lnTo>
                <a:lnTo>
                  <a:pt x="9382" y="72919"/>
                </a:lnTo>
                <a:lnTo>
                  <a:pt x="0" y="119380"/>
                </a:lnTo>
                <a:lnTo>
                  <a:pt x="0" y="596900"/>
                </a:lnTo>
                <a:lnTo>
                  <a:pt x="9382" y="643360"/>
                </a:lnTo>
                <a:lnTo>
                  <a:pt x="34967" y="681307"/>
                </a:lnTo>
                <a:lnTo>
                  <a:pt x="72914" y="706895"/>
                </a:lnTo>
                <a:lnTo>
                  <a:pt x="119379" y="716280"/>
                </a:lnTo>
                <a:lnTo>
                  <a:pt x="889508" y="716280"/>
                </a:lnTo>
                <a:lnTo>
                  <a:pt x="935973" y="706895"/>
                </a:lnTo>
                <a:lnTo>
                  <a:pt x="973920" y="681307"/>
                </a:lnTo>
                <a:lnTo>
                  <a:pt x="999505" y="643360"/>
                </a:lnTo>
                <a:lnTo>
                  <a:pt x="1008888" y="596900"/>
                </a:lnTo>
                <a:lnTo>
                  <a:pt x="1008888" y="119380"/>
                </a:lnTo>
                <a:lnTo>
                  <a:pt x="999505" y="72919"/>
                </a:lnTo>
                <a:lnTo>
                  <a:pt x="973920" y="34972"/>
                </a:lnTo>
                <a:lnTo>
                  <a:pt x="935973" y="9384"/>
                </a:lnTo>
                <a:lnTo>
                  <a:pt x="88950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87197" y="4656582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明兰"/>
                <a:cs typeface="明兰"/>
              </a:rPr>
              <a:t>外汇风险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1459" y="5628132"/>
            <a:ext cx="1009015" cy="718185"/>
          </a:xfrm>
          <a:custGeom>
            <a:avLst/>
            <a:gdLst/>
            <a:ahLst/>
            <a:cxnLst/>
            <a:rect l="l" t="t" r="r" b="b"/>
            <a:pathLst>
              <a:path w="1009015" h="718185">
                <a:moveTo>
                  <a:pt x="889254" y="0"/>
                </a:moveTo>
                <a:lnTo>
                  <a:pt x="119633" y="0"/>
                </a:lnTo>
                <a:lnTo>
                  <a:pt x="73069" y="9402"/>
                </a:lnTo>
                <a:lnTo>
                  <a:pt x="35042" y="35042"/>
                </a:lnTo>
                <a:lnTo>
                  <a:pt x="9402" y="73069"/>
                </a:lnTo>
                <a:lnTo>
                  <a:pt x="0" y="119634"/>
                </a:lnTo>
                <a:lnTo>
                  <a:pt x="0" y="598170"/>
                </a:lnTo>
                <a:lnTo>
                  <a:pt x="9402" y="644734"/>
                </a:lnTo>
                <a:lnTo>
                  <a:pt x="35042" y="682761"/>
                </a:lnTo>
                <a:lnTo>
                  <a:pt x="73069" y="708401"/>
                </a:lnTo>
                <a:lnTo>
                  <a:pt x="119633" y="717804"/>
                </a:lnTo>
                <a:lnTo>
                  <a:pt x="889254" y="717804"/>
                </a:lnTo>
                <a:lnTo>
                  <a:pt x="935818" y="708401"/>
                </a:lnTo>
                <a:lnTo>
                  <a:pt x="973845" y="682761"/>
                </a:lnTo>
                <a:lnTo>
                  <a:pt x="999485" y="644734"/>
                </a:lnTo>
                <a:lnTo>
                  <a:pt x="1008888" y="598170"/>
                </a:lnTo>
                <a:lnTo>
                  <a:pt x="1008888" y="119634"/>
                </a:lnTo>
                <a:lnTo>
                  <a:pt x="999485" y="73069"/>
                </a:lnTo>
                <a:lnTo>
                  <a:pt x="973845" y="35042"/>
                </a:lnTo>
                <a:lnTo>
                  <a:pt x="935818" y="9402"/>
                </a:lnTo>
                <a:lnTo>
                  <a:pt x="88925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87197" y="5758688"/>
            <a:ext cx="73914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明兰"/>
                <a:cs typeface="明兰"/>
              </a:rPr>
              <a:t>合作方</a:t>
            </a:r>
            <a:endParaRPr sz="1400">
              <a:latin typeface="明兰"/>
              <a:cs typeface="明兰"/>
            </a:endParaRPr>
          </a:p>
          <a:p>
            <a:pPr algn="ctr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明兰"/>
                <a:cs typeface="明兰"/>
              </a:rPr>
              <a:t>财务状况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12747" y="3208020"/>
            <a:ext cx="3663696" cy="9768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39366" y="3356838"/>
            <a:ext cx="3410585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阿根廷比索近年</a:t>
            </a:r>
            <a:r>
              <a:rPr dirty="0" sz="1400" spc="-15" b="1">
                <a:latin typeface="明兰"/>
                <a:cs typeface="明兰"/>
              </a:rPr>
              <a:t>来</a:t>
            </a:r>
            <a:r>
              <a:rPr dirty="0" sz="1400" b="1">
                <a:latin typeface="明兰"/>
                <a:cs typeface="明兰"/>
              </a:rPr>
              <a:t>持续贬值，导致</a:t>
            </a:r>
            <a:r>
              <a:rPr dirty="0" sz="1400" spc="-15" b="1">
                <a:latin typeface="明兰"/>
                <a:cs typeface="明兰"/>
              </a:rPr>
              <a:t>从</a:t>
            </a:r>
            <a:r>
              <a:rPr dirty="0" sz="1400" b="1">
                <a:latin typeface="明兰"/>
                <a:cs typeface="明兰"/>
              </a:rPr>
              <a:t>出口到 </a:t>
            </a:r>
            <a:r>
              <a:rPr dirty="0" sz="1400" b="1">
                <a:latin typeface="明兰"/>
                <a:cs typeface="明兰"/>
              </a:rPr>
              <a:t>货款收</a:t>
            </a:r>
            <a:r>
              <a:rPr dirty="0" sz="1400" spc="-15" b="1">
                <a:latin typeface="明兰"/>
                <a:cs typeface="明兰"/>
              </a:rPr>
              <a:t>回</a:t>
            </a:r>
            <a:r>
              <a:rPr dirty="0" sz="1400" b="1">
                <a:latin typeface="明兰"/>
                <a:cs typeface="明兰"/>
              </a:rPr>
              <a:t>期间</a:t>
            </a:r>
            <a:r>
              <a:rPr dirty="0" sz="1400" spc="-15" b="1">
                <a:latin typeface="明兰"/>
                <a:cs typeface="明兰"/>
              </a:rPr>
              <a:t>财富</a:t>
            </a:r>
            <a:r>
              <a:rPr dirty="0" sz="1400" b="1">
                <a:latin typeface="明兰"/>
                <a:cs typeface="明兰"/>
              </a:rPr>
              <a:t>缩水，</a:t>
            </a:r>
            <a:r>
              <a:rPr dirty="0" sz="1400" spc="-15" b="1">
                <a:latin typeface="明兰"/>
                <a:cs typeface="明兰"/>
              </a:rPr>
              <a:t>汇</a:t>
            </a:r>
            <a:r>
              <a:rPr dirty="0" sz="1400" b="1">
                <a:latin typeface="明兰"/>
                <a:cs typeface="明兰"/>
              </a:rPr>
              <a:t>率风</a:t>
            </a:r>
            <a:r>
              <a:rPr dirty="0" sz="1400" spc="-15" b="1">
                <a:latin typeface="明兰"/>
                <a:cs typeface="明兰"/>
              </a:rPr>
              <a:t>险较</a:t>
            </a:r>
            <a:r>
              <a:rPr dirty="0" sz="1400" b="1">
                <a:latin typeface="明兰"/>
                <a:cs typeface="明兰"/>
              </a:rPr>
              <a:t>大。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84647" y="3208020"/>
            <a:ext cx="3753611" cy="976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12747" y="5548884"/>
            <a:ext cx="3663696" cy="9768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539366" y="5920841"/>
            <a:ext cx="28714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阿根廷</a:t>
            </a:r>
            <a:r>
              <a:rPr dirty="0" sz="1400" spc="-15" b="1">
                <a:latin typeface="明兰"/>
                <a:cs typeface="明兰"/>
              </a:rPr>
              <a:t>代</a:t>
            </a:r>
            <a:r>
              <a:rPr dirty="0" sz="1400" b="1">
                <a:latin typeface="明兰"/>
                <a:cs typeface="明兰"/>
              </a:rPr>
              <a:t>工供</a:t>
            </a:r>
            <a:r>
              <a:rPr dirty="0" sz="1400" spc="-15" b="1">
                <a:latin typeface="明兰"/>
                <a:cs typeface="明兰"/>
              </a:rPr>
              <a:t>应商</a:t>
            </a:r>
            <a:r>
              <a:rPr dirty="0" sz="1400" b="1">
                <a:latin typeface="明兰"/>
                <a:cs typeface="明兰"/>
              </a:rPr>
              <a:t>财务状</a:t>
            </a:r>
            <a:r>
              <a:rPr dirty="0" sz="1400" spc="-15" b="1">
                <a:latin typeface="明兰"/>
                <a:cs typeface="明兰"/>
              </a:rPr>
              <a:t>况</a:t>
            </a:r>
            <a:r>
              <a:rPr dirty="0" sz="1400" b="1">
                <a:latin typeface="明兰"/>
                <a:cs typeface="明兰"/>
              </a:rPr>
              <a:t>不可</a:t>
            </a:r>
            <a:r>
              <a:rPr dirty="0" sz="1400" spc="-10" b="1">
                <a:latin typeface="明兰"/>
                <a:cs typeface="明兰"/>
              </a:rPr>
              <a:t>控</a:t>
            </a:r>
            <a:r>
              <a:rPr dirty="0" sz="1400" b="1">
                <a:latin typeface="明兰"/>
                <a:cs typeface="明兰"/>
              </a:rPr>
              <a:t>。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84647" y="4329684"/>
            <a:ext cx="3753611" cy="10789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312790" y="2098903"/>
            <a:ext cx="3503929" cy="31851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10795">
              <a:lnSpc>
                <a:spcPct val="136800"/>
              </a:lnSpc>
              <a:spcBef>
                <a:spcPts val="90"/>
              </a:spcBef>
            </a:pPr>
            <a:r>
              <a:rPr dirty="0" sz="1400" spc="35" b="1">
                <a:latin typeface="明兰"/>
                <a:cs typeface="明兰"/>
              </a:rPr>
              <a:t>华为</a:t>
            </a:r>
            <a:r>
              <a:rPr dirty="0" sz="1400" spc="45" b="1">
                <a:latin typeface="明兰"/>
                <a:cs typeface="明兰"/>
              </a:rPr>
              <a:t>阿</a:t>
            </a:r>
            <a:r>
              <a:rPr dirty="0" sz="1400" spc="35" b="1">
                <a:latin typeface="明兰"/>
                <a:cs typeface="明兰"/>
              </a:rPr>
              <a:t>根廷法人与阿根廷</a:t>
            </a:r>
            <a:r>
              <a:rPr dirty="0" sz="1400" spc="45" b="1">
                <a:latin typeface="明兰"/>
                <a:cs typeface="明兰"/>
              </a:rPr>
              <a:t>代</a:t>
            </a:r>
            <a:r>
              <a:rPr dirty="0" sz="1400" spc="35" b="1">
                <a:latin typeface="明兰"/>
                <a:cs typeface="明兰"/>
              </a:rPr>
              <a:t>理商和渠道商</a:t>
            </a:r>
            <a:r>
              <a:rPr dirty="0" sz="1400" b="1">
                <a:latin typeface="明兰"/>
                <a:cs typeface="明兰"/>
              </a:rPr>
              <a:t>仅 </a:t>
            </a:r>
            <a:r>
              <a:rPr dirty="0" sz="1400" spc="35" b="1">
                <a:latin typeface="明兰"/>
                <a:cs typeface="明兰"/>
              </a:rPr>
              <a:t>为合</a:t>
            </a:r>
            <a:r>
              <a:rPr dirty="0" sz="1400" spc="45" b="1">
                <a:latin typeface="明兰"/>
                <a:cs typeface="明兰"/>
              </a:rPr>
              <a:t>作</a:t>
            </a:r>
            <a:r>
              <a:rPr dirty="0" sz="1400" spc="35" b="1">
                <a:latin typeface="明兰"/>
                <a:cs typeface="明兰"/>
              </a:rPr>
              <a:t>关</a:t>
            </a:r>
            <a:r>
              <a:rPr dirty="0" sz="1400" spc="40" b="1">
                <a:latin typeface="明兰"/>
                <a:cs typeface="明兰"/>
              </a:rPr>
              <a:t>系</a:t>
            </a:r>
            <a:r>
              <a:rPr dirty="0" sz="1400" spc="35" b="1">
                <a:latin typeface="明兰"/>
                <a:cs typeface="明兰"/>
              </a:rPr>
              <a:t>，代理商和渠</a:t>
            </a:r>
            <a:r>
              <a:rPr dirty="0" sz="1400" spc="45" b="1">
                <a:latin typeface="明兰"/>
                <a:cs typeface="明兰"/>
              </a:rPr>
              <a:t>道</a:t>
            </a:r>
            <a:r>
              <a:rPr dirty="0" sz="1400" spc="35" b="1">
                <a:latin typeface="明兰"/>
                <a:cs typeface="明兰"/>
              </a:rPr>
              <a:t>商可能会拖欠</a:t>
            </a:r>
            <a:r>
              <a:rPr dirty="0" sz="1400" b="1">
                <a:latin typeface="明兰"/>
                <a:cs typeface="明兰"/>
              </a:rPr>
              <a:t>账 </a:t>
            </a:r>
            <a:r>
              <a:rPr dirty="0" sz="1400" b="1">
                <a:latin typeface="明兰"/>
                <a:cs typeface="明兰"/>
              </a:rPr>
              <a:t>款</a:t>
            </a:r>
            <a:r>
              <a:rPr dirty="0" sz="1400" spc="5" b="1">
                <a:latin typeface="明兰"/>
                <a:cs typeface="明兰"/>
              </a:rPr>
              <a:t>。</a:t>
            </a:r>
            <a:endParaRPr sz="1400">
              <a:latin typeface="明兰"/>
              <a:cs typeface="明兰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36400"/>
              </a:lnSpc>
            </a:pPr>
            <a:r>
              <a:rPr dirty="0" sz="1400" spc="35" b="1">
                <a:latin typeface="明兰"/>
                <a:cs typeface="明兰"/>
              </a:rPr>
              <a:t>阿根</a:t>
            </a:r>
            <a:r>
              <a:rPr dirty="0" sz="1400" spc="45" b="1">
                <a:latin typeface="明兰"/>
                <a:cs typeface="明兰"/>
              </a:rPr>
              <a:t>廷</a:t>
            </a:r>
            <a:r>
              <a:rPr dirty="0" sz="1400" spc="35" b="1">
                <a:latin typeface="明兰"/>
                <a:cs typeface="明兰"/>
              </a:rPr>
              <a:t>比索近年来持续贬</a:t>
            </a:r>
            <a:r>
              <a:rPr dirty="0" sz="1400" spc="60" b="1">
                <a:latin typeface="明兰"/>
                <a:cs typeface="明兰"/>
              </a:rPr>
              <a:t>值</a:t>
            </a:r>
            <a:r>
              <a:rPr dirty="0" sz="1400" spc="35" b="1">
                <a:latin typeface="明兰"/>
                <a:cs typeface="明兰"/>
              </a:rPr>
              <a:t>，导致从出口到 </a:t>
            </a:r>
            <a:r>
              <a:rPr dirty="0" sz="1400" b="1">
                <a:latin typeface="明兰"/>
                <a:cs typeface="明兰"/>
              </a:rPr>
              <a:t>货款收</a:t>
            </a:r>
            <a:r>
              <a:rPr dirty="0" sz="1400" spc="-15" b="1">
                <a:latin typeface="明兰"/>
                <a:cs typeface="明兰"/>
              </a:rPr>
              <a:t>回</a:t>
            </a:r>
            <a:r>
              <a:rPr dirty="0" sz="1400" b="1">
                <a:latin typeface="明兰"/>
                <a:cs typeface="明兰"/>
              </a:rPr>
              <a:t>期间</a:t>
            </a:r>
            <a:r>
              <a:rPr dirty="0" sz="1400" spc="-15" b="1">
                <a:latin typeface="明兰"/>
                <a:cs typeface="明兰"/>
              </a:rPr>
              <a:t>财富</a:t>
            </a:r>
            <a:r>
              <a:rPr dirty="0" sz="1400" b="1">
                <a:latin typeface="明兰"/>
                <a:cs typeface="明兰"/>
              </a:rPr>
              <a:t>缩水，</a:t>
            </a:r>
            <a:r>
              <a:rPr dirty="0" sz="1400" spc="-15" b="1">
                <a:latin typeface="明兰"/>
                <a:cs typeface="明兰"/>
              </a:rPr>
              <a:t>汇</a:t>
            </a:r>
            <a:r>
              <a:rPr dirty="0" sz="1400" b="1">
                <a:latin typeface="明兰"/>
                <a:cs typeface="明兰"/>
              </a:rPr>
              <a:t>率风</a:t>
            </a:r>
            <a:r>
              <a:rPr dirty="0" sz="1400" spc="-15" b="1">
                <a:latin typeface="明兰"/>
                <a:cs typeface="明兰"/>
              </a:rPr>
              <a:t>险较</a:t>
            </a:r>
            <a:r>
              <a:rPr dirty="0" sz="1400" b="1">
                <a:latin typeface="明兰"/>
                <a:cs typeface="明兰"/>
              </a:rPr>
              <a:t>大。</a:t>
            </a:r>
            <a:endParaRPr sz="1400">
              <a:latin typeface="明兰"/>
              <a:cs typeface="明兰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algn="just" marL="17145" marR="14604">
              <a:lnSpc>
                <a:spcPct val="136800"/>
              </a:lnSpc>
            </a:pPr>
            <a:r>
              <a:rPr dirty="0" sz="1400" spc="35" b="1">
                <a:latin typeface="明兰"/>
                <a:cs typeface="明兰"/>
              </a:rPr>
              <a:t>阿根廷存在外</a:t>
            </a:r>
            <a:r>
              <a:rPr dirty="0" sz="1400" spc="20" b="1">
                <a:latin typeface="明兰"/>
                <a:cs typeface="明兰"/>
              </a:rPr>
              <a:t>汇管</a:t>
            </a:r>
            <a:r>
              <a:rPr dirty="0" sz="1400" spc="45" b="1">
                <a:latin typeface="明兰"/>
                <a:cs typeface="明兰"/>
              </a:rPr>
              <a:t>制</a:t>
            </a:r>
            <a:r>
              <a:rPr dirty="0" sz="1400" spc="35" b="1">
                <a:latin typeface="明兰"/>
                <a:cs typeface="明兰"/>
              </a:rPr>
              <a:t>，外汇兑换</a:t>
            </a:r>
            <a:r>
              <a:rPr dirty="0" sz="1400" spc="20" b="1">
                <a:latin typeface="明兰"/>
                <a:cs typeface="明兰"/>
              </a:rPr>
              <a:t>资源</a:t>
            </a:r>
            <a:r>
              <a:rPr dirty="0" sz="1400" spc="35" b="1">
                <a:latin typeface="明兰"/>
                <a:cs typeface="明兰"/>
              </a:rPr>
              <a:t>主要</a:t>
            </a:r>
            <a:r>
              <a:rPr dirty="0" sz="1400" b="1">
                <a:latin typeface="明兰"/>
                <a:cs typeface="明兰"/>
              </a:rPr>
              <a:t>被 </a:t>
            </a:r>
            <a:r>
              <a:rPr dirty="0" sz="1400" spc="35" b="1">
                <a:latin typeface="明兰"/>
                <a:cs typeface="明兰"/>
              </a:rPr>
              <a:t>当地企业掌握</a:t>
            </a:r>
            <a:r>
              <a:rPr dirty="0" sz="1400" spc="20" b="1">
                <a:latin typeface="明兰"/>
                <a:cs typeface="明兰"/>
              </a:rPr>
              <a:t>，不</a:t>
            </a:r>
            <a:r>
              <a:rPr dirty="0" sz="1400" spc="35" b="1">
                <a:latin typeface="明兰"/>
                <a:cs typeface="明兰"/>
              </a:rPr>
              <a:t>与其合作缺乏</a:t>
            </a:r>
            <a:r>
              <a:rPr dirty="0" sz="1400" spc="20" b="1">
                <a:latin typeface="明兰"/>
                <a:cs typeface="明兰"/>
              </a:rPr>
              <a:t>外汇</a:t>
            </a:r>
            <a:r>
              <a:rPr dirty="0" sz="1400" spc="35" b="1">
                <a:latin typeface="明兰"/>
                <a:cs typeface="明兰"/>
              </a:rPr>
              <a:t>兑换</a:t>
            </a:r>
            <a:r>
              <a:rPr dirty="0" sz="1400" b="1">
                <a:latin typeface="明兰"/>
                <a:cs typeface="明兰"/>
              </a:rPr>
              <a:t>优 先权，</a:t>
            </a:r>
            <a:r>
              <a:rPr dirty="0" sz="1400" spc="-15" b="1">
                <a:latin typeface="明兰"/>
                <a:cs typeface="明兰"/>
              </a:rPr>
              <a:t>实</a:t>
            </a:r>
            <a:r>
              <a:rPr dirty="0" sz="1400" b="1">
                <a:latin typeface="明兰"/>
                <a:cs typeface="明兰"/>
              </a:rPr>
              <a:t>现的</a:t>
            </a:r>
            <a:r>
              <a:rPr dirty="0" sz="1400" spc="-15" b="1">
                <a:latin typeface="明兰"/>
                <a:cs typeface="明兰"/>
              </a:rPr>
              <a:t>收入</a:t>
            </a:r>
            <a:r>
              <a:rPr dirty="0" sz="1400" b="1">
                <a:latin typeface="明兰"/>
                <a:cs typeface="明兰"/>
              </a:rPr>
              <a:t>无法及</a:t>
            </a:r>
            <a:r>
              <a:rPr dirty="0" sz="1400" spc="-15" b="1">
                <a:latin typeface="明兰"/>
                <a:cs typeface="明兰"/>
              </a:rPr>
              <a:t>时</a:t>
            </a:r>
            <a:r>
              <a:rPr dirty="0" sz="1400" b="1">
                <a:latin typeface="明兰"/>
                <a:cs typeface="明兰"/>
              </a:rPr>
              <a:t>兑换</a:t>
            </a:r>
            <a:r>
              <a:rPr dirty="0" sz="1400" spc="-15" b="1">
                <a:latin typeface="明兰"/>
                <a:cs typeface="明兰"/>
              </a:rPr>
              <a:t>回</a:t>
            </a:r>
            <a:r>
              <a:rPr dirty="0" sz="1400" spc="-10" b="1">
                <a:latin typeface="明兰"/>
                <a:cs typeface="明兰"/>
              </a:rPr>
              <a:t>国</a:t>
            </a:r>
            <a:r>
              <a:rPr dirty="0" sz="1400" b="1">
                <a:latin typeface="明兰"/>
                <a:cs typeface="明兰"/>
              </a:rPr>
              <a:t>内。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178552" y="5548884"/>
            <a:ext cx="3759707" cy="9768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306314" y="5920841"/>
            <a:ext cx="3226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阿根廷</a:t>
            </a:r>
            <a:r>
              <a:rPr dirty="0" sz="1400" spc="-15" b="1">
                <a:latin typeface="明兰"/>
                <a:cs typeface="明兰"/>
              </a:rPr>
              <a:t>代</a:t>
            </a:r>
            <a:r>
              <a:rPr dirty="0" sz="1400" b="1">
                <a:latin typeface="明兰"/>
                <a:cs typeface="明兰"/>
              </a:rPr>
              <a:t>理商</a:t>
            </a:r>
            <a:r>
              <a:rPr dirty="0" sz="1400" spc="-15" b="1">
                <a:latin typeface="明兰"/>
                <a:cs typeface="明兰"/>
              </a:rPr>
              <a:t>和渠</a:t>
            </a:r>
            <a:r>
              <a:rPr dirty="0" sz="1400" b="1">
                <a:latin typeface="明兰"/>
                <a:cs typeface="明兰"/>
              </a:rPr>
              <a:t>道商财</a:t>
            </a:r>
            <a:r>
              <a:rPr dirty="0" sz="1400" spc="-15" b="1">
                <a:latin typeface="明兰"/>
                <a:cs typeface="明兰"/>
              </a:rPr>
              <a:t>务</a:t>
            </a:r>
            <a:r>
              <a:rPr dirty="0" sz="1400" b="1">
                <a:latin typeface="明兰"/>
                <a:cs typeface="明兰"/>
              </a:rPr>
              <a:t>状况</a:t>
            </a:r>
            <a:r>
              <a:rPr dirty="0" sz="1400" spc="-15" b="1">
                <a:latin typeface="明兰"/>
                <a:cs typeface="明兰"/>
              </a:rPr>
              <a:t>不可</a:t>
            </a:r>
            <a:r>
              <a:rPr dirty="0" sz="1400" spc="5" b="1">
                <a:latin typeface="明兰"/>
                <a:cs typeface="明兰"/>
              </a:rPr>
              <a:t>控</a:t>
            </a:r>
            <a:r>
              <a:rPr dirty="0" sz="1400" b="1">
                <a:latin typeface="明兰"/>
                <a:cs typeface="明兰"/>
              </a:rPr>
              <a:t>。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12747" y="4329684"/>
            <a:ext cx="3663696" cy="10789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44574" y="4383379"/>
            <a:ext cx="3401695" cy="900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36800"/>
              </a:lnSpc>
              <a:spcBef>
                <a:spcPts val="90"/>
              </a:spcBef>
            </a:pPr>
            <a:r>
              <a:rPr dirty="0" sz="1400" spc="80" b="1">
                <a:latin typeface="明兰"/>
                <a:cs typeface="明兰"/>
              </a:rPr>
              <a:t>散</a:t>
            </a:r>
            <a:r>
              <a:rPr dirty="0" sz="1400" spc="70" b="1">
                <a:latin typeface="明兰"/>
                <a:cs typeface="明兰"/>
              </a:rPr>
              <a:t>件</a:t>
            </a:r>
            <a:r>
              <a:rPr dirty="0" sz="1400" spc="80" b="1">
                <a:latin typeface="明兰"/>
                <a:cs typeface="明兰"/>
              </a:rPr>
              <a:t>组</a:t>
            </a:r>
            <a:r>
              <a:rPr dirty="0" sz="1400" spc="70" b="1">
                <a:latin typeface="明兰"/>
                <a:cs typeface="明兰"/>
              </a:rPr>
              <a:t>装模</a:t>
            </a:r>
            <a:r>
              <a:rPr dirty="0" sz="1400" spc="80" b="1">
                <a:latin typeface="明兰"/>
                <a:cs typeface="明兰"/>
              </a:rPr>
              <a:t>式</a:t>
            </a:r>
            <a:r>
              <a:rPr dirty="0" sz="1400" spc="70" b="1">
                <a:latin typeface="明兰"/>
                <a:cs typeface="明兰"/>
              </a:rPr>
              <a:t>与当</a:t>
            </a:r>
            <a:r>
              <a:rPr dirty="0" sz="1400" spc="80" b="1">
                <a:latin typeface="明兰"/>
                <a:cs typeface="明兰"/>
              </a:rPr>
              <a:t>地</a:t>
            </a:r>
            <a:r>
              <a:rPr dirty="0" sz="1400" spc="70" b="1">
                <a:latin typeface="明兰"/>
                <a:cs typeface="明兰"/>
              </a:rPr>
              <a:t>代</a:t>
            </a:r>
            <a:r>
              <a:rPr dirty="0" sz="1400" spc="80" b="1">
                <a:latin typeface="明兰"/>
                <a:cs typeface="明兰"/>
              </a:rPr>
              <a:t>工</a:t>
            </a:r>
            <a:r>
              <a:rPr dirty="0" sz="1400" spc="70" b="1">
                <a:latin typeface="明兰"/>
                <a:cs typeface="明兰"/>
              </a:rPr>
              <a:t>厂合</a:t>
            </a:r>
            <a:r>
              <a:rPr dirty="0" sz="1400" spc="105" b="1">
                <a:latin typeface="明兰"/>
                <a:cs typeface="明兰"/>
              </a:rPr>
              <a:t>作</a:t>
            </a:r>
            <a:r>
              <a:rPr dirty="0" sz="1400" spc="70" b="1">
                <a:latin typeface="明兰"/>
                <a:cs typeface="明兰"/>
              </a:rPr>
              <a:t>，可</a:t>
            </a:r>
            <a:r>
              <a:rPr dirty="0" sz="1400" spc="80" b="1">
                <a:latin typeface="明兰"/>
                <a:cs typeface="明兰"/>
              </a:rPr>
              <a:t>以</a:t>
            </a:r>
            <a:r>
              <a:rPr dirty="0" sz="1400" b="1">
                <a:latin typeface="明兰"/>
                <a:cs typeface="明兰"/>
              </a:rPr>
              <a:t>有 </a:t>
            </a:r>
            <a:r>
              <a:rPr dirty="0" sz="1400" spc="80" b="1">
                <a:latin typeface="明兰"/>
                <a:cs typeface="明兰"/>
              </a:rPr>
              <a:t>效</a:t>
            </a:r>
            <a:r>
              <a:rPr dirty="0" sz="1400" spc="70" b="1">
                <a:latin typeface="明兰"/>
                <a:cs typeface="明兰"/>
              </a:rPr>
              <a:t>的</a:t>
            </a:r>
            <a:r>
              <a:rPr dirty="0" sz="1400" spc="80" b="1">
                <a:latin typeface="明兰"/>
                <a:cs typeface="明兰"/>
              </a:rPr>
              <a:t>利</a:t>
            </a:r>
            <a:r>
              <a:rPr dirty="0" sz="1400" spc="70" b="1">
                <a:latin typeface="明兰"/>
                <a:cs typeface="明兰"/>
              </a:rPr>
              <a:t>用当</a:t>
            </a:r>
            <a:r>
              <a:rPr dirty="0" sz="1400" spc="80" b="1">
                <a:latin typeface="明兰"/>
                <a:cs typeface="明兰"/>
              </a:rPr>
              <a:t>地</a:t>
            </a:r>
            <a:r>
              <a:rPr dirty="0" sz="1400" spc="70" b="1">
                <a:latin typeface="明兰"/>
                <a:cs typeface="明兰"/>
              </a:rPr>
              <a:t>代工</a:t>
            </a:r>
            <a:r>
              <a:rPr dirty="0" sz="1400" spc="80" b="1">
                <a:latin typeface="明兰"/>
                <a:cs typeface="明兰"/>
              </a:rPr>
              <a:t>厂</a:t>
            </a:r>
            <a:r>
              <a:rPr dirty="0" sz="1400" spc="70" b="1">
                <a:latin typeface="明兰"/>
                <a:cs typeface="明兰"/>
              </a:rPr>
              <a:t>的</a:t>
            </a:r>
            <a:r>
              <a:rPr dirty="0" sz="1400" spc="80" b="1">
                <a:latin typeface="明兰"/>
                <a:cs typeface="明兰"/>
              </a:rPr>
              <a:t>外</a:t>
            </a:r>
            <a:r>
              <a:rPr dirty="0" sz="1400" spc="70" b="1">
                <a:latin typeface="明兰"/>
                <a:cs typeface="明兰"/>
              </a:rPr>
              <a:t>汇配</a:t>
            </a:r>
            <a:r>
              <a:rPr dirty="0" sz="1400" spc="80" b="1">
                <a:latin typeface="明兰"/>
                <a:cs typeface="明兰"/>
              </a:rPr>
              <a:t>额</a:t>
            </a:r>
            <a:r>
              <a:rPr dirty="0" sz="1400" spc="70" b="1">
                <a:latin typeface="明兰"/>
                <a:cs typeface="明兰"/>
              </a:rPr>
              <a:t>资</a:t>
            </a:r>
            <a:r>
              <a:rPr dirty="0" sz="1400" spc="95" b="1">
                <a:latin typeface="明兰"/>
                <a:cs typeface="明兰"/>
              </a:rPr>
              <a:t>源</a:t>
            </a:r>
            <a:r>
              <a:rPr dirty="0" sz="1400" spc="80" b="1">
                <a:latin typeface="明兰"/>
                <a:cs typeface="明兰"/>
              </a:rPr>
              <a:t>，</a:t>
            </a:r>
            <a:r>
              <a:rPr dirty="0" sz="1400" b="1">
                <a:latin typeface="明兰"/>
                <a:cs typeface="明兰"/>
              </a:rPr>
              <a:t>无 </a:t>
            </a:r>
            <a:r>
              <a:rPr dirty="0" sz="1400" b="1">
                <a:latin typeface="明兰"/>
                <a:cs typeface="明兰"/>
              </a:rPr>
              <a:t>显著外</a:t>
            </a:r>
            <a:r>
              <a:rPr dirty="0" sz="1400" spc="-15" b="1">
                <a:latin typeface="明兰"/>
                <a:cs typeface="明兰"/>
              </a:rPr>
              <a:t>汇</a:t>
            </a:r>
            <a:r>
              <a:rPr dirty="0" sz="1400" b="1">
                <a:latin typeface="明兰"/>
                <a:cs typeface="明兰"/>
              </a:rPr>
              <a:t>风险。</a:t>
            </a:r>
            <a:endParaRPr sz="14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754" y="2366009"/>
            <a:ext cx="23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6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2334" y="2366009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130" y="314325"/>
            <a:ext cx="4119879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两种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税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务成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本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分析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提出假设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955" y="1488947"/>
            <a:ext cx="882650" cy="303530"/>
          </a:xfrm>
          <a:prstGeom prst="rect">
            <a:avLst/>
          </a:prstGeom>
          <a:solidFill>
            <a:srgbClr val="660000"/>
          </a:solidFill>
        </p:spPr>
        <p:txBody>
          <a:bodyPr wrap="square" lIns="0" tIns="34925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275"/>
              </a:spcBef>
            </a:pPr>
            <a:r>
              <a:rPr dirty="0" sz="1350" spc="10" b="1">
                <a:solidFill>
                  <a:srgbClr val="FFFFFF"/>
                </a:solidFill>
                <a:latin typeface="明兰"/>
                <a:cs typeface="明兰"/>
              </a:rPr>
              <a:t>模</a:t>
            </a:r>
            <a:r>
              <a:rPr dirty="0" sz="1350" spc="15" b="1">
                <a:solidFill>
                  <a:srgbClr val="FFFFFF"/>
                </a:solidFill>
                <a:latin typeface="明兰"/>
                <a:cs typeface="明兰"/>
              </a:rPr>
              <a:t>式</a:t>
            </a:r>
            <a:r>
              <a:rPr dirty="0" sz="13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195" y="3432047"/>
            <a:ext cx="882650" cy="304800"/>
          </a:xfrm>
          <a:prstGeom prst="rect">
            <a:avLst/>
          </a:prstGeom>
          <a:solidFill>
            <a:srgbClr val="660000"/>
          </a:solidFill>
        </p:spPr>
        <p:txBody>
          <a:bodyPr wrap="square" lIns="0" tIns="36830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290"/>
              </a:spcBef>
            </a:pPr>
            <a:r>
              <a:rPr dirty="0" sz="1350" spc="15" b="1">
                <a:solidFill>
                  <a:srgbClr val="FFFFFF"/>
                </a:solidFill>
                <a:latin typeface="明兰"/>
                <a:cs typeface="明兰"/>
              </a:rPr>
              <a:t>模式</a:t>
            </a:r>
            <a:r>
              <a:rPr dirty="0" sz="13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00" y="2375916"/>
            <a:ext cx="1065530" cy="47244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906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9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5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3264" y="2360676"/>
            <a:ext cx="1065530" cy="47117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192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96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8764" y="2369820"/>
            <a:ext cx="1228725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34667" y="2535935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545" y="0"/>
                </a:moveTo>
                <a:lnTo>
                  <a:pt x="685545" y="76200"/>
                </a:lnTo>
                <a:lnTo>
                  <a:pt x="749045" y="44450"/>
                </a:lnTo>
                <a:lnTo>
                  <a:pt x="698245" y="44450"/>
                </a:lnTo>
                <a:lnTo>
                  <a:pt x="698245" y="31750"/>
                </a:lnTo>
                <a:lnTo>
                  <a:pt x="749045" y="31750"/>
                </a:lnTo>
                <a:lnTo>
                  <a:pt x="685545" y="0"/>
                </a:lnTo>
                <a:close/>
              </a:path>
              <a:path w="762000" h="76200">
                <a:moveTo>
                  <a:pt x="68554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85545" y="44450"/>
                </a:lnTo>
                <a:lnTo>
                  <a:pt x="685545" y="31750"/>
                </a:lnTo>
                <a:close/>
              </a:path>
              <a:path w="762000" h="76200">
                <a:moveTo>
                  <a:pt x="749045" y="31750"/>
                </a:moveTo>
                <a:lnTo>
                  <a:pt x="698245" y="31750"/>
                </a:lnTo>
                <a:lnTo>
                  <a:pt x="698245" y="44450"/>
                </a:lnTo>
                <a:lnTo>
                  <a:pt x="749045" y="44450"/>
                </a:lnTo>
                <a:lnTo>
                  <a:pt x="761745" y="38100"/>
                </a:lnTo>
                <a:lnTo>
                  <a:pt x="749045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24071" y="2536063"/>
            <a:ext cx="842010" cy="76200"/>
          </a:xfrm>
          <a:custGeom>
            <a:avLst/>
            <a:gdLst/>
            <a:ahLst/>
            <a:cxnLst/>
            <a:rect l="l" t="t" r="r" b="b"/>
            <a:pathLst>
              <a:path w="842010" h="76200">
                <a:moveTo>
                  <a:pt x="829522" y="31750"/>
                </a:moveTo>
                <a:lnTo>
                  <a:pt x="778510" y="31750"/>
                </a:lnTo>
                <a:lnTo>
                  <a:pt x="778637" y="44450"/>
                </a:lnTo>
                <a:lnTo>
                  <a:pt x="765884" y="44477"/>
                </a:lnTo>
                <a:lnTo>
                  <a:pt x="765937" y="76200"/>
                </a:lnTo>
                <a:lnTo>
                  <a:pt x="842010" y="37973"/>
                </a:lnTo>
                <a:lnTo>
                  <a:pt x="829522" y="31750"/>
                </a:lnTo>
                <a:close/>
              </a:path>
              <a:path w="842010" h="76200">
                <a:moveTo>
                  <a:pt x="765862" y="31776"/>
                </a:moveTo>
                <a:lnTo>
                  <a:pt x="0" y="33400"/>
                </a:lnTo>
                <a:lnTo>
                  <a:pt x="0" y="46100"/>
                </a:lnTo>
                <a:lnTo>
                  <a:pt x="765884" y="44477"/>
                </a:lnTo>
                <a:lnTo>
                  <a:pt x="765862" y="31776"/>
                </a:lnTo>
                <a:close/>
              </a:path>
              <a:path w="842010" h="76200">
                <a:moveTo>
                  <a:pt x="778510" y="31750"/>
                </a:moveTo>
                <a:lnTo>
                  <a:pt x="765862" y="31776"/>
                </a:lnTo>
                <a:lnTo>
                  <a:pt x="765884" y="44477"/>
                </a:lnTo>
                <a:lnTo>
                  <a:pt x="778637" y="44450"/>
                </a:lnTo>
                <a:lnTo>
                  <a:pt x="778510" y="31750"/>
                </a:lnTo>
                <a:close/>
              </a:path>
              <a:path w="842010" h="76200">
                <a:moveTo>
                  <a:pt x="765810" y="0"/>
                </a:moveTo>
                <a:lnTo>
                  <a:pt x="765862" y="31776"/>
                </a:lnTo>
                <a:lnTo>
                  <a:pt x="829522" y="31750"/>
                </a:lnTo>
                <a:lnTo>
                  <a:pt x="765810" y="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05828" y="2375916"/>
            <a:ext cx="1181100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334645">
              <a:lnSpc>
                <a:spcPct val="100000"/>
              </a:lnSpc>
              <a:spcBef>
                <a:spcPts val="98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39028" y="2535935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81165" y="2366009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51838" y="1479931"/>
            <a:ext cx="5057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0">
                <a:latin typeface="宋体"/>
                <a:cs typeface="宋体"/>
              </a:rPr>
              <a:t>假设</a:t>
            </a:r>
            <a:r>
              <a:rPr dirty="0" sz="1400">
                <a:latin typeface="宋体"/>
                <a:cs typeface="宋体"/>
              </a:rPr>
              <a:t>大陆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为散</a:t>
            </a:r>
            <a:r>
              <a:rPr dirty="0" sz="1400" spc="-15">
                <a:latin typeface="宋体"/>
                <a:cs typeface="宋体"/>
              </a:rPr>
              <a:t>件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 spc="-15">
                <a:latin typeface="Arial"/>
                <a:cs typeface="Arial"/>
              </a:rPr>
              <a:t>R</a:t>
            </a:r>
            <a:r>
              <a:rPr dirty="0" baseline="-21604" sz="1350" spc="-22">
                <a:latin typeface="Arial"/>
                <a:cs typeface="Arial"/>
              </a:rPr>
              <a:t>11</a:t>
            </a:r>
            <a:r>
              <a:rPr dirty="0" baseline="-21604" sz="1350" spc="52">
                <a:latin typeface="宋体"/>
                <a:cs typeface="宋体"/>
              </a:rPr>
              <a:t>、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12</a:t>
            </a:r>
            <a:r>
              <a:rPr dirty="0" baseline="-21604" sz="1350" spc="52">
                <a:latin typeface="宋体"/>
                <a:cs typeface="宋体"/>
              </a:rPr>
              <a:t>、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13</a:t>
            </a:r>
            <a:r>
              <a:rPr dirty="0" sz="1400" spc="10">
                <a:latin typeface="宋体"/>
                <a:cs typeface="宋体"/>
              </a:rPr>
              <a:t>为每一阶</a:t>
            </a:r>
            <a:r>
              <a:rPr dirty="0" sz="1400">
                <a:latin typeface="宋体"/>
                <a:cs typeface="宋体"/>
              </a:rPr>
              <a:t>段的</a:t>
            </a:r>
            <a:r>
              <a:rPr dirty="0" sz="1400" spc="-15">
                <a:latin typeface="宋体"/>
                <a:cs typeface="宋体"/>
              </a:rPr>
              <a:t>毛</a:t>
            </a:r>
            <a:r>
              <a:rPr dirty="0" sz="1400">
                <a:latin typeface="宋体"/>
                <a:cs typeface="宋体"/>
              </a:rPr>
              <a:t>利额。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5073" y="5201411"/>
            <a:ext cx="5105400" cy="130683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latin typeface="宋体"/>
                <a:cs typeface="宋体"/>
              </a:rPr>
              <a:t>因此，</a:t>
            </a:r>
            <a:r>
              <a:rPr dirty="0" sz="1400" spc="-15">
                <a:latin typeface="宋体"/>
                <a:cs typeface="宋体"/>
              </a:rPr>
              <a:t>经</a:t>
            </a:r>
            <a:r>
              <a:rPr dirty="0" sz="1400">
                <a:latin typeface="宋体"/>
                <a:cs typeface="宋体"/>
              </a:rPr>
              <a:t>过假</a:t>
            </a:r>
            <a:r>
              <a:rPr dirty="0" sz="1400" spc="-15">
                <a:latin typeface="宋体"/>
                <a:cs typeface="宋体"/>
              </a:rPr>
              <a:t>设和</a:t>
            </a:r>
            <a:r>
              <a:rPr dirty="0" sz="1400">
                <a:latin typeface="宋体"/>
                <a:cs typeface="宋体"/>
              </a:rPr>
              <a:t>链条的</a:t>
            </a:r>
            <a:r>
              <a:rPr dirty="0" sz="1400" spc="-15">
                <a:latin typeface="宋体"/>
                <a:cs typeface="宋体"/>
              </a:rPr>
              <a:t>延</a:t>
            </a:r>
            <a:r>
              <a:rPr dirty="0" sz="1400">
                <a:latin typeface="宋体"/>
                <a:cs typeface="宋体"/>
              </a:rPr>
              <a:t>伸，</a:t>
            </a:r>
            <a:endParaRPr sz="1400">
              <a:latin typeface="宋体"/>
              <a:cs typeface="宋体"/>
            </a:endParaRPr>
          </a:p>
          <a:p>
            <a:pPr marL="603885" marR="5080">
              <a:lnSpc>
                <a:spcPct val="150000"/>
              </a:lnSpc>
              <a:spcBef>
                <a:spcPts val="5"/>
              </a:spcBef>
            </a:pPr>
            <a:r>
              <a:rPr dirty="0" sz="1400" spc="10">
                <a:latin typeface="宋体"/>
                <a:cs typeface="宋体"/>
              </a:rPr>
              <a:t>模式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与模</a:t>
            </a:r>
            <a:r>
              <a:rPr dirty="0" sz="1400" spc="-15">
                <a:latin typeface="宋体"/>
                <a:cs typeface="宋体"/>
              </a:rPr>
              <a:t>式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5">
                <a:latin typeface="宋体"/>
                <a:cs typeface="宋体"/>
              </a:rPr>
              <a:t>流</a:t>
            </a:r>
            <a:r>
              <a:rPr dirty="0" sz="1400">
                <a:latin typeface="宋体"/>
                <a:cs typeface="宋体"/>
              </a:rPr>
              <a:t>程一</a:t>
            </a:r>
            <a:r>
              <a:rPr dirty="0" sz="1400" spc="-15">
                <a:latin typeface="宋体"/>
                <a:cs typeface="宋体"/>
              </a:rPr>
              <a:t>致</a:t>
            </a:r>
            <a:r>
              <a:rPr dirty="0" sz="1400">
                <a:latin typeface="宋体"/>
                <a:cs typeface="宋体"/>
              </a:rPr>
              <a:t>：均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散件</a:t>
            </a:r>
            <a:r>
              <a:rPr dirty="0" sz="1400" spc="-360">
                <a:latin typeface="宋体"/>
                <a:cs typeface="宋体"/>
              </a:rPr>
              <a:t> </a:t>
            </a:r>
            <a:r>
              <a:rPr dirty="0" sz="1400">
                <a:latin typeface="Arial"/>
                <a:cs typeface="Arial"/>
              </a:rPr>
              <a:t>—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整</a:t>
            </a:r>
            <a:r>
              <a:rPr dirty="0" sz="1400">
                <a:latin typeface="宋体"/>
                <a:cs typeface="宋体"/>
              </a:rPr>
              <a:t>机</a:t>
            </a:r>
            <a:r>
              <a:rPr dirty="0" sz="1400" spc="-330">
                <a:latin typeface="宋体"/>
                <a:cs typeface="宋体"/>
              </a:rPr>
              <a:t> </a:t>
            </a:r>
            <a:r>
              <a:rPr dirty="0" sz="1400">
                <a:latin typeface="Arial"/>
                <a:cs typeface="Arial"/>
              </a:rPr>
              <a:t>—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代理</a:t>
            </a:r>
            <a:r>
              <a:rPr dirty="0" sz="1400">
                <a:latin typeface="宋体"/>
                <a:cs typeface="宋体"/>
              </a:rPr>
              <a:t>商。 </a:t>
            </a:r>
            <a:r>
              <a:rPr dirty="0" sz="1400" spc="10">
                <a:latin typeface="宋体"/>
                <a:cs typeface="宋体"/>
              </a:rPr>
              <a:t>同</a:t>
            </a:r>
            <a:r>
              <a:rPr dirty="0" sz="1400">
                <a:latin typeface="宋体"/>
                <a:cs typeface="宋体"/>
              </a:rPr>
              <a:t>类产品，初</a:t>
            </a:r>
            <a:r>
              <a:rPr dirty="0" sz="1400" spc="-15">
                <a:latin typeface="宋体"/>
                <a:cs typeface="宋体"/>
              </a:rPr>
              <a:t>始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致，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603885">
              <a:lnSpc>
                <a:spcPct val="100000"/>
              </a:lnSpc>
              <a:spcBef>
                <a:spcPts val="840"/>
              </a:spcBef>
            </a:pPr>
            <a:r>
              <a:rPr dirty="0" sz="1400" spc="10">
                <a:latin typeface="宋体"/>
                <a:cs typeface="宋体"/>
              </a:rPr>
              <a:t>同</a:t>
            </a:r>
            <a:r>
              <a:rPr dirty="0" sz="1400">
                <a:latin typeface="宋体"/>
                <a:cs typeface="宋体"/>
              </a:rPr>
              <a:t>类产品，最</a:t>
            </a:r>
            <a:r>
              <a:rPr dirty="0" sz="1400" spc="-15">
                <a:latin typeface="宋体"/>
                <a:cs typeface="宋体"/>
              </a:rPr>
              <a:t>终</a:t>
            </a:r>
            <a:r>
              <a:rPr dirty="0" sz="1400">
                <a:latin typeface="宋体"/>
                <a:cs typeface="宋体"/>
              </a:rPr>
              <a:t>销售</a:t>
            </a:r>
            <a:r>
              <a:rPr dirty="0" sz="1400" spc="-15">
                <a:latin typeface="宋体"/>
                <a:cs typeface="宋体"/>
              </a:rPr>
              <a:t>给</a:t>
            </a:r>
            <a:r>
              <a:rPr dirty="0" sz="1400">
                <a:latin typeface="宋体"/>
                <a:cs typeface="宋体"/>
              </a:rPr>
              <a:t>代理</a:t>
            </a:r>
            <a:r>
              <a:rPr dirty="0" sz="1400" spc="-15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的价</a:t>
            </a:r>
            <a:r>
              <a:rPr dirty="0" sz="1400" spc="-15">
                <a:latin typeface="宋体"/>
                <a:cs typeface="宋体"/>
              </a:rPr>
              <a:t>格</a:t>
            </a:r>
            <a:r>
              <a:rPr dirty="0" sz="1400">
                <a:latin typeface="宋体"/>
                <a:cs typeface="宋体"/>
              </a:rPr>
              <a:t>也一</a:t>
            </a:r>
            <a:r>
              <a:rPr dirty="0" sz="1400" spc="-15">
                <a:latin typeface="宋体"/>
                <a:cs typeface="宋体"/>
              </a:rPr>
              <a:t>致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9100" y="4433315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906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09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1357" y="4559045"/>
            <a:ext cx="19812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93264" y="4416552"/>
            <a:ext cx="1065530" cy="47244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2555" rIns="0" bIns="0" rtlCol="0" vert="horz">
            <a:spAutoFit/>
          </a:bodyPr>
          <a:lstStyle/>
          <a:p>
            <a:pPr marL="10160">
              <a:lnSpc>
                <a:spcPct val="100000"/>
              </a:lnSpc>
              <a:spcBef>
                <a:spcPts val="96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整机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8764" y="4425696"/>
            <a:ext cx="1228725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779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34667" y="4631435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1745" y="0"/>
                </a:lnTo>
              </a:path>
            </a:pathLst>
          </a:custGeom>
          <a:ln w="9144">
            <a:solidFill>
              <a:srgbClr val="EC7C3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24071" y="4593463"/>
            <a:ext cx="842010" cy="76200"/>
          </a:xfrm>
          <a:custGeom>
            <a:avLst/>
            <a:gdLst/>
            <a:ahLst/>
            <a:cxnLst/>
            <a:rect l="l" t="t" r="r" b="b"/>
            <a:pathLst>
              <a:path w="842010" h="76200">
                <a:moveTo>
                  <a:pt x="829522" y="31750"/>
                </a:moveTo>
                <a:lnTo>
                  <a:pt x="778510" y="31750"/>
                </a:lnTo>
                <a:lnTo>
                  <a:pt x="778637" y="44450"/>
                </a:lnTo>
                <a:lnTo>
                  <a:pt x="765884" y="44477"/>
                </a:lnTo>
                <a:lnTo>
                  <a:pt x="765937" y="76200"/>
                </a:lnTo>
                <a:lnTo>
                  <a:pt x="842010" y="37973"/>
                </a:lnTo>
                <a:lnTo>
                  <a:pt x="829522" y="31750"/>
                </a:lnTo>
                <a:close/>
              </a:path>
              <a:path w="842010" h="76200">
                <a:moveTo>
                  <a:pt x="765862" y="31776"/>
                </a:moveTo>
                <a:lnTo>
                  <a:pt x="0" y="33400"/>
                </a:lnTo>
                <a:lnTo>
                  <a:pt x="0" y="46100"/>
                </a:lnTo>
                <a:lnTo>
                  <a:pt x="765884" y="44477"/>
                </a:lnTo>
                <a:lnTo>
                  <a:pt x="765862" y="31776"/>
                </a:lnTo>
                <a:close/>
              </a:path>
              <a:path w="842010" h="76200">
                <a:moveTo>
                  <a:pt x="778510" y="31750"/>
                </a:moveTo>
                <a:lnTo>
                  <a:pt x="765862" y="31776"/>
                </a:lnTo>
                <a:lnTo>
                  <a:pt x="765884" y="44477"/>
                </a:lnTo>
                <a:lnTo>
                  <a:pt x="778637" y="44450"/>
                </a:lnTo>
                <a:lnTo>
                  <a:pt x="778510" y="31750"/>
                </a:lnTo>
                <a:close/>
              </a:path>
              <a:path w="842010" h="76200">
                <a:moveTo>
                  <a:pt x="765810" y="0"/>
                </a:moveTo>
                <a:lnTo>
                  <a:pt x="765862" y="31776"/>
                </a:lnTo>
                <a:lnTo>
                  <a:pt x="829522" y="31750"/>
                </a:lnTo>
                <a:lnTo>
                  <a:pt x="765810" y="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04745" y="4374895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31411" y="4374895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22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05828" y="4431791"/>
            <a:ext cx="1181100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marL="334645">
              <a:lnSpc>
                <a:spcPct val="100000"/>
              </a:lnSpc>
              <a:spcBef>
                <a:spcPts val="9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39028" y="4593335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316217" y="4374895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23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3271240"/>
            <a:ext cx="571436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为增强</a:t>
            </a:r>
            <a:r>
              <a:rPr dirty="0" sz="1400" spc="-15" b="1">
                <a:latin typeface="明兰"/>
                <a:cs typeface="明兰"/>
              </a:rPr>
              <a:t>两</a:t>
            </a:r>
            <a:r>
              <a:rPr dirty="0" sz="1400" b="1">
                <a:latin typeface="明兰"/>
                <a:cs typeface="明兰"/>
              </a:rPr>
              <a:t>模式</a:t>
            </a:r>
            <a:r>
              <a:rPr dirty="0" sz="1400" spc="-15" b="1">
                <a:latin typeface="明兰"/>
                <a:cs typeface="明兰"/>
              </a:rPr>
              <a:t>的可</a:t>
            </a:r>
            <a:r>
              <a:rPr dirty="0" sz="1400" b="1">
                <a:latin typeface="明兰"/>
                <a:cs typeface="明兰"/>
              </a:rPr>
              <a:t>比性，</a:t>
            </a:r>
            <a:r>
              <a:rPr dirty="0" sz="1400" spc="-15" b="1">
                <a:latin typeface="明兰"/>
                <a:cs typeface="明兰"/>
              </a:rPr>
              <a:t>链</a:t>
            </a:r>
            <a:r>
              <a:rPr dirty="0" sz="1400" b="1">
                <a:latin typeface="明兰"/>
                <a:cs typeface="明兰"/>
              </a:rPr>
              <a:t>条中</a:t>
            </a:r>
            <a:r>
              <a:rPr dirty="0" sz="1400" spc="-15" b="1">
                <a:latin typeface="明兰"/>
                <a:cs typeface="明兰"/>
              </a:rPr>
              <a:t>多列</a:t>
            </a:r>
            <a:r>
              <a:rPr dirty="0" sz="1400" b="1">
                <a:latin typeface="明兰"/>
                <a:cs typeface="明兰"/>
              </a:rPr>
              <a:t>出散件</a:t>
            </a:r>
            <a:r>
              <a:rPr dirty="0" sz="1400" spc="-15" b="1">
                <a:latin typeface="明兰"/>
                <a:cs typeface="明兰"/>
              </a:rPr>
              <a:t>在</a:t>
            </a:r>
            <a:r>
              <a:rPr dirty="0" sz="1400" b="1">
                <a:latin typeface="明兰"/>
                <a:cs typeface="明兰"/>
              </a:rPr>
              <a:t>大陆</a:t>
            </a:r>
            <a:r>
              <a:rPr dirty="0" sz="1400" spc="-15" b="1">
                <a:latin typeface="明兰"/>
                <a:cs typeface="明兰"/>
              </a:rPr>
              <a:t>组装</a:t>
            </a:r>
            <a:r>
              <a:rPr dirty="0" sz="1400" b="1">
                <a:latin typeface="明兰"/>
                <a:cs typeface="明兰"/>
              </a:rPr>
              <a:t>成整机</a:t>
            </a:r>
            <a:r>
              <a:rPr dirty="0" sz="1400" spc="-15" b="1">
                <a:latin typeface="明兰"/>
                <a:cs typeface="明兰"/>
              </a:rPr>
              <a:t>的</a:t>
            </a:r>
            <a:r>
              <a:rPr dirty="0" sz="1400" b="1">
                <a:latin typeface="明兰"/>
                <a:cs typeface="明兰"/>
              </a:rPr>
              <a:t>过</a:t>
            </a:r>
            <a:r>
              <a:rPr dirty="0" sz="1400" spc="10" b="1">
                <a:latin typeface="明兰"/>
                <a:cs typeface="明兰"/>
              </a:rPr>
              <a:t>程</a:t>
            </a:r>
            <a:r>
              <a:rPr dirty="0" sz="1400" spc="-15">
                <a:latin typeface="宋体"/>
                <a:cs typeface="宋体"/>
              </a:rPr>
              <a:t>，并 </a:t>
            </a:r>
            <a:r>
              <a:rPr dirty="0" sz="1400" spc="10">
                <a:latin typeface="宋体"/>
                <a:cs typeface="宋体"/>
              </a:rPr>
              <a:t>假设</a:t>
            </a:r>
            <a:r>
              <a:rPr dirty="0" sz="1400">
                <a:latin typeface="宋体"/>
                <a:cs typeface="宋体"/>
              </a:rPr>
              <a:t>大陆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为散</a:t>
            </a:r>
            <a:r>
              <a:rPr dirty="0" sz="1400" spc="-15">
                <a:latin typeface="宋体"/>
                <a:cs typeface="宋体"/>
              </a:rPr>
              <a:t>件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>
                <a:latin typeface="Arial"/>
                <a:cs typeface="Arial"/>
              </a:rPr>
              <a:t>R</a:t>
            </a:r>
            <a:r>
              <a:rPr dirty="0" baseline="-21604" sz="1350">
                <a:latin typeface="Arial"/>
                <a:cs typeface="Arial"/>
              </a:rPr>
              <a:t>21</a:t>
            </a:r>
            <a:r>
              <a:rPr dirty="0" baseline="-21604" sz="1350" spc="52">
                <a:latin typeface="宋体"/>
                <a:cs typeface="宋体"/>
              </a:rPr>
              <a:t>、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22</a:t>
            </a:r>
            <a:r>
              <a:rPr dirty="0" baseline="-21604" sz="1350" spc="52">
                <a:latin typeface="宋体"/>
                <a:cs typeface="宋体"/>
              </a:rPr>
              <a:t>、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23</a:t>
            </a:r>
            <a:r>
              <a:rPr dirty="0" sz="1400" spc="10">
                <a:latin typeface="宋体"/>
                <a:cs typeface="宋体"/>
              </a:rPr>
              <a:t>为每一阶</a:t>
            </a:r>
            <a:r>
              <a:rPr dirty="0" sz="1400">
                <a:latin typeface="宋体"/>
                <a:cs typeface="宋体"/>
              </a:rPr>
              <a:t>段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毛利</a:t>
            </a:r>
            <a:r>
              <a:rPr dirty="0" sz="1400" spc="-15">
                <a:latin typeface="宋体"/>
                <a:cs typeface="宋体"/>
              </a:rPr>
              <a:t>额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11" y="268935"/>
            <a:ext cx="374967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5" b="1">
                <a:solidFill>
                  <a:srgbClr val="762727"/>
                </a:solidFill>
                <a:latin typeface="明兰"/>
                <a:cs typeface="明兰"/>
              </a:rPr>
              <a:t>两种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模式的</a:t>
            </a:r>
            <a:r>
              <a:rPr dirty="0" sz="2000" spc="5" b="1">
                <a:solidFill>
                  <a:srgbClr val="762727"/>
                </a:solidFill>
                <a:latin typeface="明兰"/>
                <a:cs typeface="明兰"/>
              </a:rPr>
              <a:t>税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务成</a:t>
            </a:r>
            <a:r>
              <a:rPr dirty="0" sz="2000" spc="5" b="1">
                <a:solidFill>
                  <a:srgbClr val="762727"/>
                </a:solidFill>
                <a:latin typeface="明兰"/>
                <a:cs typeface="明兰"/>
              </a:rPr>
              <a:t>本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分</a:t>
            </a:r>
            <a:r>
              <a:rPr dirty="0" sz="2000" spc="30" b="1">
                <a:solidFill>
                  <a:srgbClr val="762727"/>
                </a:solidFill>
                <a:latin typeface="明兰"/>
                <a:cs typeface="明兰"/>
              </a:rPr>
              <a:t>析</a:t>
            </a:r>
            <a:r>
              <a:rPr dirty="0" sz="2000" spc="-10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424" y="1223772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779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1655" y="1207008"/>
            <a:ext cx="1065530" cy="47244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192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96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4544" y="1205483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59991" y="1429511"/>
            <a:ext cx="1021080" cy="76200"/>
          </a:xfrm>
          <a:custGeom>
            <a:avLst/>
            <a:gdLst/>
            <a:ahLst/>
            <a:cxnLst/>
            <a:rect l="l" t="t" r="r" b="b"/>
            <a:pathLst>
              <a:path w="1021080" h="76200">
                <a:moveTo>
                  <a:pt x="944880" y="0"/>
                </a:moveTo>
                <a:lnTo>
                  <a:pt x="944880" y="76200"/>
                </a:lnTo>
                <a:lnTo>
                  <a:pt x="1008380" y="44450"/>
                </a:lnTo>
                <a:lnTo>
                  <a:pt x="957580" y="44450"/>
                </a:lnTo>
                <a:lnTo>
                  <a:pt x="957580" y="31750"/>
                </a:lnTo>
                <a:lnTo>
                  <a:pt x="1008380" y="31750"/>
                </a:lnTo>
                <a:lnTo>
                  <a:pt x="944880" y="0"/>
                </a:lnTo>
                <a:close/>
              </a:path>
              <a:path w="1021080" h="76200">
                <a:moveTo>
                  <a:pt x="9448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44880" y="44450"/>
                </a:lnTo>
                <a:lnTo>
                  <a:pt x="944880" y="31750"/>
                </a:lnTo>
                <a:close/>
              </a:path>
              <a:path w="1021080" h="76200">
                <a:moveTo>
                  <a:pt x="1008380" y="31750"/>
                </a:moveTo>
                <a:lnTo>
                  <a:pt x="957580" y="31750"/>
                </a:lnTo>
                <a:lnTo>
                  <a:pt x="957580" y="44450"/>
                </a:lnTo>
                <a:lnTo>
                  <a:pt x="1008380" y="44450"/>
                </a:lnTo>
                <a:lnTo>
                  <a:pt x="1021080" y="38100"/>
                </a:lnTo>
                <a:lnTo>
                  <a:pt x="1008380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00855" y="1408175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67077" y="1231519"/>
            <a:ext cx="23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6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321" y="1220215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4656" y="1191767"/>
            <a:ext cx="1214755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98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63284" y="1409700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23709" y="1217167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252" y="1578355"/>
            <a:ext cx="86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11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7078" y="1578355"/>
            <a:ext cx="1153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</a:t>
            </a:r>
            <a:r>
              <a:rPr dirty="0" baseline="-20833" sz="1200" spc="-7">
                <a:latin typeface="Arial"/>
                <a:cs typeface="Arial"/>
              </a:rPr>
              <a:t>1</a:t>
            </a:r>
            <a:r>
              <a:rPr dirty="0" baseline="-20833" sz="1200" spc="-7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7">
                <a:latin typeface="Arial"/>
                <a:cs typeface="Arial"/>
              </a:rPr>
              <a:t>12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4896" y="1585721"/>
            <a:ext cx="1022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1+R</a:t>
            </a:r>
            <a:r>
              <a:rPr dirty="0" sz="800" spc="-10">
                <a:latin typeface="Arial"/>
                <a:cs typeface="Arial"/>
              </a:rPr>
              <a:t>11+</a:t>
            </a: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10">
                <a:latin typeface="Arial"/>
                <a:cs typeface="Arial"/>
              </a:rPr>
              <a:t>12+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97192" y="1948560"/>
          <a:ext cx="8265795" cy="3601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/>
                <a:gridCol w="604519"/>
                <a:gridCol w="685164"/>
                <a:gridCol w="2315844"/>
                <a:gridCol w="3507740"/>
              </a:tblGrid>
              <a:tr h="47345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税负项目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税种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税率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华为直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接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税务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成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本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57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</a:tr>
              <a:tr h="5993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大陆华为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所得税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利润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高新技术企业</a:t>
                      </a:r>
                      <a:endParaRPr sz="1200">
                        <a:latin typeface="宋体"/>
                        <a:cs typeface="宋体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所得税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15%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130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 spc="-1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22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200" spc="-1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15%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BEBE8"/>
                    </a:solidFill>
                  </a:tcPr>
                </a:tc>
              </a:tr>
              <a:tr h="54698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香港华为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利得税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BEBE8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前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8.25%;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万以上部分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16.5%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＜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8.25%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D6CD"/>
                    </a:solidFill>
                  </a:tcPr>
                </a:tc>
              </a:tr>
              <a:tr h="75387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利润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8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≥200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16.5%-16.5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BEBE8"/>
                    </a:solidFill>
                  </a:tcPr>
                </a:tc>
              </a:tr>
              <a:tr h="521081">
                <a:tc rowSpan="2">
                  <a:txBody>
                    <a:bodyPr/>
                    <a:lstStyle/>
                    <a:p>
                      <a:pPr marL="212090" marR="20193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大陆华为 纳税调整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48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所得税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利润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3204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若香港华为当期将利润</a:t>
                      </a:r>
                      <a:r>
                        <a:rPr dirty="0" sz="1200" spc="10" b="1">
                          <a:latin typeface="明兰"/>
                          <a:cs typeface="明兰"/>
                        </a:rPr>
                        <a:t>汇回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大陆，则以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25%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税率计算可抵免限额，补征所得税。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99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8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3436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若当期利润</a:t>
                      </a:r>
                      <a:r>
                        <a:rPr dirty="0" sz="1200" spc="10" b="1">
                          <a:latin typeface="明兰"/>
                          <a:cs typeface="明兰"/>
                        </a:rPr>
                        <a:t>不汇回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大陆，该项纳税调整额为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4033">
                <a:tc rowSpan="2">
                  <a:txBody>
                    <a:bodyPr/>
                    <a:lstStyle/>
                    <a:p>
                      <a:pPr marL="212090" marR="2019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华为直接 税务成本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429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不将利润汇回大陆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5830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＜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15%+R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8.25%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285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4446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若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≥200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万，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7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15%+R</a:t>
                      </a:r>
                      <a:r>
                        <a:rPr dirty="0" baseline="-20833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16.5%-16.5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82269" y="5723331"/>
            <a:ext cx="807275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40005">
              <a:lnSpc>
                <a:spcPct val="100000"/>
              </a:lnSpc>
              <a:spcBef>
                <a:spcPts val="100"/>
              </a:spcBef>
            </a:pPr>
            <a:r>
              <a:rPr dirty="0" sz="1200" spc="10" b="1">
                <a:latin typeface="明兰"/>
                <a:cs typeface="明兰"/>
              </a:rPr>
              <a:t>注释</a:t>
            </a:r>
            <a:r>
              <a:rPr dirty="0" sz="1200" spc="-5" b="1">
                <a:latin typeface="Arial"/>
                <a:cs typeface="Arial"/>
              </a:rPr>
              <a:t>1</a:t>
            </a:r>
            <a:r>
              <a:rPr dirty="0" sz="1200" spc="-5">
                <a:latin typeface="宋体"/>
                <a:cs typeface="宋体"/>
              </a:rPr>
              <a:t>：</a:t>
            </a:r>
            <a:r>
              <a:rPr dirty="0" sz="1200">
                <a:latin typeface="宋体"/>
                <a:cs typeface="宋体"/>
              </a:rPr>
              <a:t>华为技术有限公</a:t>
            </a:r>
            <a:r>
              <a:rPr dirty="0" sz="1200" spc="-5">
                <a:latin typeface="宋体"/>
                <a:cs typeface="宋体"/>
              </a:rPr>
              <a:t>司</a:t>
            </a:r>
            <a:r>
              <a:rPr dirty="0" sz="1200" spc="-10">
                <a:latin typeface="Arial"/>
                <a:cs typeface="Arial"/>
              </a:rPr>
              <a:t>2017</a:t>
            </a:r>
            <a:r>
              <a:rPr dirty="0" sz="1200">
                <a:latin typeface="宋体"/>
                <a:cs typeface="宋体"/>
              </a:rPr>
              <a:t>年被认定为国家高新技术企业，在</a:t>
            </a:r>
            <a:r>
              <a:rPr dirty="0" sz="1200" spc="-15">
                <a:latin typeface="Arial"/>
                <a:cs typeface="Arial"/>
              </a:rPr>
              <a:t>3</a:t>
            </a:r>
            <a:r>
              <a:rPr dirty="0" sz="1200">
                <a:latin typeface="宋体"/>
                <a:cs typeface="宋体"/>
              </a:rPr>
              <a:t>年资格有效期内，所得税税率为</a:t>
            </a:r>
            <a:r>
              <a:rPr dirty="0" sz="1200" spc="-10">
                <a:latin typeface="Arial"/>
                <a:cs typeface="Arial"/>
              </a:rPr>
              <a:t>15%</a:t>
            </a:r>
            <a:r>
              <a:rPr dirty="0" sz="1200" spc="-10">
                <a:latin typeface="宋体"/>
                <a:cs typeface="宋体"/>
              </a:rPr>
              <a:t>，</a:t>
            </a:r>
            <a:r>
              <a:rPr dirty="0" sz="1200">
                <a:latin typeface="宋体"/>
                <a:cs typeface="宋体"/>
              </a:rPr>
              <a:t>由于香港华为 为大陆华为持股</a:t>
            </a:r>
            <a:r>
              <a:rPr dirty="0" sz="1200" spc="-5">
                <a:latin typeface="Arial"/>
                <a:cs typeface="Arial"/>
              </a:rPr>
              <a:t>100%</a:t>
            </a:r>
            <a:r>
              <a:rPr dirty="0" sz="1200">
                <a:latin typeface="宋体"/>
                <a:cs typeface="宋体"/>
              </a:rPr>
              <a:t>的全资子公司，与大陆华为是两个法人，因而在计算境外抵免限额时，应按</a:t>
            </a:r>
            <a:r>
              <a:rPr dirty="0" sz="1200" spc="5">
                <a:latin typeface="宋体"/>
                <a:cs typeface="宋体"/>
              </a:rPr>
              <a:t>照</a:t>
            </a:r>
            <a:r>
              <a:rPr dirty="0" sz="1200" spc="-15">
                <a:latin typeface="Arial"/>
                <a:cs typeface="Arial"/>
              </a:rPr>
              <a:t>2</a:t>
            </a:r>
            <a:r>
              <a:rPr dirty="0" sz="1200" spc="-5">
                <a:latin typeface="Arial"/>
                <a:cs typeface="Arial"/>
              </a:rPr>
              <a:t>5</a:t>
            </a:r>
            <a:r>
              <a:rPr dirty="0" sz="1200" spc="-15">
                <a:latin typeface="Arial"/>
                <a:cs typeface="Arial"/>
              </a:rPr>
              <a:t>%</a:t>
            </a:r>
            <a:r>
              <a:rPr dirty="0" sz="1200">
                <a:latin typeface="宋体"/>
                <a:cs typeface="宋体"/>
              </a:rPr>
              <a:t>的税率计算境内 外应纳税总额。</a:t>
            </a:r>
            <a:endParaRPr sz="1200">
              <a:latin typeface="宋体"/>
              <a:cs typeface="宋体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00" spc="10" b="1">
                <a:latin typeface="明兰"/>
                <a:cs typeface="明兰"/>
              </a:rPr>
              <a:t>注释</a:t>
            </a:r>
            <a:r>
              <a:rPr dirty="0" sz="1200" spc="-10" b="1">
                <a:latin typeface="Arial"/>
                <a:cs typeface="Arial"/>
              </a:rPr>
              <a:t>2</a:t>
            </a:r>
            <a:r>
              <a:rPr dirty="0" sz="1200" spc="-10">
                <a:latin typeface="宋体"/>
                <a:cs typeface="宋体"/>
              </a:rPr>
              <a:t>：</a:t>
            </a:r>
            <a:r>
              <a:rPr dirty="0" sz="1200" spc="-10">
                <a:latin typeface="Arial"/>
                <a:cs typeface="Arial"/>
              </a:rPr>
              <a:t>2017</a:t>
            </a:r>
            <a:r>
              <a:rPr dirty="0" sz="1200">
                <a:latin typeface="宋体"/>
                <a:cs typeface="宋体"/>
              </a:rPr>
              <a:t>年</a:t>
            </a:r>
            <a:r>
              <a:rPr dirty="0" sz="1200" spc="-15">
                <a:latin typeface="Arial"/>
                <a:cs typeface="Arial"/>
              </a:rPr>
              <a:t>10</a:t>
            </a:r>
            <a:r>
              <a:rPr dirty="0" sz="1200">
                <a:latin typeface="宋体"/>
                <a:cs typeface="宋体"/>
              </a:rPr>
              <a:t>月</a:t>
            </a:r>
            <a:r>
              <a:rPr dirty="0" sz="1200" spc="-55">
                <a:latin typeface="Arial"/>
                <a:cs typeface="Arial"/>
              </a:rPr>
              <a:t>11</a:t>
            </a:r>
            <a:r>
              <a:rPr dirty="0" sz="1200">
                <a:latin typeface="宋体"/>
                <a:cs typeface="宋体"/>
              </a:rPr>
              <a:t>日，林郑月娥在《</a:t>
            </a:r>
            <a:r>
              <a:rPr dirty="0" sz="1200" spc="-10">
                <a:latin typeface="Arial"/>
                <a:cs typeface="Arial"/>
              </a:rPr>
              <a:t>2017</a:t>
            </a:r>
            <a:r>
              <a:rPr dirty="0" sz="1200">
                <a:latin typeface="宋体"/>
                <a:cs typeface="宋体"/>
              </a:rPr>
              <a:t>年施政报告》中提出，香港企业利得税引入两级制，第一级即企业首</a:t>
            </a:r>
            <a:r>
              <a:rPr dirty="0" sz="1200" spc="-10">
                <a:latin typeface="Arial"/>
                <a:cs typeface="Arial"/>
              </a:rPr>
              <a:t>200</a:t>
            </a:r>
            <a:r>
              <a:rPr dirty="0" sz="1200">
                <a:latin typeface="宋体"/>
                <a:cs typeface="宋体"/>
              </a:rPr>
              <a:t>万 港元利润，利得税率由现时的</a:t>
            </a:r>
            <a:r>
              <a:rPr dirty="0" sz="1200">
                <a:latin typeface="Arial"/>
                <a:cs typeface="Arial"/>
              </a:rPr>
              <a:t>16.5%</a:t>
            </a:r>
            <a:r>
              <a:rPr dirty="0" sz="1200">
                <a:latin typeface="宋体"/>
                <a:cs typeface="宋体"/>
              </a:rPr>
              <a:t>大减至</a:t>
            </a:r>
            <a:r>
              <a:rPr dirty="0" sz="1200" spc="-5">
                <a:latin typeface="Arial"/>
                <a:cs typeface="Arial"/>
              </a:rPr>
              <a:t>8.25%</a:t>
            </a:r>
            <a:r>
              <a:rPr dirty="0" sz="1200">
                <a:latin typeface="宋体"/>
                <a:cs typeface="宋体"/>
              </a:rPr>
              <a:t>。</a:t>
            </a:r>
            <a:r>
              <a:rPr dirty="0" sz="1200" spc="-15">
                <a:latin typeface="Arial"/>
                <a:cs typeface="Arial"/>
              </a:rPr>
              <a:t>200</a:t>
            </a:r>
            <a:r>
              <a:rPr dirty="0" sz="1200">
                <a:latin typeface="宋体"/>
                <a:cs typeface="宋体"/>
              </a:rPr>
              <a:t>万港元利润以上部分，则以第二级利得税</a:t>
            </a:r>
            <a:r>
              <a:rPr dirty="0" sz="1200" spc="-5">
                <a:latin typeface="Arial"/>
                <a:cs typeface="Arial"/>
              </a:rPr>
              <a:t>16.5%</a:t>
            </a:r>
            <a:r>
              <a:rPr dirty="0" sz="1200">
                <a:latin typeface="宋体"/>
                <a:cs typeface="宋体"/>
              </a:rPr>
              <a:t>计算。</a:t>
            </a:r>
            <a:endParaRPr sz="1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" y="314325"/>
            <a:ext cx="374904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两种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税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务成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本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分析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424" y="1223772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779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1655" y="1207008"/>
            <a:ext cx="1065530" cy="47244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192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96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4544" y="1205483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59991" y="1429511"/>
            <a:ext cx="1021080" cy="76200"/>
          </a:xfrm>
          <a:custGeom>
            <a:avLst/>
            <a:gdLst/>
            <a:ahLst/>
            <a:cxnLst/>
            <a:rect l="l" t="t" r="r" b="b"/>
            <a:pathLst>
              <a:path w="1021080" h="76200">
                <a:moveTo>
                  <a:pt x="944880" y="0"/>
                </a:moveTo>
                <a:lnTo>
                  <a:pt x="944880" y="76200"/>
                </a:lnTo>
                <a:lnTo>
                  <a:pt x="1008380" y="44450"/>
                </a:lnTo>
                <a:lnTo>
                  <a:pt x="957580" y="44450"/>
                </a:lnTo>
                <a:lnTo>
                  <a:pt x="957580" y="31750"/>
                </a:lnTo>
                <a:lnTo>
                  <a:pt x="1008380" y="31750"/>
                </a:lnTo>
                <a:lnTo>
                  <a:pt x="944880" y="0"/>
                </a:lnTo>
                <a:close/>
              </a:path>
              <a:path w="1021080" h="76200">
                <a:moveTo>
                  <a:pt x="9448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44880" y="44450"/>
                </a:lnTo>
                <a:lnTo>
                  <a:pt x="944880" y="31750"/>
                </a:lnTo>
                <a:close/>
              </a:path>
              <a:path w="1021080" h="76200">
                <a:moveTo>
                  <a:pt x="1008380" y="31750"/>
                </a:moveTo>
                <a:lnTo>
                  <a:pt x="957580" y="31750"/>
                </a:lnTo>
                <a:lnTo>
                  <a:pt x="957580" y="44450"/>
                </a:lnTo>
                <a:lnTo>
                  <a:pt x="1008380" y="44450"/>
                </a:lnTo>
                <a:lnTo>
                  <a:pt x="1021080" y="38100"/>
                </a:lnTo>
                <a:lnTo>
                  <a:pt x="1008380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00855" y="1408175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67077" y="1231519"/>
            <a:ext cx="23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6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7321" y="1220215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4656" y="1191767"/>
            <a:ext cx="1214755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98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63284" y="1409700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23709" y="1217167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8252" y="1585721"/>
            <a:ext cx="5928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11400" algn="l"/>
                <a:tab pos="4918710" algn="l"/>
              </a:tabLst>
            </a:pPr>
            <a:r>
              <a:rPr dirty="0" baseline="2314" sz="1800">
                <a:latin typeface="宋体"/>
                <a:cs typeface="宋体"/>
              </a:rPr>
              <a:t>出口价</a:t>
            </a:r>
            <a:r>
              <a:rPr dirty="0" baseline="2314" sz="1800" spc="-22">
                <a:latin typeface="Arial"/>
                <a:cs typeface="Arial"/>
              </a:rPr>
              <a:t>1+R</a:t>
            </a:r>
            <a:r>
              <a:rPr dirty="0" baseline="-17361" sz="1200" spc="-22">
                <a:latin typeface="Arial"/>
                <a:cs typeface="Arial"/>
              </a:rPr>
              <a:t>11	</a:t>
            </a:r>
            <a:r>
              <a:rPr dirty="0" baseline="2314" sz="1800">
                <a:latin typeface="宋体"/>
                <a:cs typeface="宋体"/>
              </a:rPr>
              <a:t>出口价</a:t>
            </a:r>
            <a:r>
              <a:rPr dirty="0" baseline="2314" sz="1800" spc="-15">
                <a:latin typeface="Arial"/>
                <a:cs typeface="Arial"/>
              </a:rPr>
              <a:t>1+R</a:t>
            </a:r>
            <a:r>
              <a:rPr dirty="0" baseline="-17361" sz="1200" spc="-15">
                <a:latin typeface="Arial"/>
                <a:cs typeface="Arial"/>
              </a:rPr>
              <a:t>11+</a:t>
            </a:r>
            <a:r>
              <a:rPr dirty="0" baseline="2314" sz="1800" spc="-15">
                <a:latin typeface="Arial"/>
                <a:cs typeface="Arial"/>
              </a:rPr>
              <a:t>R</a:t>
            </a:r>
            <a:r>
              <a:rPr dirty="0" baseline="-17361" sz="1200" spc="-15">
                <a:latin typeface="Arial"/>
                <a:cs typeface="Arial"/>
              </a:rPr>
              <a:t>12	</a:t>
            </a:r>
            <a:r>
              <a:rPr dirty="0" baseline="13888" sz="1800" spc="-15">
                <a:latin typeface="Arial"/>
                <a:cs typeface="Arial"/>
              </a:rPr>
              <a:t>1+R</a:t>
            </a:r>
            <a:r>
              <a:rPr dirty="0" sz="800" spc="-10">
                <a:latin typeface="Arial"/>
                <a:cs typeface="Arial"/>
              </a:rPr>
              <a:t>11+</a:t>
            </a: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10">
                <a:latin typeface="Arial"/>
                <a:cs typeface="Arial"/>
              </a:rPr>
              <a:t>12+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97192" y="3248151"/>
          <a:ext cx="8265795" cy="3313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/>
                <a:gridCol w="581660"/>
                <a:gridCol w="645160"/>
                <a:gridCol w="1553210"/>
                <a:gridCol w="4704714"/>
              </a:tblGrid>
              <a:tr h="545338"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税负项目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3664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税种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税率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税务成本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</a:tr>
              <a:tr h="510794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间接税负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地方税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出厂价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1200" spc="-10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1+R</a:t>
                      </a:r>
                      <a:r>
                        <a:rPr dirty="0" baseline="-20833" sz="1200" spc="-15">
                          <a:latin typeface="Arial"/>
                          <a:cs typeface="Arial"/>
                        </a:rPr>
                        <a:t>11+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15">
                          <a:latin typeface="Arial"/>
                          <a:cs typeface="Arial"/>
                        </a:rPr>
                        <a:t>12+</a:t>
                      </a:r>
                      <a:r>
                        <a:rPr dirty="0" baseline="-20833" sz="1200" spc="17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7">
                          <a:latin typeface="Arial"/>
                          <a:cs typeface="Arial"/>
                        </a:rPr>
                        <a:t>13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3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8D6CD"/>
                    </a:solidFill>
                  </a:tcPr>
                </a:tc>
              </a:tr>
              <a:tr h="51066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营业税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17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销售净价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3.22%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200" spc="-10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1+R</a:t>
                      </a:r>
                      <a:r>
                        <a:rPr dirty="0" baseline="-20833" sz="1200" spc="-15">
                          <a:latin typeface="Arial"/>
                          <a:cs typeface="Arial"/>
                        </a:rPr>
                        <a:t>11+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15">
                          <a:latin typeface="Arial"/>
                          <a:cs typeface="Arial"/>
                        </a:rPr>
                        <a:t>12+</a:t>
                      </a:r>
                      <a:r>
                        <a:rPr dirty="0" baseline="-20833" sz="1200" spc="17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7">
                          <a:latin typeface="Arial"/>
                          <a:cs typeface="Arial"/>
                        </a:rPr>
                        <a:t>13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+C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3.22%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4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BEBE8"/>
                    </a:solidFill>
                  </a:tcPr>
                </a:tc>
              </a:tr>
              <a:tr h="51079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银行税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5080" marR="228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往来金额 销售收款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0.65%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200" spc="-10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1+R</a:t>
                      </a:r>
                      <a:r>
                        <a:rPr dirty="0" baseline="-20833" sz="1200" spc="-15">
                          <a:latin typeface="Arial"/>
                          <a:cs typeface="Arial"/>
                        </a:rPr>
                        <a:t>11+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15">
                          <a:latin typeface="Arial"/>
                          <a:cs typeface="Arial"/>
                        </a:rPr>
                        <a:t>12+</a:t>
                      </a:r>
                      <a:r>
                        <a:rPr dirty="0" baseline="-20833" sz="1200" spc="17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20833" sz="1200" spc="-7">
                          <a:latin typeface="Arial"/>
                          <a:cs typeface="Arial"/>
                        </a:rPr>
                        <a:t>13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0.65%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4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8D6CD"/>
                    </a:solidFill>
                  </a:tcPr>
                </a:tc>
              </a:tr>
              <a:tr h="6080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直接税负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75205" marR="2265680" indent="13843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＜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200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15%+R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8.25%  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≥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万，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97">
                          <a:latin typeface="Arial"/>
                          <a:cs typeface="Arial"/>
                        </a:rPr>
                        <a:t>1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15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%+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×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16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%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.5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081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总体税负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07975" marR="224790" indent="-7620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间接税负和 直接税负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15925" marR="404495" indent="13843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200" spc="10" b="1">
                          <a:latin typeface="明兰"/>
                          <a:cs typeface="明兰"/>
                        </a:rPr>
                        <a:t>若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＜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 </a:t>
                      </a:r>
                      <a:r>
                        <a:rPr dirty="0" sz="1200" b="1">
                          <a:latin typeface="明兰"/>
                          <a:cs typeface="明兰"/>
                        </a:rPr>
                        <a:t>万 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，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20.87%+R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14.12%+R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13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5.87%+5.87%+C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3.22%  </a:t>
                      </a:r>
                      <a:r>
                        <a:rPr dirty="0" sz="1200" spc="10" b="1">
                          <a:latin typeface="明兰"/>
                          <a:cs typeface="明兰"/>
                        </a:rPr>
                        <a:t>若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≥200</a:t>
                      </a:r>
                      <a:r>
                        <a:rPr dirty="0" sz="1200" spc="10" b="1">
                          <a:latin typeface="明兰"/>
                          <a:cs typeface="明兰"/>
                        </a:rPr>
                        <a:t>万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，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20.87%+R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22.37%+R</a:t>
                      </a:r>
                      <a:r>
                        <a:rPr dirty="0" baseline="-10416" sz="1200" spc="-7" b="1">
                          <a:latin typeface="Arial"/>
                          <a:cs typeface="Arial"/>
                        </a:rPr>
                        <a:t>13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5.87%-16.5+5.87%+C</a:t>
                      </a:r>
                      <a:r>
                        <a:rPr dirty="0" sz="1200" spc="-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3.22%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82269" y="1867890"/>
            <a:ext cx="798385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560">
              <a:lnSpc>
                <a:spcPct val="150000"/>
              </a:lnSpc>
              <a:spcBef>
                <a:spcPts val="100"/>
              </a:spcBef>
            </a:pPr>
            <a:r>
              <a:rPr dirty="0" sz="1400" spc="10">
                <a:latin typeface="宋体"/>
                <a:cs typeface="宋体"/>
              </a:rPr>
              <a:t>考虑</a:t>
            </a:r>
            <a:r>
              <a:rPr dirty="0" sz="1400">
                <a:latin typeface="宋体"/>
                <a:cs typeface="宋体"/>
              </a:rPr>
              <a:t>到代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性质</a:t>
            </a:r>
            <a:r>
              <a:rPr dirty="0" sz="1400" spc="-15">
                <a:latin typeface="宋体"/>
                <a:cs typeface="宋体"/>
              </a:rPr>
              <a:t>与</a:t>
            </a:r>
            <a:r>
              <a:rPr dirty="0" sz="1400">
                <a:latin typeface="宋体"/>
                <a:cs typeface="宋体"/>
              </a:rPr>
              <a:t>税负</a:t>
            </a:r>
            <a:r>
              <a:rPr dirty="0" sz="1400" spc="-15">
                <a:latin typeface="宋体"/>
                <a:cs typeface="宋体"/>
              </a:rPr>
              <a:t>转</a:t>
            </a:r>
            <a:r>
              <a:rPr dirty="0" sz="1400">
                <a:latin typeface="宋体"/>
                <a:cs typeface="宋体"/>
              </a:rPr>
              <a:t>嫁，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模</a:t>
            </a:r>
            <a:r>
              <a:rPr dirty="0" sz="1400" spc="5">
                <a:latin typeface="宋体"/>
                <a:cs typeface="宋体"/>
              </a:rPr>
              <a:t>式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下，</a:t>
            </a:r>
            <a:r>
              <a:rPr dirty="0" sz="1400" spc="-15">
                <a:latin typeface="宋体"/>
                <a:cs typeface="宋体"/>
              </a:rPr>
              <a:t>除</a:t>
            </a:r>
            <a:r>
              <a:rPr dirty="0" sz="1400">
                <a:latin typeface="宋体"/>
                <a:cs typeface="宋体"/>
              </a:rPr>
              <a:t>了所</a:t>
            </a:r>
            <a:r>
              <a:rPr dirty="0" sz="1400" spc="-15">
                <a:latin typeface="宋体"/>
                <a:cs typeface="宋体"/>
              </a:rPr>
              <a:t>得</a:t>
            </a:r>
            <a:r>
              <a:rPr dirty="0" sz="1400">
                <a:latin typeface="宋体"/>
                <a:cs typeface="宋体"/>
              </a:rPr>
              <a:t>税，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为还</a:t>
            </a:r>
            <a:r>
              <a:rPr dirty="0" sz="1400" spc="-15">
                <a:latin typeface="宋体"/>
                <a:cs typeface="宋体"/>
              </a:rPr>
              <a:t>实</a:t>
            </a:r>
            <a:r>
              <a:rPr dirty="0" sz="1400">
                <a:latin typeface="宋体"/>
                <a:cs typeface="宋体"/>
              </a:rPr>
              <a:t>际承</a:t>
            </a:r>
            <a:r>
              <a:rPr dirty="0" sz="1400" spc="-15">
                <a:latin typeface="宋体"/>
                <a:cs typeface="宋体"/>
              </a:rPr>
              <a:t>担</a:t>
            </a:r>
            <a:r>
              <a:rPr dirty="0" sz="1400" spc="5">
                <a:latin typeface="宋体"/>
                <a:cs typeface="宋体"/>
              </a:rPr>
              <a:t>了</a:t>
            </a:r>
            <a:r>
              <a:rPr dirty="0" sz="1400" b="1">
                <a:latin typeface="明兰"/>
                <a:cs typeface="明兰"/>
              </a:rPr>
              <a:t>阿</a:t>
            </a:r>
            <a:r>
              <a:rPr dirty="0" sz="1400" spc="-10" b="1">
                <a:latin typeface="明兰"/>
                <a:cs typeface="明兰"/>
              </a:rPr>
              <a:t>根</a:t>
            </a:r>
            <a:r>
              <a:rPr dirty="0" sz="1400" b="1">
                <a:latin typeface="明兰"/>
                <a:cs typeface="明兰"/>
              </a:rPr>
              <a:t>廷代</a:t>
            </a:r>
            <a:r>
              <a:rPr dirty="0" sz="1400" spc="-10" b="1">
                <a:latin typeface="明兰"/>
                <a:cs typeface="明兰"/>
              </a:rPr>
              <a:t>工厂</a:t>
            </a:r>
            <a:r>
              <a:rPr dirty="0" sz="1400">
                <a:latin typeface="宋体"/>
                <a:cs typeface="宋体"/>
              </a:rPr>
              <a:t>转</a:t>
            </a:r>
            <a:r>
              <a:rPr dirty="0" sz="1400" spc="-15">
                <a:latin typeface="宋体"/>
                <a:cs typeface="宋体"/>
              </a:rPr>
              <a:t>嫁</a:t>
            </a:r>
            <a:r>
              <a:rPr dirty="0" sz="1400">
                <a:latin typeface="宋体"/>
                <a:cs typeface="宋体"/>
              </a:rPr>
              <a:t>的部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税 负，即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为存</a:t>
            </a:r>
            <a:r>
              <a:rPr dirty="0" sz="1400" spc="-15">
                <a:latin typeface="宋体"/>
                <a:cs typeface="宋体"/>
              </a:rPr>
              <a:t>在一</a:t>
            </a:r>
            <a:r>
              <a:rPr dirty="0" sz="1400">
                <a:latin typeface="宋体"/>
                <a:cs typeface="宋体"/>
              </a:rPr>
              <a:t>些间接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务成</a:t>
            </a:r>
            <a:r>
              <a:rPr dirty="0" sz="1400" spc="-15">
                <a:latin typeface="宋体"/>
                <a:cs typeface="宋体"/>
              </a:rPr>
              <a:t>本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400" spc="10">
                <a:latin typeface="宋体"/>
                <a:cs typeface="宋体"/>
              </a:rPr>
              <a:t>假设</a:t>
            </a:r>
            <a:r>
              <a:rPr dirty="0" sz="1400">
                <a:latin typeface="宋体"/>
                <a:cs typeface="宋体"/>
              </a:rPr>
              <a:t>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代工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散件</a:t>
            </a:r>
            <a:r>
              <a:rPr dirty="0" sz="1400" spc="-15">
                <a:latin typeface="宋体"/>
                <a:cs typeface="宋体"/>
              </a:rPr>
              <a:t>组</a:t>
            </a:r>
            <a:r>
              <a:rPr dirty="0" sz="1400">
                <a:latin typeface="宋体"/>
                <a:cs typeface="宋体"/>
              </a:rPr>
              <a:t>装完</a:t>
            </a:r>
            <a:r>
              <a:rPr dirty="0" sz="1400" spc="-15">
                <a:latin typeface="宋体"/>
                <a:cs typeface="宋体"/>
              </a:rPr>
              <a:t>成</a:t>
            </a:r>
            <a:r>
              <a:rPr dirty="0" sz="1400">
                <a:latin typeface="宋体"/>
                <a:cs typeface="宋体"/>
              </a:rPr>
              <a:t>后，</a:t>
            </a:r>
            <a:r>
              <a:rPr dirty="0" sz="1400" spc="-15">
                <a:latin typeface="宋体"/>
                <a:cs typeface="宋体"/>
              </a:rPr>
              <a:t>从</a:t>
            </a:r>
            <a:r>
              <a:rPr dirty="0" sz="1400">
                <a:latin typeface="宋体"/>
                <a:cs typeface="宋体"/>
              </a:rPr>
              <a:t>整机</a:t>
            </a:r>
            <a:r>
              <a:rPr dirty="0" sz="1400" spc="-15">
                <a:latin typeface="宋体"/>
                <a:cs typeface="宋体"/>
              </a:rPr>
              <a:t>出</a:t>
            </a:r>
            <a:r>
              <a:rPr dirty="0" sz="1400">
                <a:latin typeface="宋体"/>
                <a:cs typeface="宋体"/>
              </a:rPr>
              <a:t>厂到</a:t>
            </a:r>
            <a:r>
              <a:rPr dirty="0" sz="1400" spc="-1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理商</a:t>
            </a:r>
            <a:r>
              <a:rPr dirty="0" sz="1400" spc="-15">
                <a:latin typeface="宋体"/>
                <a:cs typeface="宋体"/>
              </a:rPr>
              <a:t>和</a:t>
            </a:r>
            <a:r>
              <a:rPr dirty="0" sz="1400">
                <a:latin typeface="宋体"/>
                <a:cs typeface="宋体"/>
              </a:rPr>
              <a:t>渠道</a:t>
            </a:r>
            <a:r>
              <a:rPr dirty="0" sz="1400" spc="-15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的过</a:t>
            </a:r>
            <a:r>
              <a:rPr dirty="0" sz="1400" spc="-15">
                <a:latin typeface="宋体"/>
                <a:cs typeface="宋体"/>
              </a:rPr>
              <a:t>程</a:t>
            </a:r>
            <a:r>
              <a:rPr dirty="0" sz="1400">
                <a:latin typeface="宋体"/>
                <a:cs typeface="宋体"/>
              </a:rPr>
              <a:t>中，</a:t>
            </a:r>
            <a:r>
              <a:rPr dirty="0" sz="1400" spc="-15">
                <a:latin typeface="宋体"/>
                <a:cs typeface="宋体"/>
              </a:rPr>
              <a:t>运</a:t>
            </a:r>
            <a:r>
              <a:rPr dirty="0" sz="1400">
                <a:latin typeface="宋体"/>
                <a:cs typeface="宋体"/>
              </a:rPr>
              <a:t>费等</a:t>
            </a:r>
            <a:r>
              <a:rPr dirty="0" sz="1400" spc="-15">
                <a:latin typeface="宋体"/>
                <a:cs typeface="宋体"/>
              </a:rPr>
              <a:t>费</a:t>
            </a:r>
            <a:r>
              <a:rPr dirty="0" sz="1400">
                <a:latin typeface="宋体"/>
                <a:cs typeface="宋体"/>
              </a:rPr>
              <a:t>用</a:t>
            </a:r>
            <a:r>
              <a:rPr dirty="0" sz="1400" spc="15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C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则</a:t>
            </a:r>
            <a:r>
              <a:rPr dirty="0" sz="1400">
                <a:latin typeface="宋体"/>
                <a:cs typeface="宋体"/>
              </a:rPr>
              <a:t>销售 </a:t>
            </a:r>
            <a:r>
              <a:rPr dirty="0" sz="1400" spc="10">
                <a:latin typeface="宋体"/>
                <a:cs typeface="宋体"/>
              </a:rPr>
              <a:t>净价</a:t>
            </a:r>
            <a:r>
              <a:rPr dirty="0" sz="1400" spc="-5">
                <a:latin typeface="Arial"/>
                <a:cs typeface="Arial"/>
              </a:rPr>
              <a:t>=</a:t>
            </a:r>
            <a:r>
              <a:rPr dirty="0" sz="1400">
                <a:latin typeface="宋体"/>
                <a:cs typeface="宋体"/>
              </a:rPr>
              <a:t>出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价</a:t>
            </a:r>
            <a:r>
              <a:rPr dirty="0" sz="1400" spc="-5">
                <a:latin typeface="Arial"/>
                <a:cs typeface="Arial"/>
              </a:rPr>
              <a:t>+C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" y="318262"/>
            <a:ext cx="46278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两种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税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务成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本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比较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基于规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模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估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算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686" y="1483232"/>
            <a:ext cx="8457565" cy="2373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457200">
              <a:lnSpc>
                <a:spcPct val="100000"/>
              </a:lnSpc>
              <a:spcBef>
                <a:spcPts val="105"/>
              </a:spcBef>
            </a:pPr>
            <a:r>
              <a:rPr dirty="0" sz="1400" spc="10" b="1">
                <a:latin typeface="明兰"/>
                <a:cs typeface="明兰"/>
              </a:rPr>
              <a:t>根据所给材料</a:t>
            </a:r>
            <a:r>
              <a:rPr dirty="0" sz="1400" b="1">
                <a:latin typeface="明兰"/>
                <a:cs typeface="明兰"/>
              </a:rPr>
              <a:t>，我</a:t>
            </a:r>
            <a:r>
              <a:rPr dirty="0" sz="1400" spc="10" b="1">
                <a:latin typeface="明兰"/>
                <a:cs typeface="明兰"/>
              </a:rPr>
              <a:t>们大致估算</a:t>
            </a:r>
            <a:r>
              <a:rPr dirty="0" sz="1400" spc="15" b="1">
                <a:latin typeface="明兰"/>
                <a:cs typeface="明兰"/>
              </a:rPr>
              <a:t>了</a:t>
            </a:r>
            <a:r>
              <a:rPr dirty="0" sz="1400" spc="-10" b="1">
                <a:latin typeface="Arial"/>
                <a:cs typeface="Arial"/>
              </a:rPr>
              <a:t>2015</a:t>
            </a:r>
            <a:r>
              <a:rPr dirty="0" sz="1400" spc="10" b="1">
                <a:latin typeface="明兰"/>
                <a:cs typeface="明兰"/>
              </a:rPr>
              <a:t>年度华为</a:t>
            </a:r>
            <a:r>
              <a:rPr dirty="0" sz="1400" b="1">
                <a:latin typeface="明兰"/>
                <a:cs typeface="明兰"/>
              </a:rPr>
              <a:t>香</a:t>
            </a:r>
            <a:r>
              <a:rPr dirty="0" sz="1400" spc="10" b="1">
                <a:latin typeface="明兰"/>
                <a:cs typeface="明兰"/>
              </a:rPr>
              <a:t>港法</a:t>
            </a:r>
            <a:r>
              <a:rPr dirty="0" sz="1400" b="1">
                <a:latin typeface="明兰"/>
                <a:cs typeface="明兰"/>
              </a:rPr>
              <a:t>人</a:t>
            </a:r>
            <a:r>
              <a:rPr dirty="0" sz="1400" spc="10" b="1">
                <a:latin typeface="明兰"/>
                <a:cs typeface="明兰"/>
              </a:rPr>
              <a:t>对阿根廷</a:t>
            </a:r>
            <a:r>
              <a:rPr dirty="0" sz="1400" b="1">
                <a:latin typeface="明兰"/>
                <a:cs typeface="明兰"/>
              </a:rPr>
              <a:t>业</a:t>
            </a:r>
            <a:r>
              <a:rPr dirty="0" sz="1400" spc="10" b="1">
                <a:latin typeface="明兰"/>
                <a:cs typeface="明兰"/>
              </a:rPr>
              <a:t>务的</a:t>
            </a:r>
            <a:r>
              <a:rPr dirty="0" sz="1400" b="1">
                <a:latin typeface="明兰"/>
                <a:cs typeface="明兰"/>
              </a:rPr>
              <a:t>收</a:t>
            </a:r>
            <a:r>
              <a:rPr dirty="0" sz="1400" spc="10" b="1">
                <a:latin typeface="明兰"/>
                <a:cs typeface="明兰"/>
              </a:rPr>
              <a:t>入规</a:t>
            </a:r>
            <a:r>
              <a:rPr dirty="0" sz="1400" spc="25" b="1">
                <a:latin typeface="明兰"/>
                <a:cs typeface="明兰"/>
              </a:rPr>
              <a:t>模</a:t>
            </a:r>
            <a:r>
              <a:rPr dirty="0" sz="1400" spc="10" b="1">
                <a:latin typeface="明兰"/>
                <a:cs typeface="明兰"/>
              </a:rPr>
              <a:t>。</a:t>
            </a:r>
            <a:r>
              <a:rPr dirty="0" sz="1400" b="1">
                <a:latin typeface="明兰"/>
                <a:cs typeface="明兰"/>
              </a:rPr>
              <a:t>根</a:t>
            </a:r>
            <a:r>
              <a:rPr dirty="0" sz="1400" spc="10" b="1">
                <a:latin typeface="明兰"/>
                <a:cs typeface="明兰"/>
              </a:rPr>
              <a:t>据估</a:t>
            </a:r>
            <a:r>
              <a:rPr dirty="0" sz="1400" b="1">
                <a:latin typeface="明兰"/>
                <a:cs typeface="明兰"/>
              </a:rPr>
              <a:t>算</a:t>
            </a:r>
            <a:r>
              <a:rPr dirty="0" sz="1400" spc="10" b="1">
                <a:latin typeface="明兰"/>
                <a:cs typeface="明兰"/>
              </a:rPr>
              <a:t>，</a:t>
            </a:r>
            <a:r>
              <a:rPr dirty="0" sz="1400" spc="20" b="1">
                <a:latin typeface="明兰"/>
                <a:cs typeface="明兰"/>
              </a:rPr>
              <a:t>若</a:t>
            </a:r>
            <a:r>
              <a:rPr dirty="0" sz="1400" spc="-10" b="1">
                <a:latin typeface="Arial"/>
                <a:cs typeface="Arial"/>
              </a:rPr>
              <a:t>2015  </a:t>
            </a:r>
            <a:r>
              <a:rPr dirty="0" sz="1400" spc="20" b="1">
                <a:latin typeface="明兰"/>
                <a:cs typeface="明兰"/>
              </a:rPr>
              <a:t>年</a:t>
            </a:r>
            <a:r>
              <a:rPr dirty="0" sz="1400" spc="35" b="1">
                <a:latin typeface="明兰"/>
                <a:cs typeface="明兰"/>
              </a:rPr>
              <a:t>华</a:t>
            </a:r>
            <a:r>
              <a:rPr dirty="0" sz="1400" spc="20" b="1">
                <a:latin typeface="明兰"/>
                <a:cs typeface="明兰"/>
              </a:rPr>
              <a:t>为在阿根</a:t>
            </a:r>
            <a:r>
              <a:rPr dirty="0" sz="1400" spc="35" b="1">
                <a:latin typeface="明兰"/>
                <a:cs typeface="明兰"/>
              </a:rPr>
              <a:t>廷</a:t>
            </a:r>
            <a:r>
              <a:rPr dirty="0" sz="1400" spc="20" b="1">
                <a:latin typeface="明兰"/>
                <a:cs typeface="明兰"/>
              </a:rPr>
              <a:t>的业</a:t>
            </a:r>
            <a:r>
              <a:rPr dirty="0" sz="1400" spc="35" b="1">
                <a:latin typeface="明兰"/>
                <a:cs typeface="明兰"/>
              </a:rPr>
              <a:t>务</a:t>
            </a:r>
            <a:r>
              <a:rPr dirty="0" sz="1400" spc="20" b="1">
                <a:latin typeface="明兰"/>
                <a:cs typeface="明兰"/>
              </a:rPr>
              <a:t>均由模</a:t>
            </a:r>
            <a:r>
              <a:rPr dirty="0" sz="1400" spc="55" b="1">
                <a:latin typeface="明兰"/>
                <a:cs typeface="明兰"/>
              </a:rPr>
              <a:t>式</a:t>
            </a:r>
            <a:r>
              <a:rPr dirty="0" sz="1400" spc="10" b="1">
                <a:latin typeface="Arial"/>
                <a:cs typeface="Arial"/>
              </a:rPr>
              <a:t>1</a:t>
            </a:r>
            <a:r>
              <a:rPr dirty="0" sz="1400" spc="35" b="1">
                <a:latin typeface="明兰"/>
                <a:cs typeface="明兰"/>
              </a:rPr>
              <a:t>实</a:t>
            </a:r>
            <a:r>
              <a:rPr dirty="0" sz="1400" spc="25" b="1">
                <a:latin typeface="明兰"/>
                <a:cs typeface="明兰"/>
              </a:rPr>
              <a:t>现</a:t>
            </a:r>
            <a:r>
              <a:rPr dirty="0" sz="1400" spc="20" b="1">
                <a:latin typeface="明兰"/>
                <a:cs typeface="明兰"/>
              </a:rPr>
              <a:t>，</a:t>
            </a:r>
            <a:r>
              <a:rPr dirty="0" sz="1400" spc="35" b="1">
                <a:latin typeface="明兰"/>
                <a:cs typeface="明兰"/>
              </a:rPr>
              <a:t>则</a:t>
            </a:r>
            <a:r>
              <a:rPr dirty="0" sz="1400" spc="20" b="1">
                <a:latin typeface="明兰"/>
                <a:cs typeface="明兰"/>
              </a:rPr>
              <a:t>华为香港</a:t>
            </a:r>
            <a:r>
              <a:rPr dirty="0" sz="1400" spc="35" b="1">
                <a:latin typeface="明兰"/>
                <a:cs typeface="明兰"/>
              </a:rPr>
              <a:t>法</a:t>
            </a:r>
            <a:r>
              <a:rPr dirty="0" sz="1400" spc="20" b="1">
                <a:latin typeface="明兰"/>
                <a:cs typeface="明兰"/>
              </a:rPr>
              <a:t>人毛</a:t>
            </a:r>
            <a:r>
              <a:rPr dirty="0" sz="1400" spc="35" b="1">
                <a:latin typeface="明兰"/>
                <a:cs typeface="明兰"/>
              </a:rPr>
              <a:t>利</a:t>
            </a:r>
            <a:r>
              <a:rPr dirty="0" sz="1400" spc="20" b="1">
                <a:latin typeface="明兰"/>
                <a:cs typeface="明兰"/>
              </a:rPr>
              <a:t>润约</a:t>
            </a:r>
            <a:r>
              <a:rPr dirty="0" sz="1400" spc="65" b="1">
                <a:latin typeface="明兰"/>
                <a:cs typeface="明兰"/>
              </a:rPr>
              <a:t>为</a:t>
            </a:r>
            <a:r>
              <a:rPr dirty="0" sz="1400" spc="-5" b="1">
                <a:latin typeface="Arial"/>
                <a:cs typeface="Arial"/>
              </a:rPr>
              <a:t>626</a:t>
            </a:r>
            <a:r>
              <a:rPr dirty="0" sz="1400" spc="35" b="1">
                <a:latin typeface="明兰"/>
                <a:cs typeface="明兰"/>
              </a:rPr>
              <a:t>万</a:t>
            </a:r>
            <a:r>
              <a:rPr dirty="0" sz="1400" spc="20" b="1">
                <a:latin typeface="明兰"/>
                <a:cs typeface="明兰"/>
              </a:rPr>
              <a:t>美</a:t>
            </a:r>
            <a:r>
              <a:rPr dirty="0" sz="1400" spc="35" b="1">
                <a:latin typeface="明兰"/>
                <a:cs typeface="明兰"/>
              </a:rPr>
              <a:t>元，</a:t>
            </a:r>
            <a:r>
              <a:rPr dirty="0" sz="1400" spc="20" b="1">
                <a:latin typeface="明兰"/>
                <a:cs typeface="明兰"/>
              </a:rPr>
              <a:t>约</a:t>
            </a:r>
            <a:r>
              <a:rPr dirty="0" sz="1400" spc="35" b="1">
                <a:latin typeface="明兰"/>
                <a:cs typeface="明兰"/>
              </a:rPr>
              <a:t>合</a:t>
            </a:r>
            <a:r>
              <a:rPr dirty="0" sz="1400" spc="-5" b="1">
                <a:latin typeface="Arial"/>
                <a:cs typeface="Arial"/>
              </a:rPr>
              <a:t>4915</a:t>
            </a:r>
            <a:r>
              <a:rPr dirty="0" sz="1400" spc="20" b="1">
                <a:latin typeface="明兰"/>
                <a:cs typeface="明兰"/>
              </a:rPr>
              <a:t>万港币</a:t>
            </a:r>
            <a:r>
              <a:rPr dirty="0" sz="1400" spc="35" b="1">
                <a:latin typeface="明兰"/>
                <a:cs typeface="明兰"/>
              </a:rPr>
              <a:t>，</a:t>
            </a:r>
            <a:r>
              <a:rPr dirty="0" sz="1400" spc="20" b="1">
                <a:latin typeface="明兰"/>
                <a:cs typeface="明兰"/>
              </a:rPr>
              <a:t>净利润 </a:t>
            </a:r>
            <a:r>
              <a:rPr dirty="0" sz="1400" spc="10" b="1">
                <a:latin typeface="明兰"/>
                <a:cs typeface="明兰"/>
              </a:rPr>
              <a:t>规模</a:t>
            </a:r>
            <a:r>
              <a:rPr dirty="0" sz="1400" b="1">
                <a:latin typeface="明兰"/>
                <a:cs typeface="明兰"/>
              </a:rPr>
              <a:t>应远</a:t>
            </a:r>
            <a:r>
              <a:rPr dirty="0" sz="1400" spc="-15" b="1">
                <a:latin typeface="明兰"/>
                <a:cs typeface="明兰"/>
              </a:rPr>
              <a:t>超</a:t>
            </a:r>
            <a:r>
              <a:rPr dirty="0" sz="1400" spc="5" b="1">
                <a:latin typeface="明兰"/>
                <a:cs typeface="明兰"/>
              </a:rPr>
              <a:t>出</a:t>
            </a:r>
            <a:r>
              <a:rPr dirty="0" sz="1400" spc="-10" b="1">
                <a:latin typeface="Arial"/>
                <a:cs typeface="Arial"/>
              </a:rPr>
              <a:t>200</a:t>
            </a:r>
            <a:r>
              <a:rPr dirty="0" sz="1400" b="1">
                <a:latin typeface="明兰"/>
                <a:cs typeface="明兰"/>
              </a:rPr>
              <a:t>万港币</a:t>
            </a:r>
            <a:r>
              <a:rPr dirty="0" sz="1400" spc="-15" b="1">
                <a:latin typeface="明兰"/>
                <a:cs typeface="明兰"/>
              </a:rPr>
              <a:t>的</a:t>
            </a:r>
            <a:r>
              <a:rPr dirty="0" sz="1400" b="1">
                <a:latin typeface="明兰"/>
                <a:cs typeface="明兰"/>
              </a:rPr>
              <a:t>规模。</a:t>
            </a:r>
            <a:endParaRPr sz="1400">
              <a:latin typeface="明兰"/>
              <a:cs typeface="明兰"/>
            </a:endParaRPr>
          </a:p>
          <a:p>
            <a:pPr marL="469900">
              <a:lnSpc>
                <a:spcPct val="100000"/>
              </a:lnSpc>
            </a:pPr>
            <a:r>
              <a:rPr dirty="0" sz="1400">
                <a:latin typeface="宋体"/>
                <a:cs typeface="宋体"/>
              </a:rPr>
              <a:t>确定估</a:t>
            </a:r>
            <a:r>
              <a:rPr dirty="0" sz="1400" spc="-15">
                <a:latin typeface="宋体"/>
                <a:cs typeface="宋体"/>
              </a:rPr>
              <a:t>算</a:t>
            </a:r>
            <a:r>
              <a:rPr dirty="0" sz="1400">
                <a:latin typeface="宋体"/>
                <a:cs typeface="宋体"/>
              </a:rPr>
              <a:t>指标</a:t>
            </a:r>
            <a:r>
              <a:rPr dirty="0" sz="1400" spc="-15">
                <a:latin typeface="宋体"/>
                <a:cs typeface="宋体"/>
              </a:rPr>
              <a:t>方法</a:t>
            </a:r>
            <a:r>
              <a:rPr dirty="0" sz="1400">
                <a:latin typeface="宋体"/>
                <a:cs typeface="宋体"/>
              </a:rPr>
              <a:t>如下：</a:t>
            </a:r>
            <a:endParaRPr sz="1400">
              <a:latin typeface="宋体"/>
              <a:cs typeface="宋体"/>
            </a:endParaRPr>
          </a:p>
          <a:p>
            <a:pPr marL="12700" marR="9525" indent="457200">
              <a:lnSpc>
                <a:spcPct val="100000"/>
              </a:lnSpc>
            </a:pPr>
            <a:r>
              <a:rPr dirty="0" sz="1400" spc="35">
                <a:latin typeface="宋体"/>
                <a:cs typeface="宋体"/>
              </a:rPr>
              <a:t>①散件成本</a:t>
            </a:r>
            <a:r>
              <a:rPr dirty="0" sz="1400">
                <a:latin typeface="Arial"/>
                <a:cs typeface="Arial"/>
              </a:rPr>
              <a:t>USD34,024,000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35">
                <a:latin typeface="宋体"/>
                <a:cs typeface="宋体"/>
              </a:rPr>
              <a:t>按照单</a:t>
            </a:r>
            <a:r>
              <a:rPr dirty="0" sz="1400" spc="20">
                <a:latin typeface="宋体"/>
                <a:cs typeface="宋体"/>
              </a:rPr>
              <a:t>台</a:t>
            </a:r>
            <a:r>
              <a:rPr dirty="0" sz="1400" spc="35">
                <a:latin typeface="宋体"/>
                <a:cs typeface="宋体"/>
              </a:rPr>
              <a:t>手机散件</a:t>
            </a:r>
            <a:r>
              <a:rPr dirty="0" sz="1400" spc="20">
                <a:latin typeface="宋体"/>
                <a:cs typeface="宋体"/>
              </a:rPr>
              <a:t>成</a:t>
            </a:r>
            <a:r>
              <a:rPr dirty="0" sz="1400" spc="45">
                <a:latin typeface="宋体"/>
                <a:cs typeface="宋体"/>
              </a:rPr>
              <a:t>本</a:t>
            </a:r>
            <a:r>
              <a:rPr dirty="0" sz="1400">
                <a:latin typeface="Arial"/>
                <a:cs typeface="Arial"/>
              </a:rPr>
              <a:t>200</a:t>
            </a:r>
            <a:r>
              <a:rPr dirty="0" sz="1400" spc="35">
                <a:latin typeface="宋体"/>
                <a:cs typeface="宋体"/>
              </a:rPr>
              <a:t>美元，出</a:t>
            </a:r>
            <a:r>
              <a:rPr dirty="0" sz="1400" spc="20">
                <a:latin typeface="宋体"/>
                <a:cs typeface="宋体"/>
              </a:rPr>
              <a:t>货</a:t>
            </a:r>
            <a:r>
              <a:rPr dirty="0" sz="1400" spc="35">
                <a:latin typeface="宋体"/>
                <a:cs typeface="宋体"/>
              </a:rPr>
              <a:t>量</a:t>
            </a:r>
            <a:r>
              <a:rPr dirty="0" sz="1400" spc="5">
                <a:latin typeface="Arial"/>
                <a:cs typeface="Arial"/>
              </a:rPr>
              <a:t>17</a:t>
            </a:r>
            <a:r>
              <a:rPr dirty="0" sz="1400" spc="20">
                <a:latin typeface="宋体"/>
                <a:cs typeface="宋体"/>
              </a:rPr>
              <a:t>万</a:t>
            </a:r>
            <a:r>
              <a:rPr dirty="0" sz="1400" spc="35">
                <a:latin typeface="宋体"/>
                <a:cs typeface="宋体"/>
              </a:rPr>
              <a:t>（材料数</a:t>
            </a:r>
            <a:r>
              <a:rPr dirty="0" sz="1400" spc="20">
                <a:latin typeface="宋体"/>
                <a:cs typeface="宋体"/>
              </a:rPr>
              <a:t>据</a:t>
            </a:r>
            <a:r>
              <a:rPr dirty="0" sz="1400" spc="35">
                <a:latin typeface="宋体"/>
                <a:cs typeface="宋体"/>
              </a:rPr>
              <a:t>）计</a:t>
            </a:r>
            <a:r>
              <a:rPr dirty="0" sz="1400" spc="20">
                <a:latin typeface="宋体"/>
                <a:cs typeface="宋体"/>
              </a:rPr>
              <a:t>算</a:t>
            </a:r>
            <a:r>
              <a:rPr dirty="0" sz="1400" spc="35">
                <a:latin typeface="宋体"/>
                <a:cs typeface="宋体"/>
              </a:rPr>
              <a:t>得到</a:t>
            </a:r>
            <a:r>
              <a:rPr dirty="0" sz="1400">
                <a:latin typeface="宋体"/>
                <a:cs typeface="宋体"/>
              </a:rPr>
              <a:t>。 </a:t>
            </a:r>
            <a:r>
              <a:rPr dirty="0" sz="1400" spc="10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大陆</a:t>
            </a:r>
            <a:r>
              <a:rPr dirty="0" sz="1400" spc="-1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人手</a:t>
            </a:r>
            <a:r>
              <a:rPr dirty="0" sz="1400" spc="-15">
                <a:latin typeface="宋体"/>
                <a:cs typeface="宋体"/>
              </a:rPr>
              <a:t>机</a:t>
            </a:r>
            <a:r>
              <a:rPr dirty="0" sz="1400">
                <a:latin typeface="宋体"/>
                <a:cs typeface="宋体"/>
              </a:rPr>
              <a:t>业务</a:t>
            </a:r>
            <a:r>
              <a:rPr dirty="0" sz="1400" spc="-15">
                <a:latin typeface="宋体"/>
                <a:cs typeface="宋体"/>
              </a:rPr>
              <a:t>毛</a:t>
            </a:r>
            <a:r>
              <a:rPr dirty="0" sz="1400">
                <a:latin typeface="宋体"/>
                <a:cs typeface="宋体"/>
              </a:rPr>
              <a:t>利</a:t>
            </a:r>
            <a:r>
              <a:rPr dirty="0" sz="1400" spc="5">
                <a:latin typeface="宋体"/>
                <a:cs typeface="宋体"/>
              </a:rPr>
              <a:t>率</a:t>
            </a:r>
            <a:r>
              <a:rPr dirty="0" sz="1400" spc="-10">
                <a:latin typeface="Arial"/>
                <a:cs typeface="Arial"/>
              </a:rPr>
              <a:t>20%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10">
                <a:latin typeface="宋体"/>
                <a:cs typeface="宋体"/>
              </a:rPr>
              <a:t>快</a:t>
            </a:r>
            <a:r>
              <a:rPr dirty="0" sz="1400">
                <a:latin typeface="宋体"/>
                <a:cs typeface="宋体"/>
              </a:rPr>
              <a:t>科技</a:t>
            </a:r>
            <a:r>
              <a:rPr dirty="0" sz="1400" spc="-10">
                <a:latin typeface="宋体"/>
                <a:cs typeface="宋体"/>
              </a:rPr>
              <a:t>估</a:t>
            </a:r>
            <a:r>
              <a:rPr dirty="0" sz="1400">
                <a:latin typeface="宋体"/>
                <a:cs typeface="宋体"/>
              </a:rPr>
              <a:t>测</a:t>
            </a:r>
            <a:r>
              <a:rPr dirty="0" sz="1400" spc="-10">
                <a:latin typeface="宋体"/>
                <a:cs typeface="宋体"/>
              </a:rPr>
              <a:t>值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②两</a:t>
            </a:r>
            <a:r>
              <a:rPr dirty="0" sz="1400">
                <a:latin typeface="宋体"/>
                <a:cs typeface="宋体"/>
              </a:rPr>
              <a:t>者之</a:t>
            </a:r>
            <a:r>
              <a:rPr dirty="0" sz="1400" spc="-15">
                <a:latin typeface="宋体"/>
                <a:cs typeface="宋体"/>
              </a:rPr>
              <a:t>积</a:t>
            </a:r>
            <a:r>
              <a:rPr dirty="0" sz="1400">
                <a:latin typeface="宋体"/>
                <a:cs typeface="宋体"/>
              </a:rPr>
              <a:t>为华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大陆</a:t>
            </a:r>
            <a:r>
              <a:rPr dirty="0" sz="1400" spc="-1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人向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法人</a:t>
            </a:r>
            <a:r>
              <a:rPr dirty="0" sz="1400" spc="-15">
                <a:latin typeface="宋体"/>
                <a:cs typeface="宋体"/>
              </a:rPr>
              <a:t>销</a:t>
            </a:r>
            <a:r>
              <a:rPr dirty="0" sz="1400">
                <a:latin typeface="宋体"/>
                <a:cs typeface="宋体"/>
              </a:rPr>
              <a:t>售散</a:t>
            </a:r>
            <a:r>
              <a:rPr dirty="0" sz="1400" spc="-15">
                <a:latin typeface="宋体"/>
                <a:cs typeface="宋体"/>
              </a:rPr>
              <a:t>件</a:t>
            </a:r>
            <a:r>
              <a:rPr dirty="0" sz="1400">
                <a:latin typeface="宋体"/>
                <a:cs typeface="宋体"/>
              </a:rPr>
              <a:t>的交</a:t>
            </a:r>
            <a:r>
              <a:rPr dirty="0" sz="1400" spc="-15">
                <a:latin typeface="宋体"/>
                <a:cs typeface="宋体"/>
              </a:rPr>
              <a:t>易</a:t>
            </a:r>
            <a:r>
              <a:rPr dirty="0" sz="1400" spc="10">
                <a:latin typeface="宋体"/>
                <a:cs typeface="宋体"/>
              </a:rPr>
              <a:t>额</a:t>
            </a:r>
            <a:r>
              <a:rPr dirty="0" sz="1400" spc="-10">
                <a:latin typeface="Arial"/>
                <a:cs typeface="Arial"/>
              </a:rPr>
              <a:t>USD42,530,000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1400" spc="-5">
                <a:latin typeface="宋体"/>
                <a:cs typeface="宋体"/>
              </a:rPr>
              <a:t>③</a:t>
            </a:r>
            <a:r>
              <a:rPr dirty="0" sz="1400" spc="-5">
                <a:latin typeface="Arial"/>
                <a:cs typeface="Arial"/>
              </a:rPr>
              <a:t>USD66,839,946</a:t>
            </a:r>
            <a:r>
              <a:rPr dirty="0" sz="1400">
                <a:latin typeface="宋体"/>
                <a:cs typeface="宋体"/>
              </a:rPr>
              <a:t>为阿根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代工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向代</a:t>
            </a:r>
            <a:r>
              <a:rPr dirty="0" sz="1400" spc="-15">
                <a:latin typeface="宋体"/>
                <a:cs typeface="宋体"/>
              </a:rPr>
              <a:t>理</a:t>
            </a:r>
            <a:r>
              <a:rPr dirty="0" sz="1400">
                <a:latin typeface="宋体"/>
                <a:cs typeface="宋体"/>
              </a:rPr>
              <a:t>商及</a:t>
            </a:r>
            <a:r>
              <a:rPr dirty="0" sz="1400" spc="-15">
                <a:latin typeface="宋体"/>
                <a:cs typeface="宋体"/>
              </a:rPr>
              <a:t>渠</a:t>
            </a:r>
            <a:r>
              <a:rPr dirty="0" sz="1400">
                <a:latin typeface="宋体"/>
                <a:cs typeface="宋体"/>
              </a:rPr>
              <a:t>道商</a:t>
            </a:r>
            <a:r>
              <a:rPr dirty="0" sz="1400" spc="-15">
                <a:latin typeface="宋体"/>
                <a:cs typeface="宋体"/>
              </a:rPr>
              <a:t>出</a:t>
            </a:r>
            <a:r>
              <a:rPr dirty="0" sz="1400">
                <a:latin typeface="宋体"/>
                <a:cs typeface="宋体"/>
              </a:rPr>
              <a:t>货的</a:t>
            </a:r>
            <a:r>
              <a:rPr dirty="0" sz="1400" spc="-15">
                <a:latin typeface="宋体"/>
                <a:cs typeface="宋体"/>
              </a:rPr>
              <a:t>交</a:t>
            </a:r>
            <a:r>
              <a:rPr dirty="0" sz="1400">
                <a:latin typeface="宋体"/>
                <a:cs typeface="宋体"/>
              </a:rPr>
              <a:t>易</a:t>
            </a:r>
            <a:r>
              <a:rPr dirty="0" sz="1400" spc="5">
                <a:latin typeface="宋体"/>
                <a:cs typeface="宋体"/>
              </a:rPr>
              <a:t>额</a:t>
            </a:r>
            <a:r>
              <a:rPr dirty="0" sz="1400" spc="-15">
                <a:latin typeface="宋体"/>
                <a:cs typeface="宋体"/>
              </a:rPr>
              <a:t>（</a:t>
            </a:r>
            <a:r>
              <a:rPr dirty="0" sz="1400">
                <a:latin typeface="宋体"/>
                <a:cs typeface="宋体"/>
              </a:rPr>
              <a:t>材料</a:t>
            </a:r>
            <a:r>
              <a:rPr dirty="0" sz="1400" spc="-15">
                <a:latin typeface="宋体"/>
                <a:cs typeface="宋体"/>
              </a:rPr>
              <a:t>数</a:t>
            </a:r>
            <a:r>
              <a:rPr dirty="0" sz="1400">
                <a:latin typeface="宋体"/>
                <a:cs typeface="宋体"/>
              </a:rPr>
              <a:t>据）。</a:t>
            </a:r>
            <a:endParaRPr sz="1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④阿</a:t>
            </a:r>
            <a:r>
              <a:rPr dirty="0" sz="1400" spc="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</a:t>
            </a:r>
            <a:r>
              <a:rPr dirty="0" sz="1400" spc="-10">
                <a:latin typeface="宋体"/>
                <a:cs typeface="宋体"/>
              </a:rPr>
              <a:t>代</a:t>
            </a:r>
            <a:r>
              <a:rPr dirty="0" sz="1400" spc="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厂</a:t>
            </a:r>
            <a:r>
              <a:rPr dirty="0" sz="1400" spc="-10">
                <a:latin typeface="宋体"/>
                <a:cs typeface="宋体"/>
              </a:rPr>
              <a:t>毛</a:t>
            </a:r>
            <a:r>
              <a:rPr dirty="0" sz="1400" spc="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率</a:t>
            </a:r>
            <a:r>
              <a:rPr dirty="0" sz="1400" spc="-10">
                <a:latin typeface="宋体"/>
                <a:cs typeface="宋体"/>
              </a:rPr>
              <a:t>以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>
                <a:latin typeface="宋体"/>
                <a:cs typeface="宋体"/>
              </a:rPr>
              <a:t>及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</a:t>
            </a:r>
            <a:r>
              <a:rPr dirty="0" sz="1400" spc="15">
                <a:latin typeface="宋体"/>
                <a:cs typeface="宋体"/>
              </a:rPr>
              <a:t>两</a:t>
            </a:r>
            <a:r>
              <a:rPr dirty="0" sz="1400" spc="5">
                <a:latin typeface="宋体"/>
                <a:cs typeface="宋体"/>
              </a:rPr>
              <a:t>家代</a:t>
            </a:r>
            <a:r>
              <a:rPr dirty="0" sz="1400" spc="-10">
                <a:latin typeface="宋体"/>
                <a:cs typeface="宋体"/>
              </a:rPr>
              <a:t>工</a:t>
            </a:r>
            <a:r>
              <a:rPr dirty="0" sz="1400" spc="5">
                <a:latin typeface="宋体"/>
                <a:cs typeface="宋体"/>
              </a:rPr>
              <a:t>厂平</a:t>
            </a:r>
            <a:r>
              <a:rPr dirty="0" sz="1400" spc="-10">
                <a:latin typeface="宋体"/>
                <a:cs typeface="宋体"/>
              </a:rPr>
              <a:t>均</a:t>
            </a:r>
            <a:r>
              <a:rPr dirty="0" sz="1400" spc="5">
                <a:latin typeface="宋体"/>
                <a:cs typeface="宋体"/>
              </a:rPr>
              <a:t>毛利</a:t>
            </a:r>
            <a:r>
              <a:rPr dirty="0" sz="1400" spc="-10">
                <a:latin typeface="宋体"/>
                <a:cs typeface="宋体"/>
              </a:rPr>
              <a:t>率</a:t>
            </a:r>
            <a:r>
              <a:rPr dirty="0" sz="1400" spc="5">
                <a:latin typeface="宋体"/>
                <a:cs typeface="宋体"/>
              </a:rPr>
              <a:t>进行</a:t>
            </a:r>
            <a:r>
              <a:rPr dirty="0" sz="1400" spc="-10">
                <a:latin typeface="宋体"/>
                <a:cs typeface="宋体"/>
              </a:rPr>
              <a:t>测</a:t>
            </a:r>
            <a:r>
              <a:rPr dirty="0" sz="1400" spc="-25">
                <a:latin typeface="宋体"/>
                <a:cs typeface="宋体"/>
              </a:rPr>
              <a:t>算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27%</a:t>
            </a:r>
            <a:r>
              <a:rPr dirty="0" sz="1400" spc="5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⑤由</a:t>
            </a:r>
            <a:r>
              <a:rPr dirty="0" sz="1400">
                <a:latin typeface="宋体"/>
                <a:cs typeface="宋体"/>
              </a:rPr>
              <a:t>这两</a:t>
            </a:r>
            <a:r>
              <a:rPr dirty="0" sz="1400" spc="-15">
                <a:latin typeface="宋体"/>
                <a:cs typeface="宋体"/>
              </a:rPr>
              <a:t>个</a:t>
            </a:r>
            <a:r>
              <a:rPr dirty="0" sz="1400">
                <a:latin typeface="宋体"/>
                <a:cs typeface="宋体"/>
              </a:rPr>
              <a:t>指标</a:t>
            </a:r>
            <a:r>
              <a:rPr dirty="0" sz="1400" spc="-15">
                <a:latin typeface="宋体"/>
                <a:cs typeface="宋体"/>
              </a:rPr>
              <a:t>可</a:t>
            </a:r>
            <a:r>
              <a:rPr dirty="0" sz="1400">
                <a:latin typeface="宋体"/>
                <a:cs typeface="宋体"/>
              </a:rPr>
              <a:t>推算</a:t>
            </a:r>
            <a:r>
              <a:rPr dirty="0" sz="1400" spc="-15">
                <a:latin typeface="宋体"/>
                <a:cs typeface="宋体"/>
              </a:rPr>
              <a:t>出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香</a:t>
            </a:r>
            <a:r>
              <a:rPr dirty="0" sz="1400">
                <a:latin typeface="宋体"/>
                <a:cs typeface="宋体"/>
              </a:rPr>
              <a:t>港法</a:t>
            </a:r>
            <a:r>
              <a:rPr dirty="0" sz="1400" spc="-15">
                <a:latin typeface="宋体"/>
                <a:cs typeface="宋体"/>
              </a:rPr>
              <a:t>人</a:t>
            </a:r>
            <a:r>
              <a:rPr dirty="0" sz="1400">
                <a:latin typeface="宋体"/>
                <a:cs typeface="宋体"/>
              </a:rPr>
              <a:t>与阿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廷代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厂的</a:t>
            </a:r>
            <a:r>
              <a:rPr dirty="0" sz="1400" spc="-15">
                <a:latin typeface="宋体"/>
                <a:cs typeface="宋体"/>
              </a:rPr>
              <a:t>交</a:t>
            </a:r>
            <a:r>
              <a:rPr dirty="0" sz="1400">
                <a:latin typeface="宋体"/>
                <a:cs typeface="宋体"/>
              </a:rPr>
              <a:t>易额</a:t>
            </a:r>
            <a:r>
              <a:rPr dirty="0" sz="1400" spc="-15">
                <a:latin typeface="宋体"/>
                <a:cs typeface="宋体"/>
              </a:rPr>
              <a:t>约</a:t>
            </a:r>
            <a:r>
              <a:rPr dirty="0" sz="1400" spc="10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USD48,793,160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400" spc="10">
                <a:latin typeface="宋体"/>
                <a:cs typeface="宋体"/>
              </a:rPr>
              <a:t>⑥华</a:t>
            </a:r>
            <a:r>
              <a:rPr dirty="0" sz="1400">
                <a:latin typeface="宋体"/>
                <a:cs typeface="宋体"/>
              </a:rPr>
              <a:t>为香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法人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两次</a:t>
            </a:r>
            <a:r>
              <a:rPr dirty="0" sz="1400" spc="-15">
                <a:latin typeface="宋体"/>
                <a:cs typeface="宋体"/>
              </a:rPr>
              <a:t>交</a:t>
            </a:r>
            <a:r>
              <a:rPr dirty="0" sz="1400">
                <a:latin typeface="宋体"/>
                <a:cs typeface="宋体"/>
              </a:rPr>
              <a:t>易中</a:t>
            </a:r>
            <a:r>
              <a:rPr dirty="0" sz="1400" spc="-15">
                <a:latin typeface="宋体"/>
                <a:cs typeface="宋体"/>
              </a:rPr>
              <a:t>间</a:t>
            </a:r>
            <a:r>
              <a:rPr dirty="0" sz="1400">
                <a:latin typeface="宋体"/>
                <a:cs typeface="宋体"/>
              </a:rPr>
              <a:t>的差</a:t>
            </a:r>
            <a:r>
              <a:rPr dirty="0" sz="1400" spc="-15">
                <a:latin typeface="宋体"/>
                <a:cs typeface="宋体"/>
              </a:rPr>
              <a:t>额</a:t>
            </a:r>
            <a:r>
              <a:rPr dirty="0" sz="1400">
                <a:latin typeface="宋体"/>
                <a:cs typeface="宋体"/>
              </a:rPr>
              <a:t>即为</a:t>
            </a:r>
            <a:r>
              <a:rPr dirty="0" sz="1400" spc="-15">
                <a:latin typeface="宋体"/>
                <a:cs typeface="宋体"/>
              </a:rPr>
              <a:t>毛</a:t>
            </a:r>
            <a:r>
              <a:rPr dirty="0" sz="1400">
                <a:latin typeface="宋体"/>
                <a:cs typeface="宋体"/>
              </a:rPr>
              <a:t>利</a:t>
            </a:r>
            <a:r>
              <a:rPr dirty="0" sz="1400" spc="5">
                <a:latin typeface="宋体"/>
                <a:cs typeface="宋体"/>
              </a:rPr>
              <a:t>额</a:t>
            </a:r>
            <a:r>
              <a:rPr dirty="0" sz="1400" spc="-10">
                <a:latin typeface="Arial"/>
                <a:cs typeface="Arial"/>
              </a:rPr>
              <a:t>USD6,263,160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7556" y="1417319"/>
            <a:ext cx="8608060" cy="2466340"/>
          </a:xfrm>
          <a:custGeom>
            <a:avLst/>
            <a:gdLst/>
            <a:ahLst/>
            <a:cxnLst/>
            <a:rect l="l" t="t" r="r" b="b"/>
            <a:pathLst>
              <a:path w="8608060" h="2466340">
                <a:moveTo>
                  <a:pt x="0" y="2465831"/>
                </a:moveTo>
                <a:lnTo>
                  <a:pt x="8607552" y="2465831"/>
                </a:lnTo>
                <a:lnTo>
                  <a:pt x="8607552" y="0"/>
                </a:lnTo>
                <a:lnTo>
                  <a:pt x="0" y="0"/>
                </a:lnTo>
                <a:lnTo>
                  <a:pt x="0" y="2465831"/>
                </a:lnTo>
                <a:close/>
              </a:path>
            </a:pathLst>
          </a:custGeom>
          <a:ln w="12192">
            <a:solidFill>
              <a:srgbClr val="4453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65492" y="4405884"/>
            <a:ext cx="1440180" cy="684530"/>
          </a:xfrm>
          <a:custGeom>
            <a:avLst/>
            <a:gdLst/>
            <a:ahLst/>
            <a:cxnLst/>
            <a:rect l="l" t="t" r="r" b="b"/>
            <a:pathLst>
              <a:path w="1440179" h="684529">
                <a:moveTo>
                  <a:pt x="1326133" y="0"/>
                </a:moveTo>
                <a:lnTo>
                  <a:pt x="114046" y="0"/>
                </a:lnTo>
                <a:lnTo>
                  <a:pt x="69651" y="8961"/>
                </a:lnTo>
                <a:lnTo>
                  <a:pt x="33401" y="33401"/>
                </a:lnTo>
                <a:lnTo>
                  <a:pt x="8961" y="69651"/>
                </a:lnTo>
                <a:lnTo>
                  <a:pt x="0" y="114046"/>
                </a:lnTo>
                <a:lnTo>
                  <a:pt x="0" y="570230"/>
                </a:lnTo>
                <a:lnTo>
                  <a:pt x="8961" y="614624"/>
                </a:lnTo>
                <a:lnTo>
                  <a:pt x="33400" y="650875"/>
                </a:lnTo>
                <a:lnTo>
                  <a:pt x="69651" y="675314"/>
                </a:lnTo>
                <a:lnTo>
                  <a:pt x="114046" y="684276"/>
                </a:lnTo>
                <a:lnTo>
                  <a:pt x="1326133" y="684276"/>
                </a:lnTo>
                <a:lnTo>
                  <a:pt x="1370528" y="675314"/>
                </a:lnTo>
                <a:lnTo>
                  <a:pt x="1406778" y="650875"/>
                </a:lnTo>
                <a:lnTo>
                  <a:pt x="1431218" y="614624"/>
                </a:lnTo>
                <a:lnTo>
                  <a:pt x="1440179" y="570230"/>
                </a:lnTo>
                <a:lnTo>
                  <a:pt x="1440179" y="114046"/>
                </a:lnTo>
                <a:lnTo>
                  <a:pt x="1431218" y="69651"/>
                </a:lnTo>
                <a:lnTo>
                  <a:pt x="1406778" y="33401"/>
                </a:lnTo>
                <a:lnTo>
                  <a:pt x="1370528" y="8961"/>
                </a:lnTo>
                <a:lnTo>
                  <a:pt x="132613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52059" y="4405884"/>
            <a:ext cx="1440180" cy="684530"/>
          </a:xfrm>
          <a:custGeom>
            <a:avLst/>
            <a:gdLst/>
            <a:ahLst/>
            <a:cxnLst/>
            <a:rect l="l" t="t" r="r" b="b"/>
            <a:pathLst>
              <a:path w="1440179" h="684529">
                <a:moveTo>
                  <a:pt x="1326134" y="0"/>
                </a:moveTo>
                <a:lnTo>
                  <a:pt x="114045" y="0"/>
                </a:lnTo>
                <a:lnTo>
                  <a:pt x="69651" y="8961"/>
                </a:lnTo>
                <a:lnTo>
                  <a:pt x="33400" y="33401"/>
                </a:lnTo>
                <a:lnTo>
                  <a:pt x="8961" y="69651"/>
                </a:lnTo>
                <a:lnTo>
                  <a:pt x="0" y="114046"/>
                </a:lnTo>
                <a:lnTo>
                  <a:pt x="0" y="570230"/>
                </a:lnTo>
                <a:lnTo>
                  <a:pt x="8961" y="614624"/>
                </a:lnTo>
                <a:lnTo>
                  <a:pt x="33400" y="650875"/>
                </a:lnTo>
                <a:lnTo>
                  <a:pt x="69651" y="675314"/>
                </a:lnTo>
                <a:lnTo>
                  <a:pt x="114045" y="684276"/>
                </a:lnTo>
                <a:lnTo>
                  <a:pt x="1326134" y="684276"/>
                </a:lnTo>
                <a:lnTo>
                  <a:pt x="1370528" y="675314"/>
                </a:lnTo>
                <a:lnTo>
                  <a:pt x="1406778" y="650875"/>
                </a:lnTo>
                <a:lnTo>
                  <a:pt x="1431218" y="614624"/>
                </a:lnTo>
                <a:lnTo>
                  <a:pt x="1440179" y="570230"/>
                </a:lnTo>
                <a:lnTo>
                  <a:pt x="1440179" y="114046"/>
                </a:lnTo>
                <a:lnTo>
                  <a:pt x="1431218" y="69651"/>
                </a:lnTo>
                <a:lnTo>
                  <a:pt x="1406778" y="33401"/>
                </a:lnTo>
                <a:lnTo>
                  <a:pt x="1370528" y="8961"/>
                </a:lnTo>
                <a:lnTo>
                  <a:pt x="1326134" y="0"/>
                </a:lnTo>
                <a:close/>
              </a:path>
            </a:pathLst>
          </a:custGeom>
          <a:solidFill>
            <a:srgbClr val="BA8E51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11195" y="4405884"/>
            <a:ext cx="1440180" cy="684530"/>
          </a:xfrm>
          <a:custGeom>
            <a:avLst/>
            <a:gdLst/>
            <a:ahLst/>
            <a:cxnLst/>
            <a:rect l="l" t="t" r="r" b="b"/>
            <a:pathLst>
              <a:path w="1440179" h="684529">
                <a:moveTo>
                  <a:pt x="1326133" y="0"/>
                </a:moveTo>
                <a:lnTo>
                  <a:pt x="114046" y="0"/>
                </a:lnTo>
                <a:lnTo>
                  <a:pt x="69651" y="8961"/>
                </a:lnTo>
                <a:lnTo>
                  <a:pt x="33400" y="33401"/>
                </a:lnTo>
                <a:lnTo>
                  <a:pt x="8961" y="69651"/>
                </a:lnTo>
                <a:lnTo>
                  <a:pt x="0" y="114046"/>
                </a:lnTo>
                <a:lnTo>
                  <a:pt x="0" y="570230"/>
                </a:lnTo>
                <a:lnTo>
                  <a:pt x="8961" y="614624"/>
                </a:lnTo>
                <a:lnTo>
                  <a:pt x="33400" y="650875"/>
                </a:lnTo>
                <a:lnTo>
                  <a:pt x="69651" y="675314"/>
                </a:lnTo>
                <a:lnTo>
                  <a:pt x="114046" y="684276"/>
                </a:lnTo>
                <a:lnTo>
                  <a:pt x="1326133" y="684276"/>
                </a:lnTo>
                <a:lnTo>
                  <a:pt x="1370528" y="675314"/>
                </a:lnTo>
                <a:lnTo>
                  <a:pt x="1406779" y="650875"/>
                </a:lnTo>
                <a:lnTo>
                  <a:pt x="1431218" y="614624"/>
                </a:lnTo>
                <a:lnTo>
                  <a:pt x="1440180" y="570230"/>
                </a:lnTo>
                <a:lnTo>
                  <a:pt x="1440180" y="114046"/>
                </a:lnTo>
                <a:lnTo>
                  <a:pt x="1431218" y="69651"/>
                </a:lnTo>
                <a:lnTo>
                  <a:pt x="1406779" y="33401"/>
                </a:lnTo>
                <a:lnTo>
                  <a:pt x="1370528" y="8961"/>
                </a:lnTo>
                <a:lnTo>
                  <a:pt x="1326133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51376" y="4695571"/>
            <a:ext cx="900430" cy="103505"/>
          </a:xfrm>
          <a:custGeom>
            <a:avLst/>
            <a:gdLst/>
            <a:ahLst/>
            <a:cxnLst/>
            <a:rect l="l" t="t" r="r" b="b"/>
            <a:pathLst>
              <a:path w="900429" h="103504">
                <a:moveTo>
                  <a:pt x="874939" y="51688"/>
                </a:moveTo>
                <a:lnTo>
                  <a:pt x="805052" y="92455"/>
                </a:lnTo>
                <a:lnTo>
                  <a:pt x="804037" y="96265"/>
                </a:lnTo>
                <a:lnTo>
                  <a:pt x="807593" y="102361"/>
                </a:lnTo>
                <a:lnTo>
                  <a:pt x="811529" y="103377"/>
                </a:lnTo>
                <a:lnTo>
                  <a:pt x="889285" y="58038"/>
                </a:lnTo>
                <a:lnTo>
                  <a:pt x="887476" y="58038"/>
                </a:lnTo>
                <a:lnTo>
                  <a:pt x="887476" y="57149"/>
                </a:lnTo>
                <a:lnTo>
                  <a:pt x="884301" y="57149"/>
                </a:lnTo>
                <a:lnTo>
                  <a:pt x="874939" y="51688"/>
                </a:lnTo>
                <a:close/>
              </a:path>
              <a:path w="900429" h="103504">
                <a:moveTo>
                  <a:pt x="864053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64053" y="58038"/>
                </a:lnTo>
                <a:lnTo>
                  <a:pt x="874939" y="51688"/>
                </a:lnTo>
                <a:lnTo>
                  <a:pt x="864053" y="45338"/>
                </a:lnTo>
                <a:close/>
              </a:path>
              <a:path w="900429" h="103504">
                <a:moveTo>
                  <a:pt x="889285" y="45338"/>
                </a:moveTo>
                <a:lnTo>
                  <a:pt x="887476" y="45338"/>
                </a:lnTo>
                <a:lnTo>
                  <a:pt x="887476" y="58038"/>
                </a:lnTo>
                <a:lnTo>
                  <a:pt x="889285" y="58038"/>
                </a:lnTo>
                <a:lnTo>
                  <a:pt x="900176" y="51688"/>
                </a:lnTo>
                <a:lnTo>
                  <a:pt x="889285" y="45338"/>
                </a:lnTo>
                <a:close/>
              </a:path>
              <a:path w="900429" h="103504">
                <a:moveTo>
                  <a:pt x="884301" y="46227"/>
                </a:moveTo>
                <a:lnTo>
                  <a:pt x="874939" y="51688"/>
                </a:lnTo>
                <a:lnTo>
                  <a:pt x="884301" y="57149"/>
                </a:lnTo>
                <a:lnTo>
                  <a:pt x="884301" y="46227"/>
                </a:lnTo>
                <a:close/>
              </a:path>
              <a:path w="900429" h="103504">
                <a:moveTo>
                  <a:pt x="887476" y="46227"/>
                </a:moveTo>
                <a:lnTo>
                  <a:pt x="884301" y="46227"/>
                </a:lnTo>
                <a:lnTo>
                  <a:pt x="884301" y="57149"/>
                </a:lnTo>
                <a:lnTo>
                  <a:pt x="887476" y="57149"/>
                </a:lnTo>
                <a:lnTo>
                  <a:pt x="887476" y="46227"/>
                </a:lnTo>
                <a:close/>
              </a:path>
              <a:path w="900429" h="103504">
                <a:moveTo>
                  <a:pt x="811529" y="0"/>
                </a:moveTo>
                <a:lnTo>
                  <a:pt x="807593" y="1015"/>
                </a:lnTo>
                <a:lnTo>
                  <a:pt x="804037" y="7111"/>
                </a:lnTo>
                <a:lnTo>
                  <a:pt x="805052" y="10921"/>
                </a:lnTo>
                <a:lnTo>
                  <a:pt x="874939" y="51688"/>
                </a:lnTo>
                <a:lnTo>
                  <a:pt x="884301" y="46227"/>
                </a:lnTo>
                <a:lnTo>
                  <a:pt x="887476" y="46227"/>
                </a:lnTo>
                <a:lnTo>
                  <a:pt x="887476" y="45338"/>
                </a:lnTo>
                <a:lnTo>
                  <a:pt x="889285" y="45338"/>
                </a:lnTo>
                <a:lnTo>
                  <a:pt x="81152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92240" y="4695571"/>
            <a:ext cx="873125" cy="103505"/>
          </a:xfrm>
          <a:custGeom>
            <a:avLst/>
            <a:gdLst/>
            <a:ahLst/>
            <a:cxnLst/>
            <a:rect l="l" t="t" r="r" b="b"/>
            <a:pathLst>
              <a:path w="873125" h="103504">
                <a:moveTo>
                  <a:pt x="848015" y="51688"/>
                </a:moveTo>
                <a:lnTo>
                  <a:pt x="778129" y="92455"/>
                </a:lnTo>
                <a:lnTo>
                  <a:pt x="777113" y="96265"/>
                </a:lnTo>
                <a:lnTo>
                  <a:pt x="778890" y="99313"/>
                </a:lnTo>
                <a:lnTo>
                  <a:pt x="780541" y="102361"/>
                </a:lnTo>
                <a:lnTo>
                  <a:pt x="784479" y="103377"/>
                </a:lnTo>
                <a:lnTo>
                  <a:pt x="862234" y="58038"/>
                </a:lnTo>
                <a:lnTo>
                  <a:pt x="860552" y="58038"/>
                </a:lnTo>
                <a:lnTo>
                  <a:pt x="860552" y="57149"/>
                </a:lnTo>
                <a:lnTo>
                  <a:pt x="857377" y="57149"/>
                </a:lnTo>
                <a:lnTo>
                  <a:pt x="848015" y="51688"/>
                </a:lnTo>
                <a:close/>
              </a:path>
              <a:path w="873125" h="103504">
                <a:moveTo>
                  <a:pt x="837129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37129" y="58038"/>
                </a:lnTo>
                <a:lnTo>
                  <a:pt x="848015" y="51688"/>
                </a:lnTo>
                <a:lnTo>
                  <a:pt x="837129" y="45338"/>
                </a:lnTo>
                <a:close/>
              </a:path>
              <a:path w="873125" h="103504">
                <a:moveTo>
                  <a:pt x="862234" y="45338"/>
                </a:moveTo>
                <a:lnTo>
                  <a:pt x="860552" y="45338"/>
                </a:lnTo>
                <a:lnTo>
                  <a:pt x="860552" y="58038"/>
                </a:lnTo>
                <a:lnTo>
                  <a:pt x="862234" y="58038"/>
                </a:lnTo>
                <a:lnTo>
                  <a:pt x="873125" y="51688"/>
                </a:lnTo>
                <a:lnTo>
                  <a:pt x="862234" y="45338"/>
                </a:lnTo>
                <a:close/>
              </a:path>
              <a:path w="873125" h="103504">
                <a:moveTo>
                  <a:pt x="857377" y="46227"/>
                </a:moveTo>
                <a:lnTo>
                  <a:pt x="848015" y="51688"/>
                </a:lnTo>
                <a:lnTo>
                  <a:pt x="857377" y="57149"/>
                </a:lnTo>
                <a:lnTo>
                  <a:pt x="857377" y="46227"/>
                </a:lnTo>
                <a:close/>
              </a:path>
              <a:path w="873125" h="103504">
                <a:moveTo>
                  <a:pt x="860552" y="46227"/>
                </a:moveTo>
                <a:lnTo>
                  <a:pt x="857377" y="46227"/>
                </a:lnTo>
                <a:lnTo>
                  <a:pt x="857377" y="57149"/>
                </a:lnTo>
                <a:lnTo>
                  <a:pt x="860552" y="57149"/>
                </a:lnTo>
                <a:lnTo>
                  <a:pt x="860552" y="46227"/>
                </a:lnTo>
                <a:close/>
              </a:path>
              <a:path w="873125" h="103504">
                <a:moveTo>
                  <a:pt x="784479" y="0"/>
                </a:moveTo>
                <a:lnTo>
                  <a:pt x="780541" y="1015"/>
                </a:lnTo>
                <a:lnTo>
                  <a:pt x="778890" y="4063"/>
                </a:lnTo>
                <a:lnTo>
                  <a:pt x="777113" y="7111"/>
                </a:lnTo>
                <a:lnTo>
                  <a:pt x="778129" y="10921"/>
                </a:lnTo>
                <a:lnTo>
                  <a:pt x="848015" y="51688"/>
                </a:lnTo>
                <a:lnTo>
                  <a:pt x="857377" y="46227"/>
                </a:lnTo>
                <a:lnTo>
                  <a:pt x="860552" y="46227"/>
                </a:lnTo>
                <a:lnTo>
                  <a:pt x="860552" y="45338"/>
                </a:lnTo>
                <a:lnTo>
                  <a:pt x="862234" y="45338"/>
                </a:lnTo>
                <a:lnTo>
                  <a:pt x="784479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66565" y="4107637"/>
            <a:ext cx="38989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40305" algn="l"/>
              </a:tabLst>
            </a:pPr>
            <a:r>
              <a:rPr dirty="0" sz="1400" spc="25" b="1">
                <a:latin typeface="明兰"/>
                <a:cs typeface="明兰"/>
              </a:rPr>
              <a:t>⑤</a:t>
            </a:r>
            <a:r>
              <a:rPr dirty="0" sz="1400" spc="-10" b="1">
                <a:latin typeface="Arial"/>
                <a:cs typeface="Arial"/>
              </a:rPr>
              <a:t>U</a:t>
            </a:r>
            <a:r>
              <a:rPr dirty="0" sz="1400" b="1">
                <a:latin typeface="Arial"/>
                <a:cs typeface="Arial"/>
              </a:rPr>
              <a:t>S</a:t>
            </a:r>
            <a:r>
              <a:rPr dirty="0" sz="1400" spc="-10" b="1">
                <a:latin typeface="Arial"/>
                <a:cs typeface="Arial"/>
              </a:rPr>
              <a:t>D</a:t>
            </a:r>
            <a:r>
              <a:rPr dirty="0" sz="1400" b="1">
                <a:latin typeface="Arial"/>
                <a:cs typeface="Arial"/>
              </a:rPr>
              <a:t>48,7</a:t>
            </a:r>
            <a:r>
              <a:rPr dirty="0" sz="1400" spc="-20" b="1">
                <a:latin typeface="Arial"/>
                <a:cs typeface="Arial"/>
              </a:rPr>
              <a:t>9</a:t>
            </a:r>
            <a:r>
              <a:rPr dirty="0" sz="1400" b="1">
                <a:latin typeface="Arial"/>
                <a:cs typeface="Arial"/>
              </a:rPr>
              <a:t>3</a:t>
            </a:r>
            <a:r>
              <a:rPr dirty="0" sz="1400" spc="-10" b="1">
                <a:latin typeface="Arial"/>
                <a:cs typeface="Arial"/>
              </a:rPr>
              <a:t>,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20" b="1">
                <a:latin typeface="Arial"/>
                <a:cs typeface="Arial"/>
              </a:rPr>
              <a:t>6</a:t>
            </a:r>
            <a:r>
              <a:rPr dirty="0" sz="1400" b="1">
                <a:latin typeface="Arial"/>
                <a:cs typeface="Arial"/>
              </a:rPr>
              <a:t>0</a:t>
            </a:r>
            <a:r>
              <a:rPr dirty="0" sz="1400" b="1">
                <a:latin typeface="Arial"/>
                <a:cs typeface="Arial"/>
              </a:rPr>
              <a:t>	</a:t>
            </a:r>
            <a:r>
              <a:rPr dirty="0" sz="1400" spc="25" b="1">
                <a:latin typeface="明兰"/>
                <a:cs typeface="明兰"/>
              </a:rPr>
              <a:t>③</a:t>
            </a:r>
            <a:r>
              <a:rPr dirty="0" sz="1400" spc="-10" b="1">
                <a:latin typeface="Arial"/>
                <a:cs typeface="Arial"/>
              </a:rPr>
              <a:t>U</a:t>
            </a:r>
            <a:r>
              <a:rPr dirty="0" sz="1400" b="1">
                <a:latin typeface="Arial"/>
                <a:cs typeface="Arial"/>
              </a:rPr>
              <a:t>S</a:t>
            </a:r>
            <a:r>
              <a:rPr dirty="0" sz="1400" spc="-10" b="1">
                <a:latin typeface="Arial"/>
                <a:cs typeface="Arial"/>
              </a:rPr>
              <a:t>D</a:t>
            </a:r>
            <a:r>
              <a:rPr dirty="0" sz="1400" b="1">
                <a:latin typeface="Arial"/>
                <a:cs typeface="Arial"/>
              </a:rPr>
              <a:t>66,8</a:t>
            </a:r>
            <a:r>
              <a:rPr dirty="0" sz="1400" spc="-20" b="1">
                <a:latin typeface="Arial"/>
                <a:cs typeface="Arial"/>
              </a:rPr>
              <a:t>3</a:t>
            </a:r>
            <a:r>
              <a:rPr dirty="0" sz="1400" b="1">
                <a:latin typeface="Arial"/>
                <a:cs typeface="Arial"/>
              </a:rPr>
              <a:t>9</a:t>
            </a:r>
            <a:r>
              <a:rPr dirty="0" sz="1400" spc="-10" b="1">
                <a:latin typeface="Arial"/>
                <a:cs typeface="Arial"/>
              </a:rPr>
              <a:t>,</a:t>
            </a:r>
            <a:r>
              <a:rPr dirty="0" sz="1400" b="1">
                <a:latin typeface="Arial"/>
                <a:cs typeface="Arial"/>
              </a:rPr>
              <a:t>9</a:t>
            </a:r>
            <a:r>
              <a:rPr dirty="0" sz="1400" spc="-20" b="1">
                <a:latin typeface="Arial"/>
                <a:cs typeface="Arial"/>
              </a:rPr>
              <a:t>4</a:t>
            </a:r>
            <a:r>
              <a:rPr dirty="0" sz="1400" b="1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1552" y="5240273"/>
            <a:ext cx="14522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 b="1">
                <a:latin typeface="明兰"/>
                <a:cs typeface="明兰"/>
              </a:rPr>
              <a:t>④平</a:t>
            </a:r>
            <a:r>
              <a:rPr dirty="0" sz="1400" b="1">
                <a:latin typeface="明兰"/>
                <a:cs typeface="明兰"/>
              </a:rPr>
              <a:t>均毛</a:t>
            </a:r>
            <a:r>
              <a:rPr dirty="0" sz="1400" spc="-15" b="1">
                <a:latin typeface="明兰"/>
                <a:cs typeface="明兰"/>
              </a:rPr>
              <a:t>利</a:t>
            </a:r>
            <a:r>
              <a:rPr dirty="0" sz="1400" b="1">
                <a:latin typeface="明兰"/>
                <a:cs typeface="明兰"/>
              </a:rPr>
              <a:t>率</a:t>
            </a:r>
            <a:r>
              <a:rPr dirty="0" sz="1400" spc="-5" b="1">
                <a:latin typeface="Arial"/>
                <a:cs typeface="Arial"/>
              </a:rPr>
              <a:t>27%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6908" y="4405884"/>
            <a:ext cx="1440180" cy="684530"/>
          </a:xfrm>
          <a:custGeom>
            <a:avLst/>
            <a:gdLst/>
            <a:ahLst/>
            <a:cxnLst/>
            <a:rect l="l" t="t" r="r" b="b"/>
            <a:pathLst>
              <a:path w="1440180" h="684529">
                <a:moveTo>
                  <a:pt x="1326134" y="0"/>
                </a:moveTo>
                <a:lnTo>
                  <a:pt x="114046" y="0"/>
                </a:lnTo>
                <a:lnTo>
                  <a:pt x="69656" y="8961"/>
                </a:lnTo>
                <a:lnTo>
                  <a:pt x="33405" y="33401"/>
                </a:lnTo>
                <a:lnTo>
                  <a:pt x="8963" y="69651"/>
                </a:lnTo>
                <a:lnTo>
                  <a:pt x="0" y="114046"/>
                </a:lnTo>
                <a:lnTo>
                  <a:pt x="0" y="570230"/>
                </a:lnTo>
                <a:lnTo>
                  <a:pt x="8963" y="614624"/>
                </a:lnTo>
                <a:lnTo>
                  <a:pt x="33405" y="650875"/>
                </a:lnTo>
                <a:lnTo>
                  <a:pt x="69656" y="675314"/>
                </a:lnTo>
                <a:lnTo>
                  <a:pt x="114046" y="684276"/>
                </a:lnTo>
                <a:lnTo>
                  <a:pt x="1326134" y="684276"/>
                </a:lnTo>
                <a:lnTo>
                  <a:pt x="1370528" y="675314"/>
                </a:lnTo>
                <a:lnTo>
                  <a:pt x="1406779" y="650875"/>
                </a:lnTo>
                <a:lnTo>
                  <a:pt x="1431218" y="614624"/>
                </a:lnTo>
                <a:lnTo>
                  <a:pt x="1440180" y="570230"/>
                </a:lnTo>
                <a:lnTo>
                  <a:pt x="1440180" y="114046"/>
                </a:lnTo>
                <a:lnTo>
                  <a:pt x="1431218" y="69651"/>
                </a:lnTo>
                <a:lnTo>
                  <a:pt x="1406779" y="33401"/>
                </a:lnTo>
                <a:lnTo>
                  <a:pt x="1370528" y="8961"/>
                </a:lnTo>
                <a:lnTo>
                  <a:pt x="1326134" y="0"/>
                </a:lnTo>
                <a:close/>
              </a:path>
            </a:pathLst>
          </a:custGeom>
          <a:solidFill>
            <a:srgbClr val="660000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81355" y="4626355"/>
            <a:ext cx="80530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17115" algn="l"/>
                <a:tab pos="4657725" algn="l"/>
                <a:tab pos="6971030" algn="l"/>
              </a:tabLst>
            </a:pPr>
            <a:r>
              <a:rPr dirty="0" sz="1400" b="1">
                <a:latin typeface="明兰"/>
                <a:cs typeface="明兰"/>
              </a:rPr>
              <a:t>华为大</a:t>
            </a:r>
            <a:r>
              <a:rPr dirty="0" sz="1400" spc="-15" b="1">
                <a:latin typeface="明兰"/>
                <a:cs typeface="明兰"/>
              </a:rPr>
              <a:t>陆</a:t>
            </a:r>
            <a:r>
              <a:rPr dirty="0" sz="1400" b="1">
                <a:latin typeface="明兰"/>
                <a:cs typeface="明兰"/>
              </a:rPr>
              <a:t>法人</a:t>
            </a:r>
            <a:r>
              <a:rPr dirty="0" sz="1400" b="1">
                <a:latin typeface="明兰"/>
                <a:cs typeface="明兰"/>
              </a:rPr>
              <a:t>	</a:t>
            </a:r>
            <a:r>
              <a:rPr dirty="0" sz="1400" b="1">
                <a:latin typeface="明兰"/>
                <a:cs typeface="明兰"/>
              </a:rPr>
              <a:t>华为香</a:t>
            </a:r>
            <a:r>
              <a:rPr dirty="0" sz="1400" spc="-15" b="1">
                <a:latin typeface="明兰"/>
                <a:cs typeface="明兰"/>
              </a:rPr>
              <a:t>港</a:t>
            </a:r>
            <a:r>
              <a:rPr dirty="0" sz="1400" b="1">
                <a:latin typeface="明兰"/>
                <a:cs typeface="明兰"/>
              </a:rPr>
              <a:t>法人</a:t>
            </a:r>
            <a:r>
              <a:rPr dirty="0" sz="1400" b="1">
                <a:latin typeface="明兰"/>
                <a:cs typeface="明兰"/>
              </a:rPr>
              <a:t>	</a:t>
            </a:r>
            <a:r>
              <a:rPr dirty="0" sz="1400" b="1">
                <a:latin typeface="明兰"/>
                <a:cs typeface="明兰"/>
              </a:rPr>
              <a:t>阿根廷</a:t>
            </a:r>
            <a:r>
              <a:rPr dirty="0" sz="1400" spc="-15" b="1">
                <a:latin typeface="明兰"/>
                <a:cs typeface="明兰"/>
              </a:rPr>
              <a:t>代</a:t>
            </a:r>
            <a:r>
              <a:rPr dirty="0" sz="1400" b="1">
                <a:latin typeface="明兰"/>
                <a:cs typeface="明兰"/>
              </a:rPr>
              <a:t>工厂</a:t>
            </a:r>
            <a:r>
              <a:rPr dirty="0" sz="1400" b="1">
                <a:latin typeface="明兰"/>
                <a:cs typeface="明兰"/>
              </a:rPr>
              <a:t>	</a:t>
            </a:r>
            <a:r>
              <a:rPr dirty="0" sz="1400" b="1">
                <a:latin typeface="明兰"/>
                <a:cs typeface="明兰"/>
              </a:rPr>
              <a:t>代理商</a:t>
            </a:r>
            <a:r>
              <a:rPr dirty="0" sz="1400" spc="-15" b="1">
                <a:latin typeface="明兰"/>
                <a:cs typeface="明兰"/>
              </a:rPr>
              <a:t>渠</a:t>
            </a:r>
            <a:r>
              <a:rPr dirty="0" sz="1400" b="1">
                <a:latin typeface="明兰"/>
                <a:cs typeface="明兰"/>
              </a:rPr>
              <a:t>道商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47088" y="4687951"/>
            <a:ext cx="900430" cy="103505"/>
          </a:xfrm>
          <a:custGeom>
            <a:avLst/>
            <a:gdLst/>
            <a:ahLst/>
            <a:cxnLst/>
            <a:rect l="l" t="t" r="r" b="b"/>
            <a:pathLst>
              <a:path w="900430" h="103504">
                <a:moveTo>
                  <a:pt x="874939" y="51689"/>
                </a:moveTo>
                <a:lnTo>
                  <a:pt x="805053" y="92456"/>
                </a:lnTo>
                <a:lnTo>
                  <a:pt x="804037" y="96266"/>
                </a:lnTo>
                <a:lnTo>
                  <a:pt x="807593" y="102362"/>
                </a:lnTo>
                <a:lnTo>
                  <a:pt x="811530" y="103378"/>
                </a:lnTo>
                <a:lnTo>
                  <a:pt x="889285" y="58038"/>
                </a:lnTo>
                <a:lnTo>
                  <a:pt x="887476" y="58038"/>
                </a:lnTo>
                <a:lnTo>
                  <a:pt x="887476" y="57150"/>
                </a:lnTo>
                <a:lnTo>
                  <a:pt x="884301" y="57150"/>
                </a:lnTo>
                <a:lnTo>
                  <a:pt x="874939" y="51689"/>
                </a:lnTo>
                <a:close/>
              </a:path>
              <a:path w="900430" h="103504">
                <a:moveTo>
                  <a:pt x="864053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864053" y="58038"/>
                </a:lnTo>
                <a:lnTo>
                  <a:pt x="874939" y="51689"/>
                </a:lnTo>
                <a:lnTo>
                  <a:pt x="864053" y="45338"/>
                </a:lnTo>
                <a:close/>
              </a:path>
              <a:path w="900430" h="103504">
                <a:moveTo>
                  <a:pt x="889285" y="45338"/>
                </a:moveTo>
                <a:lnTo>
                  <a:pt x="887476" y="45338"/>
                </a:lnTo>
                <a:lnTo>
                  <a:pt x="887476" y="58038"/>
                </a:lnTo>
                <a:lnTo>
                  <a:pt x="889285" y="58038"/>
                </a:lnTo>
                <a:lnTo>
                  <a:pt x="900175" y="51689"/>
                </a:lnTo>
                <a:lnTo>
                  <a:pt x="889285" y="45338"/>
                </a:lnTo>
                <a:close/>
              </a:path>
              <a:path w="900430" h="103504">
                <a:moveTo>
                  <a:pt x="884301" y="46228"/>
                </a:moveTo>
                <a:lnTo>
                  <a:pt x="874939" y="51689"/>
                </a:lnTo>
                <a:lnTo>
                  <a:pt x="884301" y="57150"/>
                </a:lnTo>
                <a:lnTo>
                  <a:pt x="884301" y="46228"/>
                </a:lnTo>
                <a:close/>
              </a:path>
              <a:path w="900430" h="103504">
                <a:moveTo>
                  <a:pt x="887476" y="46228"/>
                </a:moveTo>
                <a:lnTo>
                  <a:pt x="884301" y="46228"/>
                </a:lnTo>
                <a:lnTo>
                  <a:pt x="884301" y="57150"/>
                </a:lnTo>
                <a:lnTo>
                  <a:pt x="887476" y="57150"/>
                </a:lnTo>
                <a:lnTo>
                  <a:pt x="887476" y="46228"/>
                </a:lnTo>
                <a:close/>
              </a:path>
              <a:path w="900430" h="103504">
                <a:moveTo>
                  <a:pt x="811530" y="0"/>
                </a:moveTo>
                <a:lnTo>
                  <a:pt x="807593" y="1016"/>
                </a:lnTo>
                <a:lnTo>
                  <a:pt x="804037" y="7112"/>
                </a:lnTo>
                <a:lnTo>
                  <a:pt x="805053" y="10922"/>
                </a:lnTo>
                <a:lnTo>
                  <a:pt x="874939" y="51689"/>
                </a:lnTo>
                <a:lnTo>
                  <a:pt x="884301" y="46228"/>
                </a:lnTo>
                <a:lnTo>
                  <a:pt x="887476" y="46228"/>
                </a:lnTo>
                <a:lnTo>
                  <a:pt x="887476" y="45338"/>
                </a:lnTo>
                <a:lnTo>
                  <a:pt x="889285" y="45338"/>
                </a:lnTo>
                <a:lnTo>
                  <a:pt x="81153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62480" y="4128896"/>
            <a:ext cx="14706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明兰"/>
                <a:cs typeface="明兰"/>
              </a:rPr>
              <a:t>②</a:t>
            </a:r>
            <a:r>
              <a:rPr dirty="0" sz="1400" spc="-5" b="1">
                <a:latin typeface="Arial"/>
                <a:cs typeface="Arial"/>
              </a:rPr>
              <a:t>USD42,530,000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8630" y="5203952"/>
            <a:ext cx="4454525" cy="941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 b="1">
                <a:latin typeface="明兰"/>
                <a:cs typeface="明兰"/>
              </a:rPr>
              <a:t>①散</a:t>
            </a:r>
            <a:r>
              <a:rPr dirty="0" sz="1400" b="1">
                <a:latin typeface="明兰"/>
                <a:cs typeface="明兰"/>
              </a:rPr>
              <a:t>件成</a:t>
            </a:r>
            <a:r>
              <a:rPr dirty="0" sz="1400" spc="-10" b="1">
                <a:latin typeface="明兰"/>
                <a:cs typeface="明兰"/>
              </a:rPr>
              <a:t>本</a:t>
            </a:r>
            <a:r>
              <a:rPr dirty="0" sz="1400" spc="-5" b="1">
                <a:latin typeface="Arial"/>
                <a:cs typeface="Arial"/>
              </a:rPr>
              <a:t>USD34,024,000</a:t>
            </a:r>
            <a:r>
              <a:rPr dirty="0" baseline="-19841" sz="2100" spc="-7" b="1">
                <a:latin typeface="明兰"/>
                <a:cs typeface="明兰"/>
              </a:rPr>
              <a:t>⑥</a:t>
            </a:r>
            <a:r>
              <a:rPr dirty="0" baseline="-19841" sz="2100" spc="15" b="1">
                <a:latin typeface="明兰"/>
                <a:cs typeface="明兰"/>
              </a:rPr>
              <a:t>测</a:t>
            </a:r>
            <a:r>
              <a:rPr dirty="0" baseline="-19841" sz="2100" b="1">
                <a:latin typeface="明兰"/>
                <a:cs typeface="明兰"/>
              </a:rPr>
              <a:t>算毛</a:t>
            </a:r>
            <a:r>
              <a:rPr dirty="0" baseline="-19841" sz="2100" spc="-22" b="1">
                <a:latin typeface="明兰"/>
                <a:cs typeface="明兰"/>
              </a:rPr>
              <a:t>利</a:t>
            </a:r>
            <a:r>
              <a:rPr dirty="0" baseline="-19841" sz="2100" spc="-7" b="1">
                <a:latin typeface="Arial"/>
                <a:cs typeface="Arial"/>
              </a:rPr>
              <a:t>USD6,263,160</a:t>
            </a:r>
            <a:endParaRPr baseline="-19841" sz="21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400" spc="10" b="1">
                <a:latin typeface="明兰"/>
                <a:cs typeface="明兰"/>
              </a:rPr>
              <a:t>估算</a:t>
            </a:r>
            <a:r>
              <a:rPr dirty="0" sz="1400" b="1">
                <a:latin typeface="明兰"/>
                <a:cs typeface="明兰"/>
              </a:rPr>
              <a:t>毛利</a:t>
            </a:r>
            <a:r>
              <a:rPr dirty="0" sz="1400" spc="-10" b="1">
                <a:latin typeface="明兰"/>
                <a:cs typeface="明兰"/>
              </a:rPr>
              <a:t>率</a:t>
            </a:r>
            <a:r>
              <a:rPr dirty="0" sz="1400" spc="-5" b="1">
                <a:latin typeface="Arial"/>
                <a:cs typeface="Arial"/>
              </a:rPr>
              <a:t>20%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1354455">
              <a:lnSpc>
                <a:spcPct val="100000"/>
              </a:lnSpc>
              <a:tabLst>
                <a:tab pos="3741420" algn="l"/>
              </a:tabLst>
            </a:pPr>
            <a:r>
              <a:rPr dirty="0" sz="1400" spc="20" b="1">
                <a:latin typeface="明兰"/>
                <a:cs typeface="明兰"/>
              </a:rPr>
              <a:t>②</a:t>
            </a:r>
            <a:r>
              <a:rPr dirty="0" sz="1400" spc="-20" b="1">
                <a:latin typeface="Arial"/>
                <a:cs typeface="Arial"/>
              </a:rPr>
              <a:t>=</a:t>
            </a:r>
            <a:r>
              <a:rPr dirty="0" sz="1400" spc="10" b="1">
                <a:latin typeface="明兰"/>
                <a:cs typeface="明兰"/>
              </a:rPr>
              <a:t>①</a:t>
            </a:r>
            <a:r>
              <a:rPr dirty="0" sz="1400" b="1">
                <a:latin typeface="明兰"/>
                <a:cs typeface="明兰"/>
              </a:rPr>
              <a:t>×</a:t>
            </a:r>
            <a:r>
              <a:rPr dirty="0" sz="1400" spc="-15" b="1">
                <a:latin typeface="明兰"/>
                <a:cs typeface="明兰"/>
              </a:rPr>
              <a:t>（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5" b="1">
                <a:latin typeface="Arial"/>
                <a:cs typeface="Arial"/>
              </a:rPr>
              <a:t>+</a:t>
            </a:r>
            <a:r>
              <a:rPr dirty="0" sz="1400" spc="-15" b="1">
                <a:latin typeface="Arial"/>
                <a:cs typeface="Arial"/>
              </a:rPr>
              <a:t>2</a:t>
            </a:r>
            <a:r>
              <a:rPr dirty="0" sz="1400" b="1">
                <a:latin typeface="Arial"/>
                <a:cs typeface="Arial"/>
              </a:rPr>
              <a:t>0</a:t>
            </a:r>
            <a:r>
              <a:rPr dirty="0" sz="1400" spc="-60" b="1">
                <a:latin typeface="Arial"/>
                <a:cs typeface="Arial"/>
              </a:rPr>
              <a:t>%</a:t>
            </a:r>
            <a:r>
              <a:rPr dirty="0" sz="1400" b="1">
                <a:latin typeface="明兰"/>
                <a:cs typeface="明兰"/>
              </a:rPr>
              <a:t>）</a:t>
            </a:r>
            <a:r>
              <a:rPr dirty="0" sz="1400" b="1">
                <a:latin typeface="明兰"/>
                <a:cs typeface="明兰"/>
              </a:rPr>
              <a:t>	</a:t>
            </a:r>
            <a:r>
              <a:rPr dirty="0" sz="1400" spc="20" b="1">
                <a:latin typeface="明兰"/>
                <a:cs typeface="明兰"/>
              </a:rPr>
              <a:t>⑥</a:t>
            </a:r>
            <a:r>
              <a:rPr dirty="0" sz="1400" spc="-20" b="1">
                <a:latin typeface="Arial"/>
                <a:cs typeface="Arial"/>
              </a:rPr>
              <a:t>=</a:t>
            </a:r>
            <a:r>
              <a:rPr dirty="0" sz="1400" spc="10" b="1">
                <a:latin typeface="明兰"/>
                <a:cs typeface="明兰"/>
              </a:rPr>
              <a:t>⑤</a:t>
            </a:r>
            <a:r>
              <a:rPr dirty="0" sz="1400" spc="-10" b="1">
                <a:latin typeface="Arial"/>
                <a:cs typeface="Arial"/>
              </a:rPr>
              <a:t>-</a:t>
            </a:r>
            <a:r>
              <a:rPr dirty="0" sz="1400" b="1">
                <a:latin typeface="明兰"/>
                <a:cs typeface="明兰"/>
              </a:rPr>
              <a:t>②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34178" y="5906211"/>
            <a:ext cx="1402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0" b="1">
                <a:latin typeface="明兰"/>
                <a:cs typeface="明兰"/>
              </a:rPr>
              <a:t>⑤</a:t>
            </a:r>
            <a:r>
              <a:rPr dirty="0" sz="1400" spc="-20" b="1">
                <a:latin typeface="Arial"/>
                <a:cs typeface="Arial"/>
              </a:rPr>
              <a:t>=</a:t>
            </a:r>
            <a:r>
              <a:rPr dirty="0" sz="1400" spc="10" b="1">
                <a:latin typeface="明兰"/>
                <a:cs typeface="明兰"/>
              </a:rPr>
              <a:t>③</a:t>
            </a:r>
            <a:r>
              <a:rPr dirty="0" sz="1400" b="1">
                <a:latin typeface="明兰"/>
                <a:cs typeface="明兰"/>
              </a:rPr>
              <a:t>÷</a:t>
            </a:r>
            <a:r>
              <a:rPr dirty="0" sz="1400" spc="-15" b="1">
                <a:latin typeface="明兰"/>
                <a:cs typeface="明兰"/>
              </a:rPr>
              <a:t>（</a:t>
            </a:r>
            <a:r>
              <a:rPr dirty="0" sz="1400" spc="-5" b="1">
                <a:latin typeface="Arial"/>
                <a:cs typeface="Arial"/>
              </a:rPr>
              <a:t>1</a:t>
            </a:r>
            <a:r>
              <a:rPr dirty="0" sz="1400" spc="-20" b="1">
                <a:latin typeface="Arial"/>
                <a:cs typeface="Arial"/>
              </a:rPr>
              <a:t>+</a:t>
            </a:r>
            <a:r>
              <a:rPr dirty="0" sz="1400" b="1">
                <a:latin typeface="明兰"/>
                <a:cs typeface="明兰"/>
              </a:rPr>
              <a:t>④）</a:t>
            </a:r>
            <a:endParaRPr sz="14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" y="305562"/>
            <a:ext cx="374904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两种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税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务成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本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分析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151" y="1179575"/>
            <a:ext cx="1053465" cy="459105"/>
          </a:xfrm>
          <a:prstGeom prst="rect">
            <a:avLst/>
          </a:prstGeom>
          <a:solidFill>
            <a:srgbClr val="A4A4A4">
              <a:alpha val="50195"/>
            </a:srgbClr>
          </a:solidFill>
          <a:ln w="9143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9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宋体"/>
                <a:cs typeface="宋体"/>
              </a:rPr>
              <a:t>大陆华为散件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5288" y="1158239"/>
            <a:ext cx="1065530" cy="47117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3335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50"/>
              </a:spcBef>
            </a:pPr>
            <a:r>
              <a:rPr dirty="0" sz="1200">
                <a:solidFill>
                  <a:srgbClr val="FFFFFF"/>
                </a:solidFill>
                <a:latin typeface="宋体"/>
                <a:cs typeface="宋体"/>
              </a:rPr>
              <a:t>大陆华为整机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8176" y="1155191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16205" rIns="0" bIns="0" rtlCol="0" vert="horz">
            <a:spAutoFit/>
          </a:bodyPr>
          <a:lstStyle/>
          <a:p>
            <a:pPr marL="186055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solidFill>
                  <a:srgbClr val="FFFFFF"/>
                </a:solidFill>
                <a:latin typeface="宋体"/>
                <a:cs typeface="宋体"/>
              </a:rPr>
              <a:t>阿根廷华为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7339" y="1409700"/>
            <a:ext cx="1021080" cy="0"/>
          </a:xfrm>
          <a:custGeom>
            <a:avLst/>
            <a:gdLst/>
            <a:ahLst/>
            <a:cxnLst/>
            <a:rect l="l" t="t" r="r" b="b"/>
            <a:pathLst>
              <a:path w="1021080" h="0">
                <a:moveTo>
                  <a:pt x="0" y="0"/>
                </a:moveTo>
                <a:lnTo>
                  <a:pt x="1021079" y="0"/>
                </a:lnTo>
              </a:path>
            </a:pathLst>
          </a:custGeom>
          <a:ln w="9144">
            <a:solidFill>
              <a:srgbClr val="EC7C3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04488" y="1357883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36750" y="1179321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8288" y="1141475"/>
            <a:ext cx="1214755" cy="46037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35890" rIns="0" bIns="0" rtlCol="0" vert="horz">
            <a:spAutoFit/>
          </a:bodyPr>
          <a:lstStyle/>
          <a:p>
            <a:pPr marL="379095">
              <a:lnSpc>
                <a:spcPct val="100000"/>
              </a:lnSpc>
              <a:spcBef>
                <a:spcPts val="1070"/>
              </a:spcBef>
            </a:pPr>
            <a:r>
              <a:rPr dirty="0" sz="1200">
                <a:solidFill>
                  <a:srgbClr val="FFFFFF"/>
                </a:solidFill>
                <a:latin typeface="宋体"/>
                <a:cs typeface="宋体"/>
              </a:rPr>
              <a:t>代理商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71488" y="1341119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7" y="0"/>
                </a:moveTo>
                <a:lnTo>
                  <a:pt x="862837" y="76200"/>
                </a:lnTo>
                <a:lnTo>
                  <a:pt x="926337" y="44450"/>
                </a:lnTo>
                <a:lnTo>
                  <a:pt x="875537" y="44450"/>
                </a:lnTo>
                <a:lnTo>
                  <a:pt x="875537" y="31750"/>
                </a:lnTo>
                <a:lnTo>
                  <a:pt x="926337" y="31750"/>
                </a:lnTo>
                <a:lnTo>
                  <a:pt x="862837" y="0"/>
                </a:lnTo>
                <a:close/>
              </a:path>
              <a:path w="939165" h="76200">
                <a:moveTo>
                  <a:pt x="86283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7" y="44450"/>
                </a:lnTo>
                <a:lnTo>
                  <a:pt x="862837" y="31750"/>
                </a:lnTo>
                <a:close/>
              </a:path>
              <a:path w="939165" h="76200">
                <a:moveTo>
                  <a:pt x="926337" y="31750"/>
                </a:moveTo>
                <a:lnTo>
                  <a:pt x="875537" y="31750"/>
                </a:lnTo>
                <a:lnTo>
                  <a:pt x="875537" y="44450"/>
                </a:lnTo>
                <a:lnTo>
                  <a:pt x="926337" y="44450"/>
                </a:lnTo>
                <a:lnTo>
                  <a:pt x="939037" y="38100"/>
                </a:lnTo>
                <a:lnTo>
                  <a:pt x="926337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27266" y="1159890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23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4142" y="1506728"/>
            <a:ext cx="8794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7">
                <a:latin typeface="Arial"/>
                <a:cs typeface="Arial"/>
              </a:rPr>
              <a:t>21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7846" y="1170559"/>
            <a:ext cx="1235710" cy="530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22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>
                <a:latin typeface="Times New Roman"/>
                <a:cs typeface="Times New Roman"/>
              </a:rPr>
              <a:t>1+R</a:t>
            </a:r>
            <a:r>
              <a:rPr dirty="0" baseline="-20833" sz="1200">
                <a:latin typeface="Times New Roman"/>
                <a:cs typeface="Times New Roman"/>
              </a:rPr>
              <a:t>21</a:t>
            </a:r>
            <a:r>
              <a:rPr dirty="0" baseline="-20833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 Math"/>
                <a:cs typeface="Cambria Math"/>
              </a:rPr>
              <a:t>+</a:t>
            </a:r>
            <a:r>
              <a:rPr dirty="0" sz="1200" spc="-35">
                <a:latin typeface="Cambria Math"/>
                <a:cs typeface="Cambria Math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baseline="-20833" sz="1200">
                <a:latin typeface="Times New Roman"/>
                <a:cs typeface="Times New Roman"/>
              </a:rPr>
              <a:t>22</a:t>
            </a:r>
            <a:endParaRPr baseline="-20833"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50833" y="3542157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 h="0">
                <a:moveTo>
                  <a:pt x="0" y="0"/>
                </a:moveTo>
                <a:lnTo>
                  <a:pt x="604103" y="0"/>
                </a:lnTo>
              </a:path>
            </a:pathLst>
          </a:custGeom>
          <a:ln w="68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50833" y="4098417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 h="0">
                <a:moveTo>
                  <a:pt x="0" y="0"/>
                </a:moveTo>
                <a:lnTo>
                  <a:pt x="604103" y="0"/>
                </a:lnTo>
              </a:path>
            </a:pathLst>
          </a:custGeom>
          <a:ln w="68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50833" y="4621931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 h="0">
                <a:moveTo>
                  <a:pt x="0" y="0"/>
                </a:moveTo>
                <a:lnTo>
                  <a:pt x="604103" y="0"/>
                </a:lnTo>
              </a:path>
            </a:pathLst>
          </a:custGeom>
          <a:ln w="6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53820" y="4958149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 h="0">
                <a:moveTo>
                  <a:pt x="0" y="0"/>
                </a:moveTo>
                <a:lnTo>
                  <a:pt x="534777" y="0"/>
                </a:lnTo>
              </a:path>
            </a:pathLst>
          </a:custGeom>
          <a:ln w="60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121402" y="1681734"/>
            <a:ext cx="3453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996315" algn="l"/>
              </a:tabLst>
            </a:pPr>
            <a:r>
              <a:rPr dirty="0" sz="1200">
                <a:latin typeface="微软雅黑"/>
                <a:cs typeface="微软雅黑"/>
              </a:rPr>
              <a:t>售价为</a:t>
            </a:r>
            <a:r>
              <a:rPr dirty="0" u="sng" baseline="18518" sz="180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 	</a:t>
            </a:r>
            <a:r>
              <a:rPr dirty="0" u="sng" baseline="37037" sz="900" spc="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	22</a:t>
            </a:r>
            <a:r>
              <a:rPr dirty="0" baseline="37037" sz="900" spc="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Cambria Math"/>
                <a:cs typeface="Cambria Math"/>
              </a:rPr>
              <a:t>×</a:t>
            </a:r>
            <a:r>
              <a:rPr dirty="0" sz="1200" spc="-5">
                <a:latin typeface="宋体"/>
                <a:cs typeface="宋体"/>
              </a:rPr>
              <a:t>（</a:t>
            </a:r>
            <a:r>
              <a:rPr dirty="0" sz="1200" spc="-5">
                <a:latin typeface="Times New Roman"/>
                <a:cs typeface="Times New Roman"/>
              </a:rPr>
              <a:t>1+16%</a:t>
            </a:r>
            <a:r>
              <a:rPr dirty="0" sz="1200" spc="-5">
                <a:latin typeface="宋体"/>
                <a:cs typeface="宋体"/>
              </a:rPr>
              <a:t>）×（</a:t>
            </a:r>
            <a:r>
              <a:rPr dirty="0" sz="1200" spc="-5">
                <a:latin typeface="Times New Roman"/>
                <a:cs typeface="Times New Roman"/>
              </a:rPr>
              <a:t>1+11.73%</a:t>
            </a:r>
            <a:r>
              <a:rPr dirty="0" sz="1200" spc="-5">
                <a:latin typeface="宋体"/>
                <a:cs typeface="宋体"/>
              </a:rPr>
              <a:t>）</a:t>
            </a:r>
            <a:r>
              <a:rPr dirty="0" sz="1200" spc="-5">
                <a:latin typeface="Times New Roman"/>
                <a:cs typeface="Times New Roman"/>
              </a:rPr>
              <a:t>+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baseline="-20833" sz="1200">
                <a:latin typeface="Times New Roman"/>
                <a:cs typeface="Times New Roman"/>
              </a:rPr>
              <a:t>23</a:t>
            </a:r>
            <a:endParaRPr baseline="-20833"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4787" y="1609169"/>
            <a:ext cx="5010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Times New Roman"/>
                <a:cs typeface="Times New Roman"/>
              </a:rPr>
              <a:t>1+</a:t>
            </a:r>
            <a:r>
              <a:rPr dirty="0" sz="1100" spc="-25" i="1">
                <a:latin typeface="Times New Roman"/>
                <a:cs typeface="Times New Roman"/>
              </a:rPr>
              <a:t>R</a:t>
            </a:r>
            <a:r>
              <a:rPr dirty="0" sz="1100" spc="60" i="1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i="1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15136" y="1805209"/>
            <a:ext cx="6286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1</a:t>
            </a:r>
            <a:r>
              <a:rPr dirty="0" sz="1100" spc="-21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Symbol"/>
                <a:cs typeface="Symbol"/>
              </a:rPr>
              <a:t></a:t>
            </a:r>
            <a:r>
              <a:rPr dirty="0" sz="1100" spc="10">
                <a:latin typeface="Times New Roman"/>
                <a:cs typeface="Times New Roman"/>
              </a:rPr>
              <a:t>11.73%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68846" y="2110739"/>
          <a:ext cx="8843010" cy="4068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645"/>
                <a:gridCol w="576580"/>
                <a:gridCol w="2258060"/>
                <a:gridCol w="972819"/>
                <a:gridCol w="3922395"/>
              </a:tblGrid>
              <a:tr h="2509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税种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税率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华为税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务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成本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</a:tr>
              <a:tr h="488823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大陆华为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所得税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利润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104775" marR="20955" indent="-76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高新技术企业 所得税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21+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22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</a:tr>
              <a:tr h="46990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阿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根</a:t>
                      </a:r>
                      <a:r>
                        <a:rPr dirty="0" sz="14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廷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华</a:t>
                      </a:r>
                      <a:r>
                        <a:rPr dirty="0" sz="14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为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进口</a:t>
                      </a:r>
                      <a:endParaRPr sz="1200">
                        <a:latin typeface="宋体"/>
                        <a:cs typeface="宋体"/>
                      </a:endParaRPr>
                    </a:p>
                    <a:p>
                      <a:pPr marL="13525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关税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CIF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16%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1+R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21+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0416" sz="1200" spc="-7">
                          <a:latin typeface="Arial"/>
                          <a:cs typeface="Arial"/>
                        </a:rPr>
                        <a:t>22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16%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03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</a:tr>
              <a:tr h="44970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消费税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CIF+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关税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1-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消费税税率）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200" spc="-15">
                          <a:latin typeface="Arial"/>
                          <a:cs typeface="Arial"/>
                        </a:rPr>
                        <a:t>11.73%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786765">
                        <a:lnSpc>
                          <a:spcPts val="1095"/>
                        </a:lnSpc>
                        <a:spcBef>
                          <a:spcPts val="155"/>
                        </a:spcBef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1+</a:t>
                      </a:r>
                      <a:r>
                        <a:rPr dirty="0" sz="1100" spc="-15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7777" sz="900" spc="-22">
                          <a:latin typeface="Times New Roman"/>
                          <a:cs typeface="Times New Roman"/>
                        </a:rPr>
                        <a:t>21</a:t>
                      </a:r>
                      <a:r>
                        <a:rPr dirty="0" baseline="-27777" sz="900" spc="-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7777" sz="900">
                          <a:latin typeface="Times New Roman"/>
                          <a:cs typeface="Times New Roman"/>
                        </a:rPr>
                        <a:t>22</a:t>
                      </a:r>
                      <a:endParaRPr baseline="-27777" sz="900">
                        <a:latin typeface="Times New Roman"/>
                        <a:cs typeface="Times New Roman"/>
                      </a:endParaRPr>
                    </a:p>
                    <a:p>
                      <a:pPr marL="766445">
                        <a:lnSpc>
                          <a:spcPts val="1215"/>
                        </a:lnSpc>
                      </a:pPr>
                      <a:r>
                        <a:rPr dirty="0" baseline="-27777" sz="165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baseline="-27777" sz="1650" spc="15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baseline="-27777" sz="1650" spc="15">
                          <a:latin typeface="Times New Roman"/>
                          <a:cs typeface="Times New Roman"/>
                        </a:rPr>
                        <a:t>11.73%</a:t>
                      </a:r>
                      <a:r>
                        <a:rPr dirty="0" baseline="-27777" sz="1650" spc="38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1+16%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11.73%</a:t>
                      </a:r>
                      <a:endParaRPr baseline="2314"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</a:tr>
              <a:tr h="6518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增值税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CIF+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关税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1-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消费税税率）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17145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预缴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20%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786765">
                        <a:lnSpc>
                          <a:spcPts val="1075"/>
                        </a:lnSpc>
                        <a:spcBef>
                          <a:spcPts val="994"/>
                        </a:spcBef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1+</a:t>
                      </a:r>
                      <a:r>
                        <a:rPr dirty="0" sz="1100" spc="-15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7777" sz="900" spc="-22">
                          <a:latin typeface="Times New Roman"/>
                          <a:cs typeface="Times New Roman"/>
                        </a:rPr>
                        <a:t>21</a:t>
                      </a:r>
                      <a:r>
                        <a:rPr dirty="0" baseline="-27777" sz="900" spc="-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27777" sz="900">
                          <a:latin typeface="Times New Roman"/>
                          <a:cs typeface="Times New Roman"/>
                        </a:rPr>
                        <a:t>22</a:t>
                      </a:r>
                      <a:endParaRPr baseline="-27777" sz="900">
                        <a:latin typeface="Times New Roman"/>
                        <a:cs typeface="Times New Roman"/>
                      </a:endParaRPr>
                    </a:p>
                    <a:p>
                      <a:pPr marL="766445">
                        <a:lnSpc>
                          <a:spcPts val="1195"/>
                        </a:lnSpc>
                      </a:pPr>
                      <a:r>
                        <a:rPr dirty="0" baseline="-30303" sz="165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baseline="-30303" sz="1650" spc="15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baseline="-30303" sz="1650" spc="15">
                          <a:latin typeface="Times New Roman"/>
                          <a:cs typeface="Times New Roman"/>
                        </a:rPr>
                        <a:t>11.73%</a:t>
                      </a:r>
                      <a:r>
                        <a:rPr dirty="0" baseline="-30303" sz="165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1+16%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20%</a:t>
                      </a:r>
                      <a:endParaRPr baseline="2314"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</a:tr>
              <a:tr h="349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营业税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CIF+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关税）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1-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消费税税率）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511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预缴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2.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786765">
                        <a:lnSpc>
                          <a:spcPts val="1170"/>
                        </a:lnSpc>
                        <a:spcBef>
                          <a:spcPts val="635"/>
                        </a:spcBef>
                      </a:pPr>
                      <a:r>
                        <a:rPr dirty="0" baseline="37878" sz="1650" spc="-22">
                          <a:latin typeface="Times New Roman"/>
                          <a:cs typeface="Times New Roman"/>
                        </a:rPr>
                        <a:t>1+</a:t>
                      </a:r>
                      <a:r>
                        <a:rPr dirty="0" baseline="37878" sz="1650" spc="-22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41666" sz="900" spc="-22">
                          <a:latin typeface="Times New Roman"/>
                          <a:cs typeface="Times New Roman"/>
                        </a:rPr>
                        <a:t>21 </a:t>
                      </a:r>
                      <a:r>
                        <a:rPr dirty="0" baseline="37878" sz="165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baseline="37878" sz="1650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41666" sz="90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dirty="0" baseline="41666" sz="900" spc="8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1+16%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2.5%</a:t>
                      </a:r>
                      <a:endParaRPr baseline="2314" sz="1800">
                        <a:latin typeface="Times New Roman"/>
                        <a:cs typeface="Times New Roman"/>
                      </a:endParaRPr>
                    </a:p>
                    <a:p>
                      <a:pPr marL="766445">
                        <a:lnSpc>
                          <a:spcPts val="8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100" spc="-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10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11.73%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</a:tr>
              <a:tr h="3397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所得税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收入金额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1399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预提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6%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ts val="1145"/>
                        </a:lnSpc>
                        <a:spcBef>
                          <a:spcPts val="595"/>
                        </a:spcBef>
                      </a:pPr>
                      <a:r>
                        <a:rPr dirty="0" baseline="2314" sz="1800">
                          <a:latin typeface="Times New Roman"/>
                          <a:cs typeface="Times New Roman"/>
                        </a:rPr>
                        <a:t>[ </a:t>
                      </a:r>
                      <a:r>
                        <a:rPr dirty="0" baseline="43859" sz="1425" spc="-15">
                          <a:latin typeface="Times New Roman"/>
                          <a:cs typeface="Times New Roman"/>
                        </a:rPr>
                        <a:t>1+</a:t>
                      </a:r>
                      <a:r>
                        <a:rPr dirty="0" baseline="43859" sz="1425" spc="-15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50505" sz="825" spc="-15">
                          <a:latin typeface="Times New Roman"/>
                          <a:cs typeface="Times New Roman"/>
                        </a:rPr>
                        <a:t>21 </a:t>
                      </a:r>
                      <a:r>
                        <a:rPr dirty="0" baseline="43859" sz="1425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baseline="43859" sz="1425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50505" sz="825">
                          <a:latin typeface="Times New Roman"/>
                          <a:cs typeface="Times New Roman"/>
                        </a:rPr>
                        <a:t>22 </a:t>
                      </a:r>
                      <a:r>
                        <a:rPr dirty="0" sz="1200" spc="-5">
                          <a:latin typeface="Cambria Math"/>
                          <a:cs typeface="Cambria Math"/>
                        </a:rPr>
                        <a:t>×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（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1+16%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）×（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1+11.73%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）</a:t>
                      </a:r>
                      <a:r>
                        <a:rPr dirty="0" baseline="2314" sz="1800" spc="-7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baseline="2314" sz="1800" spc="12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2314" sz="18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0416" sz="1200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dirty="0" baseline="2314" sz="180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×</a:t>
                      </a:r>
                      <a:r>
                        <a:rPr dirty="0" baseline="2314" sz="1800">
                          <a:latin typeface="Times New Roman"/>
                          <a:cs typeface="Times New Roman"/>
                        </a:rPr>
                        <a:t>6%</a:t>
                      </a:r>
                      <a:endParaRPr baseline="2314" sz="1800">
                        <a:latin typeface="Times New Roman"/>
                        <a:cs typeface="Times New Roman"/>
                      </a:endParaRPr>
                    </a:p>
                    <a:p>
                      <a:pPr marL="370205">
                        <a:lnSpc>
                          <a:spcPts val="835"/>
                        </a:lnSpc>
                      </a:pPr>
                      <a:r>
                        <a:rPr dirty="0" sz="950" spc="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950" spc="-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20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950" spc="20">
                          <a:latin typeface="Times New Roman"/>
                          <a:cs typeface="Times New Roman"/>
                        </a:rPr>
                        <a:t>11.73%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</a:tr>
              <a:tr h="429132">
                <a:tc rowSpan="2">
                  <a:txBody>
                    <a:bodyPr/>
                    <a:lstStyle/>
                    <a:p>
                      <a:pPr marL="192405" marR="18288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大陆华为 纳税调整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所得税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利润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若当期将利润汇回大陆，则以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25%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税率计算可抵免限额，补征所得税。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76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14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78840">
                        <a:lnSpc>
                          <a:spcPts val="1375"/>
                        </a:lnSpc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若当期利润</a:t>
                      </a:r>
                      <a:r>
                        <a:rPr dirty="0" sz="1200" spc="10" b="1">
                          <a:latin typeface="明兰"/>
                          <a:cs typeface="明兰"/>
                        </a:rPr>
                        <a:t>不汇</a:t>
                      </a:r>
                      <a:r>
                        <a:rPr dirty="0" sz="1200" spc="15" b="1">
                          <a:latin typeface="明兰"/>
                          <a:cs typeface="明兰"/>
                        </a:rPr>
                        <a:t>回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大陆，该项纳税调整额为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482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合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计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税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务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成本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05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048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400" spc="5" b="1">
                          <a:latin typeface="明兰"/>
                          <a:cs typeface="明兰"/>
                        </a:rPr>
                        <a:t>不</a:t>
                      </a:r>
                      <a:r>
                        <a:rPr dirty="0" sz="1400" b="1">
                          <a:latin typeface="明兰"/>
                          <a:cs typeface="明兰"/>
                        </a:rPr>
                        <a:t>将</a:t>
                      </a:r>
                      <a:r>
                        <a:rPr dirty="0" sz="1400" spc="5" b="1">
                          <a:latin typeface="明兰"/>
                          <a:cs typeface="明兰"/>
                        </a:rPr>
                        <a:t>利</a:t>
                      </a:r>
                      <a:r>
                        <a:rPr dirty="0" sz="1400" spc="-15" b="1">
                          <a:latin typeface="明兰"/>
                          <a:cs typeface="明兰"/>
                        </a:rPr>
                        <a:t>润</a:t>
                      </a:r>
                      <a:r>
                        <a:rPr dirty="0" sz="1400" spc="5" b="1">
                          <a:latin typeface="明兰"/>
                          <a:cs typeface="明兰"/>
                        </a:rPr>
                        <a:t>汇</a:t>
                      </a:r>
                      <a:r>
                        <a:rPr dirty="0" sz="1400" b="1">
                          <a:latin typeface="明兰"/>
                          <a:cs typeface="明兰"/>
                        </a:rPr>
                        <a:t>回</a:t>
                      </a:r>
                      <a:r>
                        <a:rPr dirty="0" sz="1400" spc="-10" b="1">
                          <a:latin typeface="明兰"/>
                          <a:cs typeface="明兰"/>
                        </a:rPr>
                        <a:t>大</a:t>
                      </a:r>
                      <a:r>
                        <a:rPr dirty="0" sz="1400" spc="5" b="1">
                          <a:latin typeface="明兰"/>
                          <a:cs typeface="明兰"/>
                        </a:rPr>
                        <a:t>陆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105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7564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baseline="3968" sz="2100" spc="7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baseline="3968" sz="2100" spc="7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1200" spc="7">
                          <a:latin typeface="Times New Roman"/>
                          <a:cs typeface="Times New Roman"/>
                        </a:rPr>
                        <a:t>21 </a:t>
                      </a:r>
                      <a:r>
                        <a:rPr dirty="0" baseline="3968" sz="2100" spc="-22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baseline="3968" sz="2100" spc="-22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1200" spc="-22">
                          <a:latin typeface="Times New Roman"/>
                          <a:cs typeface="Times New Roman"/>
                        </a:rPr>
                        <a:t>22 </a:t>
                      </a:r>
                      <a:r>
                        <a:rPr dirty="0" baseline="3968" sz="210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dirty="0" sz="1400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baseline="1984" sz="2100" b="1">
                          <a:latin typeface="Times New Roman"/>
                          <a:cs typeface="Times New Roman"/>
                        </a:rPr>
                        <a:t>84.79%+</a:t>
                      </a:r>
                      <a:r>
                        <a:rPr dirty="0" baseline="1984" sz="2100" spc="-1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968" sz="2100" spc="-37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1200" spc="-37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dirty="0" sz="1400" spc="-25" b="1">
                          <a:latin typeface="明兰"/>
                          <a:cs typeface="明兰"/>
                        </a:rPr>
                        <a:t>×</a:t>
                      </a:r>
                      <a:r>
                        <a:rPr dirty="0" baseline="1984" sz="2100" spc="-37" b="1">
                          <a:latin typeface="Times New Roman"/>
                          <a:cs typeface="Times New Roman"/>
                        </a:rPr>
                        <a:t>6%+69.79%</a:t>
                      </a:r>
                      <a:endParaRPr baseline="1984"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5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" y="270509"/>
            <a:ext cx="46278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两种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模式的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税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务成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本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比较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基于规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模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估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算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84" y="999744"/>
            <a:ext cx="327660" cy="469900"/>
          </a:xfrm>
          <a:custGeom>
            <a:avLst/>
            <a:gdLst/>
            <a:ahLst/>
            <a:cxnLst/>
            <a:rect l="l" t="t" r="r" b="b"/>
            <a:pathLst>
              <a:path w="327659" h="469900">
                <a:moveTo>
                  <a:pt x="305549" y="0"/>
                </a:moveTo>
                <a:lnTo>
                  <a:pt x="22110" y="0"/>
                </a:lnTo>
                <a:lnTo>
                  <a:pt x="13544" y="1756"/>
                </a:lnTo>
                <a:lnTo>
                  <a:pt x="6511" y="6524"/>
                </a:lnTo>
                <a:lnTo>
                  <a:pt x="1751" y="13555"/>
                </a:lnTo>
                <a:lnTo>
                  <a:pt x="0" y="22097"/>
                </a:lnTo>
                <a:lnTo>
                  <a:pt x="0" y="447293"/>
                </a:lnTo>
                <a:lnTo>
                  <a:pt x="1751" y="455890"/>
                </a:lnTo>
                <a:lnTo>
                  <a:pt x="6511" y="462914"/>
                </a:lnTo>
                <a:lnTo>
                  <a:pt x="13544" y="467653"/>
                </a:lnTo>
                <a:lnTo>
                  <a:pt x="22110" y="469391"/>
                </a:lnTo>
                <a:lnTo>
                  <a:pt x="305549" y="469391"/>
                </a:lnTo>
                <a:lnTo>
                  <a:pt x="314147" y="467653"/>
                </a:lnTo>
                <a:lnTo>
                  <a:pt x="321176" y="462914"/>
                </a:lnTo>
                <a:lnTo>
                  <a:pt x="325919" y="455890"/>
                </a:lnTo>
                <a:lnTo>
                  <a:pt x="327659" y="447293"/>
                </a:lnTo>
                <a:lnTo>
                  <a:pt x="327659" y="419100"/>
                </a:lnTo>
                <a:lnTo>
                  <a:pt x="43268" y="419100"/>
                </a:lnTo>
                <a:lnTo>
                  <a:pt x="39687" y="415543"/>
                </a:lnTo>
                <a:lnTo>
                  <a:pt x="39687" y="312546"/>
                </a:lnTo>
                <a:lnTo>
                  <a:pt x="43268" y="308990"/>
                </a:lnTo>
                <a:lnTo>
                  <a:pt x="327659" y="308990"/>
                </a:lnTo>
                <a:lnTo>
                  <a:pt x="327659" y="280669"/>
                </a:lnTo>
                <a:lnTo>
                  <a:pt x="43268" y="280669"/>
                </a:lnTo>
                <a:lnTo>
                  <a:pt x="39687" y="277113"/>
                </a:lnTo>
                <a:lnTo>
                  <a:pt x="39687" y="174116"/>
                </a:lnTo>
                <a:lnTo>
                  <a:pt x="43268" y="170560"/>
                </a:lnTo>
                <a:lnTo>
                  <a:pt x="327659" y="170560"/>
                </a:lnTo>
                <a:lnTo>
                  <a:pt x="327659" y="135762"/>
                </a:lnTo>
                <a:lnTo>
                  <a:pt x="39687" y="135762"/>
                </a:lnTo>
                <a:lnTo>
                  <a:pt x="39687" y="42544"/>
                </a:lnTo>
                <a:lnTo>
                  <a:pt x="327659" y="42544"/>
                </a:lnTo>
                <a:lnTo>
                  <a:pt x="327659" y="22097"/>
                </a:lnTo>
                <a:lnTo>
                  <a:pt x="325919" y="13555"/>
                </a:lnTo>
                <a:lnTo>
                  <a:pt x="321176" y="6524"/>
                </a:lnTo>
                <a:lnTo>
                  <a:pt x="314147" y="1756"/>
                </a:lnTo>
                <a:lnTo>
                  <a:pt x="305549" y="0"/>
                </a:lnTo>
                <a:close/>
              </a:path>
              <a:path w="327659" h="469900">
                <a:moveTo>
                  <a:pt x="181597" y="308990"/>
                </a:moveTo>
                <a:lnTo>
                  <a:pt x="146138" y="308990"/>
                </a:lnTo>
                <a:lnTo>
                  <a:pt x="149644" y="312546"/>
                </a:lnTo>
                <a:lnTo>
                  <a:pt x="149644" y="415543"/>
                </a:lnTo>
                <a:lnTo>
                  <a:pt x="146138" y="419100"/>
                </a:lnTo>
                <a:lnTo>
                  <a:pt x="181597" y="419100"/>
                </a:lnTo>
                <a:lnTo>
                  <a:pt x="178015" y="415543"/>
                </a:lnTo>
                <a:lnTo>
                  <a:pt x="178015" y="312546"/>
                </a:lnTo>
                <a:lnTo>
                  <a:pt x="181597" y="308990"/>
                </a:lnTo>
                <a:close/>
              </a:path>
              <a:path w="327659" h="469900">
                <a:moveTo>
                  <a:pt x="327659" y="308990"/>
                </a:moveTo>
                <a:lnTo>
                  <a:pt x="284391" y="308990"/>
                </a:lnTo>
                <a:lnTo>
                  <a:pt x="287972" y="312546"/>
                </a:lnTo>
                <a:lnTo>
                  <a:pt x="287972" y="415543"/>
                </a:lnTo>
                <a:lnTo>
                  <a:pt x="284391" y="419100"/>
                </a:lnTo>
                <a:lnTo>
                  <a:pt x="327659" y="419100"/>
                </a:lnTo>
                <a:lnTo>
                  <a:pt x="327659" y="308990"/>
                </a:lnTo>
                <a:close/>
              </a:path>
              <a:path w="327659" h="469900">
                <a:moveTo>
                  <a:pt x="267881" y="371475"/>
                </a:moveTo>
                <a:lnTo>
                  <a:pt x="198056" y="371475"/>
                </a:lnTo>
                <a:lnTo>
                  <a:pt x="198056" y="386206"/>
                </a:lnTo>
                <a:lnTo>
                  <a:pt x="267881" y="386206"/>
                </a:lnTo>
                <a:lnTo>
                  <a:pt x="267881" y="371475"/>
                </a:lnTo>
                <a:close/>
              </a:path>
              <a:path w="327659" h="469900">
                <a:moveTo>
                  <a:pt x="129603" y="356742"/>
                </a:moveTo>
                <a:lnTo>
                  <a:pt x="59842" y="356742"/>
                </a:lnTo>
                <a:lnTo>
                  <a:pt x="59842" y="371475"/>
                </a:lnTo>
                <a:lnTo>
                  <a:pt x="129603" y="371475"/>
                </a:lnTo>
                <a:lnTo>
                  <a:pt x="129603" y="356742"/>
                </a:lnTo>
                <a:close/>
              </a:path>
              <a:path w="327659" h="469900">
                <a:moveTo>
                  <a:pt x="267881" y="342010"/>
                </a:moveTo>
                <a:lnTo>
                  <a:pt x="198056" y="342010"/>
                </a:lnTo>
                <a:lnTo>
                  <a:pt x="198056" y="356742"/>
                </a:lnTo>
                <a:lnTo>
                  <a:pt x="267881" y="356742"/>
                </a:lnTo>
                <a:lnTo>
                  <a:pt x="267881" y="342010"/>
                </a:lnTo>
                <a:close/>
              </a:path>
              <a:path w="327659" h="469900">
                <a:moveTo>
                  <a:pt x="181597" y="170560"/>
                </a:moveTo>
                <a:lnTo>
                  <a:pt x="146138" y="170560"/>
                </a:lnTo>
                <a:lnTo>
                  <a:pt x="149644" y="174116"/>
                </a:lnTo>
                <a:lnTo>
                  <a:pt x="149644" y="277113"/>
                </a:lnTo>
                <a:lnTo>
                  <a:pt x="146138" y="280669"/>
                </a:lnTo>
                <a:lnTo>
                  <a:pt x="181597" y="280669"/>
                </a:lnTo>
                <a:lnTo>
                  <a:pt x="178015" y="277113"/>
                </a:lnTo>
                <a:lnTo>
                  <a:pt x="178015" y="174116"/>
                </a:lnTo>
                <a:lnTo>
                  <a:pt x="181597" y="170560"/>
                </a:lnTo>
                <a:close/>
              </a:path>
              <a:path w="327659" h="469900">
                <a:moveTo>
                  <a:pt x="327659" y="170560"/>
                </a:moveTo>
                <a:lnTo>
                  <a:pt x="284391" y="170560"/>
                </a:lnTo>
                <a:lnTo>
                  <a:pt x="287972" y="174116"/>
                </a:lnTo>
                <a:lnTo>
                  <a:pt x="287972" y="277113"/>
                </a:lnTo>
                <a:lnTo>
                  <a:pt x="284391" y="280669"/>
                </a:lnTo>
                <a:lnTo>
                  <a:pt x="327659" y="280669"/>
                </a:lnTo>
                <a:lnTo>
                  <a:pt x="327659" y="170560"/>
                </a:lnTo>
                <a:close/>
              </a:path>
              <a:path w="327659" h="469900">
                <a:moveTo>
                  <a:pt x="102019" y="232917"/>
                </a:moveTo>
                <a:lnTo>
                  <a:pt x="87350" y="232917"/>
                </a:lnTo>
                <a:lnTo>
                  <a:pt x="87350" y="260476"/>
                </a:lnTo>
                <a:lnTo>
                  <a:pt x="102019" y="260476"/>
                </a:lnTo>
                <a:lnTo>
                  <a:pt x="102019" y="232917"/>
                </a:lnTo>
                <a:close/>
              </a:path>
              <a:path w="327659" h="469900">
                <a:moveTo>
                  <a:pt x="213499" y="195706"/>
                </a:moveTo>
                <a:lnTo>
                  <a:pt x="203212" y="206120"/>
                </a:lnTo>
                <a:lnTo>
                  <a:pt x="222694" y="225551"/>
                </a:lnTo>
                <a:lnTo>
                  <a:pt x="203212" y="245109"/>
                </a:lnTo>
                <a:lnTo>
                  <a:pt x="213499" y="255523"/>
                </a:lnTo>
                <a:lnTo>
                  <a:pt x="233045" y="235965"/>
                </a:lnTo>
                <a:lnTo>
                  <a:pt x="253781" y="235965"/>
                </a:lnTo>
                <a:lnTo>
                  <a:pt x="243408" y="225551"/>
                </a:lnTo>
                <a:lnTo>
                  <a:pt x="253722" y="215264"/>
                </a:lnTo>
                <a:lnTo>
                  <a:pt x="233045" y="215264"/>
                </a:lnTo>
                <a:lnTo>
                  <a:pt x="213499" y="195706"/>
                </a:lnTo>
                <a:close/>
              </a:path>
              <a:path w="327659" h="469900">
                <a:moveTo>
                  <a:pt x="253781" y="235965"/>
                </a:moveTo>
                <a:lnTo>
                  <a:pt x="233045" y="235965"/>
                </a:lnTo>
                <a:lnTo>
                  <a:pt x="252526" y="255523"/>
                </a:lnTo>
                <a:lnTo>
                  <a:pt x="262889" y="245109"/>
                </a:lnTo>
                <a:lnTo>
                  <a:pt x="253781" y="235965"/>
                </a:lnTo>
                <a:close/>
              </a:path>
              <a:path w="327659" h="469900">
                <a:moveTo>
                  <a:pt x="129603" y="218312"/>
                </a:moveTo>
                <a:lnTo>
                  <a:pt x="59842" y="218312"/>
                </a:lnTo>
                <a:lnTo>
                  <a:pt x="59842" y="232917"/>
                </a:lnTo>
                <a:lnTo>
                  <a:pt x="129603" y="232917"/>
                </a:lnTo>
                <a:lnTo>
                  <a:pt x="129603" y="218312"/>
                </a:lnTo>
                <a:close/>
              </a:path>
              <a:path w="327659" h="469900">
                <a:moveTo>
                  <a:pt x="102019" y="190753"/>
                </a:moveTo>
                <a:lnTo>
                  <a:pt x="87350" y="190753"/>
                </a:lnTo>
                <a:lnTo>
                  <a:pt x="87350" y="218312"/>
                </a:lnTo>
                <a:lnTo>
                  <a:pt x="102019" y="218312"/>
                </a:lnTo>
                <a:lnTo>
                  <a:pt x="102019" y="190753"/>
                </a:lnTo>
                <a:close/>
              </a:path>
              <a:path w="327659" h="469900">
                <a:moveTo>
                  <a:pt x="252526" y="195706"/>
                </a:moveTo>
                <a:lnTo>
                  <a:pt x="233045" y="215264"/>
                </a:lnTo>
                <a:lnTo>
                  <a:pt x="253722" y="215264"/>
                </a:lnTo>
                <a:lnTo>
                  <a:pt x="262889" y="206120"/>
                </a:lnTo>
                <a:lnTo>
                  <a:pt x="252526" y="195706"/>
                </a:lnTo>
                <a:close/>
              </a:path>
              <a:path w="327659" h="469900">
                <a:moveTo>
                  <a:pt x="327659" y="42544"/>
                </a:moveTo>
                <a:lnTo>
                  <a:pt x="287972" y="42544"/>
                </a:lnTo>
                <a:lnTo>
                  <a:pt x="287972" y="135762"/>
                </a:lnTo>
                <a:lnTo>
                  <a:pt x="327659" y="135762"/>
                </a:lnTo>
                <a:lnTo>
                  <a:pt x="327659" y="42544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4527" y="1097025"/>
            <a:ext cx="22777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" b="1">
                <a:latin typeface="明兰"/>
                <a:cs typeface="明兰"/>
              </a:rPr>
              <a:t>基</a:t>
            </a:r>
            <a:r>
              <a:rPr dirty="0" sz="1600" spc="5" b="1">
                <a:latin typeface="明兰"/>
                <a:cs typeface="明兰"/>
              </a:rPr>
              <a:t>于规</a:t>
            </a:r>
            <a:r>
              <a:rPr dirty="0" sz="1600" spc="20" b="1">
                <a:latin typeface="明兰"/>
                <a:cs typeface="明兰"/>
              </a:rPr>
              <a:t>模</a:t>
            </a:r>
            <a:r>
              <a:rPr dirty="0" sz="1600" spc="5" b="1">
                <a:latin typeface="明兰"/>
                <a:cs typeface="明兰"/>
              </a:rPr>
              <a:t>的</a:t>
            </a:r>
            <a:r>
              <a:rPr dirty="0" sz="1600" spc="20" b="1">
                <a:latin typeface="明兰"/>
                <a:cs typeface="明兰"/>
              </a:rPr>
              <a:t>税</a:t>
            </a:r>
            <a:r>
              <a:rPr dirty="0" sz="1600" spc="5" b="1">
                <a:latin typeface="明兰"/>
                <a:cs typeface="明兰"/>
              </a:rPr>
              <a:t>务</a:t>
            </a:r>
            <a:r>
              <a:rPr dirty="0" sz="1600" spc="20" b="1">
                <a:latin typeface="明兰"/>
                <a:cs typeface="明兰"/>
              </a:rPr>
              <a:t>成</a:t>
            </a:r>
            <a:r>
              <a:rPr dirty="0" sz="1600" spc="5" b="1">
                <a:latin typeface="明兰"/>
                <a:cs typeface="明兰"/>
              </a:rPr>
              <a:t>本测</a:t>
            </a:r>
            <a:r>
              <a:rPr dirty="0" sz="1600" spc="-5" b="1">
                <a:latin typeface="明兰"/>
                <a:cs typeface="明兰"/>
              </a:rPr>
              <a:t>算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8728" y="1988820"/>
            <a:ext cx="5417820" cy="539750"/>
          </a:xfrm>
          <a:custGeom>
            <a:avLst/>
            <a:gdLst/>
            <a:ahLst/>
            <a:cxnLst/>
            <a:rect l="l" t="t" r="r" b="b"/>
            <a:pathLst>
              <a:path w="5417820" h="539750">
                <a:moveTo>
                  <a:pt x="0" y="539496"/>
                </a:moveTo>
                <a:lnTo>
                  <a:pt x="5417820" y="539496"/>
                </a:lnTo>
                <a:lnTo>
                  <a:pt x="5417820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ln w="12192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96584" y="2528316"/>
            <a:ext cx="76200" cy="432434"/>
          </a:xfrm>
          <a:custGeom>
            <a:avLst/>
            <a:gdLst/>
            <a:ahLst/>
            <a:cxnLst/>
            <a:rect l="l" t="t" r="r" b="b"/>
            <a:pathLst>
              <a:path w="76200" h="432435">
                <a:moveTo>
                  <a:pt x="31750" y="355854"/>
                </a:moveTo>
                <a:lnTo>
                  <a:pt x="0" y="355854"/>
                </a:lnTo>
                <a:lnTo>
                  <a:pt x="38100" y="432054"/>
                </a:lnTo>
                <a:lnTo>
                  <a:pt x="69850" y="368554"/>
                </a:lnTo>
                <a:lnTo>
                  <a:pt x="31750" y="368554"/>
                </a:lnTo>
                <a:lnTo>
                  <a:pt x="31750" y="355854"/>
                </a:lnTo>
                <a:close/>
              </a:path>
              <a:path w="76200" h="432435">
                <a:moveTo>
                  <a:pt x="44450" y="0"/>
                </a:moveTo>
                <a:lnTo>
                  <a:pt x="31750" y="0"/>
                </a:lnTo>
                <a:lnTo>
                  <a:pt x="31750" y="368554"/>
                </a:lnTo>
                <a:lnTo>
                  <a:pt x="44450" y="368554"/>
                </a:lnTo>
                <a:lnTo>
                  <a:pt x="44450" y="0"/>
                </a:lnTo>
                <a:close/>
              </a:path>
              <a:path w="76200" h="432435">
                <a:moveTo>
                  <a:pt x="76200" y="355854"/>
                </a:moveTo>
                <a:lnTo>
                  <a:pt x="44450" y="355854"/>
                </a:lnTo>
                <a:lnTo>
                  <a:pt x="44450" y="368554"/>
                </a:lnTo>
                <a:lnTo>
                  <a:pt x="69850" y="368554"/>
                </a:lnTo>
                <a:lnTo>
                  <a:pt x="76200" y="355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63111" y="4157471"/>
            <a:ext cx="5393690" cy="935990"/>
          </a:xfrm>
          <a:custGeom>
            <a:avLst/>
            <a:gdLst/>
            <a:ahLst/>
            <a:cxnLst/>
            <a:rect l="l" t="t" r="r" b="b"/>
            <a:pathLst>
              <a:path w="5393690" h="935989">
                <a:moveTo>
                  <a:pt x="0" y="467867"/>
                </a:moveTo>
                <a:lnTo>
                  <a:pt x="2696717" y="0"/>
                </a:lnTo>
                <a:lnTo>
                  <a:pt x="5393436" y="467867"/>
                </a:lnTo>
                <a:lnTo>
                  <a:pt x="2696717" y="935735"/>
                </a:lnTo>
                <a:lnTo>
                  <a:pt x="0" y="467867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4233" y="3422344"/>
            <a:ext cx="287147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>
                <a:latin typeface="宋体"/>
                <a:cs typeface="宋体"/>
              </a:rPr>
              <a:t>右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5">
                <a:latin typeface="宋体"/>
                <a:cs typeface="宋体"/>
              </a:rPr>
              <a:t>两</a:t>
            </a:r>
            <a:r>
              <a:rPr dirty="0" sz="1400" spc="-15">
                <a:latin typeface="宋体"/>
                <a:cs typeface="宋体"/>
              </a:rPr>
              <a:t>种</a:t>
            </a:r>
            <a:r>
              <a:rPr dirty="0" sz="1400" spc="5">
                <a:latin typeface="宋体"/>
                <a:cs typeface="宋体"/>
              </a:rPr>
              <a:t>模</a:t>
            </a:r>
            <a:r>
              <a:rPr dirty="0" sz="1400">
                <a:latin typeface="宋体"/>
                <a:cs typeface="宋体"/>
              </a:rPr>
              <a:t>式</a:t>
            </a:r>
            <a:r>
              <a:rPr dirty="0" sz="1400" spc="-10">
                <a:latin typeface="宋体"/>
                <a:cs typeface="宋体"/>
              </a:rPr>
              <a:t>下华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集</a:t>
            </a:r>
            <a:r>
              <a:rPr dirty="0" sz="1400" spc="5">
                <a:latin typeface="宋体"/>
                <a:cs typeface="宋体"/>
              </a:rPr>
              <a:t>团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 spc="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负</a:t>
            </a:r>
            <a:r>
              <a:rPr dirty="0" sz="1400" spc="-10">
                <a:latin typeface="宋体"/>
                <a:cs typeface="宋体"/>
              </a:rPr>
              <a:t>成</a:t>
            </a:r>
            <a:r>
              <a:rPr dirty="0" sz="1400" spc="5">
                <a:latin typeface="宋体"/>
                <a:cs typeface="宋体"/>
              </a:rPr>
              <a:t>本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13347" y="5093208"/>
            <a:ext cx="76200" cy="322580"/>
          </a:xfrm>
          <a:custGeom>
            <a:avLst/>
            <a:gdLst/>
            <a:ahLst/>
            <a:cxnLst/>
            <a:rect l="l" t="t" r="r" b="b"/>
            <a:pathLst>
              <a:path w="76200" h="322579">
                <a:moveTo>
                  <a:pt x="31750" y="245999"/>
                </a:moveTo>
                <a:lnTo>
                  <a:pt x="0" y="245999"/>
                </a:lnTo>
                <a:lnTo>
                  <a:pt x="38100" y="322199"/>
                </a:lnTo>
                <a:lnTo>
                  <a:pt x="69850" y="258699"/>
                </a:lnTo>
                <a:lnTo>
                  <a:pt x="31750" y="258699"/>
                </a:lnTo>
                <a:lnTo>
                  <a:pt x="31750" y="245999"/>
                </a:lnTo>
                <a:close/>
              </a:path>
              <a:path w="76200" h="322579">
                <a:moveTo>
                  <a:pt x="44450" y="0"/>
                </a:moveTo>
                <a:lnTo>
                  <a:pt x="31750" y="0"/>
                </a:lnTo>
                <a:lnTo>
                  <a:pt x="31750" y="258699"/>
                </a:lnTo>
                <a:lnTo>
                  <a:pt x="44450" y="258699"/>
                </a:lnTo>
                <a:lnTo>
                  <a:pt x="44450" y="0"/>
                </a:lnTo>
                <a:close/>
              </a:path>
              <a:path w="76200" h="322579">
                <a:moveTo>
                  <a:pt x="76200" y="245999"/>
                </a:moveTo>
                <a:lnTo>
                  <a:pt x="44450" y="245999"/>
                </a:lnTo>
                <a:lnTo>
                  <a:pt x="44450" y="258699"/>
                </a:lnTo>
                <a:lnTo>
                  <a:pt x="69850" y="258699"/>
                </a:lnTo>
                <a:lnTo>
                  <a:pt x="76200" y="245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7398" y="1816100"/>
            <a:ext cx="2697480" cy="659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8200"/>
              </a:lnSpc>
              <a:spcBef>
                <a:spcPts val="135"/>
              </a:spcBef>
            </a:pPr>
            <a:r>
              <a:rPr dirty="0" sz="1400">
                <a:latin typeface="宋体"/>
                <a:cs typeface="宋体"/>
              </a:rPr>
              <a:t>假设两</a:t>
            </a:r>
            <a:r>
              <a:rPr dirty="0" sz="1400" spc="-10">
                <a:latin typeface="宋体"/>
                <a:cs typeface="宋体"/>
              </a:rPr>
              <a:t>个</a:t>
            </a:r>
            <a:r>
              <a:rPr dirty="0" sz="1400">
                <a:latin typeface="宋体"/>
                <a:cs typeface="宋体"/>
              </a:rPr>
              <a:t>模式</a:t>
            </a:r>
            <a:r>
              <a:rPr dirty="0" sz="1400" spc="-10">
                <a:latin typeface="宋体"/>
                <a:cs typeface="宋体"/>
              </a:rPr>
              <a:t>下，</a:t>
            </a:r>
            <a:r>
              <a:rPr dirty="0" sz="1400">
                <a:latin typeface="宋体"/>
                <a:cs typeface="宋体"/>
              </a:rPr>
              <a:t>大陆华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初始散 </a:t>
            </a:r>
            <a:r>
              <a:rPr dirty="0" sz="1400" spc="10">
                <a:latin typeface="宋体"/>
                <a:cs typeface="宋体"/>
              </a:rPr>
              <a:t>件成</a:t>
            </a:r>
            <a:r>
              <a:rPr dirty="0" sz="1400">
                <a:latin typeface="宋体"/>
                <a:cs typeface="宋体"/>
              </a:rPr>
              <a:t>本为</a:t>
            </a:r>
            <a:r>
              <a:rPr dirty="0" sz="1400" spc="-5">
                <a:latin typeface="Arial"/>
                <a:cs typeface="Arial"/>
              </a:rPr>
              <a:t>1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交</a:t>
            </a:r>
            <a:r>
              <a:rPr dirty="0" sz="1400" spc="-15">
                <a:latin typeface="宋体"/>
                <a:cs typeface="宋体"/>
              </a:rPr>
              <a:t>付</a:t>
            </a:r>
            <a:r>
              <a:rPr dirty="0" sz="1400">
                <a:latin typeface="宋体"/>
                <a:cs typeface="宋体"/>
              </a:rPr>
              <a:t>代理</a:t>
            </a:r>
            <a:r>
              <a:rPr dirty="0" sz="1400" spc="-15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和渠</a:t>
            </a:r>
            <a:r>
              <a:rPr dirty="0" sz="1400" spc="-15">
                <a:latin typeface="宋体"/>
                <a:cs typeface="宋体"/>
              </a:rPr>
              <a:t>道</a:t>
            </a:r>
            <a:r>
              <a:rPr dirty="0" sz="1400">
                <a:latin typeface="宋体"/>
                <a:cs typeface="宋体"/>
              </a:rPr>
              <a:t>商 </a:t>
            </a:r>
            <a:r>
              <a:rPr dirty="0" sz="1400" spc="5">
                <a:latin typeface="宋体"/>
                <a:cs typeface="宋体"/>
              </a:rPr>
              <a:t>时的售</a:t>
            </a:r>
            <a:r>
              <a:rPr dirty="0" sz="1400" spc="-10">
                <a:latin typeface="宋体"/>
                <a:cs typeface="宋体"/>
              </a:rPr>
              <a:t>价</a:t>
            </a:r>
            <a:r>
              <a:rPr dirty="0" sz="1400" spc="5">
                <a:latin typeface="宋体"/>
                <a:cs typeface="宋体"/>
              </a:rPr>
              <a:t>一致。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398" y="2662174"/>
            <a:ext cx="264858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R</a:t>
            </a:r>
            <a:r>
              <a:rPr dirty="0" baseline="-21604" sz="1350">
                <a:latin typeface="Arial"/>
                <a:cs typeface="Arial"/>
              </a:rPr>
              <a:t>ij</a:t>
            </a:r>
            <a:r>
              <a:rPr dirty="0" sz="1400" spc="10">
                <a:latin typeface="宋体"/>
                <a:cs typeface="宋体"/>
              </a:rPr>
              <a:t>分别是</a:t>
            </a:r>
            <a:r>
              <a:rPr dirty="0" sz="1400">
                <a:latin typeface="宋体"/>
                <a:cs typeface="宋体"/>
              </a:rPr>
              <a:t>模式</a:t>
            </a:r>
            <a:r>
              <a:rPr dirty="0" sz="1400">
                <a:latin typeface="Arial"/>
                <a:cs typeface="Arial"/>
              </a:rPr>
              <a:t>i</a:t>
            </a:r>
            <a:r>
              <a:rPr dirty="0" sz="1400">
                <a:latin typeface="宋体"/>
                <a:cs typeface="宋体"/>
              </a:rPr>
              <a:t>下</a:t>
            </a:r>
            <a:r>
              <a:rPr dirty="0" sz="1400" spc="-15">
                <a:latin typeface="宋体"/>
                <a:cs typeface="宋体"/>
              </a:rPr>
              <a:t>第</a:t>
            </a:r>
            <a:r>
              <a:rPr dirty="0" sz="1400">
                <a:latin typeface="Arial"/>
                <a:cs typeface="Arial"/>
              </a:rPr>
              <a:t>j</a:t>
            </a:r>
            <a:r>
              <a:rPr dirty="0" sz="1400">
                <a:latin typeface="宋体"/>
                <a:cs typeface="宋体"/>
              </a:rPr>
              <a:t>环节的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润增 </a:t>
            </a:r>
            <a:r>
              <a:rPr dirty="0" sz="1400" spc="10">
                <a:latin typeface="宋体"/>
                <a:cs typeface="宋体"/>
              </a:rPr>
              <a:t>加值</a:t>
            </a:r>
            <a:r>
              <a:rPr dirty="0" sz="1400" spc="-5">
                <a:latin typeface="宋体"/>
                <a:cs typeface="宋体"/>
              </a:rPr>
              <a:t>。</a:t>
            </a:r>
            <a:r>
              <a:rPr dirty="0" sz="1400" spc="-10">
                <a:latin typeface="Arial"/>
                <a:cs typeface="Arial"/>
              </a:rPr>
              <a:t>C</a:t>
            </a:r>
            <a:r>
              <a:rPr dirty="0" sz="1400">
                <a:latin typeface="宋体"/>
                <a:cs typeface="宋体"/>
              </a:rPr>
              <a:t>为出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到渠</a:t>
            </a:r>
            <a:r>
              <a:rPr dirty="0" sz="1400" spc="-15">
                <a:latin typeface="宋体"/>
                <a:cs typeface="宋体"/>
              </a:rPr>
              <a:t>道</a:t>
            </a:r>
            <a:r>
              <a:rPr dirty="0" sz="1400">
                <a:latin typeface="宋体"/>
                <a:cs typeface="宋体"/>
              </a:rPr>
              <a:t>商的</a:t>
            </a:r>
            <a:r>
              <a:rPr dirty="0" sz="1400" spc="-15">
                <a:latin typeface="宋体"/>
                <a:cs typeface="宋体"/>
              </a:rPr>
              <a:t>运</a:t>
            </a:r>
            <a:r>
              <a:rPr dirty="0" sz="1400">
                <a:latin typeface="宋体"/>
                <a:cs typeface="宋体"/>
              </a:rPr>
              <a:t>费。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290" y="2195830"/>
            <a:ext cx="10858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baseline="13888" sz="2100" spc="7" b="1">
                <a:latin typeface="Times New Roman"/>
                <a:cs typeface="Times New Roman"/>
              </a:rPr>
              <a:t>1</a:t>
            </a:r>
            <a:r>
              <a:rPr dirty="0" baseline="13888" sz="2100" spc="7">
                <a:latin typeface="Times New Roman"/>
                <a:cs typeface="Times New Roman"/>
              </a:rPr>
              <a:t>+R</a:t>
            </a:r>
            <a:r>
              <a:rPr dirty="0" sz="900" spc="5">
                <a:latin typeface="Times New Roman"/>
                <a:cs typeface="Times New Roman"/>
              </a:rPr>
              <a:t>11+</a:t>
            </a:r>
            <a:r>
              <a:rPr dirty="0" baseline="13888" sz="2100" spc="7">
                <a:latin typeface="Times New Roman"/>
                <a:cs typeface="Times New Roman"/>
              </a:rPr>
              <a:t>R</a:t>
            </a:r>
            <a:r>
              <a:rPr dirty="0" sz="900" spc="5">
                <a:latin typeface="Times New Roman"/>
                <a:cs typeface="Times New Roman"/>
              </a:rPr>
              <a:t>12+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baseline="13888" sz="2100" spc="15">
                <a:latin typeface="Times New Roman"/>
                <a:cs typeface="Times New Roman"/>
              </a:rPr>
              <a:t>R</a:t>
            </a:r>
            <a:r>
              <a:rPr dirty="0" sz="900" spc="10">
                <a:latin typeface="Times New Roman"/>
                <a:cs typeface="Times New Roman"/>
              </a:rPr>
              <a:t>13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10072" y="2293366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267578" y="2048001"/>
            <a:ext cx="91566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baseline="-33730" sz="2100">
                <a:latin typeface="Times New Roman"/>
                <a:cs typeface="Times New Roman"/>
              </a:rPr>
              <a:t>=</a:t>
            </a:r>
            <a:r>
              <a:rPr dirty="0" baseline="-33730" sz="2100" spc="-120">
                <a:latin typeface="Times New Roman"/>
                <a:cs typeface="Times New Roman"/>
              </a:rPr>
              <a:t> </a:t>
            </a:r>
            <a:r>
              <a:rPr dirty="0" sz="1400" spc="5">
                <a:latin typeface="Times New Roman"/>
                <a:cs typeface="Times New Roman"/>
              </a:rPr>
              <a:t>1+R</a:t>
            </a:r>
            <a:r>
              <a:rPr dirty="0" baseline="-21604" sz="1350" spc="7">
                <a:latin typeface="Times New Roman"/>
                <a:cs typeface="Times New Roman"/>
              </a:rPr>
              <a:t>21</a:t>
            </a:r>
            <a:r>
              <a:rPr dirty="0" sz="1000" spc="5">
                <a:latin typeface="Cambria Math"/>
                <a:cs typeface="Cambria Math"/>
              </a:rPr>
              <a:t>+</a:t>
            </a:r>
            <a:r>
              <a:rPr dirty="0" sz="1400" spc="5">
                <a:latin typeface="Times New Roman"/>
                <a:cs typeface="Times New Roman"/>
              </a:rPr>
              <a:t>R</a:t>
            </a:r>
            <a:r>
              <a:rPr dirty="0" baseline="-21604" sz="1350" spc="7">
                <a:latin typeface="Times New Roman"/>
                <a:cs typeface="Times New Roman"/>
              </a:rPr>
              <a:t>22</a:t>
            </a:r>
            <a:endParaRPr baseline="-21604"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23280" y="2243074"/>
            <a:ext cx="7467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1−</a:t>
            </a:r>
            <a:r>
              <a:rPr dirty="0" sz="1400" spc="-45">
                <a:latin typeface="Times New Roman"/>
                <a:cs typeface="Times New Roman"/>
              </a:rPr>
              <a:t>1</a:t>
            </a:r>
            <a:r>
              <a:rPr dirty="0" sz="1400" spc="-10">
                <a:latin typeface="Times New Roman"/>
                <a:cs typeface="Times New Roman"/>
              </a:rPr>
              <a:t>1</a:t>
            </a:r>
            <a:r>
              <a:rPr dirty="0" sz="1400">
                <a:latin typeface="Times New Roman"/>
                <a:cs typeface="Times New Roman"/>
              </a:rPr>
              <a:t>.73%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0436" y="2153157"/>
            <a:ext cx="22021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mbria Math"/>
                <a:cs typeface="Cambria Math"/>
              </a:rPr>
              <a:t>× </a:t>
            </a:r>
            <a:r>
              <a:rPr dirty="0" sz="1400" spc="-5">
                <a:latin typeface="Cambria Math"/>
                <a:cs typeface="Cambria Math"/>
              </a:rPr>
              <a:t>(</a:t>
            </a:r>
            <a:r>
              <a:rPr dirty="0" sz="1400" spc="-5">
                <a:latin typeface="Times New Roman"/>
                <a:cs typeface="Times New Roman"/>
              </a:rPr>
              <a:t>1+16%) </a:t>
            </a:r>
            <a:r>
              <a:rPr dirty="0" sz="1400">
                <a:latin typeface="Cambria Math"/>
                <a:cs typeface="Cambria Math"/>
              </a:rPr>
              <a:t>× </a:t>
            </a:r>
            <a:r>
              <a:rPr dirty="0" sz="1400" spc="-5">
                <a:latin typeface="Cambria Math"/>
                <a:cs typeface="Cambria Math"/>
              </a:rPr>
              <a:t>(</a:t>
            </a:r>
            <a:r>
              <a:rPr dirty="0" sz="1400" spc="-5">
                <a:latin typeface="Times New Roman"/>
                <a:cs typeface="Times New Roman"/>
              </a:rPr>
              <a:t>1+11.73%)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79281" y="2255266"/>
            <a:ext cx="13208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900" spc="15">
                <a:latin typeface="Times New Roman"/>
                <a:cs typeface="Times New Roman"/>
              </a:rPr>
              <a:t>23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38728" y="2961132"/>
            <a:ext cx="5417820" cy="870585"/>
          </a:xfrm>
          <a:prstGeom prst="rect">
            <a:avLst/>
          </a:prstGeom>
          <a:ln w="12192">
            <a:solidFill>
              <a:srgbClr val="2E528F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80645" marR="635">
              <a:lnSpc>
                <a:spcPct val="150000"/>
              </a:lnSpc>
              <a:spcBef>
                <a:spcPts val="600"/>
              </a:spcBef>
            </a:pPr>
            <a:r>
              <a:rPr dirty="0" sz="1400" spc="10">
                <a:latin typeface="宋体"/>
                <a:cs typeface="宋体"/>
              </a:rPr>
              <a:t>模</a:t>
            </a:r>
            <a:r>
              <a:rPr dirty="0" sz="1400" spc="15">
                <a:latin typeface="宋体"/>
                <a:cs typeface="宋体"/>
              </a:rPr>
              <a:t>式</a:t>
            </a:r>
            <a:r>
              <a:rPr dirty="0" sz="1400" spc="-5">
                <a:latin typeface="Times New Roman"/>
                <a:cs typeface="Times New Roman"/>
              </a:rPr>
              <a:t>1=R</a:t>
            </a:r>
            <a:r>
              <a:rPr dirty="0" baseline="-21604" sz="1350" spc="-7">
                <a:latin typeface="Times New Roman"/>
                <a:cs typeface="Times New Roman"/>
              </a:rPr>
              <a:t>11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Times New Roman"/>
                <a:cs typeface="Times New Roman"/>
              </a:rPr>
              <a:t>20.87%+R</a:t>
            </a:r>
            <a:r>
              <a:rPr dirty="0" baseline="-21604" sz="1350" spc="-7">
                <a:latin typeface="Times New Roman"/>
                <a:cs typeface="Times New Roman"/>
              </a:rPr>
              <a:t>12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Times New Roman"/>
                <a:cs typeface="Times New Roman"/>
              </a:rPr>
              <a:t>22.37%+R</a:t>
            </a:r>
            <a:r>
              <a:rPr dirty="0" baseline="-21604" sz="1350" spc="-7">
                <a:latin typeface="Times New Roman"/>
                <a:cs typeface="Times New Roman"/>
              </a:rPr>
              <a:t>13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Times New Roman"/>
                <a:cs typeface="Times New Roman"/>
              </a:rPr>
              <a:t>5.87%-16.5+5.87%+C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Times New Roman"/>
                <a:cs typeface="Times New Roman"/>
              </a:rPr>
              <a:t>3.22%  </a:t>
            </a:r>
            <a:r>
              <a:rPr dirty="0" sz="1400" spc="10">
                <a:latin typeface="宋体"/>
                <a:cs typeface="宋体"/>
              </a:rPr>
              <a:t>模</a:t>
            </a:r>
            <a:r>
              <a:rPr dirty="0" sz="1400" spc="15">
                <a:latin typeface="宋体"/>
                <a:cs typeface="宋体"/>
              </a:rPr>
              <a:t>式</a:t>
            </a:r>
            <a:r>
              <a:rPr dirty="0" sz="1400">
                <a:latin typeface="Times New Roman"/>
                <a:cs typeface="Times New Roman"/>
              </a:rPr>
              <a:t>2=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（</a:t>
            </a:r>
            <a:r>
              <a:rPr dirty="0" sz="1400" spc="10">
                <a:latin typeface="Times New Roman"/>
                <a:cs typeface="Times New Roman"/>
              </a:rPr>
              <a:t>R</a:t>
            </a:r>
            <a:r>
              <a:rPr dirty="0" baseline="-21604" sz="1350" spc="15">
                <a:latin typeface="Times New Roman"/>
                <a:cs typeface="Times New Roman"/>
              </a:rPr>
              <a:t>21</a:t>
            </a:r>
            <a:r>
              <a:rPr dirty="0" baseline="-21604" sz="1350" spc="112">
                <a:latin typeface="Times New Roman"/>
                <a:cs typeface="Times New Roman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10">
                <a:latin typeface="Cambria Math"/>
                <a:cs typeface="Cambria Math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</a:t>
            </a:r>
            <a:r>
              <a:rPr dirty="0" baseline="-21604" sz="1350">
                <a:latin typeface="Times New Roman"/>
                <a:cs typeface="Times New Roman"/>
              </a:rPr>
              <a:t>22</a:t>
            </a:r>
            <a:r>
              <a:rPr dirty="0" sz="1400">
                <a:latin typeface="宋体"/>
                <a:cs typeface="宋体"/>
              </a:rPr>
              <a:t>）×</a:t>
            </a:r>
            <a:r>
              <a:rPr dirty="0" sz="1400">
                <a:latin typeface="Times New Roman"/>
                <a:cs typeface="Times New Roman"/>
              </a:rPr>
              <a:t>84.79%+R</a:t>
            </a:r>
            <a:r>
              <a:rPr dirty="0" baseline="-21604" sz="1350">
                <a:latin typeface="Times New Roman"/>
                <a:cs typeface="Times New Roman"/>
              </a:rPr>
              <a:t>23</a:t>
            </a:r>
            <a:r>
              <a:rPr dirty="0" sz="1400">
                <a:latin typeface="宋体"/>
                <a:cs typeface="宋体"/>
              </a:rPr>
              <a:t>×</a:t>
            </a:r>
            <a:r>
              <a:rPr dirty="0" sz="1400">
                <a:latin typeface="Times New Roman"/>
                <a:cs typeface="Times New Roman"/>
              </a:rPr>
              <a:t>6%+69.79%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3189" y="4511802"/>
            <a:ext cx="2714625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宋体"/>
                <a:cs typeface="宋体"/>
              </a:rPr>
              <a:t>依据</a:t>
            </a:r>
            <a:r>
              <a:rPr dirty="0" sz="1400" spc="-5">
                <a:latin typeface="Times New Roman"/>
                <a:cs typeface="Times New Roman"/>
              </a:rPr>
              <a:t>Newsan</a:t>
            </a:r>
            <a:r>
              <a:rPr dirty="0" sz="1400">
                <a:latin typeface="宋体"/>
                <a:cs typeface="宋体"/>
              </a:rPr>
              <a:t>和</a:t>
            </a:r>
            <a:r>
              <a:rPr dirty="0" sz="1400" spc="-5">
                <a:latin typeface="Times New Roman"/>
                <a:cs typeface="Times New Roman"/>
              </a:rPr>
              <a:t>Electronic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5">
                <a:latin typeface="Times New Roman"/>
                <a:cs typeface="Times New Roman"/>
              </a:rPr>
              <a:t>SA</a:t>
            </a:r>
            <a:r>
              <a:rPr dirty="0" sz="1400" spc="10">
                <a:latin typeface="宋体"/>
                <a:cs typeface="宋体"/>
              </a:rPr>
              <a:t>中转售 </a:t>
            </a:r>
            <a:r>
              <a:rPr dirty="0" sz="1400" spc="10">
                <a:latin typeface="宋体"/>
                <a:cs typeface="宋体"/>
              </a:rPr>
              <a:t>毛利</a:t>
            </a:r>
            <a:r>
              <a:rPr dirty="0" sz="1400" spc="5">
                <a:latin typeface="宋体"/>
                <a:cs typeface="宋体"/>
              </a:rPr>
              <a:t>率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10">
                <a:latin typeface="Times New Roman"/>
                <a:cs typeface="Times New Roman"/>
              </a:rPr>
              <a:t>29</a:t>
            </a:r>
            <a:r>
              <a:rPr dirty="0" sz="1400">
                <a:latin typeface="Times New Roman"/>
                <a:cs typeface="Times New Roman"/>
              </a:rPr>
              <a:t>.5</a:t>
            </a:r>
            <a:r>
              <a:rPr dirty="0" sz="1400" spc="-10">
                <a:latin typeface="Times New Roman"/>
                <a:cs typeface="Times New Roman"/>
              </a:rPr>
              <a:t>1%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 spc="-10">
                <a:latin typeface="宋体"/>
                <a:cs typeface="宋体"/>
              </a:rPr>
              <a:t>华</a:t>
            </a:r>
            <a:r>
              <a:rPr dirty="0" sz="1400" spc="5">
                <a:latin typeface="宋体"/>
                <a:cs typeface="宋体"/>
              </a:rPr>
              <a:t>为手</a:t>
            </a:r>
            <a:r>
              <a:rPr dirty="0" sz="1400" spc="-10">
                <a:latin typeface="宋体"/>
                <a:cs typeface="宋体"/>
              </a:rPr>
              <a:t>机</a:t>
            </a:r>
            <a:r>
              <a:rPr dirty="0" sz="1400" spc="5">
                <a:latin typeface="宋体"/>
                <a:cs typeface="宋体"/>
              </a:rPr>
              <a:t>业务毛 </a:t>
            </a:r>
            <a:r>
              <a:rPr dirty="0" sz="1400" spc="10">
                <a:latin typeface="宋体"/>
                <a:cs typeface="宋体"/>
              </a:rPr>
              <a:t>利率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5">
                <a:latin typeface="Times New Roman"/>
                <a:cs typeface="Times New Roman"/>
              </a:rPr>
              <a:t>20%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代工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毛利率 </a:t>
            </a:r>
            <a:r>
              <a:rPr dirty="0" sz="1400" spc="10">
                <a:latin typeface="宋体"/>
                <a:cs typeface="宋体"/>
              </a:rPr>
              <a:t>为</a:t>
            </a:r>
            <a:r>
              <a:rPr dirty="0" sz="1400">
                <a:latin typeface="Times New Roman"/>
                <a:cs typeface="Times New Roman"/>
              </a:rPr>
              <a:t>27%</a:t>
            </a:r>
            <a:r>
              <a:rPr dirty="0" sz="1400">
                <a:latin typeface="宋体"/>
                <a:cs typeface="宋体"/>
              </a:rPr>
              <a:t>，估</a:t>
            </a:r>
            <a:r>
              <a:rPr dirty="0" sz="1400" spc="-15">
                <a:latin typeface="宋体"/>
                <a:cs typeface="宋体"/>
              </a:rPr>
              <a:t>算</a:t>
            </a:r>
            <a:r>
              <a:rPr dirty="0" sz="1400" spc="5">
                <a:latin typeface="Times New Roman"/>
                <a:cs typeface="Times New Roman"/>
              </a:rPr>
              <a:t>R</a:t>
            </a:r>
            <a:r>
              <a:rPr dirty="0" baseline="-21604" sz="1350" spc="7">
                <a:latin typeface="Times New Roman"/>
                <a:cs typeface="Times New Roman"/>
              </a:rPr>
              <a:t>ij</a:t>
            </a:r>
            <a:endParaRPr baseline="-21604"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95469" y="4220692"/>
            <a:ext cx="3055620" cy="6654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spc="10">
                <a:latin typeface="宋体"/>
                <a:cs typeface="宋体"/>
              </a:rPr>
              <a:t>模式</a:t>
            </a:r>
            <a:r>
              <a:rPr dirty="0" sz="1400" spc="-10">
                <a:latin typeface="Arial"/>
                <a:cs typeface="Arial"/>
              </a:rPr>
              <a:t>1-</a:t>
            </a:r>
            <a:r>
              <a:rPr dirty="0" sz="1400">
                <a:latin typeface="宋体"/>
                <a:cs typeface="宋体"/>
              </a:rPr>
              <a:t>模式</a:t>
            </a:r>
            <a:r>
              <a:rPr dirty="0" sz="1400" spc="-5">
                <a:latin typeface="Arial"/>
                <a:cs typeface="Arial"/>
              </a:rPr>
              <a:t>2≈3.22%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Arial"/>
                <a:cs typeface="Arial"/>
              </a:rPr>
              <a:t>C-16.2913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spc="10">
                <a:latin typeface="宋体"/>
                <a:cs typeface="宋体"/>
              </a:rPr>
              <a:t>若模</a:t>
            </a:r>
            <a:r>
              <a:rPr dirty="0" sz="1400">
                <a:latin typeface="宋体"/>
                <a:cs typeface="宋体"/>
              </a:rPr>
              <a:t>式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税负</a:t>
            </a:r>
            <a:r>
              <a:rPr dirty="0" sz="1400" spc="-20">
                <a:latin typeface="Arial"/>
                <a:cs typeface="Arial"/>
              </a:rPr>
              <a:t>&gt;</a:t>
            </a:r>
            <a:r>
              <a:rPr dirty="0" sz="1400">
                <a:latin typeface="宋体"/>
                <a:cs typeface="宋体"/>
              </a:rPr>
              <a:t>模式</a:t>
            </a:r>
            <a:r>
              <a:rPr dirty="0" sz="1400" spc="-15">
                <a:latin typeface="Arial"/>
                <a:cs typeface="Arial"/>
              </a:rPr>
              <a:t>2</a:t>
            </a:r>
            <a:r>
              <a:rPr dirty="0" sz="1400">
                <a:latin typeface="宋体"/>
                <a:cs typeface="宋体"/>
              </a:rPr>
              <a:t>税负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5">
                <a:latin typeface="Arial"/>
                <a:cs typeface="Arial"/>
              </a:rPr>
              <a:t>C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507.617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2056" y="5091429"/>
            <a:ext cx="19824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宋体"/>
                <a:cs typeface="宋体"/>
              </a:rPr>
              <a:t>经判断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不符</a:t>
            </a:r>
            <a:r>
              <a:rPr dirty="0" sz="1400" spc="-15">
                <a:latin typeface="宋体"/>
                <a:cs typeface="宋体"/>
              </a:rPr>
              <a:t>实际</a:t>
            </a:r>
            <a:r>
              <a:rPr dirty="0" sz="1400">
                <a:latin typeface="宋体"/>
                <a:cs typeface="宋体"/>
              </a:rPr>
              <a:t>情况。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70732" y="5436108"/>
            <a:ext cx="5386070" cy="541020"/>
          </a:xfrm>
          <a:prstGeom prst="rect">
            <a:avLst/>
          </a:prstGeom>
          <a:ln w="12192">
            <a:solidFill>
              <a:srgbClr val="2E528F"/>
            </a:solidFill>
          </a:ln>
        </p:spPr>
        <p:txBody>
          <a:bodyPr wrap="square" lIns="0" tIns="13462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1060"/>
              </a:spcBef>
            </a:pPr>
            <a:r>
              <a:rPr dirty="0" sz="1400" spc="10" b="1">
                <a:latin typeface="明兰"/>
                <a:cs typeface="明兰"/>
              </a:rPr>
              <a:t>因而</a:t>
            </a:r>
            <a:r>
              <a:rPr dirty="0" sz="1400" b="1">
                <a:latin typeface="明兰"/>
                <a:cs typeface="明兰"/>
              </a:rPr>
              <a:t>，模</a:t>
            </a:r>
            <a:r>
              <a:rPr dirty="0" sz="1400" spc="-10" b="1">
                <a:latin typeface="明兰"/>
                <a:cs typeface="明兰"/>
              </a:rPr>
              <a:t>式</a:t>
            </a:r>
            <a:r>
              <a:rPr dirty="0" sz="1400" spc="-15" b="1">
                <a:latin typeface="Arial"/>
                <a:cs typeface="Arial"/>
              </a:rPr>
              <a:t>1</a:t>
            </a:r>
            <a:r>
              <a:rPr dirty="0" sz="1400" b="1">
                <a:latin typeface="明兰"/>
                <a:cs typeface="明兰"/>
              </a:rPr>
              <a:t>税负＜模</a:t>
            </a:r>
            <a:r>
              <a:rPr dirty="0" sz="1400" spc="-15" b="1">
                <a:latin typeface="明兰"/>
                <a:cs typeface="明兰"/>
              </a:rPr>
              <a:t>式</a:t>
            </a:r>
            <a:r>
              <a:rPr dirty="0" sz="1400" spc="-15" b="1">
                <a:latin typeface="Arial"/>
                <a:cs typeface="Arial"/>
              </a:rPr>
              <a:t>2</a:t>
            </a:r>
            <a:r>
              <a:rPr dirty="0" sz="1400" b="1">
                <a:latin typeface="明兰"/>
                <a:cs typeface="明兰"/>
              </a:rPr>
              <a:t>税负，模</a:t>
            </a:r>
            <a:r>
              <a:rPr dirty="0" sz="1400" spc="-10" b="1">
                <a:latin typeface="明兰"/>
                <a:cs typeface="明兰"/>
              </a:rPr>
              <a:t>式</a:t>
            </a:r>
            <a:r>
              <a:rPr dirty="0" sz="1400" spc="-15" b="1">
                <a:latin typeface="Arial"/>
                <a:cs typeface="Arial"/>
              </a:rPr>
              <a:t>1</a:t>
            </a:r>
            <a:r>
              <a:rPr dirty="0" sz="1400" b="1">
                <a:latin typeface="明兰"/>
                <a:cs typeface="明兰"/>
              </a:rPr>
              <a:t>的税负</a:t>
            </a:r>
            <a:r>
              <a:rPr dirty="0" sz="1400" spc="-15" b="1">
                <a:latin typeface="明兰"/>
                <a:cs typeface="明兰"/>
              </a:rPr>
              <a:t>较</a:t>
            </a:r>
            <a:r>
              <a:rPr dirty="0" sz="1400" b="1">
                <a:latin typeface="明兰"/>
                <a:cs typeface="明兰"/>
              </a:rPr>
              <a:t>模式</a:t>
            </a:r>
            <a:r>
              <a:rPr dirty="0" sz="1400" spc="-15" b="1">
                <a:latin typeface="Arial"/>
                <a:cs typeface="Arial"/>
              </a:rPr>
              <a:t>2</a:t>
            </a:r>
            <a:r>
              <a:rPr dirty="0" sz="1400" b="1">
                <a:latin typeface="明兰"/>
                <a:cs typeface="明兰"/>
              </a:rPr>
              <a:t>更轻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10300" y="3831335"/>
            <a:ext cx="76200" cy="327025"/>
          </a:xfrm>
          <a:custGeom>
            <a:avLst/>
            <a:gdLst/>
            <a:ahLst/>
            <a:cxnLst/>
            <a:rect l="l" t="t" r="r" b="b"/>
            <a:pathLst>
              <a:path w="76200" h="327025">
                <a:moveTo>
                  <a:pt x="31750" y="250316"/>
                </a:moveTo>
                <a:lnTo>
                  <a:pt x="0" y="250316"/>
                </a:lnTo>
                <a:lnTo>
                  <a:pt x="38100" y="326516"/>
                </a:lnTo>
                <a:lnTo>
                  <a:pt x="69850" y="263016"/>
                </a:lnTo>
                <a:lnTo>
                  <a:pt x="31750" y="263016"/>
                </a:lnTo>
                <a:lnTo>
                  <a:pt x="31750" y="250316"/>
                </a:lnTo>
                <a:close/>
              </a:path>
              <a:path w="76200" h="327025">
                <a:moveTo>
                  <a:pt x="44450" y="0"/>
                </a:moveTo>
                <a:lnTo>
                  <a:pt x="31750" y="0"/>
                </a:lnTo>
                <a:lnTo>
                  <a:pt x="31750" y="263016"/>
                </a:lnTo>
                <a:lnTo>
                  <a:pt x="44450" y="263016"/>
                </a:lnTo>
                <a:lnTo>
                  <a:pt x="44450" y="0"/>
                </a:lnTo>
                <a:close/>
              </a:path>
              <a:path w="76200" h="327025">
                <a:moveTo>
                  <a:pt x="76200" y="250316"/>
                </a:moveTo>
                <a:lnTo>
                  <a:pt x="44450" y="250316"/>
                </a:lnTo>
                <a:lnTo>
                  <a:pt x="44450" y="263016"/>
                </a:lnTo>
                <a:lnTo>
                  <a:pt x="69850" y="263016"/>
                </a:lnTo>
                <a:lnTo>
                  <a:pt x="76200" y="25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363339" y="1662176"/>
            <a:ext cx="5600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62727"/>
                </a:solidFill>
                <a:latin typeface="明兰"/>
                <a:cs typeface="明兰"/>
              </a:rPr>
              <a:t>模 式</a:t>
            </a:r>
            <a:r>
              <a:rPr dirty="0" sz="1400" spc="55" b="1">
                <a:solidFill>
                  <a:srgbClr val="762727"/>
                </a:solidFill>
                <a:latin typeface="明兰"/>
                <a:cs typeface="明兰"/>
              </a:rPr>
              <a:t> </a:t>
            </a:r>
            <a:r>
              <a:rPr dirty="0" sz="1400" spc="-75" b="1">
                <a:solidFill>
                  <a:srgbClr val="762727"/>
                </a:solidFill>
                <a:latin typeface="明兰"/>
                <a:cs typeface="明兰"/>
              </a:rPr>
              <a:t>1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96227" y="1639062"/>
            <a:ext cx="5600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62727"/>
                </a:solidFill>
                <a:latin typeface="明兰"/>
                <a:cs typeface="明兰"/>
              </a:rPr>
              <a:t>模 式</a:t>
            </a:r>
            <a:r>
              <a:rPr dirty="0" sz="1400" spc="55" b="1">
                <a:solidFill>
                  <a:srgbClr val="762727"/>
                </a:solidFill>
                <a:latin typeface="明兰"/>
                <a:cs typeface="明兰"/>
              </a:rPr>
              <a:t> </a:t>
            </a:r>
            <a:r>
              <a:rPr dirty="0" sz="1400" spc="-75" b="1">
                <a:solidFill>
                  <a:srgbClr val="762727"/>
                </a:solidFill>
                <a:latin typeface="明兰"/>
                <a:cs typeface="明兰"/>
              </a:rPr>
              <a:t>2</a:t>
            </a:r>
            <a:endParaRPr sz="14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8383"/>
            <a:ext cx="29825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定价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建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议的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核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心逻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辑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320" y="2494788"/>
            <a:ext cx="8582025" cy="840105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108585" marR="53340">
              <a:lnSpc>
                <a:spcPct val="100000"/>
              </a:lnSpc>
              <a:spcBef>
                <a:spcPts val="745"/>
              </a:spcBef>
            </a:pPr>
            <a:r>
              <a:rPr dirty="0" sz="1400" b="1">
                <a:latin typeface="明兰"/>
                <a:cs typeface="明兰"/>
              </a:rPr>
              <a:t>核心定</a:t>
            </a:r>
            <a:r>
              <a:rPr dirty="0" sz="1400" spc="-15" b="1">
                <a:latin typeface="明兰"/>
                <a:cs typeface="明兰"/>
              </a:rPr>
              <a:t>价</a:t>
            </a:r>
            <a:r>
              <a:rPr dirty="0" sz="1400" b="1">
                <a:latin typeface="明兰"/>
                <a:cs typeface="明兰"/>
              </a:rPr>
              <a:t>逻辑</a:t>
            </a:r>
            <a:r>
              <a:rPr dirty="0" sz="1400" spc="-15" b="1">
                <a:latin typeface="明兰"/>
                <a:cs typeface="明兰"/>
              </a:rPr>
              <a:t>：通</a:t>
            </a:r>
            <a:r>
              <a:rPr dirty="0" sz="1400" b="1">
                <a:latin typeface="明兰"/>
                <a:cs typeface="明兰"/>
              </a:rPr>
              <a:t>过对中</a:t>
            </a:r>
            <a:r>
              <a:rPr dirty="0" sz="1400" spc="-15" b="1">
                <a:latin typeface="明兰"/>
                <a:cs typeface="明兰"/>
              </a:rPr>
              <a:t>端</a:t>
            </a:r>
            <a:r>
              <a:rPr dirty="0" sz="1400" b="1">
                <a:latin typeface="明兰"/>
                <a:cs typeface="明兰"/>
              </a:rPr>
              <a:t>产品</a:t>
            </a:r>
            <a:r>
              <a:rPr dirty="0" sz="1400" spc="-15" b="1">
                <a:latin typeface="明兰"/>
                <a:cs typeface="明兰"/>
              </a:rPr>
              <a:t>（市</a:t>
            </a:r>
            <a:r>
              <a:rPr dirty="0" sz="1400" b="1">
                <a:latin typeface="明兰"/>
                <a:cs typeface="明兰"/>
              </a:rPr>
              <a:t>场售</a:t>
            </a:r>
            <a:r>
              <a:rPr dirty="0" sz="1400" spc="15" b="1">
                <a:latin typeface="明兰"/>
                <a:cs typeface="明兰"/>
              </a:rPr>
              <a:t>价</a:t>
            </a:r>
            <a:r>
              <a:rPr dirty="0" sz="1400" spc="-10" b="1">
                <a:latin typeface="Arial"/>
                <a:cs typeface="Arial"/>
              </a:rPr>
              <a:t>200-400</a:t>
            </a:r>
            <a:r>
              <a:rPr dirty="0" sz="1400" b="1">
                <a:latin typeface="明兰"/>
                <a:cs typeface="明兰"/>
              </a:rPr>
              <a:t>美</a:t>
            </a:r>
            <a:r>
              <a:rPr dirty="0" sz="1400" spc="-15" b="1">
                <a:latin typeface="明兰"/>
                <a:cs typeface="明兰"/>
              </a:rPr>
              <a:t>元</a:t>
            </a:r>
            <a:r>
              <a:rPr dirty="0" sz="1400" b="1">
                <a:latin typeface="明兰"/>
                <a:cs typeface="明兰"/>
              </a:rPr>
              <a:t>）及低</a:t>
            </a:r>
            <a:r>
              <a:rPr dirty="0" sz="1400" spc="-15" b="1">
                <a:latin typeface="明兰"/>
                <a:cs typeface="明兰"/>
              </a:rPr>
              <a:t>端</a:t>
            </a:r>
            <a:r>
              <a:rPr dirty="0" sz="1400" b="1">
                <a:latin typeface="明兰"/>
                <a:cs typeface="明兰"/>
              </a:rPr>
              <a:t>产品</a:t>
            </a:r>
            <a:r>
              <a:rPr dirty="0" sz="1400" spc="-10" b="1">
                <a:latin typeface="明兰"/>
                <a:cs typeface="明兰"/>
              </a:rPr>
              <a:t>（</a:t>
            </a:r>
            <a:r>
              <a:rPr dirty="0" sz="1400" spc="-10" b="1">
                <a:latin typeface="Arial"/>
                <a:cs typeface="Arial"/>
              </a:rPr>
              <a:t>200</a:t>
            </a:r>
            <a:r>
              <a:rPr dirty="0" sz="1400" b="1">
                <a:latin typeface="明兰"/>
                <a:cs typeface="明兰"/>
              </a:rPr>
              <a:t>美元以</a:t>
            </a:r>
            <a:r>
              <a:rPr dirty="0" sz="1400" spc="-15" b="1">
                <a:latin typeface="明兰"/>
                <a:cs typeface="明兰"/>
              </a:rPr>
              <a:t>内</a:t>
            </a:r>
            <a:r>
              <a:rPr dirty="0" sz="1400" b="1">
                <a:latin typeface="明兰"/>
                <a:cs typeface="明兰"/>
              </a:rPr>
              <a:t>）让</a:t>
            </a:r>
            <a:r>
              <a:rPr dirty="0" sz="1400" spc="-15" b="1">
                <a:latin typeface="明兰"/>
                <a:cs typeface="明兰"/>
              </a:rPr>
              <a:t>利或</a:t>
            </a:r>
            <a:r>
              <a:rPr dirty="0" sz="1400" b="1">
                <a:latin typeface="明兰"/>
                <a:cs typeface="明兰"/>
              </a:rPr>
              <a:t>仅赚取</a:t>
            </a:r>
            <a:r>
              <a:rPr dirty="0" sz="1400" spc="-15" b="1">
                <a:latin typeface="明兰"/>
                <a:cs typeface="明兰"/>
              </a:rPr>
              <a:t>微</a:t>
            </a:r>
            <a:r>
              <a:rPr dirty="0" sz="1400" b="1">
                <a:latin typeface="明兰"/>
                <a:cs typeface="明兰"/>
              </a:rPr>
              <a:t>利，  </a:t>
            </a:r>
            <a:r>
              <a:rPr dirty="0" sz="1400" spc="10" b="1">
                <a:latin typeface="明兰"/>
                <a:cs typeface="明兰"/>
              </a:rPr>
              <a:t>迅速</a:t>
            </a:r>
            <a:r>
              <a:rPr dirty="0" sz="1400" spc="5" b="1">
                <a:latin typeface="明兰"/>
                <a:cs typeface="明兰"/>
              </a:rPr>
              <a:t>抢</a:t>
            </a:r>
            <a:r>
              <a:rPr dirty="0" sz="1400" b="1">
                <a:latin typeface="明兰"/>
                <a:cs typeface="明兰"/>
              </a:rPr>
              <a:t>占</a:t>
            </a:r>
            <a:r>
              <a:rPr dirty="0" sz="1400" spc="-10" b="1">
                <a:latin typeface="明兰"/>
                <a:cs typeface="明兰"/>
              </a:rPr>
              <a:t>主</a:t>
            </a:r>
            <a:r>
              <a:rPr dirty="0" sz="1400" spc="5" b="1">
                <a:latin typeface="明兰"/>
                <a:cs typeface="明兰"/>
              </a:rPr>
              <a:t>流</a:t>
            </a:r>
            <a:r>
              <a:rPr dirty="0" sz="1400" b="1">
                <a:latin typeface="明兰"/>
                <a:cs typeface="明兰"/>
              </a:rPr>
              <a:t>价</a:t>
            </a:r>
            <a:r>
              <a:rPr dirty="0" sz="1400" spc="-10" b="1">
                <a:latin typeface="明兰"/>
                <a:cs typeface="明兰"/>
              </a:rPr>
              <a:t>位</a:t>
            </a:r>
            <a:r>
              <a:rPr dirty="0" sz="1400" spc="5" b="1">
                <a:latin typeface="明兰"/>
                <a:cs typeface="明兰"/>
              </a:rPr>
              <a:t>市</a:t>
            </a:r>
            <a:r>
              <a:rPr dirty="0" sz="1400" b="1">
                <a:latin typeface="明兰"/>
                <a:cs typeface="明兰"/>
              </a:rPr>
              <a:t>场</a:t>
            </a:r>
            <a:r>
              <a:rPr dirty="0" sz="1400" spc="-10" b="1">
                <a:latin typeface="明兰"/>
                <a:cs typeface="明兰"/>
              </a:rPr>
              <a:t>，</a:t>
            </a:r>
            <a:r>
              <a:rPr dirty="0" sz="1400" spc="5" b="1">
                <a:latin typeface="明兰"/>
                <a:cs typeface="明兰"/>
              </a:rPr>
              <a:t>提</a:t>
            </a:r>
            <a:r>
              <a:rPr dirty="0" sz="1400" b="1">
                <a:latin typeface="明兰"/>
                <a:cs typeface="明兰"/>
              </a:rPr>
              <a:t>高</a:t>
            </a:r>
            <a:r>
              <a:rPr dirty="0" sz="1400" spc="-10" b="1">
                <a:latin typeface="明兰"/>
                <a:cs typeface="明兰"/>
              </a:rPr>
              <a:t>渗</a:t>
            </a:r>
            <a:r>
              <a:rPr dirty="0" sz="1400" spc="5" b="1">
                <a:latin typeface="明兰"/>
                <a:cs typeface="明兰"/>
              </a:rPr>
              <a:t>透</a:t>
            </a:r>
            <a:r>
              <a:rPr dirty="0" sz="1400" b="1">
                <a:latin typeface="明兰"/>
                <a:cs typeface="明兰"/>
              </a:rPr>
              <a:t>率</a:t>
            </a:r>
            <a:r>
              <a:rPr dirty="0" sz="1400" spc="-10" b="1">
                <a:latin typeface="明兰"/>
                <a:cs typeface="明兰"/>
              </a:rPr>
              <a:t>，</a:t>
            </a:r>
            <a:r>
              <a:rPr dirty="0" sz="1400" spc="5" b="1">
                <a:latin typeface="明兰"/>
                <a:cs typeface="明兰"/>
              </a:rPr>
              <a:t>达</a:t>
            </a:r>
            <a:r>
              <a:rPr dirty="0" sz="1400" b="1">
                <a:latin typeface="明兰"/>
                <a:cs typeface="明兰"/>
              </a:rPr>
              <a:t>成</a:t>
            </a:r>
            <a:r>
              <a:rPr dirty="0" sz="1400" spc="-10" b="1">
                <a:latin typeface="明兰"/>
                <a:cs typeface="明兰"/>
              </a:rPr>
              <a:t>总</a:t>
            </a:r>
            <a:r>
              <a:rPr dirty="0" sz="1400" spc="5" b="1">
                <a:latin typeface="明兰"/>
                <a:cs typeface="明兰"/>
              </a:rPr>
              <a:t>体</a:t>
            </a:r>
            <a:r>
              <a:rPr dirty="0" sz="1400" b="1">
                <a:latin typeface="明兰"/>
                <a:cs typeface="明兰"/>
              </a:rPr>
              <a:t>战</a:t>
            </a:r>
            <a:r>
              <a:rPr dirty="0" sz="1400" spc="-10" b="1">
                <a:latin typeface="明兰"/>
                <a:cs typeface="明兰"/>
              </a:rPr>
              <a:t>略</a:t>
            </a:r>
            <a:r>
              <a:rPr dirty="0" sz="1400" spc="5" b="1">
                <a:latin typeface="明兰"/>
                <a:cs typeface="明兰"/>
              </a:rPr>
              <a:t>目</a:t>
            </a:r>
            <a:r>
              <a:rPr dirty="0" sz="1400" b="1">
                <a:latin typeface="明兰"/>
                <a:cs typeface="明兰"/>
              </a:rPr>
              <a:t>标</a:t>
            </a:r>
            <a:r>
              <a:rPr dirty="0" sz="1400" spc="-10" b="1">
                <a:latin typeface="明兰"/>
                <a:cs typeface="明兰"/>
              </a:rPr>
              <a:t>；</a:t>
            </a:r>
            <a:r>
              <a:rPr dirty="0" sz="1400" b="1">
                <a:latin typeface="明兰"/>
                <a:cs typeface="明兰"/>
              </a:rPr>
              <a:t>对</a:t>
            </a:r>
            <a:r>
              <a:rPr dirty="0" sz="1400" spc="5" b="1">
                <a:latin typeface="明兰"/>
                <a:cs typeface="明兰"/>
              </a:rPr>
              <a:t>高</a:t>
            </a:r>
            <a:r>
              <a:rPr dirty="0" sz="1400" spc="-15" b="1">
                <a:latin typeface="明兰"/>
                <a:cs typeface="明兰"/>
              </a:rPr>
              <a:t>端</a:t>
            </a:r>
            <a:r>
              <a:rPr dirty="0" sz="1400" spc="5" b="1">
                <a:latin typeface="明兰"/>
                <a:cs typeface="明兰"/>
              </a:rPr>
              <a:t>产</a:t>
            </a:r>
            <a:r>
              <a:rPr dirty="0" sz="1400" b="1">
                <a:latin typeface="明兰"/>
                <a:cs typeface="明兰"/>
              </a:rPr>
              <a:t>品</a:t>
            </a:r>
            <a:r>
              <a:rPr dirty="0" sz="1400" spc="-10" b="1">
                <a:latin typeface="明兰"/>
                <a:cs typeface="明兰"/>
              </a:rPr>
              <a:t>（</a:t>
            </a:r>
            <a:r>
              <a:rPr dirty="0" sz="1400" spc="5" b="1">
                <a:latin typeface="明兰"/>
                <a:cs typeface="明兰"/>
              </a:rPr>
              <a:t>市</a:t>
            </a:r>
            <a:r>
              <a:rPr dirty="0" sz="1400" b="1">
                <a:latin typeface="明兰"/>
                <a:cs typeface="明兰"/>
              </a:rPr>
              <a:t>场</a:t>
            </a:r>
            <a:r>
              <a:rPr dirty="0" sz="1400" spc="-10" b="1">
                <a:latin typeface="明兰"/>
                <a:cs typeface="明兰"/>
              </a:rPr>
              <a:t>售</a:t>
            </a:r>
            <a:r>
              <a:rPr dirty="0" sz="1400" b="1">
                <a:latin typeface="明兰"/>
                <a:cs typeface="明兰"/>
              </a:rPr>
              <a:t>价</a:t>
            </a:r>
            <a:r>
              <a:rPr dirty="0" sz="1400" spc="-10" b="1">
                <a:latin typeface="Arial"/>
                <a:cs typeface="Arial"/>
              </a:rPr>
              <a:t>400</a:t>
            </a:r>
            <a:r>
              <a:rPr dirty="0" sz="1400" spc="5" b="1">
                <a:latin typeface="明兰"/>
                <a:cs typeface="明兰"/>
              </a:rPr>
              <a:t>美</a:t>
            </a:r>
            <a:r>
              <a:rPr dirty="0" sz="1400" b="1">
                <a:latin typeface="明兰"/>
                <a:cs typeface="明兰"/>
              </a:rPr>
              <a:t>元</a:t>
            </a:r>
            <a:r>
              <a:rPr dirty="0" sz="1400" spc="5" b="1">
                <a:latin typeface="明兰"/>
                <a:cs typeface="明兰"/>
              </a:rPr>
              <a:t>以</a:t>
            </a:r>
            <a:r>
              <a:rPr dirty="0" sz="1400" spc="-15" b="1">
                <a:latin typeface="明兰"/>
                <a:cs typeface="明兰"/>
              </a:rPr>
              <a:t>上</a:t>
            </a:r>
            <a:r>
              <a:rPr dirty="0" sz="1400" spc="5" b="1">
                <a:latin typeface="明兰"/>
                <a:cs typeface="明兰"/>
              </a:rPr>
              <a:t>）</a:t>
            </a:r>
            <a:r>
              <a:rPr dirty="0" sz="1400" b="1">
                <a:latin typeface="明兰"/>
                <a:cs typeface="明兰"/>
              </a:rPr>
              <a:t>赚</a:t>
            </a:r>
            <a:r>
              <a:rPr dirty="0" sz="1400" spc="-10" b="1">
                <a:latin typeface="明兰"/>
                <a:cs typeface="明兰"/>
              </a:rPr>
              <a:t>取</a:t>
            </a:r>
            <a:r>
              <a:rPr dirty="0" sz="1400" spc="5" b="1">
                <a:latin typeface="明兰"/>
                <a:cs typeface="明兰"/>
              </a:rPr>
              <a:t>正常 </a:t>
            </a:r>
            <a:r>
              <a:rPr dirty="0" sz="1400" b="1">
                <a:latin typeface="明兰"/>
                <a:cs typeface="明兰"/>
              </a:rPr>
              <a:t>利润，</a:t>
            </a:r>
            <a:r>
              <a:rPr dirty="0" sz="1400" spc="-15" b="1">
                <a:latin typeface="明兰"/>
                <a:cs typeface="明兰"/>
              </a:rPr>
              <a:t>满</a:t>
            </a:r>
            <a:r>
              <a:rPr dirty="0" sz="1400" b="1">
                <a:latin typeface="明兰"/>
                <a:cs typeface="明兰"/>
              </a:rPr>
              <a:t>足经</a:t>
            </a:r>
            <a:r>
              <a:rPr dirty="0" sz="1400" spc="-15" b="1">
                <a:latin typeface="明兰"/>
                <a:cs typeface="明兰"/>
              </a:rPr>
              <a:t>营存</a:t>
            </a:r>
            <a:r>
              <a:rPr dirty="0" sz="1400" b="1">
                <a:latin typeface="明兰"/>
                <a:cs typeface="明兰"/>
              </a:rPr>
              <a:t>续需求。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424" y="1423416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843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9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1655" y="1408175"/>
            <a:ext cx="1065530" cy="47117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5730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99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4544" y="1405127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59991" y="1629155"/>
            <a:ext cx="1021080" cy="76200"/>
          </a:xfrm>
          <a:custGeom>
            <a:avLst/>
            <a:gdLst/>
            <a:ahLst/>
            <a:cxnLst/>
            <a:rect l="l" t="t" r="r" b="b"/>
            <a:pathLst>
              <a:path w="1021080" h="76200">
                <a:moveTo>
                  <a:pt x="944880" y="0"/>
                </a:moveTo>
                <a:lnTo>
                  <a:pt x="944880" y="76200"/>
                </a:lnTo>
                <a:lnTo>
                  <a:pt x="1008380" y="44450"/>
                </a:lnTo>
                <a:lnTo>
                  <a:pt x="957580" y="44450"/>
                </a:lnTo>
                <a:lnTo>
                  <a:pt x="957580" y="31750"/>
                </a:lnTo>
                <a:lnTo>
                  <a:pt x="1008380" y="31750"/>
                </a:lnTo>
                <a:lnTo>
                  <a:pt x="944880" y="0"/>
                </a:lnTo>
                <a:close/>
              </a:path>
              <a:path w="1021080" h="76200">
                <a:moveTo>
                  <a:pt x="9448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44880" y="44450"/>
                </a:lnTo>
                <a:lnTo>
                  <a:pt x="944880" y="31750"/>
                </a:lnTo>
                <a:close/>
              </a:path>
              <a:path w="1021080" h="76200">
                <a:moveTo>
                  <a:pt x="1008380" y="31750"/>
                </a:moveTo>
                <a:lnTo>
                  <a:pt x="957580" y="31750"/>
                </a:lnTo>
                <a:lnTo>
                  <a:pt x="957580" y="44450"/>
                </a:lnTo>
                <a:lnTo>
                  <a:pt x="1008380" y="44450"/>
                </a:lnTo>
                <a:lnTo>
                  <a:pt x="1021080" y="38100"/>
                </a:lnTo>
                <a:lnTo>
                  <a:pt x="1008380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0855" y="1607819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67077" y="1431416"/>
            <a:ext cx="23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6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9810" y="1417701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34656" y="1391411"/>
            <a:ext cx="1214755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9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63284" y="1609344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08252" y="1778253"/>
            <a:ext cx="86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11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7078" y="1778253"/>
            <a:ext cx="1182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15">
                <a:latin typeface="Arial"/>
                <a:cs typeface="Arial"/>
              </a:rPr>
              <a:t>1+R</a:t>
            </a:r>
            <a:r>
              <a:rPr dirty="0" baseline="-20833" sz="1200" spc="-22">
                <a:latin typeface="Arial"/>
                <a:cs typeface="Arial"/>
              </a:rPr>
              <a:t>11</a:t>
            </a:r>
            <a:r>
              <a:rPr dirty="0" sz="1200" spc="-15">
                <a:latin typeface="Arial"/>
                <a:cs typeface="Arial"/>
              </a:rPr>
              <a:t>+R</a:t>
            </a:r>
            <a:r>
              <a:rPr dirty="0" baseline="-20833" sz="1200" spc="-22">
                <a:latin typeface="Arial"/>
                <a:cs typeface="Arial"/>
              </a:rPr>
              <a:t>12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4896" y="1439926"/>
            <a:ext cx="1036319" cy="51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209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</a:t>
            </a:r>
            <a:r>
              <a:rPr dirty="0" baseline="-20833" sz="1200" spc="-7">
                <a:latin typeface="Arial"/>
                <a:cs typeface="Arial"/>
              </a:rPr>
              <a:t>1</a:t>
            </a:r>
            <a:r>
              <a:rPr dirty="0" sz="1200" spc="-10">
                <a:latin typeface="Arial"/>
                <a:cs typeface="Arial"/>
              </a:rPr>
              <a:t>+R</a:t>
            </a:r>
            <a:r>
              <a:rPr dirty="0" baseline="-20833" sz="1200" spc="-7">
                <a:latin typeface="Arial"/>
                <a:cs typeface="Arial"/>
              </a:rPr>
              <a:t>12</a:t>
            </a:r>
            <a:r>
              <a:rPr dirty="0" sz="1200" spc="-10">
                <a:latin typeface="Arial"/>
                <a:cs typeface="Arial"/>
              </a:rPr>
              <a:t>+R</a:t>
            </a:r>
            <a:r>
              <a:rPr dirty="0" baseline="-20833" sz="1200" spc="-7">
                <a:latin typeface="Arial"/>
                <a:cs typeface="Arial"/>
              </a:rPr>
              <a:t>13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084" y="3506723"/>
            <a:ext cx="8582025" cy="789940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93980" rIns="0" bIns="0" rtlCol="0" vert="horz">
            <a:spAutoFit/>
          </a:bodyPr>
          <a:lstStyle/>
          <a:p>
            <a:pPr algn="just" marL="74930" marR="230504">
              <a:lnSpc>
                <a:spcPct val="100000"/>
              </a:lnSpc>
              <a:spcBef>
                <a:spcPts val="740"/>
              </a:spcBef>
            </a:pPr>
            <a:r>
              <a:rPr dirty="0" sz="1400" spc="10" b="1">
                <a:latin typeface="明兰"/>
                <a:cs typeface="明兰"/>
              </a:rPr>
              <a:t>华为</a:t>
            </a:r>
            <a:r>
              <a:rPr dirty="0" sz="1400" b="1">
                <a:latin typeface="明兰"/>
                <a:cs typeface="明兰"/>
              </a:rPr>
              <a:t>通过</a:t>
            </a:r>
            <a:r>
              <a:rPr dirty="0" sz="1400" spc="-15" b="1">
                <a:latin typeface="明兰"/>
                <a:cs typeface="明兰"/>
              </a:rPr>
              <a:t>改</a:t>
            </a:r>
            <a:r>
              <a:rPr dirty="0" sz="1400" b="1">
                <a:latin typeface="明兰"/>
                <a:cs typeface="明兰"/>
              </a:rPr>
              <a:t>变</a:t>
            </a:r>
            <a:r>
              <a:rPr dirty="0" sz="1400" spc="-5" b="1">
                <a:latin typeface="Arial"/>
                <a:cs typeface="Arial"/>
              </a:rPr>
              <a:t>R</a:t>
            </a:r>
            <a:r>
              <a:rPr dirty="0" baseline="-21604" sz="1350" spc="-7" b="1">
                <a:latin typeface="Arial"/>
                <a:cs typeface="Arial"/>
              </a:rPr>
              <a:t>11</a:t>
            </a:r>
            <a:r>
              <a:rPr dirty="0" sz="1400" spc="-5" b="1">
                <a:latin typeface="Arial"/>
                <a:cs typeface="Arial"/>
              </a:rPr>
              <a:t>+R</a:t>
            </a:r>
            <a:r>
              <a:rPr dirty="0" baseline="-21604" sz="1350" spc="-7" b="1">
                <a:latin typeface="Arial"/>
                <a:cs typeface="Arial"/>
              </a:rPr>
              <a:t>12</a:t>
            </a:r>
            <a:r>
              <a:rPr dirty="0" sz="1400" spc="20" b="1">
                <a:latin typeface="明兰"/>
                <a:cs typeface="明兰"/>
              </a:rPr>
              <a:t>压</a:t>
            </a:r>
            <a:r>
              <a:rPr dirty="0" sz="1400" b="1">
                <a:latin typeface="明兰"/>
                <a:cs typeface="明兰"/>
              </a:rPr>
              <a:t>缩自身利</a:t>
            </a:r>
            <a:r>
              <a:rPr dirty="0" sz="1400" spc="-15" b="1">
                <a:latin typeface="明兰"/>
                <a:cs typeface="明兰"/>
              </a:rPr>
              <a:t>润</a:t>
            </a:r>
            <a:r>
              <a:rPr dirty="0" sz="1400" b="1">
                <a:latin typeface="明兰"/>
                <a:cs typeface="明兰"/>
              </a:rPr>
              <a:t>，实</a:t>
            </a:r>
            <a:r>
              <a:rPr dirty="0" sz="1400" spc="-15" b="1">
                <a:latin typeface="明兰"/>
                <a:cs typeface="明兰"/>
              </a:rPr>
              <a:t>现</a:t>
            </a:r>
            <a:r>
              <a:rPr dirty="0" sz="1400" b="1">
                <a:latin typeface="明兰"/>
                <a:cs typeface="明兰"/>
              </a:rPr>
              <a:t>市场</a:t>
            </a:r>
            <a:r>
              <a:rPr dirty="0" sz="1400" spc="-15" b="1">
                <a:latin typeface="明兰"/>
                <a:cs typeface="明兰"/>
              </a:rPr>
              <a:t>目</a:t>
            </a:r>
            <a:r>
              <a:rPr dirty="0" sz="1400" b="1">
                <a:latin typeface="明兰"/>
                <a:cs typeface="明兰"/>
              </a:rPr>
              <a:t>标，</a:t>
            </a:r>
            <a:r>
              <a:rPr dirty="0" sz="1400" spc="-15" b="1">
                <a:latin typeface="明兰"/>
                <a:cs typeface="明兰"/>
              </a:rPr>
              <a:t>锁</a:t>
            </a:r>
            <a:r>
              <a:rPr dirty="0" sz="1400" spc="5" b="1">
                <a:latin typeface="明兰"/>
                <a:cs typeface="明兰"/>
              </a:rPr>
              <a:t>定</a:t>
            </a:r>
            <a:r>
              <a:rPr dirty="0" sz="1400" spc="5" b="1">
                <a:latin typeface="Arial"/>
                <a:cs typeface="Arial"/>
              </a:rPr>
              <a:t>R</a:t>
            </a:r>
            <a:r>
              <a:rPr dirty="0" baseline="-21604" sz="1350" spc="7" b="1">
                <a:latin typeface="Arial"/>
                <a:cs typeface="Arial"/>
              </a:rPr>
              <a:t>13</a:t>
            </a:r>
            <a:r>
              <a:rPr dirty="0" sz="1400" spc="10" b="1">
                <a:latin typeface="明兰"/>
                <a:cs typeface="明兰"/>
              </a:rPr>
              <a:t>来</a:t>
            </a:r>
            <a:r>
              <a:rPr dirty="0" sz="1400" b="1">
                <a:latin typeface="明兰"/>
                <a:cs typeface="明兰"/>
              </a:rPr>
              <a:t>保证</a:t>
            </a:r>
            <a:r>
              <a:rPr dirty="0" sz="1400" spc="-15" b="1">
                <a:latin typeface="明兰"/>
                <a:cs typeface="明兰"/>
              </a:rPr>
              <a:t>代</a:t>
            </a:r>
            <a:r>
              <a:rPr dirty="0" sz="1400" b="1">
                <a:latin typeface="明兰"/>
                <a:cs typeface="明兰"/>
              </a:rPr>
              <a:t>理商</a:t>
            </a:r>
            <a:r>
              <a:rPr dirty="0" sz="1400" spc="-15" b="1">
                <a:latin typeface="明兰"/>
                <a:cs typeface="明兰"/>
              </a:rPr>
              <a:t>盈</a:t>
            </a:r>
            <a:r>
              <a:rPr dirty="0" sz="1400" b="1">
                <a:latin typeface="明兰"/>
                <a:cs typeface="明兰"/>
              </a:rPr>
              <a:t>利</a:t>
            </a:r>
            <a:r>
              <a:rPr dirty="0" sz="1400" spc="-5" b="1">
                <a:latin typeface="明兰"/>
                <a:cs typeface="明兰"/>
              </a:rPr>
              <a:t>：</a:t>
            </a:r>
            <a:r>
              <a:rPr dirty="0" sz="1400" spc="-5">
                <a:latin typeface="Arial"/>
                <a:cs typeface="Arial"/>
              </a:rPr>
              <a:t>R</a:t>
            </a:r>
            <a:r>
              <a:rPr dirty="0" baseline="-21604" sz="1350" spc="-7">
                <a:latin typeface="Arial"/>
                <a:cs typeface="Arial"/>
              </a:rPr>
              <a:t>11</a:t>
            </a:r>
            <a:r>
              <a:rPr dirty="0" sz="1400" spc="-5">
                <a:latin typeface="Arial"/>
                <a:cs typeface="Arial"/>
              </a:rPr>
              <a:t>+R</a:t>
            </a:r>
            <a:r>
              <a:rPr dirty="0" baseline="-21604" sz="1350" spc="-7">
                <a:latin typeface="Arial"/>
                <a:cs typeface="Arial"/>
              </a:rPr>
              <a:t>12</a:t>
            </a:r>
            <a:r>
              <a:rPr dirty="0" sz="1400" spc="10">
                <a:latin typeface="宋体"/>
                <a:cs typeface="宋体"/>
              </a:rPr>
              <a:t>为华</a:t>
            </a:r>
            <a:r>
              <a:rPr dirty="0" sz="1400">
                <a:latin typeface="宋体"/>
                <a:cs typeface="宋体"/>
              </a:rPr>
              <a:t>为整体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毛 </a:t>
            </a:r>
            <a:r>
              <a:rPr dirty="0" sz="1400" spc="10">
                <a:latin typeface="宋体"/>
                <a:cs typeface="宋体"/>
              </a:rPr>
              <a:t>利额</a:t>
            </a:r>
            <a:r>
              <a:rPr dirty="0" sz="1400">
                <a:latin typeface="宋体"/>
                <a:cs typeface="宋体"/>
              </a:rPr>
              <a:t>，可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据不</a:t>
            </a:r>
            <a:r>
              <a:rPr dirty="0" sz="1400" spc="-15">
                <a:latin typeface="宋体"/>
                <a:cs typeface="宋体"/>
              </a:rPr>
              <a:t>同</a:t>
            </a:r>
            <a:r>
              <a:rPr dirty="0" sz="1400">
                <a:latin typeface="宋体"/>
                <a:cs typeface="宋体"/>
              </a:rPr>
              <a:t>产品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格策</a:t>
            </a:r>
            <a:r>
              <a:rPr dirty="0" sz="1400" spc="-15">
                <a:latin typeface="宋体"/>
                <a:cs typeface="宋体"/>
              </a:rPr>
              <a:t>略</a:t>
            </a:r>
            <a:r>
              <a:rPr dirty="0" sz="1400">
                <a:latin typeface="宋体"/>
                <a:cs typeface="宋体"/>
              </a:rPr>
              <a:t>进行</a:t>
            </a:r>
            <a:r>
              <a:rPr dirty="0" sz="1400" spc="-15">
                <a:latin typeface="宋体"/>
                <a:cs typeface="宋体"/>
              </a:rPr>
              <a:t>具</a:t>
            </a:r>
            <a:r>
              <a:rPr dirty="0" sz="1400">
                <a:latin typeface="宋体"/>
                <a:cs typeface="宋体"/>
              </a:rPr>
              <a:t>有弹</a:t>
            </a:r>
            <a:r>
              <a:rPr dirty="0" sz="1400" spc="-15">
                <a:latin typeface="宋体"/>
                <a:cs typeface="宋体"/>
              </a:rPr>
              <a:t>性</a:t>
            </a:r>
            <a:r>
              <a:rPr dirty="0" sz="1400">
                <a:latin typeface="宋体"/>
                <a:cs typeface="宋体"/>
              </a:rPr>
              <a:t>的压</a:t>
            </a:r>
            <a:r>
              <a:rPr dirty="0" sz="1400" spc="-15">
                <a:latin typeface="宋体"/>
                <a:cs typeface="宋体"/>
              </a:rPr>
              <a:t>缩</a:t>
            </a:r>
            <a:r>
              <a:rPr dirty="0" sz="1400" spc="10">
                <a:latin typeface="宋体"/>
                <a:cs typeface="宋体"/>
              </a:rPr>
              <a:t>。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13</a:t>
            </a:r>
            <a:r>
              <a:rPr dirty="0" sz="1400" spc="10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代工厂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毛利</a:t>
            </a:r>
            <a:r>
              <a:rPr dirty="0" sz="1400" spc="-15">
                <a:latin typeface="宋体"/>
                <a:cs typeface="宋体"/>
              </a:rPr>
              <a:t>额</a:t>
            </a:r>
            <a:r>
              <a:rPr dirty="0" sz="1400">
                <a:latin typeface="宋体"/>
                <a:cs typeface="宋体"/>
              </a:rPr>
              <a:t>，为</a:t>
            </a:r>
            <a:r>
              <a:rPr dirty="0" sz="1400" spc="-15">
                <a:latin typeface="宋体"/>
                <a:cs typeface="宋体"/>
              </a:rPr>
              <a:t>保</a:t>
            </a:r>
            <a:r>
              <a:rPr dirty="0" sz="1400">
                <a:latin typeface="宋体"/>
                <a:cs typeface="宋体"/>
              </a:rPr>
              <a:t>证代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厂盈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，不</a:t>
            </a:r>
            <a:r>
              <a:rPr dirty="0" sz="1400" spc="-15">
                <a:latin typeface="宋体"/>
                <a:cs typeface="宋体"/>
              </a:rPr>
              <a:t>对</a:t>
            </a:r>
            <a:r>
              <a:rPr dirty="0" sz="1400">
                <a:latin typeface="宋体"/>
                <a:cs typeface="宋体"/>
              </a:rPr>
              <a:t>此 </a:t>
            </a:r>
            <a:r>
              <a:rPr dirty="0" sz="1400" spc="5">
                <a:latin typeface="宋体"/>
                <a:cs typeface="宋体"/>
              </a:rPr>
              <a:t>部</a:t>
            </a:r>
            <a:r>
              <a:rPr dirty="0" sz="1400">
                <a:latin typeface="宋体"/>
                <a:cs typeface="宋体"/>
              </a:rPr>
              <a:t>分</a:t>
            </a:r>
            <a:r>
              <a:rPr dirty="0" sz="1400" spc="5">
                <a:latin typeface="宋体"/>
                <a:cs typeface="宋体"/>
              </a:rPr>
              <a:t>进</a:t>
            </a:r>
            <a:r>
              <a:rPr dirty="0" sz="1400" spc="-15">
                <a:latin typeface="宋体"/>
                <a:cs typeface="宋体"/>
              </a:rPr>
              <a:t>行</a:t>
            </a:r>
            <a:r>
              <a:rPr dirty="0" sz="1400" spc="5">
                <a:latin typeface="宋体"/>
                <a:cs typeface="宋体"/>
              </a:rPr>
              <a:t>压</a:t>
            </a:r>
            <a:r>
              <a:rPr dirty="0" sz="1400">
                <a:latin typeface="宋体"/>
                <a:cs typeface="宋体"/>
              </a:rPr>
              <a:t>缩</a:t>
            </a:r>
            <a:r>
              <a:rPr dirty="0" sz="1400" spc="5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084" y="4477511"/>
            <a:ext cx="8582025" cy="574675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745"/>
              </a:spcBef>
            </a:pPr>
            <a:r>
              <a:rPr dirty="0" sz="1400" spc="20" b="1">
                <a:latin typeface="明兰"/>
                <a:cs typeface="明兰"/>
              </a:rPr>
              <a:t>在</a:t>
            </a:r>
            <a:r>
              <a:rPr dirty="0" sz="1400" spc="-5" b="1">
                <a:latin typeface="Arial"/>
                <a:cs typeface="Arial"/>
              </a:rPr>
              <a:t>R</a:t>
            </a:r>
            <a:r>
              <a:rPr dirty="0" baseline="-21604" sz="1350" spc="-7" b="1">
                <a:latin typeface="Arial"/>
                <a:cs typeface="Arial"/>
              </a:rPr>
              <a:t>11</a:t>
            </a:r>
            <a:r>
              <a:rPr dirty="0" sz="1400" spc="-5" b="1">
                <a:latin typeface="Arial"/>
                <a:cs typeface="Arial"/>
              </a:rPr>
              <a:t>+R</a:t>
            </a:r>
            <a:r>
              <a:rPr dirty="0" baseline="-21604" sz="1350" spc="-7" b="1">
                <a:latin typeface="Arial"/>
                <a:cs typeface="Arial"/>
              </a:rPr>
              <a:t>12</a:t>
            </a:r>
            <a:r>
              <a:rPr dirty="0" sz="1400" spc="20" b="1">
                <a:latin typeface="明兰"/>
                <a:cs typeface="明兰"/>
              </a:rPr>
              <a:t>一</a:t>
            </a:r>
            <a:r>
              <a:rPr dirty="0" sz="1400" spc="10" b="1">
                <a:latin typeface="明兰"/>
                <a:cs typeface="明兰"/>
              </a:rPr>
              <a:t>定</a:t>
            </a:r>
            <a:r>
              <a:rPr dirty="0" sz="1400" b="1">
                <a:latin typeface="明兰"/>
                <a:cs typeface="明兰"/>
              </a:rPr>
              <a:t>的</a:t>
            </a:r>
            <a:r>
              <a:rPr dirty="0" sz="1400" spc="-15" b="1">
                <a:latin typeface="明兰"/>
                <a:cs typeface="明兰"/>
              </a:rPr>
              <a:t>前</a:t>
            </a:r>
            <a:r>
              <a:rPr dirty="0" sz="1400" b="1">
                <a:latin typeface="明兰"/>
                <a:cs typeface="明兰"/>
              </a:rPr>
              <a:t>提下，</a:t>
            </a:r>
            <a:r>
              <a:rPr dirty="0" sz="1400" spc="-15" b="1">
                <a:latin typeface="明兰"/>
                <a:cs typeface="明兰"/>
              </a:rPr>
              <a:t>华</a:t>
            </a:r>
            <a:r>
              <a:rPr dirty="0" sz="1400" b="1">
                <a:latin typeface="明兰"/>
                <a:cs typeface="明兰"/>
              </a:rPr>
              <a:t>为可</a:t>
            </a:r>
            <a:r>
              <a:rPr dirty="0" sz="1400" spc="-15" b="1">
                <a:latin typeface="明兰"/>
                <a:cs typeface="明兰"/>
              </a:rPr>
              <a:t>调</a:t>
            </a:r>
            <a:r>
              <a:rPr dirty="0" sz="1400" spc="5" b="1">
                <a:latin typeface="明兰"/>
                <a:cs typeface="明兰"/>
              </a:rPr>
              <a:t>节</a:t>
            </a:r>
            <a:r>
              <a:rPr dirty="0" sz="1400" spc="-10" b="1">
                <a:latin typeface="Arial"/>
                <a:cs typeface="Arial"/>
              </a:rPr>
              <a:t>R</a:t>
            </a:r>
            <a:r>
              <a:rPr dirty="0" baseline="-21604" sz="1350" spc="-15" b="1">
                <a:latin typeface="Arial"/>
                <a:cs typeface="Arial"/>
              </a:rPr>
              <a:t>11</a:t>
            </a:r>
            <a:r>
              <a:rPr dirty="0" sz="1400" spc="10" b="1">
                <a:latin typeface="明兰"/>
                <a:cs typeface="明兰"/>
              </a:rPr>
              <a:t>和</a:t>
            </a:r>
            <a:r>
              <a:rPr dirty="0" sz="1400" spc="5" b="1">
                <a:latin typeface="Arial"/>
                <a:cs typeface="Arial"/>
              </a:rPr>
              <a:t>R</a:t>
            </a:r>
            <a:r>
              <a:rPr dirty="0" baseline="-21604" sz="1350" spc="7" b="1">
                <a:latin typeface="Arial"/>
                <a:cs typeface="Arial"/>
              </a:rPr>
              <a:t>12</a:t>
            </a:r>
            <a:r>
              <a:rPr dirty="0" sz="1400" spc="10" b="1">
                <a:latin typeface="明兰"/>
                <a:cs typeface="明兰"/>
              </a:rPr>
              <a:t>之</a:t>
            </a:r>
            <a:r>
              <a:rPr dirty="0" sz="1400" b="1">
                <a:latin typeface="明兰"/>
                <a:cs typeface="明兰"/>
              </a:rPr>
              <a:t>间的分</a:t>
            </a:r>
            <a:r>
              <a:rPr dirty="0" sz="1400" spc="-15" b="1">
                <a:latin typeface="明兰"/>
                <a:cs typeface="明兰"/>
              </a:rPr>
              <a:t>配</a:t>
            </a:r>
            <a:r>
              <a:rPr dirty="0" sz="1400" b="1">
                <a:latin typeface="明兰"/>
                <a:cs typeface="明兰"/>
              </a:rPr>
              <a:t>，以</a:t>
            </a:r>
            <a:r>
              <a:rPr dirty="0" sz="1400" spc="-15" b="1">
                <a:latin typeface="明兰"/>
                <a:cs typeface="明兰"/>
              </a:rPr>
              <a:t>减</a:t>
            </a:r>
            <a:r>
              <a:rPr dirty="0" sz="1400" b="1">
                <a:latin typeface="明兰"/>
                <a:cs typeface="明兰"/>
              </a:rPr>
              <a:t>少税</a:t>
            </a:r>
            <a:r>
              <a:rPr dirty="0" sz="1400" spc="-15" b="1">
                <a:latin typeface="明兰"/>
                <a:cs typeface="明兰"/>
              </a:rPr>
              <a:t>负</a:t>
            </a:r>
            <a:r>
              <a:rPr dirty="0" sz="1400" b="1">
                <a:latin typeface="明兰"/>
                <a:cs typeface="明兰"/>
              </a:rPr>
              <a:t>：</a:t>
            </a:r>
            <a:r>
              <a:rPr dirty="0" sz="1400">
                <a:latin typeface="宋体"/>
                <a:cs typeface="宋体"/>
              </a:rPr>
              <a:t>由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大陆</a:t>
            </a:r>
            <a:r>
              <a:rPr dirty="0" sz="1400" spc="-15">
                <a:latin typeface="宋体"/>
                <a:cs typeface="宋体"/>
              </a:rPr>
              <a:t>和</a:t>
            </a:r>
            <a:r>
              <a:rPr dirty="0" sz="1400">
                <a:latin typeface="宋体"/>
                <a:cs typeface="宋体"/>
              </a:rPr>
              <a:t>香港</a:t>
            </a:r>
            <a:r>
              <a:rPr dirty="0" sz="1400" spc="-15">
                <a:latin typeface="宋体"/>
                <a:cs typeface="宋体"/>
              </a:rPr>
              <a:t>地</a:t>
            </a:r>
            <a:r>
              <a:rPr dirty="0" sz="1400">
                <a:latin typeface="宋体"/>
                <a:cs typeface="宋体"/>
              </a:rPr>
              <a:t>区适</a:t>
            </a:r>
            <a:r>
              <a:rPr dirty="0" sz="1400" spc="-15">
                <a:latin typeface="宋体"/>
                <a:cs typeface="宋体"/>
              </a:rPr>
              <a:t>用</a:t>
            </a:r>
            <a:r>
              <a:rPr dirty="0" sz="1400">
                <a:latin typeface="宋体"/>
                <a:cs typeface="宋体"/>
              </a:rPr>
              <a:t>税率不</a:t>
            </a:r>
            <a:endParaRPr sz="1400">
              <a:latin typeface="宋体"/>
              <a:cs typeface="宋体"/>
            </a:endParaRPr>
          </a:p>
          <a:p>
            <a:pPr marL="74930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同，</a:t>
            </a:r>
            <a:r>
              <a:rPr dirty="0" sz="1400" spc="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10">
                <a:latin typeface="宋体"/>
                <a:cs typeface="宋体"/>
              </a:rPr>
              <a:t>可</a:t>
            </a:r>
            <a:r>
              <a:rPr dirty="0" sz="1400" spc="5">
                <a:latin typeface="宋体"/>
                <a:cs typeface="宋体"/>
              </a:rPr>
              <a:t>通</a:t>
            </a:r>
            <a:r>
              <a:rPr dirty="0" sz="1400">
                <a:latin typeface="宋体"/>
                <a:cs typeface="宋体"/>
              </a:rPr>
              <a:t>过</a:t>
            </a:r>
            <a:r>
              <a:rPr dirty="0" sz="1400" spc="-10">
                <a:latin typeface="宋体"/>
                <a:cs typeface="宋体"/>
              </a:rPr>
              <a:t>调</a:t>
            </a:r>
            <a:r>
              <a:rPr dirty="0" sz="1400" spc="5">
                <a:latin typeface="宋体"/>
                <a:cs typeface="宋体"/>
              </a:rPr>
              <a:t>节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baseline="-21604" sz="1350" spc="-30">
                <a:latin typeface="Arial"/>
                <a:cs typeface="Arial"/>
              </a:rPr>
              <a:t>11</a:t>
            </a:r>
            <a:r>
              <a:rPr dirty="0" sz="1400" spc="10">
                <a:latin typeface="宋体"/>
                <a:cs typeface="宋体"/>
              </a:rPr>
              <a:t>和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12</a:t>
            </a:r>
            <a:r>
              <a:rPr dirty="0" sz="1400" spc="15">
                <a:latin typeface="宋体"/>
                <a:cs typeface="宋体"/>
              </a:rPr>
              <a:t>之间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 spc="-10">
                <a:latin typeface="宋体"/>
                <a:cs typeface="宋体"/>
              </a:rPr>
              <a:t>分</a:t>
            </a:r>
            <a:r>
              <a:rPr dirty="0" sz="1400" spc="5">
                <a:latin typeface="宋体"/>
                <a:cs typeface="宋体"/>
              </a:rPr>
              <a:t>配来</a:t>
            </a:r>
            <a:r>
              <a:rPr dirty="0" sz="1400" spc="-10">
                <a:latin typeface="宋体"/>
                <a:cs typeface="宋体"/>
              </a:rPr>
              <a:t>改</a:t>
            </a:r>
            <a:r>
              <a:rPr dirty="0" sz="1400" spc="5">
                <a:latin typeface="宋体"/>
                <a:cs typeface="宋体"/>
              </a:rPr>
              <a:t>变各</a:t>
            </a:r>
            <a:r>
              <a:rPr dirty="0" sz="1400" spc="-10">
                <a:latin typeface="宋体"/>
                <a:cs typeface="宋体"/>
              </a:rPr>
              <a:t>环</a:t>
            </a:r>
            <a:r>
              <a:rPr dirty="0" sz="1400" spc="5">
                <a:latin typeface="宋体"/>
                <a:cs typeface="宋体"/>
              </a:rPr>
              <a:t>节交</a:t>
            </a:r>
            <a:r>
              <a:rPr dirty="0" sz="1400" spc="-10">
                <a:latin typeface="宋体"/>
                <a:cs typeface="宋体"/>
              </a:rPr>
              <a:t>易</a:t>
            </a:r>
            <a:r>
              <a:rPr dirty="0" sz="1400" spc="5">
                <a:latin typeface="宋体"/>
                <a:cs typeface="宋体"/>
              </a:rPr>
              <a:t>额及</a:t>
            </a:r>
            <a:r>
              <a:rPr dirty="0" sz="1400" spc="-10">
                <a:latin typeface="宋体"/>
                <a:cs typeface="宋体"/>
              </a:rPr>
              <a:t>利</a:t>
            </a:r>
            <a:r>
              <a:rPr dirty="0" sz="1400" spc="5">
                <a:latin typeface="宋体"/>
                <a:cs typeface="宋体"/>
              </a:rPr>
              <a:t>润额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减少</a:t>
            </a:r>
            <a:r>
              <a:rPr dirty="0" sz="1400" spc="-10">
                <a:latin typeface="宋体"/>
                <a:cs typeface="宋体"/>
              </a:rPr>
              <a:t>税</a:t>
            </a:r>
            <a:r>
              <a:rPr dirty="0" sz="1400" spc="5">
                <a:latin typeface="宋体"/>
                <a:cs typeface="宋体"/>
              </a:rPr>
              <a:t>负。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1563" y="5340096"/>
            <a:ext cx="8582025" cy="573405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93980" rIns="0" bIns="0" rtlCol="0" vert="horz">
            <a:spAutoFit/>
          </a:bodyPr>
          <a:lstStyle/>
          <a:p>
            <a:pPr marL="74295" marR="64769">
              <a:lnSpc>
                <a:spcPct val="100000"/>
              </a:lnSpc>
              <a:spcBef>
                <a:spcPts val="740"/>
              </a:spcBef>
            </a:pPr>
            <a:r>
              <a:rPr dirty="0" sz="1400" b="1">
                <a:latin typeface="明兰"/>
                <a:cs typeface="明兰"/>
              </a:rPr>
              <a:t>在调节</a:t>
            </a:r>
            <a:r>
              <a:rPr dirty="0" sz="1400" spc="-15" b="1">
                <a:latin typeface="明兰"/>
                <a:cs typeface="明兰"/>
              </a:rPr>
              <a:t>确</a:t>
            </a:r>
            <a:r>
              <a:rPr dirty="0" sz="1400" spc="15" b="1">
                <a:latin typeface="明兰"/>
                <a:cs typeface="明兰"/>
              </a:rPr>
              <a:t>定</a:t>
            </a:r>
            <a:r>
              <a:rPr dirty="0" sz="1400" spc="-15" b="1">
                <a:latin typeface="Arial"/>
                <a:cs typeface="Arial"/>
              </a:rPr>
              <a:t>R</a:t>
            </a:r>
            <a:r>
              <a:rPr dirty="0" baseline="-21604" sz="1350" spc="-22" b="1">
                <a:latin typeface="Arial"/>
                <a:cs typeface="Arial"/>
              </a:rPr>
              <a:t>11</a:t>
            </a:r>
            <a:r>
              <a:rPr dirty="0" sz="1400" b="1">
                <a:latin typeface="明兰"/>
                <a:cs typeface="明兰"/>
              </a:rPr>
              <a:t>的过程中，</a:t>
            </a:r>
            <a:r>
              <a:rPr dirty="0" sz="1400" spc="-15" b="1">
                <a:latin typeface="明兰"/>
                <a:cs typeface="明兰"/>
              </a:rPr>
              <a:t>需</a:t>
            </a:r>
            <a:r>
              <a:rPr dirty="0" sz="1400" b="1">
                <a:latin typeface="明兰"/>
                <a:cs typeface="明兰"/>
              </a:rPr>
              <a:t>要考</a:t>
            </a:r>
            <a:r>
              <a:rPr dirty="0" sz="1400" spc="-15" b="1">
                <a:latin typeface="明兰"/>
                <a:cs typeface="明兰"/>
              </a:rPr>
              <a:t>虑大</a:t>
            </a:r>
            <a:r>
              <a:rPr dirty="0" sz="1400" b="1">
                <a:latin typeface="明兰"/>
                <a:cs typeface="明兰"/>
              </a:rPr>
              <a:t>陆税法</a:t>
            </a:r>
            <a:r>
              <a:rPr dirty="0" sz="1400" spc="-15" b="1">
                <a:latin typeface="明兰"/>
                <a:cs typeface="明兰"/>
              </a:rPr>
              <a:t>对</a:t>
            </a:r>
            <a:r>
              <a:rPr dirty="0" sz="1400" b="1">
                <a:latin typeface="明兰"/>
                <a:cs typeface="明兰"/>
              </a:rPr>
              <a:t>关联</a:t>
            </a:r>
            <a:r>
              <a:rPr dirty="0" sz="1400" spc="-15" b="1">
                <a:latin typeface="明兰"/>
                <a:cs typeface="明兰"/>
              </a:rPr>
              <a:t>交易</a:t>
            </a:r>
            <a:r>
              <a:rPr dirty="0" sz="1400" b="1">
                <a:latin typeface="明兰"/>
                <a:cs typeface="明兰"/>
              </a:rPr>
              <a:t>定价的</a:t>
            </a:r>
            <a:r>
              <a:rPr dirty="0" sz="1400" spc="-15" b="1">
                <a:latin typeface="明兰"/>
                <a:cs typeface="明兰"/>
              </a:rPr>
              <a:t>管</a:t>
            </a:r>
            <a:r>
              <a:rPr dirty="0" sz="1400" b="1">
                <a:latin typeface="明兰"/>
                <a:cs typeface="明兰"/>
              </a:rPr>
              <a:t>理</a:t>
            </a:r>
            <a:r>
              <a:rPr dirty="0" sz="1400" spc="5" b="1">
                <a:latin typeface="明兰"/>
                <a:cs typeface="明兰"/>
              </a:rPr>
              <a:t>：</a:t>
            </a:r>
            <a:r>
              <a:rPr dirty="0" sz="1400" spc="-15">
                <a:latin typeface="宋体"/>
                <a:cs typeface="宋体"/>
              </a:rPr>
              <a:t>大陆</a:t>
            </a:r>
            <a:r>
              <a:rPr dirty="0" sz="1400">
                <a:latin typeface="宋体"/>
                <a:cs typeface="宋体"/>
              </a:rPr>
              <a:t>税法对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关联</a:t>
            </a:r>
            <a:r>
              <a:rPr dirty="0" sz="1400" spc="-15">
                <a:latin typeface="宋体"/>
                <a:cs typeface="宋体"/>
              </a:rPr>
              <a:t>交易</a:t>
            </a:r>
            <a:r>
              <a:rPr dirty="0" sz="1400">
                <a:latin typeface="宋体"/>
                <a:cs typeface="宋体"/>
              </a:rPr>
              <a:t>定价有</a:t>
            </a:r>
            <a:r>
              <a:rPr dirty="0" sz="1400" spc="-15">
                <a:latin typeface="宋体"/>
                <a:cs typeface="宋体"/>
              </a:rPr>
              <a:t>所</a:t>
            </a:r>
            <a:r>
              <a:rPr dirty="0" sz="1400">
                <a:latin typeface="宋体"/>
                <a:cs typeface="宋体"/>
              </a:rPr>
              <a:t>管制，  </a:t>
            </a:r>
            <a:r>
              <a:rPr dirty="0" sz="1400" spc="10">
                <a:latin typeface="宋体"/>
                <a:cs typeface="宋体"/>
              </a:rPr>
              <a:t>对于</a:t>
            </a:r>
            <a:r>
              <a:rPr dirty="0" sz="1400">
                <a:latin typeface="宋体"/>
                <a:cs typeface="宋体"/>
              </a:rPr>
              <a:t>过于</a:t>
            </a:r>
            <a:r>
              <a:rPr dirty="0" sz="1400" spc="-15">
                <a:latin typeface="宋体"/>
                <a:cs typeface="宋体"/>
              </a:rPr>
              <a:t>异</a:t>
            </a:r>
            <a:r>
              <a:rPr dirty="0" sz="1400">
                <a:latin typeface="宋体"/>
                <a:cs typeface="宋体"/>
              </a:rPr>
              <a:t>常的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价会</a:t>
            </a:r>
            <a:r>
              <a:rPr dirty="0" sz="1400" spc="-15">
                <a:latin typeface="宋体"/>
                <a:cs typeface="宋体"/>
              </a:rPr>
              <a:t>对</a:t>
            </a:r>
            <a:r>
              <a:rPr dirty="0" sz="1400">
                <a:latin typeface="宋体"/>
                <a:cs typeface="宋体"/>
              </a:rPr>
              <a:t>纳税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行调</a:t>
            </a:r>
            <a:r>
              <a:rPr dirty="0" sz="1400" spc="-15">
                <a:latin typeface="宋体"/>
                <a:cs typeface="宋体"/>
              </a:rPr>
              <a:t>整</a:t>
            </a:r>
            <a:r>
              <a:rPr dirty="0" sz="1400">
                <a:latin typeface="宋体"/>
                <a:cs typeface="宋体"/>
              </a:rPr>
              <a:t>。若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了避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所确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 spc="10">
                <a:latin typeface="宋体"/>
                <a:cs typeface="宋体"/>
              </a:rPr>
              <a:t>的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baseline="-21604" sz="1350" spc="-30">
                <a:latin typeface="Arial"/>
                <a:cs typeface="Arial"/>
              </a:rPr>
              <a:t>11</a:t>
            </a:r>
            <a:r>
              <a:rPr dirty="0" sz="1400" spc="10">
                <a:latin typeface="宋体"/>
                <a:cs typeface="宋体"/>
              </a:rPr>
              <a:t>过</a:t>
            </a:r>
            <a:r>
              <a:rPr dirty="0" sz="1400">
                <a:latin typeface="宋体"/>
                <a:cs typeface="宋体"/>
              </a:rPr>
              <a:t>于异常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会被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务部</a:t>
            </a:r>
            <a:r>
              <a:rPr dirty="0" sz="1400" spc="-15">
                <a:latin typeface="宋体"/>
                <a:cs typeface="宋体"/>
              </a:rPr>
              <a:t>门</a:t>
            </a:r>
            <a:r>
              <a:rPr dirty="0" sz="1400">
                <a:latin typeface="宋体"/>
                <a:cs typeface="宋体"/>
              </a:rPr>
              <a:t>要求</a:t>
            </a:r>
            <a:r>
              <a:rPr dirty="0" sz="1400" spc="-15">
                <a:latin typeface="宋体"/>
                <a:cs typeface="宋体"/>
              </a:rPr>
              <a:t>补</a:t>
            </a:r>
            <a:r>
              <a:rPr dirty="0" sz="1400">
                <a:latin typeface="宋体"/>
                <a:cs typeface="宋体"/>
              </a:rPr>
              <a:t>缴税</a:t>
            </a:r>
            <a:r>
              <a:rPr dirty="0" sz="1400" spc="-15">
                <a:latin typeface="宋体"/>
                <a:cs typeface="宋体"/>
              </a:rPr>
              <a:t>款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1878"/>
            <a:ext cx="247015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定价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建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议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战略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502" y="2337307"/>
            <a:ext cx="7776845" cy="3227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7A2121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假设</a:t>
            </a:r>
            <a:r>
              <a:rPr dirty="0" sz="1400">
                <a:latin typeface="宋体"/>
                <a:cs typeface="宋体"/>
              </a:rPr>
              <a:t>大陆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为散</a:t>
            </a:r>
            <a:r>
              <a:rPr dirty="0" sz="1400" spc="-15">
                <a:latin typeface="宋体"/>
                <a:cs typeface="宋体"/>
              </a:rPr>
              <a:t>件</a:t>
            </a:r>
            <a:r>
              <a:rPr dirty="0" sz="1400">
                <a:latin typeface="宋体"/>
                <a:cs typeface="宋体"/>
              </a:rPr>
              <a:t>初始</a:t>
            </a:r>
            <a:r>
              <a:rPr dirty="0" sz="1400" spc="-15">
                <a:latin typeface="宋体"/>
                <a:cs typeface="宋体"/>
              </a:rPr>
              <a:t>成</a:t>
            </a:r>
            <a:r>
              <a:rPr dirty="0" sz="1400">
                <a:latin typeface="宋体"/>
                <a:cs typeface="宋体"/>
              </a:rPr>
              <a:t>本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1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每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环节</a:t>
            </a:r>
            <a:r>
              <a:rPr dirty="0" sz="1400" spc="-15">
                <a:latin typeface="宋体"/>
                <a:cs typeface="宋体"/>
              </a:rPr>
              <a:t>增</a:t>
            </a:r>
            <a:r>
              <a:rPr dirty="0" sz="1400">
                <a:latin typeface="宋体"/>
                <a:cs typeface="宋体"/>
              </a:rPr>
              <a:t>值额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baseline="-21604" sz="1350" spc="-30">
                <a:latin typeface="Arial"/>
                <a:cs typeface="Arial"/>
              </a:rPr>
              <a:t>11</a:t>
            </a:r>
            <a:r>
              <a:rPr dirty="0" baseline="-21604" sz="1350" spc="52">
                <a:latin typeface="宋体"/>
                <a:cs typeface="宋体"/>
              </a:rPr>
              <a:t>、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12</a:t>
            </a:r>
            <a:r>
              <a:rPr dirty="0" baseline="-21604" sz="1350" spc="52">
                <a:latin typeface="宋体"/>
                <a:cs typeface="宋体"/>
              </a:rPr>
              <a:t>、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13</a:t>
            </a:r>
            <a:endParaRPr baseline="-21604" sz="1350">
              <a:latin typeface="Arial"/>
              <a:cs typeface="Arial"/>
            </a:endParaRPr>
          </a:p>
          <a:p>
            <a:pPr marL="299085" marR="5080" indent="-286385">
              <a:lnSpc>
                <a:spcPct val="200000"/>
              </a:lnSpc>
              <a:buClr>
                <a:srgbClr val="7A2121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b="1">
                <a:latin typeface="明兰"/>
                <a:cs typeface="明兰"/>
              </a:rPr>
              <a:t>从战略</a:t>
            </a:r>
            <a:r>
              <a:rPr dirty="0" sz="1400" spc="-15" b="1">
                <a:latin typeface="明兰"/>
                <a:cs typeface="明兰"/>
              </a:rPr>
              <a:t>的</a:t>
            </a:r>
            <a:r>
              <a:rPr dirty="0" sz="1400" b="1">
                <a:latin typeface="明兰"/>
                <a:cs typeface="明兰"/>
              </a:rPr>
              <a:t>角度</a:t>
            </a:r>
            <a:r>
              <a:rPr dirty="0" sz="1400" spc="-15" b="1">
                <a:latin typeface="明兰"/>
                <a:cs typeface="明兰"/>
              </a:rPr>
              <a:t>考虑</a:t>
            </a:r>
            <a:r>
              <a:rPr dirty="0" sz="1400" b="1">
                <a:latin typeface="明兰"/>
                <a:cs typeface="明兰"/>
              </a:rPr>
              <a:t>，华为</a:t>
            </a:r>
            <a:r>
              <a:rPr dirty="0" sz="1400" spc="-15" b="1">
                <a:latin typeface="明兰"/>
                <a:cs typeface="明兰"/>
              </a:rPr>
              <a:t>制</a:t>
            </a:r>
            <a:r>
              <a:rPr dirty="0" sz="1400" b="1">
                <a:latin typeface="明兰"/>
                <a:cs typeface="明兰"/>
              </a:rPr>
              <a:t>订不</a:t>
            </a:r>
            <a:r>
              <a:rPr dirty="0" sz="1400" spc="-15" b="1">
                <a:latin typeface="明兰"/>
                <a:cs typeface="明兰"/>
              </a:rPr>
              <a:t>同层</a:t>
            </a:r>
            <a:r>
              <a:rPr dirty="0" sz="1400" b="1">
                <a:latin typeface="明兰"/>
                <a:cs typeface="明兰"/>
              </a:rPr>
              <a:t>次手机</a:t>
            </a:r>
            <a:r>
              <a:rPr dirty="0" sz="1400" spc="-15" b="1">
                <a:latin typeface="明兰"/>
                <a:cs typeface="明兰"/>
              </a:rPr>
              <a:t>的</a:t>
            </a:r>
            <a:r>
              <a:rPr dirty="0" sz="1400" b="1">
                <a:latin typeface="明兰"/>
                <a:cs typeface="明兰"/>
              </a:rPr>
              <a:t>定价</a:t>
            </a:r>
            <a:r>
              <a:rPr dirty="0" sz="1400" spc="-15" b="1">
                <a:latin typeface="明兰"/>
                <a:cs typeface="明兰"/>
              </a:rPr>
              <a:t>策略</a:t>
            </a:r>
            <a:r>
              <a:rPr dirty="0" sz="1400" b="1">
                <a:latin typeface="明兰"/>
                <a:cs typeface="明兰"/>
              </a:rPr>
              <a:t>，锁定</a:t>
            </a:r>
            <a:r>
              <a:rPr dirty="0" sz="1400" spc="-15" b="1">
                <a:latin typeface="明兰"/>
                <a:cs typeface="明兰"/>
              </a:rPr>
              <a:t>销</a:t>
            </a:r>
            <a:r>
              <a:rPr dirty="0" sz="1400" b="1">
                <a:latin typeface="明兰"/>
                <a:cs typeface="明兰"/>
              </a:rPr>
              <a:t>售链</a:t>
            </a:r>
            <a:r>
              <a:rPr dirty="0" sz="1400" spc="-15" b="1">
                <a:latin typeface="明兰"/>
                <a:cs typeface="明兰"/>
              </a:rPr>
              <a:t>条的</a:t>
            </a:r>
            <a:r>
              <a:rPr dirty="0" sz="1400" b="1">
                <a:latin typeface="明兰"/>
                <a:cs typeface="明兰"/>
              </a:rPr>
              <a:t>总体利</a:t>
            </a:r>
            <a:r>
              <a:rPr dirty="0" sz="1400" spc="-15" b="1">
                <a:latin typeface="明兰"/>
                <a:cs typeface="明兰"/>
              </a:rPr>
              <a:t>润</a:t>
            </a:r>
            <a:r>
              <a:rPr dirty="0" sz="1400" b="1">
                <a:latin typeface="明兰"/>
                <a:cs typeface="明兰"/>
              </a:rPr>
              <a:t>情况</a:t>
            </a:r>
            <a:r>
              <a:rPr dirty="0" sz="1400" spc="-15" b="1">
                <a:latin typeface="明兰"/>
                <a:cs typeface="明兰"/>
              </a:rPr>
              <a:t>，即</a:t>
            </a:r>
            <a:r>
              <a:rPr dirty="0" sz="1400" b="1">
                <a:latin typeface="明兰"/>
                <a:cs typeface="明兰"/>
              </a:rPr>
              <a:t>锁定 </a:t>
            </a:r>
            <a:r>
              <a:rPr dirty="0" sz="1400" spc="10" b="1">
                <a:latin typeface="明兰"/>
                <a:cs typeface="明兰"/>
              </a:rPr>
              <a:t>各层</a:t>
            </a:r>
            <a:r>
              <a:rPr dirty="0" sz="1400" b="1">
                <a:latin typeface="明兰"/>
                <a:cs typeface="明兰"/>
              </a:rPr>
              <a:t>次产</a:t>
            </a:r>
            <a:r>
              <a:rPr dirty="0" sz="1400" spc="-10" b="1">
                <a:latin typeface="明兰"/>
                <a:cs typeface="明兰"/>
              </a:rPr>
              <a:t>品</a:t>
            </a:r>
            <a:r>
              <a:rPr dirty="0" sz="1400" spc="-10" b="1">
                <a:latin typeface="Arial"/>
                <a:cs typeface="Arial"/>
              </a:rPr>
              <a:t>R</a:t>
            </a:r>
            <a:r>
              <a:rPr dirty="0" baseline="-21604" sz="1350" spc="-15" b="1">
                <a:latin typeface="Arial"/>
                <a:cs typeface="Arial"/>
              </a:rPr>
              <a:t>11</a:t>
            </a:r>
            <a:r>
              <a:rPr dirty="0" baseline="-21604" sz="1350" spc="179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+ </a:t>
            </a:r>
            <a:r>
              <a:rPr dirty="0" sz="1400" spc="5" b="1">
                <a:latin typeface="Arial"/>
                <a:cs typeface="Arial"/>
              </a:rPr>
              <a:t>R</a:t>
            </a:r>
            <a:r>
              <a:rPr dirty="0" baseline="-21604" sz="1350" spc="7" b="1">
                <a:latin typeface="Arial"/>
                <a:cs typeface="Arial"/>
              </a:rPr>
              <a:t>12</a:t>
            </a:r>
            <a:r>
              <a:rPr dirty="0" baseline="-21604" sz="1350" spc="2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+ </a:t>
            </a:r>
            <a:r>
              <a:rPr dirty="0" sz="1400" spc="5" b="1">
                <a:latin typeface="Arial"/>
                <a:cs typeface="Arial"/>
              </a:rPr>
              <a:t>R</a:t>
            </a:r>
            <a:r>
              <a:rPr dirty="0" baseline="-21604" sz="1350" spc="7" b="1">
                <a:latin typeface="Arial"/>
                <a:cs typeface="Arial"/>
              </a:rPr>
              <a:t>13</a:t>
            </a:r>
            <a:r>
              <a:rPr dirty="0" sz="1400" spc="20" b="1">
                <a:latin typeface="明兰"/>
                <a:cs typeface="明兰"/>
              </a:rPr>
              <a:t>总</a:t>
            </a:r>
            <a:r>
              <a:rPr dirty="0" sz="1400" spc="10" b="1">
                <a:latin typeface="明兰"/>
                <a:cs typeface="明兰"/>
              </a:rPr>
              <a:t>额。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要</a:t>
            </a:r>
            <a:r>
              <a:rPr dirty="0" sz="1400">
                <a:latin typeface="宋体"/>
                <a:cs typeface="宋体"/>
              </a:rPr>
              <a:t>在</a:t>
            </a:r>
            <a:r>
              <a:rPr dirty="0" sz="1400" spc="-15">
                <a:latin typeface="Arial"/>
                <a:cs typeface="Arial"/>
              </a:rPr>
              <a:t>3</a:t>
            </a:r>
            <a:r>
              <a:rPr dirty="0" sz="1400">
                <a:latin typeface="宋体"/>
                <a:cs typeface="宋体"/>
              </a:rPr>
              <a:t>年内达</a:t>
            </a:r>
            <a:r>
              <a:rPr dirty="0" sz="1400" spc="-15">
                <a:latin typeface="宋体"/>
                <a:cs typeface="宋体"/>
              </a:rPr>
              <a:t>成</a:t>
            </a:r>
            <a:r>
              <a:rPr dirty="0" sz="1400" spc="-5">
                <a:latin typeface="Arial"/>
                <a:cs typeface="Arial"/>
              </a:rPr>
              <a:t>15%</a:t>
            </a:r>
            <a:r>
              <a:rPr dirty="0" sz="1400">
                <a:latin typeface="宋体"/>
                <a:cs typeface="宋体"/>
              </a:rPr>
              <a:t>市占率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目标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根据</a:t>
            </a:r>
            <a:r>
              <a:rPr dirty="0" sz="1400" spc="-15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场发</a:t>
            </a:r>
            <a:r>
              <a:rPr dirty="0" sz="1400" spc="-15">
                <a:latin typeface="宋体"/>
                <a:cs typeface="宋体"/>
              </a:rPr>
              <a:t>展</a:t>
            </a:r>
            <a:r>
              <a:rPr dirty="0" sz="1400">
                <a:latin typeface="宋体"/>
                <a:cs typeface="宋体"/>
              </a:rPr>
              <a:t>趋势和 当地手</a:t>
            </a:r>
            <a:r>
              <a:rPr dirty="0" sz="1400" spc="-15">
                <a:latin typeface="宋体"/>
                <a:cs typeface="宋体"/>
              </a:rPr>
              <a:t>机</a:t>
            </a:r>
            <a:r>
              <a:rPr dirty="0" sz="1400">
                <a:latin typeface="宋体"/>
                <a:cs typeface="宋体"/>
              </a:rPr>
              <a:t>消费</a:t>
            </a:r>
            <a:r>
              <a:rPr dirty="0" sz="1400" spc="-15">
                <a:latin typeface="宋体"/>
                <a:cs typeface="宋体"/>
              </a:rPr>
              <a:t>情况</a:t>
            </a:r>
            <a:r>
              <a:rPr dirty="0" sz="1400">
                <a:latin typeface="宋体"/>
                <a:cs typeface="宋体"/>
              </a:rPr>
              <a:t>，阿根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智能</a:t>
            </a:r>
            <a:r>
              <a:rPr dirty="0" sz="1400" spc="-15">
                <a:latin typeface="宋体"/>
                <a:cs typeface="宋体"/>
              </a:rPr>
              <a:t>手机</a:t>
            </a:r>
            <a:r>
              <a:rPr dirty="0" sz="1400">
                <a:latin typeface="宋体"/>
                <a:cs typeface="宋体"/>
              </a:rPr>
              <a:t>主流消</a:t>
            </a:r>
            <a:r>
              <a:rPr dirty="0" sz="1400" spc="-15">
                <a:latin typeface="宋体"/>
                <a:cs typeface="宋体"/>
              </a:rPr>
              <a:t>费</a:t>
            </a:r>
            <a:r>
              <a:rPr dirty="0" sz="1400">
                <a:latin typeface="宋体"/>
                <a:cs typeface="宋体"/>
              </a:rPr>
              <a:t>由低</a:t>
            </a:r>
            <a:r>
              <a:rPr dirty="0" sz="1400" spc="-15">
                <a:latin typeface="宋体"/>
                <a:cs typeface="宋体"/>
              </a:rPr>
              <a:t>端进</a:t>
            </a:r>
            <a:r>
              <a:rPr dirty="0" sz="1400">
                <a:latin typeface="宋体"/>
                <a:cs typeface="宋体"/>
              </a:rPr>
              <a:t>入中端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消费</a:t>
            </a:r>
            <a:r>
              <a:rPr dirty="0" sz="1400" spc="-15">
                <a:latin typeface="宋体"/>
                <a:cs typeface="宋体"/>
              </a:rPr>
              <a:t>升级</a:t>
            </a:r>
            <a:r>
              <a:rPr dirty="0" sz="1400">
                <a:latin typeface="宋体"/>
                <a:cs typeface="宋体"/>
              </a:rPr>
              <a:t>趋势明</a:t>
            </a:r>
            <a:r>
              <a:rPr dirty="0" sz="1400" spc="-15">
                <a:latin typeface="宋体"/>
                <a:cs typeface="宋体"/>
              </a:rPr>
              <a:t>显</a:t>
            </a:r>
            <a:r>
              <a:rPr dirty="0" sz="1400">
                <a:latin typeface="宋体"/>
                <a:cs typeface="宋体"/>
              </a:rPr>
              <a:t>，华</a:t>
            </a:r>
            <a:r>
              <a:rPr dirty="0" sz="1400" spc="-15">
                <a:latin typeface="宋体"/>
                <a:cs typeface="宋体"/>
              </a:rPr>
              <a:t>为可</a:t>
            </a:r>
            <a:r>
              <a:rPr dirty="0" sz="1400">
                <a:latin typeface="宋体"/>
                <a:cs typeface="宋体"/>
              </a:rPr>
              <a:t>以对 市场偏</a:t>
            </a:r>
            <a:r>
              <a:rPr dirty="0" sz="1400" spc="-15">
                <a:latin typeface="宋体"/>
                <a:cs typeface="宋体"/>
              </a:rPr>
              <a:t>好</a:t>
            </a:r>
            <a:r>
              <a:rPr dirty="0" sz="1400">
                <a:latin typeface="宋体"/>
                <a:cs typeface="宋体"/>
              </a:rPr>
              <a:t>度不</a:t>
            </a:r>
            <a:r>
              <a:rPr dirty="0" sz="1400" spc="-15">
                <a:latin typeface="宋体"/>
                <a:cs typeface="宋体"/>
              </a:rPr>
              <a:t>同的</a:t>
            </a:r>
            <a:r>
              <a:rPr dirty="0" sz="1400">
                <a:latin typeface="宋体"/>
                <a:cs typeface="宋体"/>
              </a:rPr>
              <a:t>产品进</a:t>
            </a:r>
            <a:r>
              <a:rPr dirty="0" sz="1400" spc="-1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差别</a:t>
            </a:r>
            <a:r>
              <a:rPr dirty="0" sz="1400" spc="-15">
                <a:latin typeface="宋体"/>
                <a:cs typeface="宋体"/>
              </a:rPr>
              <a:t>定价</a:t>
            </a:r>
            <a:r>
              <a:rPr dirty="0" sz="1400">
                <a:latin typeface="宋体"/>
                <a:cs typeface="宋体"/>
              </a:rPr>
              <a:t>，以加</a:t>
            </a:r>
            <a:r>
              <a:rPr dirty="0" sz="1400" spc="-15">
                <a:latin typeface="宋体"/>
                <a:cs typeface="宋体"/>
              </a:rPr>
              <a:t>速</a:t>
            </a:r>
            <a:r>
              <a:rPr dirty="0" sz="1400">
                <a:latin typeface="宋体"/>
                <a:cs typeface="宋体"/>
              </a:rPr>
              <a:t>扩大</a:t>
            </a:r>
            <a:r>
              <a:rPr dirty="0" sz="1400" spc="-15">
                <a:latin typeface="宋体"/>
                <a:cs typeface="宋体"/>
              </a:rPr>
              <a:t>市占</a:t>
            </a:r>
            <a:r>
              <a:rPr dirty="0" sz="1400">
                <a:latin typeface="宋体"/>
                <a:cs typeface="宋体"/>
              </a:rPr>
              <a:t>率：主</a:t>
            </a:r>
            <a:r>
              <a:rPr dirty="0" sz="1400" spc="-15">
                <a:latin typeface="宋体"/>
                <a:cs typeface="宋体"/>
              </a:rPr>
              <a:t>攻</a:t>
            </a:r>
            <a:r>
              <a:rPr dirty="0" sz="1400">
                <a:latin typeface="宋体"/>
                <a:cs typeface="宋体"/>
              </a:rPr>
              <a:t>中端</a:t>
            </a:r>
            <a:r>
              <a:rPr dirty="0" sz="1400" spc="-15">
                <a:latin typeface="宋体"/>
                <a:cs typeface="宋体"/>
              </a:rPr>
              <a:t>产品</a:t>
            </a:r>
            <a:r>
              <a:rPr dirty="0" sz="1400">
                <a:latin typeface="宋体"/>
                <a:cs typeface="宋体"/>
              </a:rPr>
              <a:t>，低端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品微</a:t>
            </a:r>
            <a:r>
              <a:rPr dirty="0" sz="1400" spc="-15">
                <a:latin typeface="宋体"/>
                <a:cs typeface="宋体"/>
              </a:rPr>
              <a:t>利，</a:t>
            </a:r>
            <a:r>
              <a:rPr dirty="0" sz="1400">
                <a:latin typeface="宋体"/>
                <a:cs typeface="宋体"/>
              </a:rPr>
              <a:t>中端 产品让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，高</a:t>
            </a:r>
            <a:r>
              <a:rPr dirty="0" sz="1400" spc="-15">
                <a:latin typeface="宋体"/>
                <a:cs typeface="宋体"/>
              </a:rPr>
              <a:t>端产</a:t>
            </a:r>
            <a:r>
              <a:rPr dirty="0" sz="1400">
                <a:latin typeface="宋体"/>
                <a:cs typeface="宋体"/>
              </a:rPr>
              <a:t>品正常</a:t>
            </a:r>
            <a:r>
              <a:rPr dirty="0" sz="1400" spc="-15">
                <a:latin typeface="宋体"/>
                <a:cs typeface="宋体"/>
              </a:rPr>
              <a:t>盈</a:t>
            </a:r>
            <a:r>
              <a:rPr dirty="0" sz="1400">
                <a:latin typeface="宋体"/>
                <a:cs typeface="宋体"/>
              </a:rPr>
              <a:t>利。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7A2121"/>
              </a:buClr>
              <a:buFont typeface="Wingdings"/>
              <a:buChar char=""/>
            </a:pPr>
            <a:endParaRPr sz="14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7A2121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在中</a:t>
            </a:r>
            <a:r>
              <a:rPr dirty="0" sz="1400" spc="5">
                <a:latin typeface="宋体"/>
                <a:cs typeface="宋体"/>
              </a:rPr>
              <a:t>端</a:t>
            </a:r>
            <a:r>
              <a:rPr dirty="0" sz="1400">
                <a:latin typeface="宋体"/>
                <a:cs typeface="宋体"/>
              </a:rPr>
              <a:t>产</a:t>
            </a:r>
            <a:r>
              <a:rPr dirty="0" sz="1400" spc="-10">
                <a:latin typeface="宋体"/>
                <a:cs typeface="宋体"/>
              </a:rPr>
              <a:t>品</a:t>
            </a:r>
            <a:r>
              <a:rPr dirty="0" sz="1400" spc="5">
                <a:latin typeface="宋体"/>
                <a:cs typeface="宋体"/>
              </a:rPr>
              <a:t>上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0">
                <a:latin typeface="宋体"/>
                <a:cs typeface="宋体"/>
              </a:rPr>
              <a:t>华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可</a:t>
            </a:r>
            <a:r>
              <a:rPr dirty="0" sz="1400" spc="-10">
                <a:latin typeface="宋体"/>
                <a:cs typeface="宋体"/>
              </a:rPr>
              <a:t>压</a:t>
            </a:r>
            <a:r>
              <a:rPr dirty="0" sz="1400" spc="5">
                <a:latin typeface="宋体"/>
                <a:cs typeface="宋体"/>
              </a:rPr>
              <a:t>缩</a:t>
            </a:r>
            <a:r>
              <a:rPr dirty="0" sz="1400">
                <a:latin typeface="宋体"/>
                <a:cs typeface="宋体"/>
              </a:rPr>
              <a:t>自</a:t>
            </a:r>
            <a:r>
              <a:rPr dirty="0" sz="1400" spc="-10">
                <a:latin typeface="宋体"/>
                <a:cs typeface="宋体"/>
              </a:rPr>
              <a:t>身</a:t>
            </a:r>
            <a:r>
              <a:rPr dirty="0" sz="1400" spc="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调</a:t>
            </a:r>
            <a:r>
              <a:rPr dirty="0" sz="1400">
                <a:latin typeface="宋体"/>
                <a:cs typeface="宋体"/>
              </a:rPr>
              <a:t>低</a:t>
            </a:r>
            <a:r>
              <a:rPr dirty="0" sz="1400" spc="-15">
                <a:latin typeface="Arial"/>
                <a:cs typeface="Arial"/>
              </a:rPr>
              <a:t>R</a:t>
            </a:r>
            <a:r>
              <a:rPr dirty="0" baseline="-21604" sz="1350" spc="-22">
                <a:latin typeface="Arial"/>
                <a:cs typeface="Arial"/>
              </a:rPr>
              <a:t>11</a:t>
            </a:r>
            <a:r>
              <a:rPr dirty="0" baseline="-21604" sz="1350" spc="157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12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 spc="10">
                <a:latin typeface="宋体"/>
                <a:cs typeface="宋体"/>
              </a:rPr>
              <a:t>降低</a:t>
            </a:r>
            <a:r>
              <a:rPr dirty="0" sz="1400" spc="5">
                <a:latin typeface="宋体"/>
                <a:cs typeface="宋体"/>
              </a:rPr>
              <a:t>成</a:t>
            </a:r>
            <a:r>
              <a:rPr dirty="0" sz="1400">
                <a:latin typeface="宋体"/>
                <a:cs typeface="宋体"/>
              </a:rPr>
              <a:t>本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继</a:t>
            </a:r>
            <a:r>
              <a:rPr dirty="0" sz="1400" spc="-10">
                <a:latin typeface="宋体"/>
                <a:cs typeface="宋体"/>
              </a:rPr>
              <a:t>而</a:t>
            </a:r>
            <a:r>
              <a:rPr dirty="0" sz="1400" spc="5">
                <a:latin typeface="宋体"/>
                <a:cs typeface="宋体"/>
              </a:rPr>
              <a:t>在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13</a:t>
            </a:r>
            <a:r>
              <a:rPr dirty="0" sz="1400" spc="10">
                <a:latin typeface="宋体"/>
                <a:cs typeface="宋体"/>
              </a:rPr>
              <a:t>一</a:t>
            </a:r>
            <a:r>
              <a:rPr dirty="0" sz="1400" spc="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0">
                <a:latin typeface="宋体"/>
                <a:cs typeface="宋体"/>
              </a:rPr>
              <a:t>情</a:t>
            </a:r>
            <a:r>
              <a:rPr dirty="0" sz="1400" spc="5">
                <a:latin typeface="宋体"/>
                <a:cs typeface="宋体"/>
              </a:rPr>
              <a:t>况</a:t>
            </a:r>
            <a:r>
              <a:rPr dirty="0" sz="1400">
                <a:latin typeface="宋体"/>
                <a:cs typeface="宋体"/>
              </a:rPr>
              <a:t>下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调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400">
                <a:latin typeface="宋体"/>
                <a:cs typeface="宋体"/>
              </a:rPr>
              <a:t>低终端</a:t>
            </a:r>
            <a:r>
              <a:rPr dirty="0" sz="1400" spc="-15">
                <a:latin typeface="宋体"/>
                <a:cs typeface="宋体"/>
              </a:rPr>
              <a:t>售</a:t>
            </a:r>
            <a:r>
              <a:rPr dirty="0" sz="1400">
                <a:latin typeface="宋体"/>
                <a:cs typeface="宋体"/>
              </a:rPr>
              <a:t>价。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424" y="1223772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779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1655" y="1207008"/>
            <a:ext cx="1065530" cy="47244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7000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100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4544" y="1205483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59991" y="1429511"/>
            <a:ext cx="1021080" cy="76200"/>
          </a:xfrm>
          <a:custGeom>
            <a:avLst/>
            <a:gdLst/>
            <a:ahLst/>
            <a:cxnLst/>
            <a:rect l="l" t="t" r="r" b="b"/>
            <a:pathLst>
              <a:path w="1021080" h="76200">
                <a:moveTo>
                  <a:pt x="944880" y="0"/>
                </a:moveTo>
                <a:lnTo>
                  <a:pt x="944880" y="76200"/>
                </a:lnTo>
                <a:lnTo>
                  <a:pt x="1008380" y="44450"/>
                </a:lnTo>
                <a:lnTo>
                  <a:pt x="957580" y="44450"/>
                </a:lnTo>
                <a:lnTo>
                  <a:pt x="957580" y="31750"/>
                </a:lnTo>
                <a:lnTo>
                  <a:pt x="1008380" y="31750"/>
                </a:lnTo>
                <a:lnTo>
                  <a:pt x="944880" y="0"/>
                </a:lnTo>
                <a:close/>
              </a:path>
              <a:path w="1021080" h="76200">
                <a:moveTo>
                  <a:pt x="9448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44880" y="44450"/>
                </a:lnTo>
                <a:lnTo>
                  <a:pt x="944880" y="31750"/>
                </a:lnTo>
                <a:close/>
              </a:path>
              <a:path w="1021080" h="76200">
                <a:moveTo>
                  <a:pt x="1008380" y="31750"/>
                </a:moveTo>
                <a:lnTo>
                  <a:pt x="957580" y="31750"/>
                </a:lnTo>
                <a:lnTo>
                  <a:pt x="957580" y="44450"/>
                </a:lnTo>
                <a:lnTo>
                  <a:pt x="1008380" y="44450"/>
                </a:lnTo>
                <a:lnTo>
                  <a:pt x="1021080" y="38100"/>
                </a:lnTo>
                <a:lnTo>
                  <a:pt x="1008380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0855" y="1408175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34656" y="1191767"/>
            <a:ext cx="1214755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98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63284" y="1409700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08252" y="1135507"/>
            <a:ext cx="863600" cy="5835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 marR="105410">
              <a:lnSpc>
                <a:spcPct val="100000"/>
              </a:lnSpc>
              <a:spcBef>
                <a:spcPts val="855"/>
              </a:spcBef>
            </a:pPr>
            <a:r>
              <a:rPr dirty="0" baseline="13888" sz="1800" spc="-67">
                <a:latin typeface="Arial"/>
                <a:cs typeface="Arial"/>
              </a:rPr>
              <a:t>R</a:t>
            </a:r>
            <a:r>
              <a:rPr dirty="0" sz="800" spc="-4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11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3603" y="765048"/>
            <a:ext cx="6131560" cy="1583690"/>
          </a:xfrm>
          <a:custGeom>
            <a:avLst/>
            <a:gdLst/>
            <a:ahLst/>
            <a:cxnLst/>
            <a:rect l="l" t="t" r="r" b="b"/>
            <a:pathLst>
              <a:path w="6131559" h="1583689">
                <a:moveTo>
                  <a:pt x="0" y="791717"/>
                </a:moveTo>
                <a:lnTo>
                  <a:pt x="7479" y="735976"/>
                </a:lnTo>
                <a:lnTo>
                  <a:pt x="20624" y="699385"/>
                </a:lnTo>
                <a:lnTo>
                  <a:pt x="40122" y="663295"/>
                </a:lnTo>
                <a:lnTo>
                  <a:pt x="65828" y="627743"/>
                </a:lnTo>
                <a:lnTo>
                  <a:pt x="97594" y="592769"/>
                </a:lnTo>
                <a:lnTo>
                  <a:pt x="135272" y="558408"/>
                </a:lnTo>
                <a:lnTo>
                  <a:pt x="178716" y="524701"/>
                </a:lnTo>
                <a:lnTo>
                  <a:pt x="227778" y="491684"/>
                </a:lnTo>
                <a:lnTo>
                  <a:pt x="282312" y="459396"/>
                </a:lnTo>
                <a:lnTo>
                  <a:pt x="342169" y="427874"/>
                </a:lnTo>
                <a:lnTo>
                  <a:pt x="407203" y="397158"/>
                </a:lnTo>
                <a:lnTo>
                  <a:pt x="477267" y="367284"/>
                </a:lnTo>
                <a:lnTo>
                  <a:pt x="514138" y="352675"/>
                </a:lnTo>
                <a:lnTo>
                  <a:pt x="552212" y="338290"/>
                </a:lnTo>
                <a:lnTo>
                  <a:pt x="591470" y="324136"/>
                </a:lnTo>
                <a:lnTo>
                  <a:pt x="631893" y="310216"/>
                </a:lnTo>
                <a:lnTo>
                  <a:pt x="673463" y="296535"/>
                </a:lnTo>
                <a:lnTo>
                  <a:pt x="716162" y="283098"/>
                </a:lnTo>
                <a:lnTo>
                  <a:pt x="759970" y="269910"/>
                </a:lnTo>
                <a:lnTo>
                  <a:pt x="804871" y="256976"/>
                </a:lnTo>
                <a:lnTo>
                  <a:pt x="850845" y="244299"/>
                </a:lnTo>
                <a:lnTo>
                  <a:pt x="897874" y="231886"/>
                </a:lnTo>
                <a:lnTo>
                  <a:pt x="945939" y="219740"/>
                </a:lnTo>
                <a:lnTo>
                  <a:pt x="995023" y="207866"/>
                </a:lnTo>
                <a:lnTo>
                  <a:pt x="1045106" y="196270"/>
                </a:lnTo>
                <a:lnTo>
                  <a:pt x="1096170" y="184956"/>
                </a:lnTo>
                <a:lnTo>
                  <a:pt x="1148198" y="173929"/>
                </a:lnTo>
                <a:lnTo>
                  <a:pt x="1201170" y="163193"/>
                </a:lnTo>
                <a:lnTo>
                  <a:pt x="1255068" y="152753"/>
                </a:lnTo>
                <a:lnTo>
                  <a:pt x="1309874" y="142614"/>
                </a:lnTo>
                <a:lnTo>
                  <a:pt x="1365570" y="132781"/>
                </a:lnTo>
                <a:lnTo>
                  <a:pt x="1422136" y="123259"/>
                </a:lnTo>
                <a:lnTo>
                  <a:pt x="1479555" y="114051"/>
                </a:lnTo>
                <a:lnTo>
                  <a:pt x="1537808" y="105164"/>
                </a:lnTo>
                <a:lnTo>
                  <a:pt x="1596877" y="96601"/>
                </a:lnTo>
                <a:lnTo>
                  <a:pt x="1656743" y="88368"/>
                </a:lnTo>
                <a:lnTo>
                  <a:pt x="1717388" y="80469"/>
                </a:lnTo>
                <a:lnTo>
                  <a:pt x="1778793" y="72909"/>
                </a:lnTo>
                <a:lnTo>
                  <a:pt x="1840941" y="65693"/>
                </a:lnTo>
                <a:lnTo>
                  <a:pt x="1903812" y="58826"/>
                </a:lnTo>
                <a:lnTo>
                  <a:pt x="1967389" y="52311"/>
                </a:lnTo>
                <a:lnTo>
                  <a:pt x="2031652" y="46155"/>
                </a:lnTo>
                <a:lnTo>
                  <a:pt x="2096585" y="40361"/>
                </a:lnTo>
                <a:lnTo>
                  <a:pt x="2162167" y="34935"/>
                </a:lnTo>
                <a:lnTo>
                  <a:pt x="2228381" y="29881"/>
                </a:lnTo>
                <a:lnTo>
                  <a:pt x="2295208" y="25204"/>
                </a:lnTo>
                <a:lnTo>
                  <a:pt x="2362630" y="20909"/>
                </a:lnTo>
                <a:lnTo>
                  <a:pt x="2430629" y="17000"/>
                </a:lnTo>
                <a:lnTo>
                  <a:pt x="2499186" y="13483"/>
                </a:lnTo>
                <a:lnTo>
                  <a:pt x="2568283" y="10362"/>
                </a:lnTo>
                <a:lnTo>
                  <a:pt x="2637901" y="7641"/>
                </a:lnTo>
                <a:lnTo>
                  <a:pt x="2708022" y="5326"/>
                </a:lnTo>
                <a:lnTo>
                  <a:pt x="2778627" y="3421"/>
                </a:lnTo>
                <a:lnTo>
                  <a:pt x="2849698" y="1931"/>
                </a:lnTo>
                <a:lnTo>
                  <a:pt x="2921218" y="861"/>
                </a:lnTo>
                <a:lnTo>
                  <a:pt x="2993166" y="216"/>
                </a:lnTo>
                <a:lnTo>
                  <a:pt x="3065526" y="0"/>
                </a:lnTo>
                <a:lnTo>
                  <a:pt x="3137885" y="216"/>
                </a:lnTo>
                <a:lnTo>
                  <a:pt x="3209833" y="861"/>
                </a:lnTo>
                <a:lnTo>
                  <a:pt x="3281353" y="1931"/>
                </a:lnTo>
                <a:lnTo>
                  <a:pt x="3352424" y="3421"/>
                </a:lnTo>
                <a:lnTo>
                  <a:pt x="3423029" y="5326"/>
                </a:lnTo>
                <a:lnTo>
                  <a:pt x="3493150" y="7641"/>
                </a:lnTo>
                <a:lnTo>
                  <a:pt x="3562768" y="10362"/>
                </a:lnTo>
                <a:lnTo>
                  <a:pt x="3631865" y="13483"/>
                </a:lnTo>
                <a:lnTo>
                  <a:pt x="3700422" y="17000"/>
                </a:lnTo>
                <a:lnTo>
                  <a:pt x="3768421" y="20909"/>
                </a:lnTo>
                <a:lnTo>
                  <a:pt x="3835843" y="25204"/>
                </a:lnTo>
                <a:lnTo>
                  <a:pt x="3902670" y="29881"/>
                </a:lnTo>
                <a:lnTo>
                  <a:pt x="3968884" y="34935"/>
                </a:lnTo>
                <a:lnTo>
                  <a:pt x="4034466" y="40361"/>
                </a:lnTo>
                <a:lnTo>
                  <a:pt x="4099399" y="46155"/>
                </a:lnTo>
                <a:lnTo>
                  <a:pt x="4163662" y="52311"/>
                </a:lnTo>
                <a:lnTo>
                  <a:pt x="4227239" y="58826"/>
                </a:lnTo>
                <a:lnTo>
                  <a:pt x="4290110" y="65693"/>
                </a:lnTo>
                <a:lnTo>
                  <a:pt x="4352258" y="72909"/>
                </a:lnTo>
                <a:lnTo>
                  <a:pt x="4413663" y="80469"/>
                </a:lnTo>
                <a:lnTo>
                  <a:pt x="4474308" y="88368"/>
                </a:lnTo>
                <a:lnTo>
                  <a:pt x="4534174" y="96601"/>
                </a:lnTo>
                <a:lnTo>
                  <a:pt x="4593243" y="105164"/>
                </a:lnTo>
                <a:lnTo>
                  <a:pt x="4651496" y="114051"/>
                </a:lnTo>
                <a:lnTo>
                  <a:pt x="4708915" y="123259"/>
                </a:lnTo>
                <a:lnTo>
                  <a:pt x="4765481" y="132781"/>
                </a:lnTo>
                <a:lnTo>
                  <a:pt x="4821177" y="142614"/>
                </a:lnTo>
                <a:lnTo>
                  <a:pt x="4875983" y="152753"/>
                </a:lnTo>
                <a:lnTo>
                  <a:pt x="4929881" y="163193"/>
                </a:lnTo>
                <a:lnTo>
                  <a:pt x="4982853" y="173929"/>
                </a:lnTo>
                <a:lnTo>
                  <a:pt x="5034881" y="184956"/>
                </a:lnTo>
                <a:lnTo>
                  <a:pt x="5085945" y="196270"/>
                </a:lnTo>
                <a:lnTo>
                  <a:pt x="5136028" y="207866"/>
                </a:lnTo>
                <a:lnTo>
                  <a:pt x="5185112" y="219740"/>
                </a:lnTo>
                <a:lnTo>
                  <a:pt x="5233177" y="231886"/>
                </a:lnTo>
                <a:lnTo>
                  <a:pt x="5280206" y="244299"/>
                </a:lnTo>
                <a:lnTo>
                  <a:pt x="5326180" y="256976"/>
                </a:lnTo>
                <a:lnTo>
                  <a:pt x="5371081" y="269910"/>
                </a:lnTo>
                <a:lnTo>
                  <a:pt x="5414889" y="283098"/>
                </a:lnTo>
                <a:lnTo>
                  <a:pt x="5457588" y="296535"/>
                </a:lnTo>
                <a:lnTo>
                  <a:pt x="5499158" y="310216"/>
                </a:lnTo>
                <a:lnTo>
                  <a:pt x="5539581" y="324136"/>
                </a:lnTo>
                <a:lnTo>
                  <a:pt x="5578839" y="338290"/>
                </a:lnTo>
                <a:lnTo>
                  <a:pt x="5616913" y="352675"/>
                </a:lnTo>
                <a:lnTo>
                  <a:pt x="5653784" y="367284"/>
                </a:lnTo>
                <a:lnTo>
                  <a:pt x="5689436" y="382113"/>
                </a:lnTo>
                <a:lnTo>
                  <a:pt x="5757003" y="412413"/>
                </a:lnTo>
                <a:lnTo>
                  <a:pt x="5819467" y="443537"/>
                </a:lnTo>
                <a:lnTo>
                  <a:pt x="5876681" y="475446"/>
                </a:lnTo>
                <a:lnTo>
                  <a:pt x="5928497" y="508104"/>
                </a:lnTo>
                <a:lnTo>
                  <a:pt x="5974768" y="541471"/>
                </a:lnTo>
                <a:lnTo>
                  <a:pt x="6015348" y="575509"/>
                </a:lnTo>
                <a:lnTo>
                  <a:pt x="6050088" y="610182"/>
                </a:lnTo>
                <a:lnTo>
                  <a:pt x="6078843" y="645450"/>
                </a:lnTo>
                <a:lnTo>
                  <a:pt x="6101463" y="681275"/>
                </a:lnTo>
                <a:lnTo>
                  <a:pt x="6117803" y="717620"/>
                </a:lnTo>
                <a:lnTo>
                  <a:pt x="6127715" y="754447"/>
                </a:lnTo>
                <a:lnTo>
                  <a:pt x="6131052" y="791717"/>
                </a:lnTo>
                <a:lnTo>
                  <a:pt x="6130214" y="810406"/>
                </a:lnTo>
                <a:lnTo>
                  <a:pt x="6117803" y="865815"/>
                </a:lnTo>
                <a:lnTo>
                  <a:pt x="6101463" y="902160"/>
                </a:lnTo>
                <a:lnTo>
                  <a:pt x="6078843" y="937985"/>
                </a:lnTo>
                <a:lnTo>
                  <a:pt x="6050088" y="973253"/>
                </a:lnTo>
                <a:lnTo>
                  <a:pt x="6015348" y="1007926"/>
                </a:lnTo>
                <a:lnTo>
                  <a:pt x="5974768" y="1041964"/>
                </a:lnTo>
                <a:lnTo>
                  <a:pt x="5928497" y="1075331"/>
                </a:lnTo>
                <a:lnTo>
                  <a:pt x="5876681" y="1107989"/>
                </a:lnTo>
                <a:lnTo>
                  <a:pt x="5819467" y="1139898"/>
                </a:lnTo>
                <a:lnTo>
                  <a:pt x="5757003" y="1171022"/>
                </a:lnTo>
                <a:lnTo>
                  <a:pt x="5689436" y="1201322"/>
                </a:lnTo>
                <a:lnTo>
                  <a:pt x="5653784" y="1216151"/>
                </a:lnTo>
                <a:lnTo>
                  <a:pt x="5616913" y="1230760"/>
                </a:lnTo>
                <a:lnTo>
                  <a:pt x="5578839" y="1245145"/>
                </a:lnTo>
                <a:lnTo>
                  <a:pt x="5539581" y="1259299"/>
                </a:lnTo>
                <a:lnTo>
                  <a:pt x="5499158" y="1273219"/>
                </a:lnTo>
                <a:lnTo>
                  <a:pt x="5457588" y="1286900"/>
                </a:lnTo>
                <a:lnTo>
                  <a:pt x="5414889" y="1300337"/>
                </a:lnTo>
                <a:lnTo>
                  <a:pt x="5371081" y="1313525"/>
                </a:lnTo>
                <a:lnTo>
                  <a:pt x="5326180" y="1326459"/>
                </a:lnTo>
                <a:lnTo>
                  <a:pt x="5280206" y="1339136"/>
                </a:lnTo>
                <a:lnTo>
                  <a:pt x="5233177" y="1351549"/>
                </a:lnTo>
                <a:lnTo>
                  <a:pt x="5185112" y="1363695"/>
                </a:lnTo>
                <a:lnTo>
                  <a:pt x="5136028" y="1375569"/>
                </a:lnTo>
                <a:lnTo>
                  <a:pt x="5085945" y="1387165"/>
                </a:lnTo>
                <a:lnTo>
                  <a:pt x="5034881" y="1398479"/>
                </a:lnTo>
                <a:lnTo>
                  <a:pt x="4982853" y="1409506"/>
                </a:lnTo>
                <a:lnTo>
                  <a:pt x="4929881" y="1420242"/>
                </a:lnTo>
                <a:lnTo>
                  <a:pt x="4875983" y="1430682"/>
                </a:lnTo>
                <a:lnTo>
                  <a:pt x="4821177" y="1440821"/>
                </a:lnTo>
                <a:lnTo>
                  <a:pt x="4765481" y="1450654"/>
                </a:lnTo>
                <a:lnTo>
                  <a:pt x="4708915" y="1460176"/>
                </a:lnTo>
                <a:lnTo>
                  <a:pt x="4651496" y="1469384"/>
                </a:lnTo>
                <a:lnTo>
                  <a:pt x="4593243" y="1478271"/>
                </a:lnTo>
                <a:lnTo>
                  <a:pt x="4534174" y="1486834"/>
                </a:lnTo>
                <a:lnTo>
                  <a:pt x="4474308" y="1495067"/>
                </a:lnTo>
                <a:lnTo>
                  <a:pt x="4413663" y="1502966"/>
                </a:lnTo>
                <a:lnTo>
                  <a:pt x="4352258" y="1510526"/>
                </a:lnTo>
                <a:lnTo>
                  <a:pt x="4290110" y="1517742"/>
                </a:lnTo>
                <a:lnTo>
                  <a:pt x="4227239" y="1524609"/>
                </a:lnTo>
                <a:lnTo>
                  <a:pt x="4163662" y="1531124"/>
                </a:lnTo>
                <a:lnTo>
                  <a:pt x="4099399" y="1537280"/>
                </a:lnTo>
                <a:lnTo>
                  <a:pt x="4034466" y="1543074"/>
                </a:lnTo>
                <a:lnTo>
                  <a:pt x="3968884" y="1548500"/>
                </a:lnTo>
                <a:lnTo>
                  <a:pt x="3902670" y="1553554"/>
                </a:lnTo>
                <a:lnTo>
                  <a:pt x="3835843" y="1558231"/>
                </a:lnTo>
                <a:lnTo>
                  <a:pt x="3768421" y="1562526"/>
                </a:lnTo>
                <a:lnTo>
                  <a:pt x="3700422" y="1566435"/>
                </a:lnTo>
                <a:lnTo>
                  <a:pt x="3631865" y="1569952"/>
                </a:lnTo>
                <a:lnTo>
                  <a:pt x="3562768" y="1573073"/>
                </a:lnTo>
                <a:lnTo>
                  <a:pt x="3493150" y="1575794"/>
                </a:lnTo>
                <a:lnTo>
                  <a:pt x="3423029" y="1578109"/>
                </a:lnTo>
                <a:lnTo>
                  <a:pt x="3352424" y="1580014"/>
                </a:lnTo>
                <a:lnTo>
                  <a:pt x="3281353" y="1581504"/>
                </a:lnTo>
                <a:lnTo>
                  <a:pt x="3209833" y="1582574"/>
                </a:lnTo>
                <a:lnTo>
                  <a:pt x="3137885" y="1583219"/>
                </a:lnTo>
                <a:lnTo>
                  <a:pt x="3065526" y="1583436"/>
                </a:lnTo>
                <a:lnTo>
                  <a:pt x="2993166" y="1583219"/>
                </a:lnTo>
                <a:lnTo>
                  <a:pt x="2921218" y="1582574"/>
                </a:lnTo>
                <a:lnTo>
                  <a:pt x="2849698" y="1581504"/>
                </a:lnTo>
                <a:lnTo>
                  <a:pt x="2778627" y="1580014"/>
                </a:lnTo>
                <a:lnTo>
                  <a:pt x="2708022" y="1578109"/>
                </a:lnTo>
                <a:lnTo>
                  <a:pt x="2637901" y="1575794"/>
                </a:lnTo>
                <a:lnTo>
                  <a:pt x="2568283" y="1573073"/>
                </a:lnTo>
                <a:lnTo>
                  <a:pt x="2499186" y="1569952"/>
                </a:lnTo>
                <a:lnTo>
                  <a:pt x="2430629" y="1566435"/>
                </a:lnTo>
                <a:lnTo>
                  <a:pt x="2362630" y="1562526"/>
                </a:lnTo>
                <a:lnTo>
                  <a:pt x="2295208" y="1558231"/>
                </a:lnTo>
                <a:lnTo>
                  <a:pt x="2228381" y="1553554"/>
                </a:lnTo>
                <a:lnTo>
                  <a:pt x="2162167" y="1548500"/>
                </a:lnTo>
                <a:lnTo>
                  <a:pt x="2096585" y="1543074"/>
                </a:lnTo>
                <a:lnTo>
                  <a:pt x="2031652" y="1537280"/>
                </a:lnTo>
                <a:lnTo>
                  <a:pt x="1967389" y="1531124"/>
                </a:lnTo>
                <a:lnTo>
                  <a:pt x="1903812" y="1524609"/>
                </a:lnTo>
                <a:lnTo>
                  <a:pt x="1840941" y="1517742"/>
                </a:lnTo>
                <a:lnTo>
                  <a:pt x="1778793" y="1510526"/>
                </a:lnTo>
                <a:lnTo>
                  <a:pt x="1717388" y="1502966"/>
                </a:lnTo>
                <a:lnTo>
                  <a:pt x="1656743" y="1495067"/>
                </a:lnTo>
                <a:lnTo>
                  <a:pt x="1596877" y="1486834"/>
                </a:lnTo>
                <a:lnTo>
                  <a:pt x="1537808" y="1478271"/>
                </a:lnTo>
                <a:lnTo>
                  <a:pt x="1479555" y="1469384"/>
                </a:lnTo>
                <a:lnTo>
                  <a:pt x="1422136" y="1460176"/>
                </a:lnTo>
                <a:lnTo>
                  <a:pt x="1365570" y="1450654"/>
                </a:lnTo>
                <a:lnTo>
                  <a:pt x="1309874" y="1440821"/>
                </a:lnTo>
                <a:lnTo>
                  <a:pt x="1255068" y="1430682"/>
                </a:lnTo>
                <a:lnTo>
                  <a:pt x="1201170" y="1420242"/>
                </a:lnTo>
                <a:lnTo>
                  <a:pt x="1148198" y="1409506"/>
                </a:lnTo>
                <a:lnTo>
                  <a:pt x="1096170" y="1398479"/>
                </a:lnTo>
                <a:lnTo>
                  <a:pt x="1045106" y="1387165"/>
                </a:lnTo>
                <a:lnTo>
                  <a:pt x="995023" y="1375569"/>
                </a:lnTo>
                <a:lnTo>
                  <a:pt x="945939" y="1363695"/>
                </a:lnTo>
                <a:lnTo>
                  <a:pt x="897874" y="1351549"/>
                </a:lnTo>
                <a:lnTo>
                  <a:pt x="850845" y="1339136"/>
                </a:lnTo>
                <a:lnTo>
                  <a:pt x="804871" y="1326459"/>
                </a:lnTo>
                <a:lnTo>
                  <a:pt x="759970" y="1313525"/>
                </a:lnTo>
                <a:lnTo>
                  <a:pt x="716162" y="1300337"/>
                </a:lnTo>
                <a:lnTo>
                  <a:pt x="673463" y="1286900"/>
                </a:lnTo>
                <a:lnTo>
                  <a:pt x="631893" y="1273219"/>
                </a:lnTo>
                <a:lnTo>
                  <a:pt x="591470" y="1259299"/>
                </a:lnTo>
                <a:lnTo>
                  <a:pt x="552212" y="1245145"/>
                </a:lnTo>
                <a:lnTo>
                  <a:pt x="514138" y="1230760"/>
                </a:lnTo>
                <a:lnTo>
                  <a:pt x="477267" y="1216151"/>
                </a:lnTo>
                <a:lnTo>
                  <a:pt x="441615" y="1201322"/>
                </a:lnTo>
                <a:lnTo>
                  <a:pt x="374048" y="1171022"/>
                </a:lnTo>
                <a:lnTo>
                  <a:pt x="311584" y="1139898"/>
                </a:lnTo>
                <a:lnTo>
                  <a:pt x="254370" y="1107989"/>
                </a:lnTo>
                <a:lnTo>
                  <a:pt x="202554" y="1075331"/>
                </a:lnTo>
                <a:lnTo>
                  <a:pt x="156283" y="1041964"/>
                </a:lnTo>
                <a:lnTo>
                  <a:pt x="115703" y="1007926"/>
                </a:lnTo>
                <a:lnTo>
                  <a:pt x="80963" y="973253"/>
                </a:lnTo>
                <a:lnTo>
                  <a:pt x="52208" y="937985"/>
                </a:lnTo>
                <a:lnTo>
                  <a:pt x="29588" y="902160"/>
                </a:lnTo>
                <a:lnTo>
                  <a:pt x="13248" y="865815"/>
                </a:lnTo>
                <a:lnTo>
                  <a:pt x="3336" y="828988"/>
                </a:lnTo>
                <a:lnTo>
                  <a:pt x="0" y="791717"/>
                </a:lnTo>
                <a:close/>
              </a:path>
            </a:pathLst>
          </a:custGeom>
          <a:ln w="12192">
            <a:solidFill>
              <a:srgbClr val="7A212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46901" y="1162939"/>
            <a:ext cx="1036319" cy="54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76555">
              <a:lnSpc>
                <a:spcPct val="142200"/>
              </a:lnSpc>
              <a:spcBef>
                <a:spcPts val="100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  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</a:t>
            </a:r>
            <a:r>
              <a:rPr dirty="0" baseline="-20833" sz="1200">
                <a:latin typeface="Arial"/>
                <a:cs typeface="Arial"/>
              </a:rPr>
              <a:t>1</a:t>
            </a:r>
            <a:r>
              <a:rPr dirty="0" sz="1200" spc="-10">
                <a:latin typeface="Arial"/>
                <a:cs typeface="Arial"/>
              </a:rPr>
              <a:t>+R</a:t>
            </a:r>
            <a:r>
              <a:rPr dirty="0" baseline="-20833" sz="1200" spc="-7">
                <a:latin typeface="Arial"/>
                <a:cs typeface="Arial"/>
              </a:rPr>
              <a:t>12</a:t>
            </a:r>
            <a:r>
              <a:rPr dirty="0" sz="1200" spc="-10">
                <a:latin typeface="Arial"/>
                <a:cs typeface="Arial"/>
              </a:rPr>
              <a:t>+R</a:t>
            </a:r>
            <a:r>
              <a:rPr dirty="0" baseline="-20833" sz="1200" spc="-7">
                <a:latin typeface="Arial"/>
                <a:cs typeface="Arial"/>
              </a:rPr>
              <a:t>13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5776" y="1113282"/>
            <a:ext cx="1182370" cy="60071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 marL="133350">
              <a:lnSpc>
                <a:spcPct val="100000"/>
              </a:lnSpc>
              <a:spcBef>
                <a:spcPts val="919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15">
                <a:latin typeface="Arial"/>
                <a:cs typeface="Arial"/>
              </a:rPr>
              <a:t>1+R</a:t>
            </a:r>
            <a:r>
              <a:rPr dirty="0" baseline="-20833" sz="1200" spc="-22">
                <a:latin typeface="Arial"/>
                <a:cs typeface="Arial"/>
              </a:rPr>
              <a:t>11</a:t>
            </a:r>
            <a:r>
              <a:rPr dirty="0" sz="1200" spc="-15">
                <a:latin typeface="Arial"/>
                <a:cs typeface="Arial"/>
              </a:rPr>
              <a:t>+R</a:t>
            </a:r>
            <a:r>
              <a:rPr dirty="0" baseline="-20833" sz="1200" spc="-22">
                <a:latin typeface="Arial"/>
                <a:cs typeface="Arial"/>
              </a:rPr>
              <a:t>12</a:t>
            </a:r>
            <a:endParaRPr baseline="-20833"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4325"/>
            <a:ext cx="247015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定价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建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议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税负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669" y="2257806"/>
            <a:ext cx="8722995" cy="4081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7A2121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 b="1">
                <a:latin typeface="明兰"/>
                <a:cs typeface="明兰"/>
              </a:rPr>
              <a:t>从税</a:t>
            </a:r>
            <a:r>
              <a:rPr dirty="0" sz="1400" b="1">
                <a:latin typeface="明兰"/>
                <a:cs typeface="明兰"/>
              </a:rPr>
              <a:t>务的</a:t>
            </a:r>
            <a:r>
              <a:rPr dirty="0" sz="1400" spc="-15" b="1">
                <a:latin typeface="明兰"/>
                <a:cs typeface="明兰"/>
              </a:rPr>
              <a:t>角</a:t>
            </a:r>
            <a:r>
              <a:rPr dirty="0" sz="1400" b="1">
                <a:latin typeface="明兰"/>
                <a:cs typeface="明兰"/>
              </a:rPr>
              <a:t>度看</a:t>
            </a:r>
            <a:r>
              <a:rPr dirty="0" sz="1400" spc="-10" b="1">
                <a:latin typeface="明兰"/>
                <a:cs typeface="明兰"/>
              </a:rPr>
              <a:t>，</a:t>
            </a:r>
            <a:r>
              <a:rPr dirty="0" sz="1400" b="1">
                <a:latin typeface="明兰"/>
                <a:cs typeface="明兰"/>
              </a:rPr>
              <a:t>在</a:t>
            </a:r>
            <a:r>
              <a:rPr dirty="0" sz="1400" spc="-5" b="1">
                <a:latin typeface="Arial"/>
                <a:cs typeface="Arial"/>
              </a:rPr>
              <a:t>R</a:t>
            </a:r>
            <a:r>
              <a:rPr dirty="0" baseline="-21604" sz="1350" spc="-7" b="1">
                <a:latin typeface="Arial"/>
                <a:cs typeface="Arial"/>
              </a:rPr>
              <a:t>11</a:t>
            </a:r>
            <a:r>
              <a:rPr dirty="0" sz="1400" spc="-5" b="1">
                <a:latin typeface="Arial"/>
                <a:cs typeface="Arial"/>
              </a:rPr>
              <a:t>+R</a:t>
            </a:r>
            <a:r>
              <a:rPr dirty="0" baseline="-21604" sz="1350" spc="-7" b="1">
                <a:latin typeface="Arial"/>
                <a:cs typeface="Arial"/>
              </a:rPr>
              <a:t>12</a:t>
            </a:r>
            <a:r>
              <a:rPr dirty="0" sz="1400" spc="20" b="1">
                <a:latin typeface="明兰"/>
                <a:cs typeface="明兰"/>
              </a:rPr>
              <a:t>一</a:t>
            </a:r>
            <a:r>
              <a:rPr dirty="0" sz="1400" b="1">
                <a:latin typeface="明兰"/>
                <a:cs typeface="明兰"/>
              </a:rPr>
              <a:t>定的前提</a:t>
            </a:r>
            <a:r>
              <a:rPr dirty="0" sz="1400" spc="-15" b="1">
                <a:latin typeface="明兰"/>
                <a:cs typeface="明兰"/>
              </a:rPr>
              <a:t>下</a:t>
            </a:r>
            <a:r>
              <a:rPr dirty="0" sz="1400" b="1">
                <a:latin typeface="明兰"/>
                <a:cs typeface="明兰"/>
              </a:rPr>
              <a:t>，华</a:t>
            </a:r>
            <a:r>
              <a:rPr dirty="0" sz="1400" spc="-15" b="1">
                <a:latin typeface="明兰"/>
                <a:cs typeface="明兰"/>
              </a:rPr>
              <a:t>为</a:t>
            </a:r>
            <a:r>
              <a:rPr dirty="0" sz="1400" b="1">
                <a:latin typeface="明兰"/>
                <a:cs typeface="明兰"/>
              </a:rPr>
              <a:t>可调</a:t>
            </a:r>
            <a:r>
              <a:rPr dirty="0" sz="1400" spc="-10" b="1">
                <a:latin typeface="明兰"/>
                <a:cs typeface="明兰"/>
              </a:rPr>
              <a:t>节</a:t>
            </a:r>
            <a:r>
              <a:rPr dirty="0" sz="1400" spc="-10" b="1">
                <a:latin typeface="Arial"/>
                <a:cs typeface="Arial"/>
              </a:rPr>
              <a:t>R</a:t>
            </a:r>
            <a:r>
              <a:rPr dirty="0" baseline="-21604" sz="1350" spc="-15" b="1">
                <a:latin typeface="Arial"/>
                <a:cs typeface="Arial"/>
              </a:rPr>
              <a:t>11</a:t>
            </a:r>
            <a:r>
              <a:rPr dirty="0" sz="1400" spc="10" b="1">
                <a:latin typeface="明兰"/>
                <a:cs typeface="明兰"/>
              </a:rPr>
              <a:t>和</a:t>
            </a:r>
            <a:r>
              <a:rPr dirty="0" sz="1400" spc="5" b="1">
                <a:latin typeface="Arial"/>
                <a:cs typeface="Arial"/>
              </a:rPr>
              <a:t>R</a:t>
            </a:r>
            <a:r>
              <a:rPr dirty="0" baseline="-21604" sz="1350" spc="7" b="1">
                <a:latin typeface="Arial"/>
                <a:cs typeface="Arial"/>
              </a:rPr>
              <a:t>12</a:t>
            </a:r>
            <a:r>
              <a:rPr dirty="0" sz="1400" spc="10" b="1">
                <a:latin typeface="明兰"/>
                <a:cs typeface="明兰"/>
              </a:rPr>
              <a:t>之</a:t>
            </a:r>
            <a:r>
              <a:rPr dirty="0" sz="1400" b="1">
                <a:latin typeface="明兰"/>
                <a:cs typeface="明兰"/>
              </a:rPr>
              <a:t>间的分配</a:t>
            </a:r>
            <a:r>
              <a:rPr dirty="0" sz="1400" spc="-15" b="1">
                <a:latin typeface="明兰"/>
                <a:cs typeface="明兰"/>
              </a:rPr>
              <a:t>，</a:t>
            </a:r>
            <a:r>
              <a:rPr dirty="0" sz="1400" b="1">
                <a:latin typeface="明兰"/>
                <a:cs typeface="明兰"/>
              </a:rPr>
              <a:t>以减</a:t>
            </a:r>
            <a:r>
              <a:rPr dirty="0" sz="1400" spc="-15" b="1">
                <a:latin typeface="明兰"/>
                <a:cs typeface="明兰"/>
              </a:rPr>
              <a:t>少</a:t>
            </a:r>
            <a:r>
              <a:rPr dirty="0" sz="1400" b="1">
                <a:latin typeface="明兰"/>
                <a:cs typeface="明兰"/>
              </a:rPr>
              <a:t>税负。</a:t>
            </a:r>
            <a:endParaRPr sz="1400">
              <a:latin typeface="明兰"/>
              <a:cs typeface="明兰"/>
            </a:endParaRPr>
          </a:p>
          <a:p>
            <a:pPr marL="12700" marR="165100">
              <a:lnSpc>
                <a:spcPct val="200000"/>
              </a:lnSpc>
            </a:pPr>
            <a:r>
              <a:rPr dirty="0" sz="1400">
                <a:latin typeface="Arial"/>
                <a:cs typeface="Arial"/>
              </a:rPr>
              <a:t>1.</a:t>
            </a:r>
            <a:r>
              <a:rPr dirty="0" sz="1400" spc="10" b="1">
                <a:latin typeface="明兰"/>
                <a:cs typeface="明兰"/>
              </a:rPr>
              <a:t>所</a:t>
            </a:r>
            <a:r>
              <a:rPr dirty="0" sz="1400" b="1">
                <a:latin typeface="明兰"/>
                <a:cs typeface="明兰"/>
              </a:rPr>
              <a:t>得税</a:t>
            </a:r>
            <a:r>
              <a:rPr dirty="0" sz="1400">
                <a:latin typeface="宋体"/>
                <a:cs typeface="宋体"/>
              </a:rPr>
              <a:t>：</a:t>
            </a:r>
            <a:r>
              <a:rPr dirty="0" sz="1400" spc="-1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陆华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所得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税率</a:t>
            </a:r>
            <a:r>
              <a:rPr dirty="0" sz="1400" spc="-5">
                <a:latin typeface="Arial"/>
                <a:cs typeface="Arial"/>
              </a:rPr>
              <a:t>15%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香</a:t>
            </a:r>
            <a:r>
              <a:rPr dirty="0" sz="1400">
                <a:latin typeface="宋体"/>
                <a:cs typeface="宋体"/>
              </a:rPr>
              <a:t>港华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200</a:t>
            </a:r>
            <a:r>
              <a:rPr dirty="0" sz="1400">
                <a:latin typeface="宋体"/>
                <a:cs typeface="宋体"/>
              </a:rPr>
              <a:t>万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元利</a:t>
            </a:r>
            <a:r>
              <a:rPr dirty="0" sz="1400" spc="-15">
                <a:latin typeface="宋体"/>
                <a:cs typeface="宋体"/>
              </a:rPr>
              <a:t>润</a:t>
            </a:r>
            <a:r>
              <a:rPr dirty="0" sz="1400">
                <a:latin typeface="宋体"/>
                <a:cs typeface="宋体"/>
              </a:rPr>
              <a:t>内，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得税</a:t>
            </a:r>
            <a:r>
              <a:rPr dirty="0" sz="1400" spc="-10">
                <a:latin typeface="宋体"/>
                <a:cs typeface="宋体"/>
              </a:rPr>
              <a:t>率</a:t>
            </a:r>
            <a:r>
              <a:rPr dirty="0" sz="1400" spc="-5">
                <a:latin typeface="Arial"/>
                <a:cs typeface="Arial"/>
              </a:rPr>
              <a:t>8.25%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超过</a:t>
            </a:r>
            <a:r>
              <a:rPr dirty="0" sz="1400" spc="-10">
                <a:latin typeface="Arial"/>
                <a:cs typeface="Arial"/>
              </a:rPr>
              <a:t>200</a:t>
            </a:r>
            <a:r>
              <a:rPr dirty="0" sz="1400">
                <a:latin typeface="宋体"/>
                <a:cs typeface="宋体"/>
              </a:rPr>
              <a:t>万港</a:t>
            </a:r>
            <a:r>
              <a:rPr dirty="0" sz="1400" spc="-15">
                <a:latin typeface="宋体"/>
                <a:cs typeface="宋体"/>
              </a:rPr>
              <a:t>元</a:t>
            </a:r>
            <a:r>
              <a:rPr dirty="0" sz="1400">
                <a:latin typeface="宋体"/>
                <a:cs typeface="宋体"/>
              </a:rPr>
              <a:t>的利</a:t>
            </a:r>
            <a:r>
              <a:rPr dirty="0" sz="1400" spc="-15">
                <a:latin typeface="宋体"/>
                <a:cs typeface="宋体"/>
              </a:rPr>
              <a:t>润</a:t>
            </a:r>
            <a:r>
              <a:rPr dirty="0" sz="1400">
                <a:latin typeface="宋体"/>
                <a:cs typeface="宋体"/>
              </a:rPr>
              <a:t>部 </a:t>
            </a:r>
            <a:r>
              <a:rPr dirty="0" sz="1400" spc="10">
                <a:latin typeface="宋体"/>
                <a:cs typeface="宋体"/>
              </a:rPr>
              <a:t>分税</a:t>
            </a:r>
            <a:r>
              <a:rPr dirty="0" sz="1400">
                <a:latin typeface="宋体"/>
                <a:cs typeface="宋体"/>
              </a:rPr>
              <a:t>率为</a:t>
            </a:r>
            <a:r>
              <a:rPr dirty="0" sz="1400" spc="-5">
                <a:latin typeface="Arial"/>
                <a:cs typeface="Arial"/>
              </a:rPr>
              <a:t>16.5%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则</a:t>
            </a:r>
            <a:r>
              <a:rPr dirty="0" sz="1400">
                <a:latin typeface="宋体"/>
                <a:cs typeface="宋体"/>
              </a:rPr>
              <a:t>香港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润额</a:t>
            </a:r>
            <a:r>
              <a:rPr dirty="0" sz="1400" spc="-15">
                <a:latin typeface="宋体"/>
                <a:cs typeface="宋体"/>
              </a:rPr>
              <a:t>超</a:t>
            </a:r>
            <a:r>
              <a:rPr dirty="0" sz="1400">
                <a:latin typeface="宋体"/>
                <a:cs typeface="宋体"/>
              </a:rPr>
              <a:t>过</a:t>
            </a:r>
            <a:r>
              <a:rPr dirty="0" sz="1400" spc="-35">
                <a:latin typeface="Arial"/>
                <a:cs typeface="Arial"/>
              </a:rPr>
              <a:t>1100</a:t>
            </a:r>
            <a:r>
              <a:rPr dirty="0" sz="1400">
                <a:latin typeface="宋体"/>
                <a:cs typeface="宋体"/>
              </a:rPr>
              <a:t>万港元</a:t>
            </a:r>
            <a:r>
              <a:rPr dirty="0" sz="1400" spc="-15">
                <a:latin typeface="宋体"/>
                <a:cs typeface="宋体"/>
              </a:rPr>
              <a:t>时</a:t>
            </a:r>
            <a:r>
              <a:rPr dirty="0" sz="1400">
                <a:latin typeface="宋体"/>
                <a:cs typeface="宋体"/>
              </a:rPr>
              <a:t>，香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征收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利得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税额</a:t>
            </a:r>
            <a:r>
              <a:rPr dirty="0" sz="1400" spc="-15">
                <a:latin typeface="宋体"/>
                <a:cs typeface="宋体"/>
              </a:rPr>
              <a:t>将</a:t>
            </a:r>
            <a:r>
              <a:rPr dirty="0" sz="1400">
                <a:latin typeface="宋体"/>
                <a:cs typeface="宋体"/>
              </a:rPr>
              <a:t>高于</a:t>
            </a:r>
            <a:r>
              <a:rPr dirty="0" sz="1400" spc="-15">
                <a:latin typeface="宋体"/>
                <a:cs typeface="宋体"/>
              </a:rPr>
              <a:t>同</a:t>
            </a:r>
            <a:r>
              <a:rPr dirty="0" sz="1400">
                <a:latin typeface="宋体"/>
                <a:cs typeface="宋体"/>
              </a:rPr>
              <a:t>利润</a:t>
            </a:r>
            <a:r>
              <a:rPr dirty="0" sz="1400" spc="-15">
                <a:latin typeface="宋体"/>
                <a:cs typeface="宋体"/>
              </a:rPr>
              <a:t>额</a:t>
            </a:r>
            <a:r>
              <a:rPr dirty="0" sz="1400">
                <a:latin typeface="宋体"/>
                <a:cs typeface="宋体"/>
              </a:rPr>
              <a:t>下大</a:t>
            </a:r>
            <a:r>
              <a:rPr dirty="0" sz="1400" spc="-15">
                <a:latin typeface="宋体"/>
                <a:cs typeface="宋体"/>
              </a:rPr>
              <a:t>陆</a:t>
            </a:r>
            <a:r>
              <a:rPr dirty="0" sz="1400">
                <a:latin typeface="宋体"/>
                <a:cs typeface="宋体"/>
              </a:rPr>
              <a:t>的所</a:t>
            </a:r>
            <a:r>
              <a:rPr dirty="0" sz="1400" spc="-15">
                <a:latin typeface="宋体"/>
                <a:cs typeface="宋体"/>
              </a:rPr>
              <a:t>得</a:t>
            </a:r>
            <a:r>
              <a:rPr dirty="0" sz="1400">
                <a:latin typeface="宋体"/>
                <a:cs typeface="宋体"/>
              </a:rPr>
              <a:t>税税</a:t>
            </a:r>
            <a:endParaRPr sz="1400">
              <a:latin typeface="宋体"/>
              <a:cs typeface="宋体"/>
            </a:endParaRPr>
          </a:p>
          <a:p>
            <a:pPr marL="12700" marR="99060">
              <a:lnSpc>
                <a:spcPct val="200000"/>
              </a:lnSpc>
            </a:pPr>
            <a:r>
              <a:rPr dirty="0" sz="1400">
                <a:latin typeface="宋体"/>
                <a:cs typeface="宋体"/>
              </a:rPr>
              <a:t>额，即</a:t>
            </a:r>
            <a:r>
              <a:rPr dirty="0" sz="1400" spc="-15">
                <a:latin typeface="宋体"/>
                <a:cs typeface="宋体"/>
              </a:rPr>
              <a:t>将</a:t>
            </a:r>
            <a:r>
              <a:rPr dirty="0" sz="1400">
                <a:latin typeface="宋体"/>
                <a:cs typeface="宋体"/>
              </a:rPr>
              <a:t>利润</a:t>
            </a:r>
            <a:r>
              <a:rPr dirty="0" sz="1400" spc="-15">
                <a:latin typeface="宋体"/>
                <a:cs typeface="宋体"/>
              </a:rPr>
              <a:t>留在</a:t>
            </a:r>
            <a:r>
              <a:rPr dirty="0" sz="1400">
                <a:latin typeface="宋体"/>
                <a:cs typeface="宋体"/>
              </a:rPr>
              <a:t>大陆税</a:t>
            </a:r>
            <a:r>
              <a:rPr dirty="0" sz="1400" spc="-15">
                <a:latin typeface="宋体"/>
                <a:cs typeface="宋体"/>
              </a:rPr>
              <a:t>负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15">
                <a:latin typeface="宋体"/>
                <a:cs typeface="宋体"/>
              </a:rPr>
              <a:t>低。</a:t>
            </a:r>
            <a:r>
              <a:rPr dirty="0" sz="1400">
                <a:latin typeface="宋体"/>
                <a:cs typeface="宋体"/>
              </a:rPr>
              <a:t>大陆华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出售</a:t>
            </a:r>
            <a:r>
              <a:rPr dirty="0" sz="1400" spc="-15">
                <a:latin typeface="宋体"/>
                <a:cs typeface="宋体"/>
              </a:rPr>
              <a:t>散件</a:t>
            </a:r>
            <a:r>
              <a:rPr dirty="0" sz="1400">
                <a:latin typeface="宋体"/>
                <a:cs typeface="宋体"/>
              </a:rPr>
              <a:t>给香港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为时</a:t>
            </a:r>
            <a:r>
              <a:rPr dirty="0" sz="1400" spc="-15">
                <a:latin typeface="宋体"/>
                <a:cs typeface="宋体"/>
              </a:rPr>
              <a:t>，可</a:t>
            </a:r>
            <a:r>
              <a:rPr dirty="0" sz="1400">
                <a:latin typeface="宋体"/>
                <a:cs typeface="宋体"/>
              </a:rPr>
              <a:t>略高定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，将</a:t>
            </a:r>
            <a:r>
              <a:rPr dirty="0" sz="1400" spc="-15">
                <a:latin typeface="宋体"/>
                <a:cs typeface="宋体"/>
              </a:rPr>
              <a:t>香港</a:t>
            </a:r>
            <a:r>
              <a:rPr dirty="0" sz="1400">
                <a:latin typeface="宋体"/>
                <a:cs typeface="宋体"/>
              </a:rPr>
              <a:t>华为的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润额</a:t>
            </a:r>
            <a:r>
              <a:rPr dirty="0" sz="1400" spc="-15">
                <a:latin typeface="宋体"/>
                <a:cs typeface="宋体"/>
              </a:rPr>
              <a:t>控</a:t>
            </a:r>
            <a:r>
              <a:rPr dirty="0" sz="1400">
                <a:latin typeface="宋体"/>
                <a:cs typeface="宋体"/>
              </a:rPr>
              <a:t>制 </a:t>
            </a:r>
            <a:r>
              <a:rPr dirty="0" sz="1400" spc="10">
                <a:latin typeface="宋体"/>
                <a:cs typeface="宋体"/>
              </a:rPr>
              <a:t>在</a:t>
            </a:r>
            <a:r>
              <a:rPr dirty="0" sz="1400" spc="-30">
                <a:latin typeface="Arial"/>
                <a:cs typeface="Arial"/>
              </a:rPr>
              <a:t>1100</a:t>
            </a:r>
            <a:r>
              <a:rPr dirty="0" sz="1400">
                <a:latin typeface="宋体"/>
                <a:cs typeface="宋体"/>
              </a:rPr>
              <a:t>万港</a:t>
            </a:r>
            <a:r>
              <a:rPr dirty="0" sz="1400" spc="-15">
                <a:latin typeface="宋体"/>
                <a:cs typeface="宋体"/>
              </a:rPr>
              <a:t>元</a:t>
            </a:r>
            <a:r>
              <a:rPr dirty="0" sz="1400">
                <a:latin typeface="宋体"/>
                <a:cs typeface="宋体"/>
              </a:rPr>
              <a:t>内。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据所</a:t>
            </a:r>
            <a:r>
              <a:rPr dirty="0" sz="1400" spc="-15">
                <a:latin typeface="宋体"/>
                <a:cs typeface="宋体"/>
              </a:rPr>
              <a:t>给</a:t>
            </a:r>
            <a:r>
              <a:rPr dirty="0" sz="1400">
                <a:latin typeface="宋体"/>
                <a:cs typeface="宋体"/>
              </a:rPr>
              <a:t>材料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我们</a:t>
            </a:r>
            <a:r>
              <a:rPr dirty="0" sz="1400" spc="-15">
                <a:latin typeface="宋体"/>
                <a:cs typeface="宋体"/>
              </a:rPr>
              <a:t>估</a:t>
            </a:r>
            <a:r>
              <a:rPr dirty="0" sz="1400">
                <a:latin typeface="宋体"/>
                <a:cs typeface="宋体"/>
              </a:rPr>
              <a:t>算</a:t>
            </a:r>
            <a:r>
              <a:rPr dirty="0" sz="1400" spc="5">
                <a:latin typeface="宋体"/>
                <a:cs typeface="宋体"/>
              </a:rPr>
              <a:t>了</a:t>
            </a:r>
            <a:r>
              <a:rPr dirty="0" sz="1400" spc="-10">
                <a:latin typeface="Arial"/>
                <a:cs typeface="Arial"/>
              </a:rPr>
              <a:t>2015</a:t>
            </a:r>
            <a:r>
              <a:rPr dirty="0" sz="1400">
                <a:latin typeface="宋体"/>
                <a:cs typeface="宋体"/>
              </a:rPr>
              <a:t>年</a:t>
            </a:r>
            <a:r>
              <a:rPr dirty="0" sz="1400" spc="-15">
                <a:latin typeface="宋体"/>
                <a:cs typeface="宋体"/>
              </a:rPr>
              <a:t>度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香</a:t>
            </a:r>
            <a:r>
              <a:rPr dirty="0" sz="1400">
                <a:latin typeface="宋体"/>
                <a:cs typeface="宋体"/>
              </a:rPr>
              <a:t>港法</a:t>
            </a:r>
            <a:r>
              <a:rPr dirty="0" sz="1400" spc="-15">
                <a:latin typeface="宋体"/>
                <a:cs typeface="宋体"/>
              </a:rPr>
              <a:t>人</a:t>
            </a:r>
            <a:r>
              <a:rPr dirty="0" sz="1400">
                <a:latin typeface="宋体"/>
                <a:cs typeface="宋体"/>
              </a:rPr>
              <a:t>对阿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廷业</a:t>
            </a:r>
            <a:r>
              <a:rPr dirty="0" sz="1400" spc="-15">
                <a:latin typeface="宋体"/>
                <a:cs typeface="宋体"/>
              </a:rPr>
              <a:t>务</a:t>
            </a:r>
            <a:r>
              <a:rPr dirty="0" sz="1400">
                <a:latin typeface="宋体"/>
                <a:cs typeface="宋体"/>
              </a:rPr>
              <a:t>的收</a:t>
            </a:r>
            <a:r>
              <a:rPr dirty="0" sz="1400" spc="-15">
                <a:latin typeface="宋体"/>
                <a:cs typeface="宋体"/>
              </a:rPr>
              <a:t>入</a:t>
            </a:r>
            <a:r>
              <a:rPr dirty="0" sz="1400">
                <a:latin typeface="宋体"/>
                <a:cs typeface="宋体"/>
              </a:rPr>
              <a:t>规模</a:t>
            </a:r>
            <a:r>
              <a:rPr dirty="0" sz="1400" spc="-15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根据</a:t>
            </a:r>
            <a:r>
              <a:rPr dirty="0" sz="1400" spc="-15">
                <a:latin typeface="宋体"/>
                <a:cs typeface="宋体"/>
              </a:rPr>
              <a:t>估</a:t>
            </a:r>
            <a:r>
              <a:rPr dirty="0" sz="1400">
                <a:latin typeface="宋体"/>
                <a:cs typeface="宋体"/>
              </a:rPr>
              <a:t>算，若</a:t>
            </a:r>
            <a:endParaRPr sz="1400">
              <a:latin typeface="宋体"/>
              <a:cs typeface="宋体"/>
            </a:endParaRPr>
          </a:p>
          <a:p>
            <a:pPr marL="12700" marR="224790">
              <a:lnSpc>
                <a:spcPts val="3360"/>
              </a:lnSpc>
              <a:spcBef>
                <a:spcPts val="390"/>
              </a:spcBef>
            </a:pPr>
            <a:r>
              <a:rPr dirty="0" sz="1400" spc="-5">
                <a:latin typeface="Arial"/>
                <a:cs typeface="Arial"/>
              </a:rPr>
              <a:t>2015</a:t>
            </a:r>
            <a:r>
              <a:rPr dirty="0" sz="1400" spc="10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华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在阿</a:t>
            </a:r>
            <a:r>
              <a:rPr dirty="0" sz="1400" spc="-10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廷的</a:t>
            </a:r>
            <a:r>
              <a:rPr dirty="0" sz="1400" spc="-10">
                <a:latin typeface="宋体"/>
                <a:cs typeface="宋体"/>
              </a:rPr>
              <a:t>业</a:t>
            </a:r>
            <a:r>
              <a:rPr dirty="0" sz="1400">
                <a:latin typeface="宋体"/>
                <a:cs typeface="宋体"/>
              </a:rPr>
              <a:t>务均</a:t>
            </a:r>
            <a:r>
              <a:rPr dirty="0" sz="1400" spc="-10">
                <a:latin typeface="宋体"/>
                <a:cs typeface="宋体"/>
              </a:rPr>
              <a:t>由</a:t>
            </a:r>
            <a:r>
              <a:rPr dirty="0" sz="1400">
                <a:latin typeface="宋体"/>
                <a:cs typeface="宋体"/>
              </a:rPr>
              <a:t>模</a:t>
            </a:r>
            <a:r>
              <a:rPr dirty="0" sz="1400" spc="-20">
                <a:latin typeface="宋体"/>
                <a:cs typeface="宋体"/>
              </a:rPr>
              <a:t>式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实现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则华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香港</a:t>
            </a:r>
            <a:r>
              <a:rPr dirty="0" sz="1400" spc="-1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人毛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润约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626</a:t>
            </a:r>
            <a:r>
              <a:rPr dirty="0" sz="1400">
                <a:latin typeface="宋体"/>
                <a:cs typeface="宋体"/>
              </a:rPr>
              <a:t>万</a:t>
            </a:r>
            <a:r>
              <a:rPr dirty="0" sz="1400" spc="-15">
                <a:latin typeface="宋体"/>
                <a:cs typeface="宋体"/>
              </a:rPr>
              <a:t>美</a:t>
            </a:r>
            <a:r>
              <a:rPr dirty="0" sz="1400">
                <a:latin typeface="宋体"/>
                <a:cs typeface="宋体"/>
              </a:rPr>
              <a:t>元，</a:t>
            </a:r>
            <a:r>
              <a:rPr dirty="0" sz="1400" spc="-15">
                <a:latin typeface="宋体"/>
                <a:cs typeface="宋体"/>
              </a:rPr>
              <a:t>约</a:t>
            </a:r>
            <a:r>
              <a:rPr dirty="0" sz="1400">
                <a:latin typeface="宋体"/>
                <a:cs typeface="宋体"/>
              </a:rPr>
              <a:t>合</a:t>
            </a:r>
            <a:r>
              <a:rPr dirty="0" sz="1400" spc="-10">
                <a:latin typeface="Arial"/>
                <a:cs typeface="Arial"/>
              </a:rPr>
              <a:t>4915</a:t>
            </a:r>
            <a:r>
              <a:rPr dirty="0" sz="1400">
                <a:latin typeface="宋体"/>
                <a:cs typeface="宋体"/>
              </a:rPr>
              <a:t>万港</a:t>
            </a:r>
            <a:r>
              <a:rPr dirty="0" sz="1400" spc="-15">
                <a:latin typeface="宋体"/>
                <a:cs typeface="宋体"/>
              </a:rPr>
              <a:t>币</a:t>
            </a:r>
            <a:r>
              <a:rPr dirty="0" sz="1400">
                <a:latin typeface="宋体"/>
                <a:cs typeface="宋体"/>
              </a:rPr>
              <a:t>，再考 </a:t>
            </a:r>
            <a:r>
              <a:rPr dirty="0" sz="1400" spc="10">
                <a:latin typeface="宋体"/>
                <a:cs typeface="宋体"/>
              </a:rPr>
              <a:t>虑每</a:t>
            </a:r>
            <a:r>
              <a:rPr dirty="0" sz="1400">
                <a:latin typeface="宋体"/>
                <a:cs typeface="宋体"/>
              </a:rPr>
              <a:t>年</a:t>
            </a:r>
            <a:r>
              <a:rPr dirty="0" sz="1400" spc="-5">
                <a:latin typeface="Arial"/>
                <a:cs typeface="Arial"/>
              </a:rPr>
              <a:t>10%</a:t>
            </a:r>
            <a:r>
              <a:rPr dirty="0" sz="1400">
                <a:latin typeface="宋体"/>
                <a:cs typeface="宋体"/>
              </a:rPr>
              <a:t>的市</a:t>
            </a:r>
            <a:r>
              <a:rPr dirty="0" sz="1400" spc="-15">
                <a:latin typeface="宋体"/>
                <a:cs typeface="宋体"/>
              </a:rPr>
              <a:t>场</a:t>
            </a:r>
            <a:r>
              <a:rPr dirty="0" sz="1400">
                <a:latin typeface="宋体"/>
                <a:cs typeface="宋体"/>
              </a:rPr>
              <a:t>空间</a:t>
            </a:r>
            <a:r>
              <a:rPr dirty="0" sz="1400" spc="-15">
                <a:latin typeface="宋体"/>
                <a:cs typeface="宋体"/>
              </a:rPr>
              <a:t>增</a:t>
            </a:r>
            <a:r>
              <a:rPr dirty="0" sz="1400">
                <a:latin typeface="宋体"/>
                <a:cs typeface="宋体"/>
              </a:rPr>
              <a:t>幅，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润规</a:t>
            </a:r>
            <a:r>
              <a:rPr dirty="0" sz="1400" spc="-15">
                <a:latin typeface="宋体"/>
                <a:cs typeface="宋体"/>
              </a:rPr>
              <a:t>模</a:t>
            </a:r>
            <a:r>
              <a:rPr dirty="0" sz="1400">
                <a:latin typeface="宋体"/>
                <a:cs typeface="宋体"/>
              </a:rPr>
              <a:t>应远</a:t>
            </a:r>
            <a:r>
              <a:rPr dirty="0" sz="1400" spc="-15">
                <a:latin typeface="宋体"/>
                <a:cs typeface="宋体"/>
              </a:rPr>
              <a:t>超</a:t>
            </a:r>
            <a:r>
              <a:rPr dirty="0" sz="1400" spc="5">
                <a:latin typeface="宋体"/>
                <a:cs typeface="宋体"/>
              </a:rPr>
              <a:t>出</a:t>
            </a:r>
            <a:r>
              <a:rPr dirty="0" sz="1400" spc="-35">
                <a:latin typeface="Arial"/>
                <a:cs typeface="Arial"/>
              </a:rPr>
              <a:t>1100</a:t>
            </a:r>
            <a:r>
              <a:rPr dirty="0" sz="1400">
                <a:latin typeface="宋体"/>
                <a:cs typeface="宋体"/>
              </a:rPr>
              <a:t>万港币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规模。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400" spc="-10" b="1">
                <a:latin typeface="Arial"/>
                <a:cs typeface="Arial"/>
              </a:rPr>
              <a:t>2.</a:t>
            </a:r>
            <a:r>
              <a:rPr dirty="0" sz="1400" b="1">
                <a:latin typeface="明兰"/>
                <a:cs typeface="明兰"/>
              </a:rPr>
              <a:t>综合税负</a:t>
            </a:r>
            <a:r>
              <a:rPr dirty="0" sz="1400" spc="-15">
                <a:latin typeface="宋体"/>
                <a:cs typeface="宋体"/>
              </a:rPr>
              <a:t>：</a:t>
            </a:r>
            <a:r>
              <a:rPr dirty="0" sz="1400">
                <a:latin typeface="宋体"/>
                <a:cs typeface="宋体"/>
              </a:rPr>
              <a:t>模式</a:t>
            </a:r>
            <a:r>
              <a:rPr dirty="0" sz="1400" spc="-2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下，华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集团</a:t>
            </a:r>
            <a:r>
              <a:rPr dirty="0" sz="1400" spc="-15">
                <a:latin typeface="宋体"/>
                <a:cs typeface="宋体"/>
              </a:rPr>
              <a:t>税务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5">
                <a:latin typeface="Arial"/>
                <a:cs typeface="Arial"/>
              </a:rPr>
              <a:t>=R</a:t>
            </a:r>
            <a:r>
              <a:rPr dirty="0" baseline="-21604" sz="1350" spc="-7">
                <a:latin typeface="Arial"/>
                <a:cs typeface="Arial"/>
              </a:rPr>
              <a:t>11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Arial"/>
                <a:cs typeface="Arial"/>
              </a:rPr>
              <a:t>20.87%+R</a:t>
            </a:r>
            <a:r>
              <a:rPr dirty="0" baseline="-21604" sz="1350" spc="-7">
                <a:latin typeface="Arial"/>
                <a:cs typeface="Arial"/>
              </a:rPr>
              <a:t>12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Arial"/>
                <a:cs typeface="Arial"/>
              </a:rPr>
              <a:t>22.37%+R</a:t>
            </a:r>
            <a:r>
              <a:rPr dirty="0" baseline="-21604" sz="1350" spc="-7">
                <a:latin typeface="Arial"/>
                <a:cs typeface="Arial"/>
              </a:rPr>
              <a:t>13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Arial"/>
                <a:cs typeface="Arial"/>
              </a:rPr>
              <a:t>5.87%-16.5+5.87%+C</a:t>
            </a:r>
            <a:r>
              <a:rPr dirty="0" sz="1400" spc="-5">
                <a:latin typeface="宋体"/>
                <a:cs typeface="宋体"/>
              </a:rPr>
              <a:t>×</a:t>
            </a:r>
            <a:r>
              <a:rPr dirty="0" sz="1400" spc="-5">
                <a:latin typeface="Arial"/>
                <a:cs typeface="Arial"/>
              </a:rPr>
              <a:t>3.22%</a:t>
            </a:r>
            <a:r>
              <a:rPr dirty="0" sz="1400" spc="-5">
                <a:latin typeface="宋体"/>
                <a:cs typeface="宋体"/>
              </a:rPr>
              <a:t>，</a:t>
            </a:r>
            <a:endParaRPr sz="1400">
              <a:latin typeface="宋体"/>
              <a:cs typeface="宋体"/>
            </a:endParaRPr>
          </a:p>
          <a:p>
            <a:pPr marL="12700" marR="174625">
              <a:lnSpc>
                <a:spcPts val="3360"/>
              </a:lnSpc>
              <a:spcBef>
                <a:spcPts val="395"/>
              </a:spcBef>
            </a:pP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12</a:t>
            </a:r>
            <a:r>
              <a:rPr dirty="0" sz="1400" spc="10">
                <a:latin typeface="宋体"/>
                <a:cs typeface="宋体"/>
              </a:rPr>
              <a:t>系数最</a:t>
            </a:r>
            <a:r>
              <a:rPr dirty="0" sz="1400">
                <a:latin typeface="宋体"/>
                <a:cs typeface="宋体"/>
              </a:rPr>
              <a:t>大。</a:t>
            </a:r>
            <a:r>
              <a:rPr dirty="0" sz="1400" spc="-325">
                <a:latin typeface="宋体"/>
                <a:cs typeface="宋体"/>
              </a:rPr>
              <a:t> </a:t>
            </a:r>
            <a:r>
              <a:rPr dirty="0" sz="1400" spc="10">
                <a:latin typeface="宋体"/>
                <a:cs typeface="宋体"/>
              </a:rPr>
              <a:t>因而</a:t>
            </a:r>
            <a:r>
              <a:rPr dirty="0" sz="1400">
                <a:latin typeface="宋体"/>
                <a:cs typeface="宋体"/>
              </a:rPr>
              <a:t>在战略层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价后，</a:t>
            </a:r>
            <a:r>
              <a:rPr dirty="0" sz="1400" spc="-335">
                <a:latin typeface="宋体"/>
                <a:cs typeface="宋体"/>
              </a:rPr>
              <a:t> </a:t>
            </a:r>
            <a:r>
              <a:rPr dirty="0" sz="1400">
                <a:latin typeface="Arial"/>
                <a:cs typeface="Arial"/>
              </a:rPr>
              <a:t>R</a:t>
            </a:r>
            <a:r>
              <a:rPr dirty="0" baseline="-21604" sz="1350">
                <a:latin typeface="Arial"/>
                <a:cs typeface="Arial"/>
              </a:rPr>
              <a:t>11+</a:t>
            </a:r>
            <a:r>
              <a:rPr dirty="0" sz="1400">
                <a:latin typeface="Arial"/>
                <a:cs typeface="Arial"/>
              </a:rPr>
              <a:t>R</a:t>
            </a:r>
            <a:r>
              <a:rPr dirty="0" baseline="-21604" sz="1350">
                <a:latin typeface="Arial"/>
                <a:cs typeface="Arial"/>
              </a:rPr>
              <a:t>12+</a:t>
            </a:r>
            <a:r>
              <a:rPr dirty="0" baseline="-21604" sz="1350" spc="330">
                <a:latin typeface="Arial"/>
                <a:cs typeface="Arial"/>
              </a:rPr>
              <a:t> 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13</a:t>
            </a:r>
            <a:r>
              <a:rPr dirty="0" sz="1400" spc="10">
                <a:latin typeface="宋体"/>
                <a:cs typeface="宋体"/>
              </a:rPr>
              <a:t>总额一定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根廷</a:t>
            </a:r>
            <a:r>
              <a:rPr dirty="0" sz="1400" spc="-1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工厂</a:t>
            </a:r>
            <a:r>
              <a:rPr dirty="0" sz="1400" spc="-15">
                <a:latin typeface="宋体"/>
                <a:cs typeface="宋体"/>
              </a:rPr>
              <a:t>基</a:t>
            </a:r>
            <a:r>
              <a:rPr dirty="0" sz="1400">
                <a:latin typeface="宋体"/>
                <a:cs typeface="宋体"/>
              </a:rPr>
              <a:t>本利</a:t>
            </a:r>
            <a:r>
              <a:rPr dirty="0" sz="1400" spc="-5">
                <a:latin typeface="宋体"/>
                <a:cs typeface="宋体"/>
              </a:rPr>
              <a:t>润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13</a:t>
            </a:r>
            <a:r>
              <a:rPr dirty="0" sz="1400" spc="10">
                <a:latin typeface="宋体"/>
                <a:cs typeface="宋体"/>
              </a:rPr>
              <a:t>稳</a:t>
            </a:r>
            <a:r>
              <a:rPr dirty="0" sz="1400">
                <a:latin typeface="宋体"/>
                <a:cs typeface="宋体"/>
              </a:rPr>
              <a:t>定，可</a:t>
            </a:r>
            <a:r>
              <a:rPr dirty="0" sz="1400" spc="-15">
                <a:latin typeface="宋体"/>
                <a:cs typeface="宋体"/>
              </a:rPr>
              <a:t>以</a:t>
            </a:r>
            <a:r>
              <a:rPr dirty="0" sz="1400">
                <a:latin typeface="宋体"/>
                <a:cs typeface="宋体"/>
              </a:rPr>
              <a:t>考虑</a:t>
            </a:r>
            <a:r>
              <a:rPr dirty="0" sz="1400" spc="-15">
                <a:latin typeface="宋体"/>
                <a:cs typeface="宋体"/>
              </a:rPr>
              <a:t>将</a:t>
            </a:r>
            <a:r>
              <a:rPr dirty="0" sz="1400">
                <a:latin typeface="宋体"/>
                <a:cs typeface="宋体"/>
              </a:rPr>
              <a:t>利 </a:t>
            </a:r>
            <a:r>
              <a:rPr dirty="0" sz="1400" spc="10">
                <a:latin typeface="宋体"/>
                <a:cs typeface="宋体"/>
              </a:rPr>
              <a:t>润更</a:t>
            </a:r>
            <a:r>
              <a:rPr dirty="0" sz="1400">
                <a:latin typeface="宋体"/>
                <a:cs typeface="宋体"/>
              </a:rPr>
              <a:t>多地</a:t>
            </a:r>
            <a:r>
              <a:rPr dirty="0" sz="1400" spc="-15">
                <a:latin typeface="宋体"/>
                <a:cs typeface="宋体"/>
              </a:rPr>
              <a:t>留</a:t>
            </a:r>
            <a:r>
              <a:rPr dirty="0" sz="1400">
                <a:latin typeface="宋体"/>
                <a:cs typeface="宋体"/>
              </a:rPr>
              <a:t>在大</a:t>
            </a:r>
            <a:r>
              <a:rPr dirty="0" sz="1400" spc="-15">
                <a:latin typeface="宋体"/>
                <a:cs typeface="宋体"/>
              </a:rPr>
              <a:t>陆</a:t>
            </a:r>
            <a:r>
              <a:rPr dirty="0" sz="1400">
                <a:latin typeface="宋体"/>
                <a:cs typeface="宋体"/>
              </a:rPr>
              <a:t>，即</a:t>
            </a:r>
            <a:r>
              <a:rPr dirty="0" sz="1400" spc="-350">
                <a:latin typeface="宋体"/>
                <a:cs typeface="宋体"/>
              </a:rPr>
              <a:t> 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baseline="-21604" sz="1350" spc="-30">
                <a:latin typeface="Arial"/>
                <a:cs typeface="Arial"/>
              </a:rPr>
              <a:t>11</a:t>
            </a:r>
            <a:r>
              <a:rPr dirty="0" sz="1400" spc="10">
                <a:latin typeface="宋体"/>
                <a:cs typeface="宋体"/>
              </a:rPr>
              <a:t>高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295">
                <a:latin typeface="宋体"/>
                <a:cs typeface="宋体"/>
              </a:rPr>
              <a:t> </a:t>
            </a:r>
            <a:r>
              <a:rPr dirty="0" sz="1400" spc="5">
                <a:latin typeface="Arial"/>
                <a:cs typeface="Arial"/>
              </a:rPr>
              <a:t>R</a:t>
            </a:r>
            <a:r>
              <a:rPr dirty="0" baseline="-21604" sz="1350" spc="7">
                <a:latin typeface="Arial"/>
                <a:cs typeface="Arial"/>
              </a:rPr>
              <a:t>12</a:t>
            </a:r>
            <a:r>
              <a:rPr dirty="0" sz="1400" spc="10">
                <a:latin typeface="宋体"/>
                <a:cs typeface="宋体"/>
              </a:rPr>
              <a:t>相对低</a:t>
            </a:r>
            <a:r>
              <a:rPr dirty="0" sz="1400">
                <a:latin typeface="宋体"/>
                <a:cs typeface="宋体"/>
              </a:rPr>
              <a:t>。在定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出售</a:t>
            </a:r>
            <a:r>
              <a:rPr dirty="0" sz="1400" spc="-15">
                <a:latin typeface="宋体"/>
                <a:cs typeface="宋体"/>
              </a:rPr>
              <a:t>散</a:t>
            </a:r>
            <a:r>
              <a:rPr dirty="0" sz="1400">
                <a:latin typeface="宋体"/>
                <a:cs typeface="宋体"/>
              </a:rPr>
              <a:t>件给</a:t>
            </a:r>
            <a:r>
              <a:rPr dirty="0" sz="1400" spc="-15">
                <a:latin typeface="宋体"/>
                <a:cs typeface="宋体"/>
              </a:rPr>
              <a:t>香</a:t>
            </a:r>
            <a:r>
              <a:rPr dirty="0" sz="1400">
                <a:latin typeface="宋体"/>
                <a:cs typeface="宋体"/>
              </a:rPr>
              <a:t>港华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时，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格可</a:t>
            </a:r>
            <a:r>
              <a:rPr dirty="0" sz="1400" spc="-15">
                <a:latin typeface="宋体"/>
                <a:cs typeface="宋体"/>
              </a:rPr>
              <a:t>略</a:t>
            </a:r>
            <a:r>
              <a:rPr dirty="0" sz="1400">
                <a:latin typeface="宋体"/>
                <a:cs typeface="宋体"/>
              </a:rPr>
              <a:t>高于</a:t>
            </a:r>
            <a:r>
              <a:rPr dirty="0" sz="1400" spc="-1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业水</a:t>
            </a:r>
            <a:r>
              <a:rPr dirty="0" sz="1400" spc="-15">
                <a:latin typeface="宋体"/>
                <a:cs typeface="宋体"/>
              </a:rPr>
              <a:t>平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424" y="1223772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779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1655" y="1207008"/>
            <a:ext cx="1065530" cy="47244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7000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100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4544" y="1205483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59991" y="1429511"/>
            <a:ext cx="1021080" cy="76200"/>
          </a:xfrm>
          <a:custGeom>
            <a:avLst/>
            <a:gdLst/>
            <a:ahLst/>
            <a:cxnLst/>
            <a:rect l="l" t="t" r="r" b="b"/>
            <a:pathLst>
              <a:path w="1021080" h="76200">
                <a:moveTo>
                  <a:pt x="944880" y="0"/>
                </a:moveTo>
                <a:lnTo>
                  <a:pt x="944880" y="76200"/>
                </a:lnTo>
                <a:lnTo>
                  <a:pt x="1008380" y="44450"/>
                </a:lnTo>
                <a:lnTo>
                  <a:pt x="957580" y="44450"/>
                </a:lnTo>
                <a:lnTo>
                  <a:pt x="957580" y="31750"/>
                </a:lnTo>
                <a:lnTo>
                  <a:pt x="1008380" y="31750"/>
                </a:lnTo>
                <a:lnTo>
                  <a:pt x="944880" y="0"/>
                </a:lnTo>
                <a:close/>
              </a:path>
              <a:path w="1021080" h="76200">
                <a:moveTo>
                  <a:pt x="9448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44880" y="44450"/>
                </a:lnTo>
                <a:lnTo>
                  <a:pt x="944880" y="31750"/>
                </a:lnTo>
                <a:close/>
              </a:path>
              <a:path w="1021080" h="76200">
                <a:moveTo>
                  <a:pt x="1008380" y="31750"/>
                </a:moveTo>
                <a:lnTo>
                  <a:pt x="957580" y="31750"/>
                </a:lnTo>
                <a:lnTo>
                  <a:pt x="957580" y="44450"/>
                </a:lnTo>
                <a:lnTo>
                  <a:pt x="1008380" y="44450"/>
                </a:lnTo>
                <a:lnTo>
                  <a:pt x="1021080" y="38100"/>
                </a:lnTo>
                <a:lnTo>
                  <a:pt x="1008380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0855" y="1408175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34656" y="1191767"/>
            <a:ext cx="1214755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98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63284" y="1409700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08252" y="1141602"/>
            <a:ext cx="863600" cy="57150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algn="ctr" marR="105410">
              <a:lnSpc>
                <a:spcPct val="100000"/>
              </a:lnSpc>
              <a:spcBef>
                <a:spcPts val="805"/>
              </a:spcBef>
            </a:pPr>
            <a:r>
              <a:rPr dirty="0" baseline="13888" sz="1800" spc="-67">
                <a:latin typeface="Arial"/>
                <a:cs typeface="Arial"/>
              </a:rPr>
              <a:t>R</a:t>
            </a:r>
            <a:r>
              <a:rPr dirty="0" sz="800" spc="-4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11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3603" y="765048"/>
            <a:ext cx="3717290" cy="1475740"/>
          </a:xfrm>
          <a:custGeom>
            <a:avLst/>
            <a:gdLst/>
            <a:ahLst/>
            <a:cxnLst/>
            <a:rect l="l" t="t" r="r" b="b"/>
            <a:pathLst>
              <a:path w="3717290" h="1475739">
                <a:moveTo>
                  <a:pt x="0" y="737615"/>
                </a:moveTo>
                <a:lnTo>
                  <a:pt x="4666" y="684933"/>
                </a:lnTo>
                <a:lnTo>
                  <a:pt x="18456" y="633251"/>
                </a:lnTo>
                <a:lnTo>
                  <a:pt x="41054" y="582694"/>
                </a:lnTo>
                <a:lnTo>
                  <a:pt x="72147" y="533388"/>
                </a:lnTo>
                <a:lnTo>
                  <a:pt x="111420" y="485456"/>
                </a:lnTo>
                <a:lnTo>
                  <a:pt x="158558" y="439024"/>
                </a:lnTo>
                <a:lnTo>
                  <a:pt x="213247" y="394216"/>
                </a:lnTo>
                <a:lnTo>
                  <a:pt x="275172" y="351157"/>
                </a:lnTo>
                <a:lnTo>
                  <a:pt x="308749" y="330323"/>
                </a:lnTo>
                <a:lnTo>
                  <a:pt x="344018" y="309972"/>
                </a:lnTo>
                <a:lnTo>
                  <a:pt x="380939" y="290121"/>
                </a:lnTo>
                <a:lnTo>
                  <a:pt x="419472" y="270786"/>
                </a:lnTo>
                <a:lnTo>
                  <a:pt x="459578" y="251981"/>
                </a:lnTo>
                <a:lnTo>
                  <a:pt x="501219" y="233723"/>
                </a:lnTo>
                <a:lnTo>
                  <a:pt x="544353" y="216027"/>
                </a:lnTo>
                <a:lnTo>
                  <a:pt x="588943" y="198908"/>
                </a:lnTo>
                <a:lnTo>
                  <a:pt x="634949" y="182382"/>
                </a:lnTo>
                <a:lnTo>
                  <a:pt x="682331" y="166466"/>
                </a:lnTo>
                <a:lnTo>
                  <a:pt x="731051" y="151174"/>
                </a:lnTo>
                <a:lnTo>
                  <a:pt x="781069" y="136521"/>
                </a:lnTo>
                <a:lnTo>
                  <a:pt x="832345" y="122525"/>
                </a:lnTo>
                <a:lnTo>
                  <a:pt x="884840" y="109199"/>
                </a:lnTo>
                <a:lnTo>
                  <a:pt x="938516" y="96561"/>
                </a:lnTo>
                <a:lnTo>
                  <a:pt x="993332" y="84625"/>
                </a:lnTo>
                <a:lnTo>
                  <a:pt x="1049250" y="73406"/>
                </a:lnTo>
                <a:lnTo>
                  <a:pt x="1106230" y="62922"/>
                </a:lnTo>
                <a:lnTo>
                  <a:pt x="1164232" y="53186"/>
                </a:lnTo>
                <a:lnTo>
                  <a:pt x="1223218" y="44215"/>
                </a:lnTo>
                <a:lnTo>
                  <a:pt x="1283148" y="36025"/>
                </a:lnTo>
                <a:lnTo>
                  <a:pt x="1343983" y="28630"/>
                </a:lnTo>
                <a:lnTo>
                  <a:pt x="1405684" y="22047"/>
                </a:lnTo>
                <a:lnTo>
                  <a:pt x="1468210" y="16291"/>
                </a:lnTo>
                <a:lnTo>
                  <a:pt x="1531524" y="11378"/>
                </a:lnTo>
                <a:lnTo>
                  <a:pt x="1595584" y="7324"/>
                </a:lnTo>
                <a:lnTo>
                  <a:pt x="1660354" y="4143"/>
                </a:lnTo>
                <a:lnTo>
                  <a:pt x="1725792" y="1851"/>
                </a:lnTo>
                <a:lnTo>
                  <a:pt x="1791859" y="465"/>
                </a:lnTo>
                <a:lnTo>
                  <a:pt x="1858518" y="0"/>
                </a:lnTo>
                <a:lnTo>
                  <a:pt x="1925176" y="465"/>
                </a:lnTo>
                <a:lnTo>
                  <a:pt x="1991243" y="1851"/>
                </a:lnTo>
                <a:lnTo>
                  <a:pt x="2056681" y="4143"/>
                </a:lnTo>
                <a:lnTo>
                  <a:pt x="2121451" y="7324"/>
                </a:lnTo>
                <a:lnTo>
                  <a:pt x="2185511" y="11378"/>
                </a:lnTo>
                <a:lnTo>
                  <a:pt x="2248825" y="16291"/>
                </a:lnTo>
                <a:lnTo>
                  <a:pt x="2311351" y="22047"/>
                </a:lnTo>
                <a:lnTo>
                  <a:pt x="2373052" y="28630"/>
                </a:lnTo>
                <a:lnTo>
                  <a:pt x="2433887" y="36025"/>
                </a:lnTo>
                <a:lnTo>
                  <a:pt x="2493817" y="44215"/>
                </a:lnTo>
                <a:lnTo>
                  <a:pt x="2552803" y="53186"/>
                </a:lnTo>
                <a:lnTo>
                  <a:pt x="2610805" y="62922"/>
                </a:lnTo>
                <a:lnTo>
                  <a:pt x="2667785" y="73406"/>
                </a:lnTo>
                <a:lnTo>
                  <a:pt x="2723703" y="84625"/>
                </a:lnTo>
                <a:lnTo>
                  <a:pt x="2778519" y="96561"/>
                </a:lnTo>
                <a:lnTo>
                  <a:pt x="2832195" y="109199"/>
                </a:lnTo>
                <a:lnTo>
                  <a:pt x="2884690" y="122525"/>
                </a:lnTo>
                <a:lnTo>
                  <a:pt x="2935966" y="136521"/>
                </a:lnTo>
                <a:lnTo>
                  <a:pt x="2985984" y="151174"/>
                </a:lnTo>
                <a:lnTo>
                  <a:pt x="3034704" y="166466"/>
                </a:lnTo>
                <a:lnTo>
                  <a:pt x="3082086" y="182382"/>
                </a:lnTo>
                <a:lnTo>
                  <a:pt x="3128092" y="198908"/>
                </a:lnTo>
                <a:lnTo>
                  <a:pt x="3172682" y="216026"/>
                </a:lnTo>
                <a:lnTo>
                  <a:pt x="3215816" y="233723"/>
                </a:lnTo>
                <a:lnTo>
                  <a:pt x="3257457" y="251981"/>
                </a:lnTo>
                <a:lnTo>
                  <a:pt x="3297563" y="270786"/>
                </a:lnTo>
                <a:lnTo>
                  <a:pt x="3336096" y="290121"/>
                </a:lnTo>
                <a:lnTo>
                  <a:pt x="3373017" y="309972"/>
                </a:lnTo>
                <a:lnTo>
                  <a:pt x="3408286" y="330323"/>
                </a:lnTo>
                <a:lnTo>
                  <a:pt x="3441863" y="351157"/>
                </a:lnTo>
                <a:lnTo>
                  <a:pt x="3473711" y="372460"/>
                </a:lnTo>
                <a:lnTo>
                  <a:pt x="3532057" y="416409"/>
                </a:lnTo>
                <a:lnTo>
                  <a:pt x="3583009" y="462045"/>
                </a:lnTo>
                <a:lnTo>
                  <a:pt x="3626254" y="509242"/>
                </a:lnTo>
                <a:lnTo>
                  <a:pt x="3661476" y="557877"/>
                </a:lnTo>
                <a:lnTo>
                  <a:pt x="3688361" y="607824"/>
                </a:lnTo>
                <a:lnTo>
                  <a:pt x="3706595" y="658959"/>
                </a:lnTo>
                <a:lnTo>
                  <a:pt x="3715862" y="711157"/>
                </a:lnTo>
                <a:lnTo>
                  <a:pt x="3717036" y="737615"/>
                </a:lnTo>
                <a:lnTo>
                  <a:pt x="3715862" y="764074"/>
                </a:lnTo>
                <a:lnTo>
                  <a:pt x="3706595" y="816272"/>
                </a:lnTo>
                <a:lnTo>
                  <a:pt x="3688361" y="867407"/>
                </a:lnTo>
                <a:lnTo>
                  <a:pt x="3661476" y="917354"/>
                </a:lnTo>
                <a:lnTo>
                  <a:pt x="3626254" y="965989"/>
                </a:lnTo>
                <a:lnTo>
                  <a:pt x="3583009" y="1013186"/>
                </a:lnTo>
                <a:lnTo>
                  <a:pt x="3532057" y="1058822"/>
                </a:lnTo>
                <a:lnTo>
                  <a:pt x="3473711" y="1102771"/>
                </a:lnTo>
                <a:lnTo>
                  <a:pt x="3441863" y="1124074"/>
                </a:lnTo>
                <a:lnTo>
                  <a:pt x="3408286" y="1144908"/>
                </a:lnTo>
                <a:lnTo>
                  <a:pt x="3373017" y="1165259"/>
                </a:lnTo>
                <a:lnTo>
                  <a:pt x="3336096" y="1185110"/>
                </a:lnTo>
                <a:lnTo>
                  <a:pt x="3297563" y="1204445"/>
                </a:lnTo>
                <a:lnTo>
                  <a:pt x="3257457" y="1223250"/>
                </a:lnTo>
                <a:lnTo>
                  <a:pt x="3215816" y="1241508"/>
                </a:lnTo>
                <a:lnTo>
                  <a:pt x="3172682" y="1259204"/>
                </a:lnTo>
                <a:lnTo>
                  <a:pt x="3128092" y="1276323"/>
                </a:lnTo>
                <a:lnTo>
                  <a:pt x="3082086" y="1292849"/>
                </a:lnTo>
                <a:lnTo>
                  <a:pt x="3034704" y="1308765"/>
                </a:lnTo>
                <a:lnTo>
                  <a:pt x="2985984" y="1324057"/>
                </a:lnTo>
                <a:lnTo>
                  <a:pt x="2935966" y="1338710"/>
                </a:lnTo>
                <a:lnTo>
                  <a:pt x="2884690" y="1352706"/>
                </a:lnTo>
                <a:lnTo>
                  <a:pt x="2832195" y="1366032"/>
                </a:lnTo>
                <a:lnTo>
                  <a:pt x="2778519" y="1378670"/>
                </a:lnTo>
                <a:lnTo>
                  <a:pt x="2723703" y="1390606"/>
                </a:lnTo>
                <a:lnTo>
                  <a:pt x="2667785" y="1401825"/>
                </a:lnTo>
                <a:lnTo>
                  <a:pt x="2610805" y="1412309"/>
                </a:lnTo>
                <a:lnTo>
                  <a:pt x="2552803" y="1422045"/>
                </a:lnTo>
                <a:lnTo>
                  <a:pt x="2493817" y="1431016"/>
                </a:lnTo>
                <a:lnTo>
                  <a:pt x="2433887" y="1439206"/>
                </a:lnTo>
                <a:lnTo>
                  <a:pt x="2373052" y="1446601"/>
                </a:lnTo>
                <a:lnTo>
                  <a:pt x="2311351" y="1453184"/>
                </a:lnTo>
                <a:lnTo>
                  <a:pt x="2248825" y="1458940"/>
                </a:lnTo>
                <a:lnTo>
                  <a:pt x="2185511" y="1463853"/>
                </a:lnTo>
                <a:lnTo>
                  <a:pt x="2121451" y="1467907"/>
                </a:lnTo>
                <a:lnTo>
                  <a:pt x="2056681" y="1471088"/>
                </a:lnTo>
                <a:lnTo>
                  <a:pt x="1991243" y="1473380"/>
                </a:lnTo>
                <a:lnTo>
                  <a:pt x="1925176" y="1474766"/>
                </a:lnTo>
                <a:lnTo>
                  <a:pt x="1858518" y="1475231"/>
                </a:lnTo>
                <a:lnTo>
                  <a:pt x="1791859" y="1474766"/>
                </a:lnTo>
                <a:lnTo>
                  <a:pt x="1725792" y="1473380"/>
                </a:lnTo>
                <a:lnTo>
                  <a:pt x="1660354" y="1471088"/>
                </a:lnTo>
                <a:lnTo>
                  <a:pt x="1595584" y="1467907"/>
                </a:lnTo>
                <a:lnTo>
                  <a:pt x="1531524" y="1463853"/>
                </a:lnTo>
                <a:lnTo>
                  <a:pt x="1468210" y="1458940"/>
                </a:lnTo>
                <a:lnTo>
                  <a:pt x="1405684" y="1453184"/>
                </a:lnTo>
                <a:lnTo>
                  <a:pt x="1343983" y="1446601"/>
                </a:lnTo>
                <a:lnTo>
                  <a:pt x="1283148" y="1439206"/>
                </a:lnTo>
                <a:lnTo>
                  <a:pt x="1223218" y="1431016"/>
                </a:lnTo>
                <a:lnTo>
                  <a:pt x="1164232" y="1422045"/>
                </a:lnTo>
                <a:lnTo>
                  <a:pt x="1106230" y="1412309"/>
                </a:lnTo>
                <a:lnTo>
                  <a:pt x="1049250" y="1401825"/>
                </a:lnTo>
                <a:lnTo>
                  <a:pt x="993332" y="1390606"/>
                </a:lnTo>
                <a:lnTo>
                  <a:pt x="938516" y="1378670"/>
                </a:lnTo>
                <a:lnTo>
                  <a:pt x="884840" y="1366032"/>
                </a:lnTo>
                <a:lnTo>
                  <a:pt x="832345" y="1352706"/>
                </a:lnTo>
                <a:lnTo>
                  <a:pt x="781069" y="1338710"/>
                </a:lnTo>
                <a:lnTo>
                  <a:pt x="731051" y="1324057"/>
                </a:lnTo>
                <a:lnTo>
                  <a:pt x="682331" y="1308765"/>
                </a:lnTo>
                <a:lnTo>
                  <a:pt x="634949" y="1292849"/>
                </a:lnTo>
                <a:lnTo>
                  <a:pt x="588943" y="1276323"/>
                </a:lnTo>
                <a:lnTo>
                  <a:pt x="544353" y="1259204"/>
                </a:lnTo>
                <a:lnTo>
                  <a:pt x="501219" y="1241508"/>
                </a:lnTo>
                <a:lnTo>
                  <a:pt x="459578" y="1223250"/>
                </a:lnTo>
                <a:lnTo>
                  <a:pt x="419472" y="1204445"/>
                </a:lnTo>
                <a:lnTo>
                  <a:pt x="380939" y="1185110"/>
                </a:lnTo>
                <a:lnTo>
                  <a:pt x="344018" y="1165259"/>
                </a:lnTo>
                <a:lnTo>
                  <a:pt x="308749" y="1144908"/>
                </a:lnTo>
                <a:lnTo>
                  <a:pt x="275172" y="1124074"/>
                </a:lnTo>
                <a:lnTo>
                  <a:pt x="243324" y="1102771"/>
                </a:lnTo>
                <a:lnTo>
                  <a:pt x="184978" y="1058822"/>
                </a:lnTo>
                <a:lnTo>
                  <a:pt x="134026" y="1013186"/>
                </a:lnTo>
                <a:lnTo>
                  <a:pt x="90781" y="965989"/>
                </a:lnTo>
                <a:lnTo>
                  <a:pt x="55559" y="917354"/>
                </a:lnTo>
                <a:lnTo>
                  <a:pt x="28674" y="867407"/>
                </a:lnTo>
                <a:lnTo>
                  <a:pt x="10440" y="816272"/>
                </a:lnTo>
                <a:lnTo>
                  <a:pt x="1173" y="764074"/>
                </a:lnTo>
                <a:lnTo>
                  <a:pt x="0" y="737615"/>
                </a:lnTo>
                <a:close/>
              </a:path>
            </a:pathLst>
          </a:custGeom>
          <a:ln w="12192">
            <a:solidFill>
              <a:srgbClr val="7A212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95776" y="1113282"/>
            <a:ext cx="1182370" cy="60071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algn="ctr" marL="133350">
              <a:lnSpc>
                <a:spcPct val="100000"/>
              </a:lnSpc>
              <a:spcBef>
                <a:spcPts val="919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15">
                <a:latin typeface="Arial"/>
                <a:cs typeface="Arial"/>
              </a:rPr>
              <a:t>1+R</a:t>
            </a:r>
            <a:r>
              <a:rPr dirty="0" baseline="-20833" sz="1200" spc="-22">
                <a:latin typeface="Arial"/>
                <a:cs typeface="Arial"/>
              </a:rPr>
              <a:t>11</a:t>
            </a:r>
            <a:r>
              <a:rPr dirty="0" sz="1200" spc="-15">
                <a:latin typeface="Arial"/>
                <a:cs typeface="Arial"/>
              </a:rPr>
              <a:t>+R</a:t>
            </a:r>
            <a:r>
              <a:rPr dirty="0" baseline="-20833" sz="1200" spc="-22">
                <a:latin typeface="Arial"/>
                <a:cs typeface="Arial"/>
              </a:rPr>
              <a:t>12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6901" y="1162939"/>
            <a:ext cx="1036319" cy="54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76555">
              <a:lnSpc>
                <a:spcPct val="142200"/>
              </a:lnSpc>
              <a:spcBef>
                <a:spcPts val="100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  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</a:t>
            </a:r>
            <a:r>
              <a:rPr dirty="0" baseline="-20833" sz="1200">
                <a:latin typeface="Arial"/>
                <a:cs typeface="Arial"/>
              </a:rPr>
              <a:t>1</a:t>
            </a:r>
            <a:r>
              <a:rPr dirty="0" sz="1200" spc="-10">
                <a:latin typeface="Arial"/>
                <a:cs typeface="Arial"/>
              </a:rPr>
              <a:t>+R</a:t>
            </a:r>
            <a:r>
              <a:rPr dirty="0" baseline="-20833" sz="1200" spc="-7">
                <a:latin typeface="Arial"/>
                <a:cs typeface="Arial"/>
              </a:rPr>
              <a:t>12</a:t>
            </a:r>
            <a:r>
              <a:rPr dirty="0" sz="1200" spc="-10">
                <a:latin typeface="Arial"/>
                <a:cs typeface="Arial"/>
              </a:rPr>
              <a:t>+R</a:t>
            </a:r>
            <a:r>
              <a:rPr dirty="0" baseline="-20833" sz="1200" spc="-7">
                <a:latin typeface="Arial"/>
                <a:cs typeface="Arial"/>
              </a:rPr>
              <a:t>13</a:t>
            </a:r>
            <a:endParaRPr baseline="-20833"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8863"/>
            <a:ext cx="29825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62727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762727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定价</a:t>
            </a:r>
            <a:r>
              <a:rPr dirty="0" sz="2000" b="1">
                <a:solidFill>
                  <a:srgbClr val="762727"/>
                </a:solidFill>
                <a:latin typeface="明兰"/>
                <a:cs typeface="明兰"/>
              </a:rPr>
              <a:t>建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议</a:t>
            </a:r>
            <a:r>
              <a:rPr dirty="0" sz="2000" spc="-15" b="1">
                <a:solidFill>
                  <a:srgbClr val="762727"/>
                </a:solidFill>
                <a:latin typeface="Arial"/>
                <a:cs typeface="Arial"/>
              </a:rPr>
              <a:t>—</a:t>
            </a:r>
            <a:r>
              <a:rPr dirty="0" sz="2000" spc="10" b="1">
                <a:solidFill>
                  <a:srgbClr val="762727"/>
                </a:solidFill>
                <a:latin typeface="明兰"/>
                <a:cs typeface="明兰"/>
              </a:rPr>
              <a:t>关联交易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502" y="2337307"/>
            <a:ext cx="8359775" cy="3227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7A2121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从</a:t>
            </a:r>
            <a:r>
              <a:rPr dirty="0" sz="1400" spc="10" b="1">
                <a:latin typeface="明兰"/>
                <a:cs typeface="明兰"/>
              </a:rPr>
              <a:t>关</a:t>
            </a:r>
            <a:r>
              <a:rPr dirty="0" sz="1400" b="1">
                <a:latin typeface="明兰"/>
                <a:cs typeface="明兰"/>
              </a:rPr>
              <a:t>联交</a:t>
            </a:r>
            <a:r>
              <a:rPr dirty="0" sz="1400" spc="-15" b="1">
                <a:latin typeface="明兰"/>
                <a:cs typeface="明兰"/>
              </a:rPr>
              <a:t>易</a:t>
            </a:r>
            <a:r>
              <a:rPr dirty="0" sz="1400" b="1">
                <a:latin typeface="明兰"/>
                <a:cs typeface="明兰"/>
              </a:rPr>
              <a:t>的角</a:t>
            </a:r>
            <a:r>
              <a:rPr dirty="0" sz="1400" spc="-10" b="1">
                <a:latin typeface="明兰"/>
                <a:cs typeface="明兰"/>
              </a:rPr>
              <a:t>度</a:t>
            </a:r>
            <a:r>
              <a:rPr dirty="0" sz="1400">
                <a:latin typeface="宋体"/>
                <a:cs typeface="宋体"/>
              </a:rPr>
              <a:t>看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 b="1">
                <a:latin typeface="明兰"/>
                <a:cs typeface="明兰"/>
              </a:rPr>
              <a:t>在调节</a:t>
            </a:r>
            <a:r>
              <a:rPr dirty="0" sz="1400" spc="-15" b="1">
                <a:latin typeface="明兰"/>
                <a:cs typeface="明兰"/>
              </a:rPr>
              <a:t>确</a:t>
            </a:r>
            <a:r>
              <a:rPr dirty="0" sz="1400" b="1">
                <a:latin typeface="明兰"/>
                <a:cs typeface="明兰"/>
              </a:rPr>
              <a:t>定</a:t>
            </a:r>
            <a:r>
              <a:rPr dirty="0" sz="1400" spc="-10" b="1">
                <a:latin typeface="Arial"/>
                <a:cs typeface="Arial"/>
              </a:rPr>
              <a:t>R</a:t>
            </a:r>
            <a:r>
              <a:rPr dirty="0" baseline="-21604" sz="1350" spc="-15" b="1">
                <a:latin typeface="Arial"/>
                <a:cs typeface="Arial"/>
              </a:rPr>
              <a:t>11</a:t>
            </a:r>
            <a:r>
              <a:rPr dirty="0" sz="1400" spc="10" b="1">
                <a:latin typeface="明兰"/>
                <a:cs typeface="明兰"/>
              </a:rPr>
              <a:t>的</a:t>
            </a:r>
            <a:r>
              <a:rPr dirty="0" sz="1400" b="1">
                <a:latin typeface="明兰"/>
                <a:cs typeface="明兰"/>
              </a:rPr>
              <a:t>过程</a:t>
            </a:r>
            <a:r>
              <a:rPr dirty="0" sz="1400" spc="-15" b="1">
                <a:latin typeface="明兰"/>
                <a:cs typeface="明兰"/>
              </a:rPr>
              <a:t>中</a:t>
            </a:r>
            <a:r>
              <a:rPr dirty="0" sz="1400" b="1">
                <a:latin typeface="明兰"/>
                <a:cs typeface="明兰"/>
              </a:rPr>
              <a:t>，需</a:t>
            </a:r>
            <a:r>
              <a:rPr dirty="0" sz="1400" spc="-15" b="1">
                <a:latin typeface="明兰"/>
                <a:cs typeface="明兰"/>
              </a:rPr>
              <a:t>要</a:t>
            </a:r>
            <a:r>
              <a:rPr dirty="0" sz="1400" b="1">
                <a:latin typeface="明兰"/>
                <a:cs typeface="明兰"/>
              </a:rPr>
              <a:t>考虑</a:t>
            </a:r>
            <a:r>
              <a:rPr dirty="0" sz="1400" spc="-15" b="1">
                <a:latin typeface="明兰"/>
                <a:cs typeface="明兰"/>
              </a:rPr>
              <a:t>大</a:t>
            </a:r>
            <a:r>
              <a:rPr dirty="0" sz="1400" b="1">
                <a:latin typeface="明兰"/>
                <a:cs typeface="明兰"/>
              </a:rPr>
              <a:t>陆税</a:t>
            </a:r>
            <a:r>
              <a:rPr dirty="0" sz="1400" spc="-15" b="1">
                <a:latin typeface="明兰"/>
                <a:cs typeface="明兰"/>
              </a:rPr>
              <a:t>法</a:t>
            </a:r>
            <a:r>
              <a:rPr dirty="0" sz="1400" b="1">
                <a:latin typeface="明兰"/>
                <a:cs typeface="明兰"/>
              </a:rPr>
              <a:t>对关</a:t>
            </a:r>
            <a:r>
              <a:rPr dirty="0" sz="1400" spc="-15" b="1">
                <a:latin typeface="明兰"/>
                <a:cs typeface="明兰"/>
              </a:rPr>
              <a:t>联</a:t>
            </a:r>
            <a:r>
              <a:rPr dirty="0" sz="1400" b="1">
                <a:latin typeface="明兰"/>
                <a:cs typeface="明兰"/>
              </a:rPr>
              <a:t>交易</a:t>
            </a:r>
            <a:r>
              <a:rPr dirty="0" sz="1400" spc="-15" b="1">
                <a:latin typeface="明兰"/>
                <a:cs typeface="明兰"/>
              </a:rPr>
              <a:t>定</a:t>
            </a:r>
            <a:r>
              <a:rPr dirty="0" sz="1400" b="1">
                <a:latin typeface="明兰"/>
                <a:cs typeface="明兰"/>
              </a:rPr>
              <a:t>价的</a:t>
            </a:r>
            <a:r>
              <a:rPr dirty="0" sz="1400" spc="-15" b="1">
                <a:latin typeface="明兰"/>
                <a:cs typeface="明兰"/>
              </a:rPr>
              <a:t>管</a:t>
            </a:r>
            <a:r>
              <a:rPr dirty="0" sz="1400" b="1">
                <a:latin typeface="明兰"/>
                <a:cs typeface="明兰"/>
              </a:rPr>
              <a:t>理。</a:t>
            </a:r>
            <a:endParaRPr sz="1400">
              <a:latin typeface="明兰"/>
              <a:cs typeface="明兰"/>
            </a:endParaRPr>
          </a:p>
          <a:p>
            <a:pPr algn="just" marL="12700" marR="17145">
              <a:lnSpc>
                <a:spcPts val="3360"/>
              </a:lnSpc>
              <a:spcBef>
                <a:spcPts val="390"/>
              </a:spcBef>
            </a:pPr>
            <a:r>
              <a:rPr dirty="0" sz="1400" spc="10">
                <a:latin typeface="宋体"/>
                <a:cs typeface="宋体"/>
              </a:rPr>
              <a:t>大陆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持</a:t>
            </a:r>
            <a:r>
              <a:rPr dirty="0" sz="1400">
                <a:latin typeface="宋体"/>
                <a:cs typeface="宋体"/>
              </a:rPr>
              <a:t>有香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华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100%</a:t>
            </a:r>
            <a:r>
              <a:rPr dirty="0" sz="1400">
                <a:latin typeface="宋体"/>
                <a:cs typeface="宋体"/>
              </a:rPr>
              <a:t>股份，</a:t>
            </a:r>
            <a:r>
              <a:rPr dirty="0" sz="1400" spc="-15">
                <a:latin typeface="宋体"/>
                <a:cs typeface="宋体"/>
              </a:rPr>
              <a:t>因</a:t>
            </a:r>
            <a:r>
              <a:rPr dirty="0" sz="1400">
                <a:latin typeface="宋体"/>
                <a:cs typeface="宋体"/>
              </a:rPr>
              <a:t>而大</a:t>
            </a:r>
            <a:r>
              <a:rPr dirty="0" sz="1400" spc="-15">
                <a:latin typeface="宋体"/>
                <a:cs typeface="宋体"/>
              </a:rPr>
              <a:t>陆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出</a:t>
            </a:r>
            <a:r>
              <a:rPr dirty="0" sz="1400">
                <a:latin typeface="宋体"/>
                <a:cs typeface="宋体"/>
              </a:rPr>
              <a:t>售散</a:t>
            </a:r>
            <a:r>
              <a:rPr dirty="0" sz="1400" spc="-15">
                <a:latin typeface="宋体"/>
                <a:cs typeface="宋体"/>
              </a:rPr>
              <a:t>件</a:t>
            </a:r>
            <a:r>
              <a:rPr dirty="0" sz="1400">
                <a:latin typeface="宋体"/>
                <a:cs typeface="宋体"/>
              </a:rPr>
              <a:t>给香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行为</a:t>
            </a:r>
            <a:r>
              <a:rPr dirty="0" sz="1400" spc="-15">
                <a:latin typeface="宋体"/>
                <a:cs typeface="宋体"/>
              </a:rPr>
              <a:t>构</a:t>
            </a:r>
            <a:r>
              <a:rPr dirty="0" sz="1400">
                <a:latin typeface="宋体"/>
                <a:cs typeface="宋体"/>
              </a:rPr>
              <a:t>成关</a:t>
            </a:r>
            <a:r>
              <a:rPr dirty="0" sz="1400" spc="-15">
                <a:latin typeface="宋体"/>
                <a:cs typeface="宋体"/>
              </a:rPr>
              <a:t>联</a:t>
            </a:r>
            <a:r>
              <a:rPr dirty="0" sz="1400">
                <a:latin typeface="宋体"/>
                <a:cs typeface="宋体"/>
              </a:rPr>
              <a:t>交易</a:t>
            </a:r>
            <a:r>
              <a:rPr dirty="0" sz="1400" spc="-15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根</a:t>
            </a:r>
            <a:r>
              <a:rPr dirty="0" sz="1400" spc="10">
                <a:latin typeface="宋体"/>
                <a:cs typeface="宋体"/>
              </a:rPr>
              <a:t>据</a:t>
            </a:r>
            <a:r>
              <a:rPr dirty="0" sz="1400" spc="-15">
                <a:latin typeface="宋体"/>
                <a:cs typeface="宋体"/>
              </a:rPr>
              <a:t>《</a:t>
            </a:r>
            <a:r>
              <a:rPr dirty="0" sz="1400">
                <a:latin typeface="宋体"/>
                <a:cs typeface="宋体"/>
              </a:rPr>
              <a:t>特别纳 </a:t>
            </a:r>
            <a:r>
              <a:rPr dirty="0" sz="1400" spc="10">
                <a:latin typeface="宋体"/>
                <a:cs typeface="宋体"/>
              </a:rPr>
              <a:t>税调</a:t>
            </a:r>
            <a:r>
              <a:rPr dirty="0" sz="1400">
                <a:latin typeface="宋体"/>
                <a:cs typeface="宋体"/>
              </a:rPr>
              <a:t>查调</a:t>
            </a:r>
            <a:r>
              <a:rPr dirty="0" sz="1400" spc="-15">
                <a:latin typeface="宋体"/>
                <a:cs typeface="宋体"/>
              </a:rPr>
              <a:t>整</a:t>
            </a:r>
            <a:r>
              <a:rPr dirty="0" sz="1400">
                <a:latin typeface="宋体"/>
                <a:cs typeface="宋体"/>
              </a:rPr>
              <a:t>及相</a:t>
            </a:r>
            <a:r>
              <a:rPr dirty="0" sz="1400" spc="-15">
                <a:latin typeface="宋体"/>
                <a:cs typeface="宋体"/>
              </a:rPr>
              <a:t>互</a:t>
            </a:r>
            <a:r>
              <a:rPr dirty="0" sz="1400">
                <a:latin typeface="宋体"/>
                <a:cs typeface="宋体"/>
              </a:rPr>
              <a:t>协商</a:t>
            </a:r>
            <a:r>
              <a:rPr dirty="0" sz="1400" spc="-15">
                <a:latin typeface="宋体"/>
                <a:cs typeface="宋体"/>
              </a:rPr>
              <a:t>程</a:t>
            </a:r>
            <a:r>
              <a:rPr dirty="0" sz="1400">
                <a:latin typeface="宋体"/>
                <a:cs typeface="宋体"/>
              </a:rPr>
              <a:t>序管</a:t>
            </a:r>
            <a:r>
              <a:rPr dirty="0" sz="1400" spc="-15">
                <a:latin typeface="宋体"/>
                <a:cs typeface="宋体"/>
              </a:rPr>
              <a:t>理</a:t>
            </a:r>
            <a:r>
              <a:rPr dirty="0" sz="1400">
                <a:latin typeface="宋体"/>
                <a:cs typeface="宋体"/>
              </a:rPr>
              <a:t>办</a:t>
            </a:r>
            <a:r>
              <a:rPr dirty="0" sz="1400" spc="5">
                <a:latin typeface="宋体"/>
                <a:cs typeface="宋体"/>
              </a:rPr>
              <a:t>法</a:t>
            </a:r>
            <a:r>
              <a:rPr dirty="0" sz="1400" spc="-10">
                <a:latin typeface="宋体"/>
                <a:cs typeface="宋体"/>
              </a:rPr>
              <a:t>》</a:t>
            </a:r>
            <a:r>
              <a:rPr dirty="0" sz="1400">
                <a:latin typeface="宋体"/>
                <a:cs typeface="宋体"/>
              </a:rPr>
              <a:t>（国</a:t>
            </a:r>
            <a:r>
              <a:rPr dirty="0" sz="1400" spc="-15">
                <a:latin typeface="宋体"/>
                <a:cs typeface="宋体"/>
              </a:rPr>
              <a:t>家</a:t>
            </a:r>
            <a:r>
              <a:rPr dirty="0" sz="1400">
                <a:latin typeface="宋体"/>
                <a:cs typeface="宋体"/>
              </a:rPr>
              <a:t>税务</a:t>
            </a:r>
            <a:r>
              <a:rPr dirty="0" sz="1400" spc="-15">
                <a:latin typeface="宋体"/>
                <a:cs typeface="宋体"/>
              </a:rPr>
              <a:t>总</a:t>
            </a:r>
            <a:r>
              <a:rPr dirty="0" sz="1400">
                <a:latin typeface="宋体"/>
                <a:cs typeface="宋体"/>
              </a:rPr>
              <a:t>局公</a:t>
            </a:r>
            <a:r>
              <a:rPr dirty="0" sz="1400" spc="-15">
                <a:latin typeface="宋体"/>
                <a:cs typeface="宋体"/>
              </a:rPr>
              <a:t>告</a:t>
            </a:r>
            <a:r>
              <a:rPr dirty="0" sz="1400" spc="-10">
                <a:latin typeface="Arial"/>
                <a:cs typeface="Arial"/>
              </a:rPr>
              <a:t>2017</a:t>
            </a:r>
            <a:r>
              <a:rPr dirty="0" sz="1400">
                <a:latin typeface="宋体"/>
                <a:cs typeface="宋体"/>
              </a:rPr>
              <a:t>年第</a:t>
            </a:r>
            <a:r>
              <a:rPr dirty="0" sz="1400" spc="-15">
                <a:latin typeface="Arial"/>
                <a:cs typeface="Arial"/>
              </a:rPr>
              <a:t>6</a:t>
            </a:r>
            <a:r>
              <a:rPr dirty="0" sz="1400">
                <a:latin typeface="宋体"/>
                <a:cs typeface="宋体"/>
              </a:rPr>
              <a:t>号）第</a:t>
            </a:r>
            <a:r>
              <a:rPr dirty="0" sz="1400" spc="-15">
                <a:latin typeface="宋体"/>
                <a:cs typeface="宋体"/>
              </a:rPr>
              <a:t>十</a:t>
            </a:r>
            <a:r>
              <a:rPr dirty="0" sz="1400">
                <a:latin typeface="宋体"/>
                <a:cs typeface="宋体"/>
              </a:rPr>
              <a:t>六条</a:t>
            </a:r>
            <a:r>
              <a:rPr dirty="0" sz="1400" spc="-15">
                <a:latin typeface="宋体"/>
                <a:cs typeface="宋体"/>
              </a:rPr>
              <a:t>规</a:t>
            </a:r>
            <a:r>
              <a:rPr dirty="0" sz="1400">
                <a:latin typeface="宋体"/>
                <a:cs typeface="宋体"/>
              </a:rPr>
              <a:t>定：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务机</a:t>
            </a:r>
            <a:r>
              <a:rPr dirty="0" sz="1400" spc="-15">
                <a:latin typeface="宋体"/>
                <a:cs typeface="宋体"/>
              </a:rPr>
              <a:t>关</a:t>
            </a:r>
            <a:r>
              <a:rPr dirty="0" sz="1400">
                <a:latin typeface="宋体"/>
                <a:cs typeface="宋体"/>
              </a:rPr>
              <a:t>应当在 可比性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析的</a:t>
            </a:r>
            <a:r>
              <a:rPr dirty="0" sz="1400" spc="-15">
                <a:latin typeface="宋体"/>
                <a:cs typeface="宋体"/>
              </a:rPr>
              <a:t>基础</a:t>
            </a:r>
            <a:r>
              <a:rPr dirty="0" sz="1400">
                <a:latin typeface="宋体"/>
                <a:cs typeface="宋体"/>
              </a:rPr>
              <a:t>上，选</a:t>
            </a:r>
            <a:r>
              <a:rPr dirty="0" sz="1400" spc="-15">
                <a:latin typeface="宋体"/>
                <a:cs typeface="宋体"/>
              </a:rPr>
              <a:t>择</a:t>
            </a:r>
            <a:r>
              <a:rPr dirty="0" sz="1400">
                <a:latin typeface="宋体"/>
                <a:cs typeface="宋体"/>
              </a:rPr>
              <a:t>合理</a:t>
            </a:r>
            <a:r>
              <a:rPr dirty="0" sz="1400" spc="-15">
                <a:latin typeface="宋体"/>
                <a:cs typeface="宋体"/>
              </a:rPr>
              <a:t>的转</a:t>
            </a:r>
            <a:r>
              <a:rPr dirty="0" sz="1400">
                <a:latin typeface="宋体"/>
                <a:cs typeface="宋体"/>
              </a:rPr>
              <a:t>让定价</a:t>
            </a:r>
            <a:r>
              <a:rPr dirty="0" sz="1400" spc="-15">
                <a:latin typeface="宋体"/>
                <a:cs typeface="宋体"/>
              </a:rPr>
              <a:t>方</a:t>
            </a:r>
            <a:r>
              <a:rPr dirty="0" sz="1400">
                <a:latin typeface="宋体"/>
                <a:cs typeface="宋体"/>
              </a:rPr>
              <a:t>法，</a:t>
            </a:r>
            <a:r>
              <a:rPr dirty="0" sz="1400" spc="-15">
                <a:latin typeface="宋体"/>
                <a:cs typeface="宋体"/>
              </a:rPr>
              <a:t>对企</a:t>
            </a:r>
            <a:r>
              <a:rPr dirty="0" sz="1400">
                <a:latin typeface="宋体"/>
                <a:cs typeface="宋体"/>
              </a:rPr>
              <a:t>业关联</a:t>
            </a:r>
            <a:r>
              <a:rPr dirty="0" sz="1400" spc="-15">
                <a:latin typeface="宋体"/>
                <a:cs typeface="宋体"/>
              </a:rPr>
              <a:t>交</a:t>
            </a:r>
            <a:r>
              <a:rPr dirty="0" sz="1400">
                <a:latin typeface="宋体"/>
                <a:cs typeface="宋体"/>
              </a:rPr>
              <a:t>易进</a:t>
            </a:r>
            <a:r>
              <a:rPr dirty="0" sz="1400" spc="-15">
                <a:latin typeface="宋体"/>
                <a:cs typeface="宋体"/>
              </a:rPr>
              <a:t>行分</a:t>
            </a:r>
            <a:r>
              <a:rPr dirty="0" sz="1400">
                <a:latin typeface="宋体"/>
                <a:cs typeface="宋体"/>
              </a:rPr>
              <a:t>析评估。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imes New Roman"/>
              <a:cs typeface="Times New Roman"/>
            </a:endParaRPr>
          </a:p>
          <a:p>
            <a:pPr algn="just" marL="299085" indent="-286385">
              <a:lnSpc>
                <a:spcPct val="100000"/>
              </a:lnSpc>
              <a:buClr>
                <a:srgbClr val="7A2121"/>
              </a:buClr>
              <a:buFont typeface="Wingdings"/>
              <a:buChar char=""/>
              <a:tabLst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大陆华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销售</a:t>
            </a:r>
            <a:r>
              <a:rPr dirty="0" sz="1400" spc="-15">
                <a:latin typeface="宋体"/>
                <a:cs typeface="宋体"/>
              </a:rPr>
              <a:t>给香</a:t>
            </a:r>
            <a:r>
              <a:rPr dirty="0" sz="1400">
                <a:latin typeface="宋体"/>
                <a:cs typeface="宋体"/>
              </a:rPr>
              <a:t>港华为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价时，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algn="just" marL="161925" indent="-149225">
              <a:lnSpc>
                <a:spcPct val="100000"/>
              </a:lnSpc>
              <a:buSzPct val="92857"/>
              <a:buFont typeface="Arial"/>
              <a:buAutoNum type="arabicPeriod"/>
              <a:tabLst>
                <a:tab pos="162560" algn="l"/>
              </a:tabLst>
            </a:pPr>
            <a:r>
              <a:rPr dirty="0" sz="1400" spc="10">
                <a:latin typeface="宋体"/>
                <a:cs typeface="宋体"/>
              </a:rPr>
              <a:t>售</a:t>
            </a:r>
            <a:r>
              <a:rPr dirty="0" sz="1400">
                <a:latin typeface="宋体"/>
                <a:cs typeface="宋体"/>
              </a:rPr>
              <a:t>价可参</a:t>
            </a:r>
            <a:r>
              <a:rPr dirty="0" sz="1400" spc="-15">
                <a:latin typeface="宋体"/>
                <a:cs typeface="宋体"/>
              </a:rPr>
              <a:t>考</a:t>
            </a:r>
            <a:r>
              <a:rPr dirty="0" sz="1400">
                <a:latin typeface="宋体"/>
                <a:cs typeface="宋体"/>
              </a:rPr>
              <a:t>可比</a:t>
            </a:r>
            <a:r>
              <a:rPr dirty="0" sz="1400" spc="-15">
                <a:latin typeface="宋体"/>
                <a:cs typeface="宋体"/>
              </a:rPr>
              <a:t>非</a:t>
            </a:r>
            <a:r>
              <a:rPr dirty="0" sz="1400">
                <a:latin typeface="宋体"/>
                <a:cs typeface="宋体"/>
              </a:rPr>
              <a:t>受控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格法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并结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降低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负的</a:t>
            </a:r>
            <a:r>
              <a:rPr dirty="0" sz="1400" spc="-15">
                <a:latin typeface="宋体"/>
                <a:cs typeface="宋体"/>
              </a:rPr>
              <a:t>需</a:t>
            </a:r>
            <a:r>
              <a:rPr dirty="0" sz="1400">
                <a:latin typeface="宋体"/>
                <a:cs typeface="宋体"/>
              </a:rPr>
              <a:t>求，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价略</a:t>
            </a:r>
            <a:r>
              <a:rPr dirty="0" sz="1400" spc="-15">
                <a:latin typeface="宋体"/>
                <a:cs typeface="宋体"/>
              </a:rPr>
              <a:t>高</a:t>
            </a:r>
            <a:r>
              <a:rPr dirty="0" sz="1400">
                <a:latin typeface="宋体"/>
                <a:cs typeface="宋体"/>
              </a:rPr>
              <a:t>于行</a:t>
            </a:r>
            <a:r>
              <a:rPr dirty="0" sz="1400" spc="-15">
                <a:latin typeface="宋体"/>
                <a:cs typeface="宋体"/>
              </a:rPr>
              <a:t>业</a:t>
            </a:r>
            <a:r>
              <a:rPr dirty="0" sz="1400">
                <a:latin typeface="宋体"/>
                <a:cs typeface="宋体"/>
              </a:rPr>
              <a:t>水平。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rabicPeriod"/>
            </a:pPr>
            <a:endParaRPr sz="1450">
              <a:latin typeface="Times New Roman"/>
              <a:cs typeface="Times New Roman"/>
            </a:endParaRPr>
          </a:p>
          <a:p>
            <a:pPr algn="just" marL="161925" indent="-149225">
              <a:lnSpc>
                <a:spcPct val="100000"/>
              </a:lnSpc>
              <a:buSzPct val="92857"/>
              <a:buFont typeface="Arial"/>
              <a:buAutoNum type="arabicPeriod"/>
              <a:tabLst>
                <a:tab pos="162560" algn="l"/>
              </a:tabLst>
            </a:pPr>
            <a:r>
              <a:rPr dirty="0" sz="1400" spc="10">
                <a:latin typeface="宋体"/>
                <a:cs typeface="宋体"/>
              </a:rPr>
              <a:t>关</a:t>
            </a:r>
            <a:r>
              <a:rPr dirty="0" sz="1400" spc="5">
                <a:latin typeface="宋体"/>
                <a:cs typeface="宋体"/>
              </a:rPr>
              <a:t>联</a:t>
            </a:r>
            <a:r>
              <a:rPr dirty="0" sz="1400">
                <a:latin typeface="宋体"/>
                <a:cs typeface="宋体"/>
              </a:rPr>
              <a:t>交</a:t>
            </a:r>
            <a:r>
              <a:rPr dirty="0" sz="1400" spc="5">
                <a:latin typeface="宋体"/>
                <a:cs typeface="宋体"/>
              </a:rPr>
              <a:t>易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 spc="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要</a:t>
            </a:r>
            <a:r>
              <a:rPr dirty="0" sz="1400" spc="-10">
                <a:latin typeface="宋体"/>
                <a:cs typeface="宋体"/>
              </a:rPr>
              <a:t>满</a:t>
            </a:r>
            <a:r>
              <a:rPr dirty="0" sz="1400" spc="5">
                <a:latin typeface="宋体"/>
                <a:cs typeface="宋体"/>
              </a:rPr>
              <a:t>足</a:t>
            </a:r>
            <a:r>
              <a:rPr dirty="0" sz="1400">
                <a:latin typeface="宋体"/>
                <a:cs typeface="宋体"/>
              </a:rPr>
              <a:t>再</a:t>
            </a:r>
            <a:r>
              <a:rPr dirty="0" sz="1400" spc="-10">
                <a:latin typeface="宋体"/>
                <a:cs typeface="宋体"/>
              </a:rPr>
              <a:t>销</a:t>
            </a:r>
            <a:r>
              <a:rPr dirty="0" sz="1400" spc="5">
                <a:latin typeface="宋体"/>
                <a:cs typeface="宋体"/>
              </a:rPr>
              <a:t>售</a:t>
            </a:r>
            <a:r>
              <a:rPr dirty="0" sz="1400">
                <a:latin typeface="宋体"/>
                <a:cs typeface="宋体"/>
              </a:rPr>
              <a:t>价</a:t>
            </a:r>
            <a:r>
              <a:rPr dirty="0" sz="1400" spc="-10">
                <a:latin typeface="宋体"/>
                <a:cs typeface="宋体"/>
              </a:rPr>
              <a:t>格</a:t>
            </a:r>
            <a:r>
              <a:rPr dirty="0" sz="1400" spc="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0">
                <a:latin typeface="宋体"/>
                <a:cs typeface="宋体"/>
              </a:rPr>
              <a:t>即</a:t>
            </a:r>
            <a:r>
              <a:rPr dirty="0" sz="1400" spc="5">
                <a:latin typeface="宋体"/>
                <a:cs typeface="宋体"/>
              </a:rPr>
              <a:t>香</a:t>
            </a:r>
            <a:r>
              <a:rPr dirty="0" sz="1400">
                <a:latin typeface="宋体"/>
                <a:cs typeface="宋体"/>
              </a:rPr>
              <a:t>港</a:t>
            </a:r>
            <a:r>
              <a:rPr dirty="0" sz="1400" spc="-10">
                <a:latin typeface="宋体"/>
                <a:cs typeface="宋体"/>
              </a:rPr>
              <a:t>华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购</a:t>
            </a:r>
            <a:r>
              <a:rPr dirty="0" sz="1400" spc="-10">
                <a:latin typeface="宋体"/>
                <a:cs typeface="宋体"/>
              </a:rPr>
              <a:t>进</a:t>
            </a:r>
            <a:r>
              <a:rPr dirty="0" sz="1400" spc="5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品</a:t>
            </a:r>
            <a:r>
              <a:rPr dirty="0" sz="1400" spc="-10">
                <a:latin typeface="宋体"/>
                <a:cs typeface="宋体"/>
              </a:rPr>
              <a:t>再</a:t>
            </a:r>
            <a:r>
              <a:rPr dirty="0" sz="1400" spc="5">
                <a:latin typeface="宋体"/>
                <a:cs typeface="宋体"/>
              </a:rPr>
              <a:t>销</a:t>
            </a:r>
            <a:r>
              <a:rPr dirty="0" sz="1400">
                <a:latin typeface="宋体"/>
                <a:cs typeface="宋体"/>
              </a:rPr>
              <a:t>售</a:t>
            </a:r>
            <a:r>
              <a:rPr dirty="0" sz="1400" spc="-10">
                <a:latin typeface="宋体"/>
                <a:cs typeface="宋体"/>
              </a:rPr>
              <a:t>给</a:t>
            </a:r>
            <a:r>
              <a:rPr dirty="0" sz="1400" spc="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</a:t>
            </a:r>
            <a:r>
              <a:rPr dirty="0" sz="1400" spc="-10">
                <a:latin typeface="宋体"/>
                <a:cs typeface="宋体"/>
              </a:rPr>
              <a:t>廷</a:t>
            </a:r>
            <a:r>
              <a:rPr dirty="0" sz="1400" spc="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工</a:t>
            </a:r>
            <a:r>
              <a:rPr dirty="0" sz="1400" spc="-10">
                <a:latin typeface="宋体"/>
                <a:cs typeface="宋体"/>
              </a:rPr>
              <a:t>厂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价</a:t>
            </a:r>
            <a:r>
              <a:rPr dirty="0" sz="1400" spc="-10">
                <a:latin typeface="宋体"/>
                <a:cs typeface="宋体"/>
              </a:rPr>
              <a:t>格</a:t>
            </a:r>
            <a:r>
              <a:rPr dirty="0" sz="1400" spc="5">
                <a:latin typeface="宋体"/>
                <a:cs typeface="宋体"/>
              </a:rPr>
              <a:t>减</a:t>
            </a:r>
            <a:r>
              <a:rPr dirty="0" sz="1400">
                <a:latin typeface="宋体"/>
                <a:cs typeface="宋体"/>
              </a:rPr>
              <a:t>去</a:t>
            </a:r>
            <a:r>
              <a:rPr dirty="0" sz="1400" spc="-10">
                <a:latin typeface="宋体"/>
                <a:cs typeface="宋体"/>
              </a:rPr>
              <a:t>毛</a:t>
            </a:r>
            <a:r>
              <a:rPr dirty="0" sz="1400" spc="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后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 spc="5">
                <a:latin typeface="宋体"/>
                <a:cs typeface="宋体"/>
              </a:rPr>
              <a:t>金额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400">
                <a:latin typeface="宋体"/>
                <a:cs typeface="宋体"/>
              </a:rPr>
              <a:t>作为香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购进</a:t>
            </a:r>
            <a:r>
              <a:rPr dirty="0" sz="1400">
                <a:latin typeface="宋体"/>
                <a:cs typeface="宋体"/>
              </a:rPr>
              <a:t>商品的</a:t>
            </a:r>
            <a:r>
              <a:rPr dirty="0" sz="1400" spc="-15">
                <a:latin typeface="宋体"/>
                <a:cs typeface="宋体"/>
              </a:rPr>
              <a:t>公</a:t>
            </a:r>
            <a:r>
              <a:rPr dirty="0" sz="1400">
                <a:latin typeface="宋体"/>
                <a:cs typeface="宋体"/>
              </a:rPr>
              <a:t>平成</a:t>
            </a:r>
            <a:r>
              <a:rPr dirty="0" sz="1400" spc="-15">
                <a:latin typeface="宋体"/>
                <a:cs typeface="宋体"/>
              </a:rPr>
              <a:t>交价</a:t>
            </a:r>
            <a:r>
              <a:rPr dirty="0" sz="1400">
                <a:latin typeface="宋体"/>
                <a:cs typeface="宋体"/>
              </a:rPr>
              <a:t>格。若</a:t>
            </a:r>
            <a:r>
              <a:rPr dirty="0" sz="1400" spc="-15">
                <a:latin typeface="宋体"/>
                <a:cs typeface="宋体"/>
              </a:rPr>
              <a:t>实</a:t>
            </a:r>
            <a:r>
              <a:rPr dirty="0" sz="1400">
                <a:latin typeface="宋体"/>
                <a:cs typeface="宋体"/>
              </a:rPr>
              <a:t>际价</a:t>
            </a:r>
            <a:r>
              <a:rPr dirty="0" sz="1400" spc="-15">
                <a:latin typeface="宋体"/>
                <a:cs typeface="宋体"/>
              </a:rPr>
              <a:t>格低</a:t>
            </a:r>
            <a:r>
              <a:rPr dirty="0" sz="1400">
                <a:latin typeface="宋体"/>
                <a:cs typeface="宋体"/>
              </a:rPr>
              <a:t>于公平</a:t>
            </a:r>
            <a:r>
              <a:rPr dirty="0" sz="1400" spc="-15">
                <a:latin typeface="宋体"/>
                <a:cs typeface="宋体"/>
              </a:rPr>
              <a:t>成</a:t>
            </a:r>
            <a:r>
              <a:rPr dirty="0" sz="1400">
                <a:latin typeface="宋体"/>
                <a:cs typeface="宋体"/>
              </a:rPr>
              <a:t>交价</a:t>
            </a:r>
            <a:r>
              <a:rPr dirty="0" sz="1400" spc="-15">
                <a:latin typeface="宋体"/>
                <a:cs typeface="宋体"/>
              </a:rPr>
              <a:t>格，</a:t>
            </a:r>
            <a:r>
              <a:rPr dirty="0" sz="1400">
                <a:latin typeface="宋体"/>
                <a:cs typeface="宋体"/>
              </a:rPr>
              <a:t>则要进</a:t>
            </a:r>
            <a:r>
              <a:rPr dirty="0" sz="1400" spc="-1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纳税</a:t>
            </a:r>
            <a:r>
              <a:rPr dirty="0" sz="1400" spc="-15">
                <a:latin typeface="宋体"/>
                <a:cs typeface="宋体"/>
              </a:rPr>
              <a:t>调整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424" y="1223772"/>
            <a:ext cx="1065530" cy="47117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779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8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1655" y="1207008"/>
            <a:ext cx="1065530" cy="472440"/>
          </a:xfrm>
          <a:prstGeom prst="rect">
            <a:avLst/>
          </a:prstGeom>
          <a:solidFill>
            <a:srgbClr val="BA8E51"/>
          </a:solidFill>
        </p:spPr>
        <p:txBody>
          <a:bodyPr wrap="square" lIns="0" tIns="127000" rIns="0" bIns="0" rtlCol="0" vert="horz">
            <a:spAutoFit/>
          </a:bodyPr>
          <a:lstStyle/>
          <a:p>
            <a:pPr marL="6350">
              <a:lnSpc>
                <a:spcPct val="100000"/>
              </a:lnSpc>
              <a:spcBef>
                <a:spcPts val="100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香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港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华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散件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4544" y="1205483"/>
            <a:ext cx="1226820" cy="471170"/>
          </a:xfrm>
          <a:prstGeom prst="rect">
            <a:avLst/>
          </a:prstGeom>
          <a:solidFill>
            <a:srgbClr val="9A5858"/>
          </a:solidFill>
        </p:spPr>
        <p:txBody>
          <a:bodyPr wrap="square" lIns="0" tIns="13652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75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阿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廷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工厂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59991" y="1429511"/>
            <a:ext cx="1021080" cy="76200"/>
          </a:xfrm>
          <a:custGeom>
            <a:avLst/>
            <a:gdLst/>
            <a:ahLst/>
            <a:cxnLst/>
            <a:rect l="l" t="t" r="r" b="b"/>
            <a:pathLst>
              <a:path w="1021080" h="76200">
                <a:moveTo>
                  <a:pt x="944880" y="0"/>
                </a:moveTo>
                <a:lnTo>
                  <a:pt x="944880" y="76200"/>
                </a:lnTo>
                <a:lnTo>
                  <a:pt x="1008380" y="44450"/>
                </a:lnTo>
                <a:lnTo>
                  <a:pt x="957580" y="44450"/>
                </a:lnTo>
                <a:lnTo>
                  <a:pt x="957580" y="31750"/>
                </a:lnTo>
                <a:lnTo>
                  <a:pt x="1008380" y="31750"/>
                </a:lnTo>
                <a:lnTo>
                  <a:pt x="944880" y="0"/>
                </a:lnTo>
                <a:close/>
              </a:path>
              <a:path w="1021080" h="76200">
                <a:moveTo>
                  <a:pt x="9448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44880" y="44450"/>
                </a:lnTo>
                <a:lnTo>
                  <a:pt x="944880" y="31750"/>
                </a:lnTo>
                <a:close/>
              </a:path>
              <a:path w="1021080" h="76200">
                <a:moveTo>
                  <a:pt x="1008380" y="31750"/>
                </a:moveTo>
                <a:lnTo>
                  <a:pt x="957580" y="31750"/>
                </a:lnTo>
                <a:lnTo>
                  <a:pt x="957580" y="44450"/>
                </a:lnTo>
                <a:lnTo>
                  <a:pt x="1008380" y="44450"/>
                </a:lnTo>
                <a:lnTo>
                  <a:pt x="1021080" y="38100"/>
                </a:lnTo>
                <a:lnTo>
                  <a:pt x="1008380" y="3175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0855" y="1408175"/>
            <a:ext cx="1128395" cy="76200"/>
          </a:xfrm>
          <a:custGeom>
            <a:avLst/>
            <a:gdLst/>
            <a:ahLst/>
            <a:cxnLst/>
            <a:rect l="l" t="t" r="r" b="b"/>
            <a:pathLst>
              <a:path w="1128395" h="76200">
                <a:moveTo>
                  <a:pt x="1051814" y="0"/>
                </a:moveTo>
                <a:lnTo>
                  <a:pt x="1051814" y="76200"/>
                </a:lnTo>
                <a:lnTo>
                  <a:pt x="1115314" y="44450"/>
                </a:lnTo>
                <a:lnTo>
                  <a:pt x="1064514" y="44450"/>
                </a:lnTo>
                <a:lnTo>
                  <a:pt x="1064514" y="31750"/>
                </a:lnTo>
                <a:lnTo>
                  <a:pt x="1115314" y="31750"/>
                </a:lnTo>
                <a:lnTo>
                  <a:pt x="1051814" y="0"/>
                </a:lnTo>
                <a:close/>
              </a:path>
              <a:path w="1128395" h="76200">
                <a:moveTo>
                  <a:pt x="105181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51814" y="44450"/>
                </a:lnTo>
                <a:lnTo>
                  <a:pt x="1051814" y="31750"/>
                </a:lnTo>
                <a:close/>
              </a:path>
              <a:path w="1128395" h="76200">
                <a:moveTo>
                  <a:pt x="1115314" y="31750"/>
                </a:moveTo>
                <a:lnTo>
                  <a:pt x="1064514" y="31750"/>
                </a:lnTo>
                <a:lnTo>
                  <a:pt x="1064514" y="44450"/>
                </a:lnTo>
                <a:lnTo>
                  <a:pt x="1115314" y="44450"/>
                </a:lnTo>
                <a:lnTo>
                  <a:pt x="1128014" y="38100"/>
                </a:lnTo>
                <a:lnTo>
                  <a:pt x="1115314" y="31750"/>
                </a:lnTo>
                <a:close/>
              </a:path>
            </a:pathLst>
          </a:custGeom>
          <a:solidFill>
            <a:srgbClr val="AE5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67077" y="1231519"/>
            <a:ext cx="23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6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9810" y="1217803"/>
            <a:ext cx="248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34656" y="1191767"/>
            <a:ext cx="1214755" cy="459105"/>
          </a:xfrm>
          <a:prstGeom prst="rect">
            <a:avLst/>
          </a:prstGeom>
          <a:solidFill>
            <a:srgbClr val="660000"/>
          </a:solidFill>
          <a:ln w="12192">
            <a:solidFill>
              <a:srgbClr val="B43500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980"/>
              </a:spcBef>
            </a:pP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350" spc="-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1350" spc="5">
                <a:solidFill>
                  <a:srgbClr val="FFFFFF"/>
                </a:solidFill>
                <a:latin typeface="宋体"/>
                <a:cs typeface="宋体"/>
              </a:rPr>
              <a:t>商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63284" y="1409700"/>
            <a:ext cx="939165" cy="76200"/>
          </a:xfrm>
          <a:custGeom>
            <a:avLst/>
            <a:gdLst/>
            <a:ahLst/>
            <a:cxnLst/>
            <a:rect l="l" t="t" r="r" b="b"/>
            <a:pathLst>
              <a:path w="939165" h="76200">
                <a:moveTo>
                  <a:pt x="862838" y="0"/>
                </a:moveTo>
                <a:lnTo>
                  <a:pt x="862838" y="76200"/>
                </a:lnTo>
                <a:lnTo>
                  <a:pt x="926338" y="44450"/>
                </a:lnTo>
                <a:lnTo>
                  <a:pt x="875538" y="44450"/>
                </a:lnTo>
                <a:lnTo>
                  <a:pt x="875538" y="31750"/>
                </a:lnTo>
                <a:lnTo>
                  <a:pt x="926338" y="31750"/>
                </a:lnTo>
                <a:lnTo>
                  <a:pt x="862838" y="0"/>
                </a:lnTo>
                <a:close/>
              </a:path>
              <a:path w="939165" h="76200">
                <a:moveTo>
                  <a:pt x="86283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2838" y="44450"/>
                </a:lnTo>
                <a:lnTo>
                  <a:pt x="862838" y="31750"/>
                </a:lnTo>
                <a:close/>
              </a:path>
              <a:path w="939165" h="76200">
                <a:moveTo>
                  <a:pt x="926338" y="31750"/>
                </a:moveTo>
                <a:lnTo>
                  <a:pt x="875538" y="31750"/>
                </a:lnTo>
                <a:lnTo>
                  <a:pt x="875538" y="44450"/>
                </a:lnTo>
                <a:lnTo>
                  <a:pt x="926338" y="44450"/>
                </a:lnTo>
                <a:lnTo>
                  <a:pt x="939038" y="38100"/>
                </a:lnTo>
                <a:lnTo>
                  <a:pt x="926338" y="317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08252" y="1578355"/>
            <a:ext cx="86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11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7078" y="1578355"/>
            <a:ext cx="1153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出口价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5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97">
                <a:latin typeface="Arial"/>
                <a:cs typeface="Arial"/>
              </a:rPr>
              <a:t>1</a:t>
            </a:r>
            <a:r>
              <a:rPr dirty="0" baseline="-20833" sz="1200" spc="-7">
                <a:latin typeface="Arial"/>
                <a:cs typeface="Arial"/>
              </a:rPr>
              <a:t>1</a:t>
            </a:r>
            <a:r>
              <a:rPr dirty="0" baseline="-20833" sz="1200" spc="-7">
                <a:latin typeface="Arial"/>
                <a:cs typeface="Arial"/>
              </a:rPr>
              <a:t>+</a:t>
            </a:r>
            <a:r>
              <a:rPr dirty="0" sz="1200" spc="-10">
                <a:latin typeface="Arial"/>
                <a:cs typeface="Arial"/>
              </a:rPr>
              <a:t>R</a:t>
            </a:r>
            <a:r>
              <a:rPr dirty="0" baseline="-20833" sz="1200" spc="-7">
                <a:latin typeface="Arial"/>
                <a:cs typeface="Arial"/>
              </a:rPr>
              <a:t>12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14896" y="1240028"/>
            <a:ext cx="1022350" cy="554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3180">
              <a:lnSpc>
                <a:spcPct val="100000"/>
              </a:lnSpc>
              <a:spcBef>
                <a:spcPts val="100"/>
              </a:spcBef>
            </a:pP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baseline="13888" sz="1800" spc="-15">
                <a:latin typeface="Arial"/>
                <a:cs typeface="Arial"/>
              </a:rPr>
              <a:t>1+R</a:t>
            </a:r>
            <a:r>
              <a:rPr dirty="0" sz="800" spc="-10">
                <a:latin typeface="Arial"/>
                <a:cs typeface="Arial"/>
              </a:rPr>
              <a:t>11+</a:t>
            </a:r>
            <a:r>
              <a:rPr dirty="0" baseline="13888" sz="1800" spc="-15">
                <a:latin typeface="Arial"/>
                <a:cs typeface="Arial"/>
              </a:rPr>
              <a:t>R</a:t>
            </a:r>
            <a:r>
              <a:rPr dirty="0" sz="800" spc="-10">
                <a:latin typeface="Arial"/>
                <a:cs typeface="Arial"/>
              </a:rPr>
              <a:t>12+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baseline="13888" sz="1800" spc="-7">
                <a:latin typeface="Arial"/>
                <a:cs typeface="Arial"/>
              </a:rPr>
              <a:t>R</a:t>
            </a:r>
            <a:r>
              <a:rPr dirty="0" sz="800" spc="-5"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03603" y="765048"/>
            <a:ext cx="3717290" cy="1475740"/>
          </a:xfrm>
          <a:custGeom>
            <a:avLst/>
            <a:gdLst/>
            <a:ahLst/>
            <a:cxnLst/>
            <a:rect l="l" t="t" r="r" b="b"/>
            <a:pathLst>
              <a:path w="3717290" h="1475739">
                <a:moveTo>
                  <a:pt x="0" y="737615"/>
                </a:moveTo>
                <a:lnTo>
                  <a:pt x="4666" y="684933"/>
                </a:lnTo>
                <a:lnTo>
                  <a:pt x="18456" y="633251"/>
                </a:lnTo>
                <a:lnTo>
                  <a:pt x="41054" y="582694"/>
                </a:lnTo>
                <a:lnTo>
                  <a:pt x="72147" y="533388"/>
                </a:lnTo>
                <a:lnTo>
                  <a:pt x="111420" y="485456"/>
                </a:lnTo>
                <a:lnTo>
                  <a:pt x="158558" y="439024"/>
                </a:lnTo>
                <a:lnTo>
                  <a:pt x="213247" y="394216"/>
                </a:lnTo>
                <a:lnTo>
                  <a:pt x="275172" y="351157"/>
                </a:lnTo>
                <a:lnTo>
                  <a:pt x="308749" y="330323"/>
                </a:lnTo>
                <a:lnTo>
                  <a:pt x="344018" y="309972"/>
                </a:lnTo>
                <a:lnTo>
                  <a:pt x="380939" y="290121"/>
                </a:lnTo>
                <a:lnTo>
                  <a:pt x="419472" y="270786"/>
                </a:lnTo>
                <a:lnTo>
                  <a:pt x="459578" y="251981"/>
                </a:lnTo>
                <a:lnTo>
                  <a:pt x="501219" y="233723"/>
                </a:lnTo>
                <a:lnTo>
                  <a:pt x="544353" y="216027"/>
                </a:lnTo>
                <a:lnTo>
                  <a:pt x="588943" y="198908"/>
                </a:lnTo>
                <a:lnTo>
                  <a:pt x="634949" y="182382"/>
                </a:lnTo>
                <a:lnTo>
                  <a:pt x="682331" y="166466"/>
                </a:lnTo>
                <a:lnTo>
                  <a:pt x="731051" y="151174"/>
                </a:lnTo>
                <a:lnTo>
                  <a:pt x="781069" y="136521"/>
                </a:lnTo>
                <a:lnTo>
                  <a:pt x="832345" y="122525"/>
                </a:lnTo>
                <a:lnTo>
                  <a:pt x="884840" y="109199"/>
                </a:lnTo>
                <a:lnTo>
                  <a:pt x="938516" y="96561"/>
                </a:lnTo>
                <a:lnTo>
                  <a:pt x="993332" y="84625"/>
                </a:lnTo>
                <a:lnTo>
                  <a:pt x="1049250" y="73406"/>
                </a:lnTo>
                <a:lnTo>
                  <a:pt x="1106230" y="62922"/>
                </a:lnTo>
                <a:lnTo>
                  <a:pt x="1164232" y="53186"/>
                </a:lnTo>
                <a:lnTo>
                  <a:pt x="1223218" y="44215"/>
                </a:lnTo>
                <a:lnTo>
                  <a:pt x="1283148" y="36025"/>
                </a:lnTo>
                <a:lnTo>
                  <a:pt x="1343983" y="28630"/>
                </a:lnTo>
                <a:lnTo>
                  <a:pt x="1405684" y="22047"/>
                </a:lnTo>
                <a:lnTo>
                  <a:pt x="1468210" y="16291"/>
                </a:lnTo>
                <a:lnTo>
                  <a:pt x="1531524" y="11378"/>
                </a:lnTo>
                <a:lnTo>
                  <a:pt x="1595584" y="7324"/>
                </a:lnTo>
                <a:lnTo>
                  <a:pt x="1660354" y="4143"/>
                </a:lnTo>
                <a:lnTo>
                  <a:pt x="1725792" y="1851"/>
                </a:lnTo>
                <a:lnTo>
                  <a:pt x="1791859" y="465"/>
                </a:lnTo>
                <a:lnTo>
                  <a:pt x="1858518" y="0"/>
                </a:lnTo>
                <a:lnTo>
                  <a:pt x="1925176" y="465"/>
                </a:lnTo>
                <a:lnTo>
                  <a:pt x="1991243" y="1851"/>
                </a:lnTo>
                <a:lnTo>
                  <a:pt x="2056681" y="4143"/>
                </a:lnTo>
                <a:lnTo>
                  <a:pt x="2121451" y="7324"/>
                </a:lnTo>
                <a:lnTo>
                  <a:pt x="2185511" y="11378"/>
                </a:lnTo>
                <a:lnTo>
                  <a:pt x="2248825" y="16291"/>
                </a:lnTo>
                <a:lnTo>
                  <a:pt x="2311351" y="22047"/>
                </a:lnTo>
                <a:lnTo>
                  <a:pt x="2373052" y="28630"/>
                </a:lnTo>
                <a:lnTo>
                  <a:pt x="2433887" y="36025"/>
                </a:lnTo>
                <a:lnTo>
                  <a:pt x="2493817" y="44215"/>
                </a:lnTo>
                <a:lnTo>
                  <a:pt x="2552803" y="53186"/>
                </a:lnTo>
                <a:lnTo>
                  <a:pt x="2610805" y="62922"/>
                </a:lnTo>
                <a:lnTo>
                  <a:pt x="2667785" y="73406"/>
                </a:lnTo>
                <a:lnTo>
                  <a:pt x="2723703" y="84625"/>
                </a:lnTo>
                <a:lnTo>
                  <a:pt x="2778519" y="96561"/>
                </a:lnTo>
                <a:lnTo>
                  <a:pt x="2832195" y="109199"/>
                </a:lnTo>
                <a:lnTo>
                  <a:pt x="2884690" y="122525"/>
                </a:lnTo>
                <a:lnTo>
                  <a:pt x="2935966" y="136521"/>
                </a:lnTo>
                <a:lnTo>
                  <a:pt x="2985984" y="151174"/>
                </a:lnTo>
                <a:lnTo>
                  <a:pt x="3034704" y="166466"/>
                </a:lnTo>
                <a:lnTo>
                  <a:pt x="3082086" y="182382"/>
                </a:lnTo>
                <a:lnTo>
                  <a:pt x="3128092" y="198908"/>
                </a:lnTo>
                <a:lnTo>
                  <a:pt x="3172682" y="216026"/>
                </a:lnTo>
                <a:lnTo>
                  <a:pt x="3215816" y="233723"/>
                </a:lnTo>
                <a:lnTo>
                  <a:pt x="3257457" y="251981"/>
                </a:lnTo>
                <a:lnTo>
                  <a:pt x="3297563" y="270786"/>
                </a:lnTo>
                <a:lnTo>
                  <a:pt x="3336096" y="290121"/>
                </a:lnTo>
                <a:lnTo>
                  <a:pt x="3373017" y="309972"/>
                </a:lnTo>
                <a:lnTo>
                  <a:pt x="3408286" y="330323"/>
                </a:lnTo>
                <a:lnTo>
                  <a:pt x="3441863" y="351157"/>
                </a:lnTo>
                <a:lnTo>
                  <a:pt x="3473711" y="372460"/>
                </a:lnTo>
                <a:lnTo>
                  <a:pt x="3532057" y="416409"/>
                </a:lnTo>
                <a:lnTo>
                  <a:pt x="3583009" y="462045"/>
                </a:lnTo>
                <a:lnTo>
                  <a:pt x="3626254" y="509242"/>
                </a:lnTo>
                <a:lnTo>
                  <a:pt x="3661476" y="557877"/>
                </a:lnTo>
                <a:lnTo>
                  <a:pt x="3688361" y="607824"/>
                </a:lnTo>
                <a:lnTo>
                  <a:pt x="3706595" y="658959"/>
                </a:lnTo>
                <a:lnTo>
                  <a:pt x="3715862" y="711157"/>
                </a:lnTo>
                <a:lnTo>
                  <a:pt x="3717036" y="737615"/>
                </a:lnTo>
                <a:lnTo>
                  <a:pt x="3715862" y="764074"/>
                </a:lnTo>
                <a:lnTo>
                  <a:pt x="3706595" y="816272"/>
                </a:lnTo>
                <a:lnTo>
                  <a:pt x="3688361" y="867407"/>
                </a:lnTo>
                <a:lnTo>
                  <a:pt x="3661476" y="917354"/>
                </a:lnTo>
                <a:lnTo>
                  <a:pt x="3626254" y="965989"/>
                </a:lnTo>
                <a:lnTo>
                  <a:pt x="3583009" y="1013186"/>
                </a:lnTo>
                <a:lnTo>
                  <a:pt x="3532057" y="1058822"/>
                </a:lnTo>
                <a:lnTo>
                  <a:pt x="3473711" y="1102771"/>
                </a:lnTo>
                <a:lnTo>
                  <a:pt x="3441863" y="1124074"/>
                </a:lnTo>
                <a:lnTo>
                  <a:pt x="3408286" y="1144908"/>
                </a:lnTo>
                <a:lnTo>
                  <a:pt x="3373017" y="1165259"/>
                </a:lnTo>
                <a:lnTo>
                  <a:pt x="3336096" y="1185110"/>
                </a:lnTo>
                <a:lnTo>
                  <a:pt x="3297563" y="1204445"/>
                </a:lnTo>
                <a:lnTo>
                  <a:pt x="3257457" y="1223250"/>
                </a:lnTo>
                <a:lnTo>
                  <a:pt x="3215816" y="1241508"/>
                </a:lnTo>
                <a:lnTo>
                  <a:pt x="3172682" y="1259204"/>
                </a:lnTo>
                <a:lnTo>
                  <a:pt x="3128092" y="1276323"/>
                </a:lnTo>
                <a:lnTo>
                  <a:pt x="3082086" y="1292849"/>
                </a:lnTo>
                <a:lnTo>
                  <a:pt x="3034704" y="1308765"/>
                </a:lnTo>
                <a:lnTo>
                  <a:pt x="2985984" y="1324057"/>
                </a:lnTo>
                <a:lnTo>
                  <a:pt x="2935966" y="1338710"/>
                </a:lnTo>
                <a:lnTo>
                  <a:pt x="2884690" y="1352706"/>
                </a:lnTo>
                <a:lnTo>
                  <a:pt x="2832195" y="1366032"/>
                </a:lnTo>
                <a:lnTo>
                  <a:pt x="2778519" y="1378670"/>
                </a:lnTo>
                <a:lnTo>
                  <a:pt x="2723703" y="1390606"/>
                </a:lnTo>
                <a:lnTo>
                  <a:pt x="2667785" y="1401825"/>
                </a:lnTo>
                <a:lnTo>
                  <a:pt x="2610805" y="1412309"/>
                </a:lnTo>
                <a:lnTo>
                  <a:pt x="2552803" y="1422045"/>
                </a:lnTo>
                <a:lnTo>
                  <a:pt x="2493817" y="1431016"/>
                </a:lnTo>
                <a:lnTo>
                  <a:pt x="2433887" y="1439206"/>
                </a:lnTo>
                <a:lnTo>
                  <a:pt x="2373052" y="1446601"/>
                </a:lnTo>
                <a:lnTo>
                  <a:pt x="2311351" y="1453184"/>
                </a:lnTo>
                <a:lnTo>
                  <a:pt x="2248825" y="1458940"/>
                </a:lnTo>
                <a:lnTo>
                  <a:pt x="2185511" y="1463853"/>
                </a:lnTo>
                <a:lnTo>
                  <a:pt x="2121451" y="1467907"/>
                </a:lnTo>
                <a:lnTo>
                  <a:pt x="2056681" y="1471088"/>
                </a:lnTo>
                <a:lnTo>
                  <a:pt x="1991243" y="1473380"/>
                </a:lnTo>
                <a:lnTo>
                  <a:pt x="1925176" y="1474766"/>
                </a:lnTo>
                <a:lnTo>
                  <a:pt x="1858518" y="1475231"/>
                </a:lnTo>
                <a:lnTo>
                  <a:pt x="1791859" y="1474766"/>
                </a:lnTo>
                <a:lnTo>
                  <a:pt x="1725792" y="1473380"/>
                </a:lnTo>
                <a:lnTo>
                  <a:pt x="1660354" y="1471088"/>
                </a:lnTo>
                <a:lnTo>
                  <a:pt x="1595584" y="1467907"/>
                </a:lnTo>
                <a:lnTo>
                  <a:pt x="1531524" y="1463853"/>
                </a:lnTo>
                <a:lnTo>
                  <a:pt x="1468210" y="1458940"/>
                </a:lnTo>
                <a:lnTo>
                  <a:pt x="1405684" y="1453184"/>
                </a:lnTo>
                <a:lnTo>
                  <a:pt x="1343983" y="1446601"/>
                </a:lnTo>
                <a:lnTo>
                  <a:pt x="1283148" y="1439206"/>
                </a:lnTo>
                <a:lnTo>
                  <a:pt x="1223218" y="1431016"/>
                </a:lnTo>
                <a:lnTo>
                  <a:pt x="1164232" y="1422045"/>
                </a:lnTo>
                <a:lnTo>
                  <a:pt x="1106230" y="1412309"/>
                </a:lnTo>
                <a:lnTo>
                  <a:pt x="1049250" y="1401825"/>
                </a:lnTo>
                <a:lnTo>
                  <a:pt x="993332" y="1390606"/>
                </a:lnTo>
                <a:lnTo>
                  <a:pt x="938516" y="1378670"/>
                </a:lnTo>
                <a:lnTo>
                  <a:pt x="884840" y="1366032"/>
                </a:lnTo>
                <a:lnTo>
                  <a:pt x="832345" y="1352706"/>
                </a:lnTo>
                <a:lnTo>
                  <a:pt x="781069" y="1338710"/>
                </a:lnTo>
                <a:lnTo>
                  <a:pt x="731051" y="1324057"/>
                </a:lnTo>
                <a:lnTo>
                  <a:pt x="682331" y="1308765"/>
                </a:lnTo>
                <a:lnTo>
                  <a:pt x="634949" y="1292849"/>
                </a:lnTo>
                <a:lnTo>
                  <a:pt x="588943" y="1276323"/>
                </a:lnTo>
                <a:lnTo>
                  <a:pt x="544353" y="1259204"/>
                </a:lnTo>
                <a:lnTo>
                  <a:pt x="501219" y="1241508"/>
                </a:lnTo>
                <a:lnTo>
                  <a:pt x="459578" y="1223250"/>
                </a:lnTo>
                <a:lnTo>
                  <a:pt x="419472" y="1204445"/>
                </a:lnTo>
                <a:lnTo>
                  <a:pt x="380939" y="1185110"/>
                </a:lnTo>
                <a:lnTo>
                  <a:pt x="344018" y="1165259"/>
                </a:lnTo>
                <a:lnTo>
                  <a:pt x="308749" y="1144908"/>
                </a:lnTo>
                <a:lnTo>
                  <a:pt x="275172" y="1124074"/>
                </a:lnTo>
                <a:lnTo>
                  <a:pt x="243324" y="1102771"/>
                </a:lnTo>
                <a:lnTo>
                  <a:pt x="184978" y="1058822"/>
                </a:lnTo>
                <a:lnTo>
                  <a:pt x="134026" y="1013186"/>
                </a:lnTo>
                <a:lnTo>
                  <a:pt x="90781" y="965989"/>
                </a:lnTo>
                <a:lnTo>
                  <a:pt x="55559" y="917354"/>
                </a:lnTo>
                <a:lnTo>
                  <a:pt x="28674" y="867407"/>
                </a:lnTo>
                <a:lnTo>
                  <a:pt x="10440" y="816272"/>
                </a:lnTo>
                <a:lnTo>
                  <a:pt x="1173" y="764074"/>
                </a:lnTo>
                <a:lnTo>
                  <a:pt x="0" y="737615"/>
                </a:lnTo>
                <a:close/>
              </a:path>
            </a:pathLst>
          </a:custGeom>
          <a:ln w="12192">
            <a:solidFill>
              <a:srgbClr val="7A212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" y="317753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目录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3546" y="3060954"/>
            <a:ext cx="302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A6A6A6"/>
                </a:solidFill>
                <a:latin typeface="Malgun Gothic Semilight"/>
                <a:cs typeface="Malgun Gothic Semilight"/>
              </a:rPr>
              <a:t>02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6307" y="3925315"/>
            <a:ext cx="3035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" b="0">
                <a:latin typeface="Malgun Gothic Semilight"/>
                <a:cs typeface="Malgun Gothic Semilight"/>
              </a:rPr>
              <a:t>03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801" y="4827777"/>
            <a:ext cx="308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0">
                <a:solidFill>
                  <a:srgbClr val="A6A6A6"/>
                </a:solidFill>
                <a:latin typeface="Malgun Gothic Semilight"/>
                <a:cs typeface="Malgun Gothic Semilight"/>
              </a:rPr>
              <a:t>04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3514" y="3094736"/>
            <a:ext cx="36042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整机进口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与散</a:t>
            </a:r>
            <a:r>
              <a:rPr dirty="0" sz="2000" spc="15" b="1">
                <a:solidFill>
                  <a:srgbClr val="A6A6A6"/>
                </a:solidFill>
                <a:latin typeface="明兰"/>
                <a:cs typeface="明兰"/>
              </a:rPr>
              <a:t>件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组装模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式之</a:t>
            </a:r>
            <a:r>
              <a:rPr dirty="0" sz="2000" spc="15" b="1">
                <a:solidFill>
                  <a:srgbClr val="A6A6A6"/>
                </a:solidFill>
                <a:latin typeface="明兰"/>
                <a:cs typeface="明兰"/>
              </a:rPr>
              <a:t>分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3514" y="3922267"/>
            <a:ext cx="3092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latin typeface="明兰"/>
                <a:cs typeface="明兰"/>
              </a:rPr>
              <a:t>代工模式</a:t>
            </a:r>
            <a:r>
              <a:rPr dirty="0" sz="2000" b="1">
                <a:latin typeface="明兰"/>
                <a:cs typeface="明兰"/>
              </a:rPr>
              <a:t>与自</a:t>
            </a:r>
            <a:r>
              <a:rPr dirty="0" sz="2000" spc="10" b="1">
                <a:latin typeface="明兰"/>
                <a:cs typeface="明兰"/>
              </a:rPr>
              <a:t>建厂</a:t>
            </a:r>
            <a:r>
              <a:rPr dirty="0" sz="2000" spc="25" b="1">
                <a:latin typeface="明兰"/>
                <a:cs typeface="明兰"/>
              </a:rPr>
              <a:t>商</a:t>
            </a:r>
            <a:r>
              <a:rPr dirty="0" sz="2000" spc="10" b="1">
                <a:latin typeface="明兰"/>
                <a:cs typeface="明兰"/>
              </a:rPr>
              <a:t>之</a:t>
            </a:r>
            <a:r>
              <a:rPr dirty="0" sz="2000" b="1">
                <a:latin typeface="明兰"/>
                <a:cs typeface="明兰"/>
              </a:rPr>
              <a:t>优劣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3071" y="2232787"/>
            <a:ext cx="38423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3865" algn="l"/>
                <a:tab pos="762635" algn="l"/>
              </a:tabLst>
            </a:pPr>
            <a:r>
              <a:rPr dirty="0" sz="2000" spc="5" b="0">
                <a:solidFill>
                  <a:srgbClr val="A6A6A6"/>
                </a:solidFill>
                <a:latin typeface="Malgun Gothic Semilight"/>
                <a:cs typeface="Malgun Gothic Semilight"/>
              </a:rPr>
              <a:t>01	</a:t>
            </a:r>
            <a:r>
              <a:rPr dirty="0" baseline="2777" sz="3000" spc="540" b="1">
                <a:solidFill>
                  <a:srgbClr val="A6A6A6"/>
                </a:solidFill>
                <a:latin typeface="明兰"/>
                <a:cs typeface="明兰"/>
              </a:rPr>
              <a:t>-	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阿根廷智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能手</a:t>
            </a:r>
            <a:r>
              <a:rPr dirty="0" sz="2000" spc="20" b="1">
                <a:solidFill>
                  <a:srgbClr val="A6A6A6"/>
                </a:solidFill>
                <a:latin typeface="明兰"/>
                <a:cs typeface="明兰"/>
              </a:rPr>
              <a:t>机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市场之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初探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4363" y="305600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303" y="3955744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303" y="4820539"/>
            <a:ext cx="2863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	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建模分析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代工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厂之抉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择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6635" y="1071503"/>
            <a:ext cx="1711325" cy="55880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035"/>
              </a:lnSpc>
            </a:pPr>
            <a:r>
              <a:rPr dirty="0" sz="11500" spc="-10">
                <a:solidFill>
                  <a:srgbClr val="660000"/>
                </a:solidFill>
                <a:latin typeface="Calisto MT"/>
                <a:cs typeface="Calisto MT"/>
              </a:rPr>
              <a:t>Contents</a:t>
            </a:r>
            <a:endParaRPr sz="115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4210" y="569213"/>
            <a:ext cx="0" cy="5977255"/>
          </a:xfrm>
          <a:custGeom>
            <a:avLst/>
            <a:gdLst/>
            <a:ahLst/>
            <a:cxnLst/>
            <a:rect l="l" t="t" r="r" b="b"/>
            <a:pathLst>
              <a:path w="0" h="5977255">
                <a:moveTo>
                  <a:pt x="0" y="0"/>
                </a:moveTo>
                <a:lnTo>
                  <a:pt x="0" y="5976658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5792" y="6387084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 h="0">
                <a:moveTo>
                  <a:pt x="0" y="0"/>
                </a:moveTo>
                <a:lnTo>
                  <a:pt x="5832729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15792" y="6757925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 h="0">
                <a:moveTo>
                  <a:pt x="0" y="0"/>
                </a:moveTo>
                <a:lnTo>
                  <a:pt x="5832729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95041" y="6418579"/>
            <a:ext cx="11963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 b="1">
                <a:latin typeface="明兰"/>
                <a:cs typeface="明兰"/>
              </a:rPr>
              <a:t>图</a:t>
            </a:r>
            <a:r>
              <a:rPr dirty="0" sz="1400" b="1">
                <a:latin typeface="明兰"/>
                <a:cs typeface="明兰"/>
              </a:rPr>
              <a:t>例</a:t>
            </a:r>
            <a:r>
              <a:rPr dirty="0" sz="1400" spc="140" b="1">
                <a:latin typeface="明兰"/>
                <a:cs typeface="明兰"/>
              </a:rPr>
              <a:t> </a:t>
            </a:r>
            <a:r>
              <a:rPr dirty="0" sz="1400" spc="10" b="1">
                <a:latin typeface="明兰"/>
                <a:cs typeface="明兰"/>
              </a:rPr>
              <a:t>优</a:t>
            </a:r>
            <a:r>
              <a:rPr dirty="0" sz="1400" b="1">
                <a:latin typeface="明兰"/>
                <a:cs typeface="明兰"/>
              </a:rPr>
              <a:t>势效应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3241" y="6418579"/>
            <a:ext cx="7416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0" b="1">
                <a:latin typeface="明兰"/>
                <a:cs typeface="明兰"/>
              </a:rPr>
              <a:t>劣</a:t>
            </a:r>
            <a:r>
              <a:rPr dirty="0" sz="1400" b="1">
                <a:latin typeface="明兰"/>
                <a:cs typeface="明兰"/>
              </a:rPr>
              <a:t>势效应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5970" y="6418579"/>
            <a:ext cx="9207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 b="1">
                <a:latin typeface="明兰"/>
                <a:cs typeface="明兰"/>
              </a:rPr>
              <a:t>无此</a:t>
            </a:r>
            <a:r>
              <a:rPr dirty="0" sz="1400" b="1">
                <a:latin typeface="明兰"/>
                <a:cs typeface="明兰"/>
              </a:rPr>
              <a:t>项指标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38492" y="6418579"/>
            <a:ext cx="12738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 b="1">
                <a:latin typeface="明兰"/>
                <a:cs typeface="明兰"/>
              </a:rPr>
              <a:t>受</a:t>
            </a:r>
            <a:r>
              <a:rPr dirty="0" sz="1400" b="1">
                <a:latin typeface="明兰"/>
                <a:cs typeface="明兰"/>
              </a:rPr>
              <a:t>经济环境</a:t>
            </a:r>
            <a:r>
              <a:rPr dirty="0" sz="1400" spc="-15" b="1">
                <a:latin typeface="明兰"/>
                <a:cs typeface="明兰"/>
              </a:rPr>
              <a:t>影</a:t>
            </a:r>
            <a:r>
              <a:rPr dirty="0" sz="1400" b="1">
                <a:latin typeface="明兰"/>
                <a:cs typeface="明兰"/>
              </a:rPr>
              <a:t>响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8739" y="278383"/>
            <a:ext cx="436753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代工模式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与全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资自建工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厂模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式优劣比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较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84541" y="1243583"/>
            <a:ext cx="1046480" cy="457200"/>
          </a:xfrm>
          <a:custGeom>
            <a:avLst/>
            <a:gdLst/>
            <a:ahLst/>
            <a:cxnLst/>
            <a:rect l="l" t="t" r="r" b="b"/>
            <a:pathLst>
              <a:path w="1046479" h="457200">
                <a:moveTo>
                  <a:pt x="0" y="457200"/>
                </a:moveTo>
                <a:lnTo>
                  <a:pt x="1046479" y="457200"/>
                </a:lnTo>
                <a:lnTo>
                  <a:pt x="1046479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38060" y="2071623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84541" y="2071623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38060" y="2813304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84541" y="2813304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38060" y="3641344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38060" y="4383023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84541" y="4383023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38060" y="5124703"/>
            <a:ext cx="1046480" cy="457200"/>
          </a:xfrm>
          <a:custGeom>
            <a:avLst/>
            <a:gdLst/>
            <a:ahLst/>
            <a:cxnLst/>
            <a:rect l="l" t="t" r="r" b="b"/>
            <a:pathLst>
              <a:path w="1046479" h="457200">
                <a:moveTo>
                  <a:pt x="0" y="457200"/>
                </a:moveTo>
                <a:lnTo>
                  <a:pt x="1046479" y="457200"/>
                </a:lnTo>
                <a:lnTo>
                  <a:pt x="1046479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84541" y="5124703"/>
            <a:ext cx="1046480" cy="457200"/>
          </a:xfrm>
          <a:custGeom>
            <a:avLst/>
            <a:gdLst/>
            <a:ahLst/>
            <a:cxnLst/>
            <a:rect l="l" t="t" r="r" b="b"/>
            <a:pathLst>
              <a:path w="1046479" h="457200">
                <a:moveTo>
                  <a:pt x="0" y="457200"/>
                </a:moveTo>
                <a:lnTo>
                  <a:pt x="1046479" y="457200"/>
                </a:lnTo>
                <a:lnTo>
                  <a:pt x="1046479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38060" y="5952718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84541" y="5952718"/>
            <a:ext cx="1046480" cy="370840"/>
          </a:xfrm>
          <a:custGeom>
            <a:avLst/>
            <a:gdLst/>
            <a:ahLst/>
            <a:cxnLst/>
            <a:rect l="l" t="t" r="r" b="b"/>
            <a:pathLst>
              <a:path w="1046479" h="370839">
                <a:moveTo>
                  <a:pt x="0" y="370839"/>
                </a:moveTo>
                <a:lnTo>
                  <a:pt x="1046479" y="370839"/>
                </a:lnTo>
                <a:lnTo>
                  <a:pt x="1046479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A4A4A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66319" y="866394"/>
          <a:ext cx="8764905" cy="5463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9020"/>
                <a:gridCol w="1388109"/>
                <a:gridCol w="3452495"/>
                <a:gridCol w="1829434"/>
                <a:gridCol w="1045845"/>
              </a:tblGrid>
              <a:tr h="370839"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20" b="1">
                          <a:latin typeface="明兰"/>
                          <a:cs typeface="明兰"/>
                        </a:rPr>
                        <a:t>对</a:t>
                      </a:r>
                      <a:r>
                        <a:rPr dirty="0" sz="1600" spc="10" b="1">
                          <a:latin typeface="明兰"/>
                          <a:cs typeface="明兰"/>
                        </a:rPr>
                        <a:t>比维</a:t>
                      </a:r>
                      <a:r>
                        <a:rPr dirty="0" sz="1600" b="1">
                          <a:latin typeface="明兰"/>
                          <a:cs typeface="明兰"/>
                        </a:rPr>
                        <a:t>度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41910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对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比指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标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41910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86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指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标含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义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41910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20" b="1">
                          <a:latin typeface="明兰"/>
                          <a:cs typeface="明兰"/>
                        </a:rPr>
                        <a:t>代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工模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式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41910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全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资自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建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41910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资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金因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素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3810">
                    <a:lnT w="1270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资金投入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111125">
                    <a:lnT w="1270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3035" marR="1158240">
                        <a:lnSpc>
                          <a:spcPts val="1380"/>
                        </a:lnSpc>
                        <a:spcBef>
                          <a:spcPts val="49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指华为在自建工厂模式下需要前期投入资金成立阿根廷法人 主体并租赁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购买土地、投资建设生产线、雇佣工人等投入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2230">
                    <a:lnT w="1270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T w="1270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资金回收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6858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指华为投资自建工厂模式下的投资回收期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25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生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产因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素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生产规模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指生产量达到一定规模后的规模效应优势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8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产品质量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指对于产品生产过程中产品质量的控制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产能灵活性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指需求扩张和需求不足时，产能伸缩变动的灵活性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19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议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价因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素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销售账期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53035" marR="1158240">
                        <a:lnSpc>
                          <a:spcPts val="1380"/>
                        </a:lnSpc>
                        <a:spcBef>
                          <a:spcPts val="49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指是否有阿根廷法人存在对于收账能力（散件销售、整机销 售）的影响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8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 spc="-5">
                          <a:latin typeface="宋体"/>
                          <a:cs typeface="宋体"/>
                        </a:rPr>
                        <a:t>定价能力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指华为面向代工模式下代工厂商的议价能力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20" b="1">
                          <a:latin typeface="明兰"/>
                          <a:cs typeface="明兰"/>
                        </a:rPr>
                        <a:t>资</a:t>
                      </a:r>
                      <a:r>
                        <a:rPr dirty="0" sz="1600" spc="10" b="1">
                          <a:latin typeface="明兰"/>
                          <a:cs typeface="明兰"/>
                        </a:rPr>
                        <a:t>源因</a:t>
                      </a:r>
                      <a:r>
                        <a:rPr dirty="0" sz="1600" b="1">
                          <a:latin typeface="明兰"/>
                          <a:cs typeface="明兰"/>
                        </a:rPr>
                        <a:t>素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6096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 spc="-5">
                          <a:latin typeface="宋体"/>
                          <a:cs typeface="宋体"/>
                        </a:rPr>
                        <a:t>本地化资源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指面向终端代理商、渠道商的资源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政</a:t>
                      </a:r>
                      <a:r>
                        <a:rPr dirty="0" sz="1600" spc="5" b="1">
                          <a:latin typeface="明兰"/>
                          <a:cs typeface="明兰"/>
                        </a:rPr>
                        <a:t>策因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素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拆机方案资源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指将机拆分散件进口的审批资质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8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进口配额资源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指散件进口的配额资源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572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外汇兑换资源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3035" marR="1158240">
                        <a:lnSpc>
                          <a:spcPts val="1380"/>
                        </a:lnSpc>
                        <a:spcBef>
                          <a:spcPts val="50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指将比索利润转化为外汇汇出的资源，包含在期实行汇率和 汇兑配额商的资源优势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350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1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15" b="1">
                          <a:latin typeface="明兰"/>
                          <a:cs typeface="明兰"/>
                        </a:rPr>
                        <a:t>杠</a:t>
                      </a:r>
                      <a:r>
                        <a:rPr dirty="0" sz="1600" b="1">
                          <a:latin typeface="明兰"/>
                          <a:cs typeface="明兰"/>
                        </a:rPr>
                        <a:t>杆因</a:t>
                      </a:r>
                      <a:r>
                        <a:rPr dirty="0" sz="1600" spc="-5" b="1">
                          <a:latin typeface="明兰"/>
                          <a:cs typeface="明兰"/>
                        </a:rPr>
                        <a:t>素</a:t>
                      </a:r>
                      <a:endParaRPr sz="1600">
                        <a:latin typeface="明兰"/>
                        <a:cs typeface="明兰"/>
                      </a:endParaRPr>
                    </a:p>
                  </a:txBody>
                  <a:tcPr marL="0" marR="0" marB="0" marT="508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经营杠杆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指固定成本的存在使得息税前利润变动率大于产销量变动率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83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500">
                          <a:latin typeface="宋体"/>
                          <a:cs typeface="宋体"/>
                        </a:rPr>
                        <a:t>财务杠杆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指负债的存在使得每股利润的变动率大于息税前利润变动率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8455152" y="1362455"/>
            <a:ext cx="240792" cy="202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53656" y="2151888"/>
            <a:ext cx="245364" cy="2042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455152" y="2150364"/>
            <a:ext cx="240792" cy="2026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455152" y="2526792"/>
            <a:ext cx="245364" cy="2026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53656" y="2528316"/>
            <a:ext cx="240792" cy="204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455152" y="2913888"/>
            <a:ext cx="240792" cy="204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53656" y="2904744"/>
            <a:ext cx="245364" cy="202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455152" y="3326891"/>
            <a:ext cx="240792" cy="202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53656" y="3326891"/>
            <a:ext cx="240792" cy="202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53656" y="3738371"/>
            <a:ext cx="240792" cy="204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455152" y="3793235"/>
            <a:ext cx="241300" cy="91440"/>
          </a:xfrm>
          <a:custGeom>
            <a:avLst/>
            <a:gdLst/>
            <a:ahLst/>
            <a:cxnLst/>
            <a:rect l="l" t="t" r="r" b="b"/>
            <a:pathLst>
              <a:path w="241300" h="91439">
                <a:moveTo>
                  <a:pt x="0" y="91439"/>
                </a:moveTo>
                <a:lnTo>
                  <a:pt x="240792" y="91439"/>
                </a:lnTo>
                <a:lnTo>
                  <a:pt x="240792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153656" y="4056888"/>
            <a:ext cx="245364" cy="204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455152" y="4085844"/>
            <a:ext cx="240792" cy="204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53656" y="4450079"/>
            <a:ext cx="245364" cy="2042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149083" y="4828032"/>
            <a:ext cx="245364" cy="2026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162800" y="5233415"/>
            <a:ext cx="245364" cy="2026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455152" y="4491228"/>
            <a:ext cx="240792" cy="202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455152" y="4875276"/>
            <a:ext cx="240792" cy="202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455152" y="5265420"/>
            <a:ext cx="240792" cy="202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247388" y="6466332"/>
            <a:ext cx="243839" cy="2026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61432" y="6502907"/>
            <a:ext cx="240791" cy="2026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04659" y="6505956"/>
            <a:ext cx="239395" cy="91440"/>
          </a:xfrm>
          <a:custGeom>
            <a:avLst/>
            <a:gdLst/>
            <a:ahLst/>
            <a:cxnLst/>
            <a:rect l="l" t="t" r="r" b="b"/>
            <a:pathLst>
              <a:path w="239395" h="91440">
                <a:moveTo>
                  <a:pt x="0" y="91440"/>
                </a:moveTo>
                <a:lnTo>
                  <a:pt x="239268" y="91440"/>
                </a:lnTo>
                <a:lnTo>
                  <a:pt x="239268" y="0"/>
                </a:ln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78040" y="5643371"/>
            <a:ext cx="230124" cy="2438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461247" y="5643371"/>
            <a:ext cx="230124" cy="2438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78040" y="5990844"/>
            <a:ext cx="230124" cy="2438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461247" y="5990844"/>
            <a:ext cx="230124" cy="2438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517635" y="6417564"/>
            <a:ext cx="230124" cy="2438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62800" y="1822704"/>
            <a:ext cx="241300" cy="91440"/>
          </a:xfrm>
          <a:custGeom>
            <a:avLst/>
            <a:gdLst/>
            <a:ahLst/>
            <a:cxnLst/>
            <a:rect l="l" t="t" r="r" b="b"/>
            <a:pathLst>
              <a:path w="241300" h="91439">
                <a:moveTo>
                  <a:pt x="0" y="91439"/>
                </a:moveTo>
                <a:lnTo>
                  <a:pt x="240792" y="91439"/>
                </a:lnTo>
                <a:lnTo>
                  <a:pt x="240792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49083" y="1391411"/>
            <a:ext cx="239395" cy="91440"/>
          </a:xfrm>
          <a:custGeom>
            <a:avLst/>
            <a:gdLst/>
            <a:ahLst/>
            <a:cxnLst/>
            <a:rect l="l" t="t" r="r" b="b"/>
            <a:pathLst>
              <a:path w="239395" h="91440">
                <a:moveTo>
                  <a:pt x="0" y="91439"/>
                </a:moveTo>
                <a:lnTo>
                  <a:pt x="239268" y="91439"/>
                </a:lnTo>
                <a:lnTo>
                  <a:pt x="239268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450580" y="1778507"/>
            <a:ext cx="240792" cy="204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0727" y="1626107"/>
            <a:ext cx="7477125" cy="1714500"/>
          </a:xfrm>
          <a:custGeom>
            <a:avLst/>
            <a:gdLst/>
            <a:ahLst/>
            <a:cxnLst/>
            <a:rect l="l" t="t" r="r" b="b"/>
            <a:pathLst>
              <a:path w="7477125" h="1714500">
                <a:moveTo>
                  <a:pt x="0" y="285750"/>
                </a:moveTo>
                <a:lnTo>
                  <a:pt x="3740" y="239388"/>
                </a:lnTo>
                <a:lnTo>
                  <a:pt x="14568" y="195413"/>
                </a:lnTo>
                <a:lnTo>
                  <a:pt x="31896" y="154411"/>
                </a:lnTo>
                <a:lnTo>
                  <a:pt x="55135" y="116970"/>
                </a:lnTo>
                <a:lnTo>
                  <a:pt x="83697" y="83677"/>
                </a:lnTo>
                <a:lnTo>
                  <a:pt x="116994" y="55120"/>
                </a:lnTo>
                <a:lnTo>
                  <a:pt x="154438" y="31886"/>
                </a:lnTo>
                <a:lnTo>
                  <a:pt x="195439" y="14563"/>
                </a:lnTo>
                <a:lnTo>
                  <a:pt x="239410" y="3738"/>
                </a:lnTo>
                <a:lnTo>
                  <a:pt x="285762" y="0"/>
                </a:lnTo>
                <a:lnTo>
                  <a:pt x="7190994" y="0"/>
                </a:lnTo>
                <a:lnTo>
                  <a:pt x="7237355" y="3738"/>
                </a:lnTo>
                <a:lnTo>
                  <a:pt x="7281330" y="14563"/>
                </a:lnTo>
                <a:lnTo>
                  <a:pt x="7322332" y="31886"/>
                </a:lnTo>
                <a:lnTo>
                  <a:pt x="7359773" y="55120"/>
                </a:lnTo>
                <a:lnTo>
                  <a:pt x="7393066" y="83677"/>
                </a:lnTo>
                <a:lnTo>
                  <a:pt x="7421623" y="116970"/>
                </a:lnTo>
                <a:lnTo>
                  <a:pt x="7444857" y="154411"/>
                </a:lnTo>
                <a:lnTo>
                  <a:pt x="7462180" y="195413"/>
                </a:lnTo>
                <a:lnTo>
                  <a:pt x="7473005" y="239388"/>
                </a:lnTo>
                <a:lnTo>
                  <a:pt x="7476744" y="285750"/>
                </a:lnTo>
                <a:lnTo>
                  <a:pt x="7476744" y="1428750"/>
                </a:lnTo>
                <a:lnTo>
                  <a:pt x="7473005" y="1475111"/>
                </a:lnTo>
                <a:lnTo>
                  <a:pt x="7462180" y="1519086"/>
                </a:lnTo>
                <a:lnTo>
                  <a:pt x="7444857" y="1560088"/>
                </a:lnTo>
                <a:lnTo>
                  <a:pt x="7421623" y="1597529"/>
                </a:lnTo>
                <a:lnTo>
                  <a:pt x="7393066" y="1630822"/>
                </a:lnTo>
                <a:lnTo>
                  <a:pt x="7359773" y="1659379"/>
                </a:lnTo>
                <a:lnTo>
                  <a:pt x="7322332" y="1682613"/>
                </a:lnTo>
                <a:lnTo>
                  <a:pt x="7281330" y="1699936"/>
                </a:lnTo>
                <a:lnTo>
                  <a:pt x="7237355" y="1710761"/>
                </a:lnTo>
                <a:lnTo>
                  <a:pt x="7190994" y="1714500"/>
                </a:lnTo>
                <a:lnTo>
                  <a:pt x="285762" y="1714500"/>
                </a:lnTo>
                <a:lnTo>
                  <a:pt x="239410" y="1710761"/>
                </a:lnTo>
                <a:lnTo>
                  <a:pt x="195439" y="1699936"/>
                </a:lnTo>
                <a:lnTo>
                  <a:pt x="154438" y="1682613"/>
                </a:lnTo>
                <a:lnTo>
                  <a:pt x="116994" y="1659379"/>
                </a:lnTo>
                <a:lnTo>
                  <a:pt x="83697" y="1630822"/>
                </a:lnTo>
                <a:lnTo>
                  <a:pt x="55135" y="1597529"/>
                </a:lnTo>
                <a:lnTo>
                  <a:pt x="31896" y="1560088"/>
                </a:lnTo>
                <a:lnTo>
                  <a:pt x="14568" y="1519086"/>
                </a:lnTo>
                <a:lnTo>
                  <a:pt x="3740" y="1475111"/>
                </a:lnTo>
                <a:lnTo>
                  <a:pt x="0" y="1428750"/>
                </a:lnTo>
                <a:lnTo>
                  <a:pt x="0" y="285750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6292" y="1801550"/>
            <a:ext cx="6990080" cy="1451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89"/>
              </a:lnSpc>
            </a:pPr>
            <a:r>
              <a:rPr dirty="0" sz="1600" spc="15" b="1">
                <a:latin typeface="明兰"/>
                <a:cs typeface="明兰"/>
              </a:rPr>
              <a:t>代</a:t>
            </a:r>
            <a:r>
              <a:rPr dirty="0" sz="1600" spc="5" b="1">
                <a:latin typeface="明兰"/>
                <a:cs typeface="明兰"/>
              </a:rPr>
              <a:t>工模</a:t>
            </a:r>
            <a:r>
              <a:rPr dirty="0" sz="1600" spc="15" b="1">
                <a:latin typeface="明兰"/>
                <a:cs typeface="明兰"/>
              </a:rPr>
              <a:t>式</a:t>
            </a:r>
            <a:r>
              <a:rPr dirty="0" sz="1600" spc="5" b="1">
                <a:latin typeface="明兰"/>
                <a:cs typeface="明兰"/>
              </a:rPr>
              <a:t>下</a:t>
            </a:r>
            <a:r>
              <a:rPr dirty="0" sz="1600" spc="15" b="1">
                <a:latin typeface="明兰"/>
                <a:cs typeface="明兰"/>
              </a:rPr>
              <a:t>，</a:t>
            </a:r>
            <a:r>
              <a:rPr dirty="0" sz="1600" spc="5" b="1">
                <a:latin typeface="明兰"/>
                <a:cs typeface="明兰"/>
              </a:rPr>
              <a:t>华</a:t>
            </a:r>
            <a:r>
              <a:rPr dirty="0" sz="1600" spc="15" b="1">
                <a:latin typeface="明兰"/>
                <a:cs typeface="明兰"/>
              </a:rPr>
              <a:t>为</a:t>
            </a:r>
            <a:r>
              <a:rPr dirty="0" sz="1600" spc="5" b="1">
                <a:latin typeface="明兰"/>
                <a:cs typeface="明兰"/>
              </a:rPr>
              <a:t>对于</a:t>
            </a:r>
            <a:r>
              <a:rPr dirty="0" sz="1600" spc="15" b="1">
                <a:latin typeface="明兰"/>
                <a:cs typeface="明兰"/>
              </a:rPr>
              <a:t>产</a:t>
            </a:r>
            <a:r>
              <a:rPr dirty="0" sz="1600" spc="5" b="1">
                <a:latin typeface="明兰"/>
                <a:cs typeface="明兰"/>
              </a:rPr>
              <a:t>品</a:t>
            </a:r>
            <a:r>
              <a:rPr dirty="0" sz="1600" spc="15" b="1">
                <a:latin typeface="明兰"/>
                <a:cs typeface="明兰"/>
              </a:rPr>
              <a:t>质</a:t>
            </a:r>
            <a:r>
              <a:rPr dirty="0" sz="1600" spc="5" b="1">
                <a:latin typeface="明兰"/>
                <a:cs typeface="明兰"/>
              </a:rPr>
              <a:t>量</a:t>
            </a:r>
            <a:r>
              <a:rPr dirty="0" sz="1600" spc="15" b="1">
                <a:latin typeface="明兰"/>
                <a:cs typeface="明兰"/>
              </a:rPr>
              <a:t>可</a:t>
            </a:r>
            <a:r>
              <a:rPr dirty="0" sz="1600" spc="5" b="1">
                <a:latin typeface="明兰"/>
                <a:cs typeface="明兰"/>
              </a:rPr>
              <a:t>控性</a:t>
            </a:r>
            <a:r>
              <a:rPr dirty="0" sz="1600" spc="15" b="1">
                <a:latin typeface="明兰"/>
                <a:cs typeface="明兰"/>
              </a:rPr>
              <a:t>较</a:t>
            </a:r>
            <a:r>
              <a:rPr dirty="0" sz="1600" spc="-5" b="1">
                <a:latin typeface="明兰"/>
                <a:cs typeface="明兰"/>
              </a:rPr>
              <a:t>弱</a:t>
            </a:r>
            <a:endParaRPr sz="1600">
              <a:latin typeface="明兰"/>
              <a:cs typeface="明兰"/>
            </a:endParaRPr>
          </a:p>
          <a:p>
            <a:pPr algn="just" marL="286385" indent="-287020">
              <a:lnSpc>
                <a:spcPct val="98100"/>
              </a:lnSpc>
              <a:spcBef>
                <a:spcPts val="335"/>
              </a:spcBef>
            </a:pPr>
            <a:r>
              <a:rPr dirty="0" sz="1600" spc="-5">
                <a:latin typeface="Arial"/>
                <a:cs typeface="Arial"/>
              </a:rPr>
              <a:t>•</a:t>
            </a:r>
            <a:r>
              <a:rPr dirty="0" sz="1600" spc="305">
                <a:latin typeface="Arial"/>
                <a:cs typeface="Arial"/>
              </a:rPr>
              <a:t> </a:t>
            </a:r>
            <a:r>
              <a:rPr dirty="0" sz="1600" spc="5">
                <a:latin typeface="宋体"/>
                <a:cs typeface="宋体"/>
              </a:rPr>
              <a:t>委</a:t>
            </a:r>
            <a:r>
              <a:rPr dirty="0" sz="1600" spc="-5">
                <a:latin typeface="宋体"/>
                <a:cs typeface="宋体"/>
              </a:rPr>
              <a:t>托代</a:t>
            </a:r>
            <a:r>
              <a:rPr dirty="0" sz="1600" spc="5">
                <a:latin typeface="宋体"/>
                <a:cs typeface="宋体"/>
              </a:rPr>
              <a:t>工</a:t>
            </a:r>
            <a:r>
              <a:rPr dirty="0" sz="1600" spc="-5">
                <a:latin typeface="宋体"/>
                <a:cs typeface="宋体"/>
              </a:rPr>
              <a:t>厂进行</a:t>
            </a:r>
            <a:r>
              <a:rPr dirty="0" sz="1600" spc="5">
                <a:latin typeface="宋体"/>
                <a:cs typeface="宋体"/>
              </a:rPr>
              <a:t>生</a:t>
            </a:r>
            <a:r>
              <a:rPr dirty="0" sz="1600" spc="-5">
                <a:latin typeface="宋体"/>
                <a:cs typeface="宋体"/>
              </a:rPr>
              <a:t>产，</a:t>
            </a:r>
            <a:r>
              <a:rPr dirty="0" sz="1600" spc="5">
                <a:latin typeface="宋体"/>
                <a:cs typeface="宋体"/>
              </a:rPr>
              <a:t>尽</a:t>
            </a:r>
            <a:r>
              <a:rPr dirty="0" sz="1600" spc="-5">
                <a:latin typeface="宋体"/>
                <a:cs typeface="宋体"/>
              </a:rPr>
              <a:t>管华为</a:t>
            </a:r>
            <a:r>
              <a:rPr dirty="0" sz="1600" spc="5">
                <a:latin typeface="宋体"/>
                <a:cs typeface="宋体"/>
              </a:rPr>
              <a:t>会</a:t>
            </a:r>
            <a:r>
              <a:rPr dirty="0" sz="1600" spc="-5">
                <a:latin typeface="宋体"/>
                <a:cs typeface="宋体"/>
              </a:rPr>
              <a:t>介入</a:t>
            </a:r>
            <a:r>
              <a:rPr dirty="0" sz="1600" spc="5">
                <a:latin typeface="宋体"/>
                <a:cs typeface="宋体"/>
              </a:rPr>
              <a:t>生</a:t>
            </a:r>
            <a:r>
              <a:rPr dirty="0" sz="1600" spc="-5">
                <a:latin typeface="宋体"/>
                <a:cs typeface="宋体"/>
              </a:rPr>
              <a:t>产质量</a:t>
            </a:r>
            <a:r>
              <a:rPr dirty="0" sz="1600" spc="5">
                <a:latin typeface="宋体"/>
                <a:cs typeface="宋体"/>
              </a:rPr>
              <a:t>、</a:t>
            </a:r>
            <a:r>
              <a:rPr dirty="0" sz="1600" spc="-5">
                <a:latin typeface="宋体"/>
                <a:cs typeface="宋体"/>
              </a:rPr>
              <a:t>品牌</a:t>
            </a:r>
            <a:r>
              <a:rPr dirty="0" sz="1600" spc="5">
                <a:latin typeface="宋体"/>
                <a:cs typeface="宋体"/>
              </a:rPr>
              <a:t>管</a:t>
            </a:r>
            <a:r>
              <a:rPr dirty="0" sz="1600" spc="-5">
                <a:latin typeface="宋体"/>
                <a:cs typeface="宋体"/>
              </a:rPr>
              <a:t>理等环</a:t>
            </a:r>
            <a:r>
              <a:rPr dirty="0" sz="1600" spc="5">
                <a:latin typeface="宋体"/>
                <a:cs typeface="宋体"/>
              </a:rPr>
              <a:t>节</a:t>
            </a:r>
            <a:r>
              <a:rPr dirty="0" sz="1600" spc="-5">
                <a:latin typeface="宋体"/>
                <a:cs typeface="宋体"/>
              </a:rPr>
              <a:t>，但</a:t>
            </a:r>
            <a:r>
              <a:rPr dirty="0" sz="1600" spc="5">
                <a:latin typeface="宋体"/>
                <a:cs typeface="宋体"/>
              </a:rPr>
              <a:t>是</a:t>
            </a:r>
            <a:r>
              <a:rPr dirty="0" sz="1600" spc="-5">
                <a:latin typeface="宋体"/>
                <a:cs typeface="宋体"/>
              </a:rPr>
              <a:t>相 </a:t>
            </a:r>
            <a:r>
              <a:rPr dirty="0" sz="1600" spc="5">
                <a:latin typeface="宋体"/>
                <a:cs typeface="宋体"/>
              </a:rPr>
              <a:t>对</a:t>
            </a:r>
            <a:r>
              <a:rPr dirty="0" sz="1600" spc="-5">
                <a:latin typeface="宋体"/>
                <a:cs typeface="宋体"/>
              </a:rPr>
              <a:t>于建</a:t>
            </a:r>
            <a:r>
              <a:rPr dirty="0" sz="1600" spc="5">
                <a:latin typeface="宋体"/>
                <a:cs typeface="宋体"/>
              </a:rPr>
              <a:t>厂</a:t>
            </a:r>
            <a:r>
              <a:rPr dirty="0" sz="1600" spc="-5">
                <a:latin typeface="宋体"/>
                <a:cs typeface="宋体"/>
              </a:rPr>
              <a:t>来说，</a:t>
            </a:r>
            <a:r>
              <a:rPr dirty="0" sz="1600" spc="5">
                <a:latin typeface="宋体"/>
                <a:cs typeface="宋体"/>
              </a:rPr>
              <a:t>华</a:t>
            </a:r>
            <a:r>
              <a:rPr dirty="0" sz="1600" spc="-5">
                <a:latin typeface="宋体"/>
                <a:cs typeface="宋体"/>
              </a:rPr>
              <a:t>为没</a:t>
            </a:r>
            <a:r>
              <a:rPr dirty="0" sz="1600" spc="5">
                <a:latin typeface="宋体"/>
                <a:cs typeface="宋体"/>
              </a:rPr>
              <a:t>有</a:t>
            </a:r>
            <a:r>
              <a:rPr dirty="0" sz="1600" spc="-5">
                <a:latin typeface="宋体"/>
                <a:cs typeface="宋体"/>
              </a:rPr>
              <a:t>投入资</a:t>
            </a:r>
            <a:r>
              <a:rPr dirty="0" sz="1600" spc="5">
                <a:latin typeface="宋体"/>
                <a:cs typeface="宋体"/>
              </a:rPr>
              <a:t>金</a:t>
            </a:r>
            <a:r>
              <a:rPr dirty="0" sz="1600" spc="-5">
                <a:latin typeface="宋体"/>
                <a:cs typeface="宋体"/>
              </a:rPr>
              <a:t>增加</a:t>
            </a:r>
            <a:r>
              <a:rPr dirty="0" sz="1600" spc="5">
                <a:latin typeface="宋体"/>
                <a:cs typeface="宋体"/>
              </a:rPr>
              <a:t>自</a:t>
            </a:r>
            <a:r>
              <a:rPr dirty="0" sz="1600" spc="-5">
                <a:latin typeface="宋体"/>
                <a:cs typeface="宋体"/>
              </a:rPr>
              <a:t>身控制</a:t>
            </a:r>
            <a:r>
              <a:rPr dirty="0" sz="1600" spc="5">
                <a:latin typeface="宋体"/>
                <a:cs typeface="宋体"/>
              </a:rPr>
              <a:t>权</a:t>
            </a:r>
            <a:r>
              <a:rPr dirty="0" sz="1600" spc="-5">
                <a:latin typeface="宋体"/>
                <a:cs typeface="宋体"/>
              </a:rPr>
              <a:t>，对</a:t>
            </a:r>
            <a:r>
              <a:rPr dirty="0" sz="1600" spc="5">
                <a:latin typeface="宋体"/>
                <a:cs typeface="宋体"/>
              </a:rPr>
              <a:t>于</a:t>
            </a:r>
            <a:r>
              <a:rPr dirty="0" sz="1600" spc="-5">
                <a:latin typeface="宋体"/>
                <a:cs typeface="宋体"/>
              </a:rPr>
              <a:t>产品质</a:t>
            </a:r>
            <a:r>
              <a:rPr dirty="0" sz="1600" spc="5">
                <a:latin typeface="宋体"/>
                <a:cs typeface="宋体"/>
              </a:rPr>
              <a:t>量</a:t>
            </a:r>
            <a:r>
              <a:rPr dirty="0" sz="1600" spc="-5">
                <a:latin typeface="宋体"/>
                <a:cs typeface="宋体"/>
              </a:rPr>
              <a:t>的把</a:t>
            </a:r>
            <a:r>
              <a:rPr dirty="0" sz="1600" spc="5">
                <a:latin typeface="宋体"/>
                <a:cs typeface="宋体"/>
              </a:rPr>
              <a:t>控</a:t>
            </a:r>
            <a:r>
              <a:rPr dirty="0" sz="1600" spc="-5">
                <a:latin typeface="宋体"/>
                <a:cs typeface="宋体"/>
              </a:rPr>
              <a:t>力 </a:t>
            </a:r>
            <a:r>
              <a:rPr dirty="0" sz="1600">
                <a:latin typeface="宋体"/>
                <a:cs typeface="宋体"/>
              </a:rPr>
              <a:t>较弱</a:t>
            </a:r>
            <a:endParaRPr sz="1600">
              <a:latin typeface="宋体"/>
              <a:cs typeface="宋体"/>
            </a:endParaRPr>
          </a:p>
          <a:p>
            <a:pPr algn="just" marL="286385" indent="-287020">
              <a:lnSpc>
                <a:spcPts val="1850"/>
              </a:lnSpc>
              <a:spcBef>
                <a:spcPts val="195"/>
              </a:spcBef>
            </a:pPr>
            <a:r>
              <a:rPr dirty="0" sz="1600" spc="-5">
                <a:latin typeface="Arial"/>
                <a:cs typeface="Arial"/>
              </a:rPr>
              <a:t>•</a:t>
            </a:r>
            <a:r>
              <a:rPr dirty="0" sz="1600" spc="305">
                <a:latin typeface="Arial"/>
                <a:cs typeface="Arial"/>
              </a:rPr>
              <a:t> </a:t>
            </a:r>
            <a:r>
              <a:rPr dirty="0" sz="1600" spc="5">
                <a:latin typeface="宋体"/>
                <a:cs typeface="宋体"/>
              </a:rPr>
              <a:t>对</a:t>
            </a:r>
            <a:r>
              <a:rPr dirty="0" sz="1600" spc="-5">
                <a:latin typeface="宋体"/>
                <a:cs typeface="宋体"/>
              </a:rPr>
              <a:t>于华</a:t>
            </a:r>
            <a:r>
              <a:rPr dirty="0" sz="1600" spc="5">
                <a:latin typeface="宋体"/>
                <a:cs typeface="宋体"/>
              </a:rPr>
              <a:t>为</a:t>
            </a:r>
            <a:r>
              <a:rPr dirty="0" sz="1600" spc="-5">
                <a:latin typeface="宋体"/>
                <a:cs typeface="宋体"/>
              </a:rPr>
              <a:t>致力于</a:t>
            </a:r>
            <a:r>
              <a:rPr dirty="0" sz="1600" spc="5">
                <a:latin typeface="宋体"/>
                <a:cs typeface="宋体"/>
              </a:rPr>
              <a:t>发</a:t>
            </a:r>
            <a:r>
              <a:rPr dirty="0" sz="1600" spc="-5">
                <a:latin typeface="宋体"/>
                <a:cs typeface="宋体"/>
              </a:rPr>
              <a:t>展阿</a:t>
            </a:r>
            <a:r>
              <a:rPr dirty="0" sz="1600" spc="5">
                <a:latin typeface="宋体"/>
                <a:cs typeface="宋体"/>
              </a:rPr>
              <a:t>根</a:t>
            </a:r>
            <a:r>
              <a:rPr dirty="0" sz="1600" spc="-5">
                <a:latin typeface="宋体"/>
                <a:cs typeface="宋体"/>
              </a:rPr>
              <a:t>廷中端</a:t>
            </a:r>
            <a:r>
              <a:rPr dirty="0" sz="1600" spc="5">
                <a:latin typeface="宋体"/>
                <a:cs typeface="宋体"/>
              </a:rPr>
              <a:t>智</a:t>
            </a:r>
            <a:r>
              <a:rPr dirty="0" sz="1600" spc="-5">
                <a:latin typeface="宋体"/>
                <a:cs typeface="宋体"/>
              </a:rPr>
              <a:t>能手</a:t>
            </a:r>
            <a:r>
              <a:rPr dirty="0" sz="1600" spc="5">
                <a:latin typeface="宋体"/>
                <a:cs typeface="宋体"/>
              </a:rPr>
              <a:t>机</a:t>
            </a:r>
            <a:r>
              <a:rPr dirty="0" sz="1600" spc="-5">
                <a:latin typeface="宋体"/>
                <a:cs typeface="宋体"/>
              </a:rPr>
              <a:t>市场的</a:t>
            </a:r>
            <a:r>
              <a:rPr dirty="0" sz="1600" spc="5">
                <a:latin typeface="宋体"/>
                <a:cs typeface="宋体"/>
              </a:rPr>
              <a:t>战</a:t>
            </a:r>
            <a:r>
              <a:rPr dirty="0" sz="1600" spc="-5">
                <a:latin typeface="宋体"/>
                <a:cs typeface="宋体"/>
              </a:rPr>
              <a:t>略以</a:t>
            </a:r>
            <a:r>
              <a:rPr dirty="0" sz="1600" spc="5">
                <a:latin typeface="宋体"/>
                <a:cs typeface="宋体"/>
              </a:rPr>
              <a:t>及</a:t>
            </a:r>
            <a:r>
              <a:rPr dirty="0" sz="1600" spc="-5">
                <a:latin typeface="宋体"/>
                <a:cs typeface="宋体"/>
              </a:rPr>
              <a:t>应对阿</a:t>
            </a:r>
            <a:r>
              <a:rPr dirty="0" sz="1600" spc="5">
                <a:latin typeface="宋体"/>
                <a:cs typeface="宋体"/>
              </a:rPr>
              <a:t>根</a:t>
            </a:r>
            <a:r>
              <a:rPr dirty="0" sz="1600" spc="-5">
                <a:latin typeface="宋体"/>
                <a:cs typeface="宋体"/>
              </a:rPr>
              <a:t>廷智</a:t>
            </a:r>
            <a:r>
              <a:rPr dirty="0" sz="1600" spc="5">
                <a:latin typeface="宋体"/>
                <a:cs typeface="宋体"/>
              </a:rPr>
              <a:t>能</a:t>
            </a:r>
            <a:r>
              <a:rPr dirty="0" sz="1600" spc="-5">
                <a:latin typeface="宋体"/>
                <a:cs typeface="宋体"/>
              </a:rPr>
              <a:t>手 </a:t>
            </a:r>
            <a:r>
              <a:rPr dirty="0" sz="1600" spc="5">
                <a:latin typeface="宋体"/>
                <a:cs typeface="宋体"/>
              </a:rPr>
              <a:t>机</a:t>
            </a:r>
            <a:r>
              <a:rPr dirty="0" sz="1600" spc="-5">
                <a:latin typeface="宋体"/>
                <a:cs typeface="宋体"/>
              </a:rPr>
              <a:t>市场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竞争者</a:t>
            </a:r>
            <a:r>
              <a:rPr dirty="0" sz="1600" spc="5">
                <a:latin typeface="宋体"/>
                <a:cs typeface="宋体"/>
              </a:rPr>
              <a:t>来</a:t>
            </a:r>
            <a:r>
              <a:rPr dirty="0" sz="1600" spc="-5">
                <a:latin typeface="宋体"/>
                <a:cs typeface="宋体"/>
              </a:rPr>
              <a:t>说，</a:t>
            </a:r>
            <a:r>
              <a:rPr dirty="0" sz="1600" spc="5">
                <a:latin typeface="宋体"/>
                <a:cs typeface="宋体"/>
              </a:rPr>
              <a:t>质</a:t>
            </a:r>
            <a:r>
              <a:rPr dirty="0" sz="1600" spc="-5">
                <a:latin typeface="宋体"/>
                <a:cs typeface="宋体"/>
              </a:rPr>
              <a:t>量的把</a:t>
            </a:r>
            <a:r>
              <a:rPr dirty="0" sz="1600" spc="5">
                <a:latin typeface="宋体"/>
                <a:cs typeface="宋体"/>
              </a:rPr>
              <a:t>控</a:t>
            </a:r>
            <a:r>
              <a:rPr dirty="0" sz="1600" spc="-5">
                <a:latin typeface="宋体"/>
                <a:cs typeface="宋体"/>
              </a:rPr>
              <a:t>较为</a:t>
            </a:r>
            <a:r>
              <a:rPr dirty="0" sz="1600" spc="5">
                <a:latin typeface="宋体"/>
                <a:cs typeface="宋体"/>
              </a:rPr>
              <a:t>重</a:t>
            </a:r>
            <a:r>
              <a:rPr dirty="0" sz="1600" spc="-5">
                <a:latin typeface="宋体"/>
                <a:cs typeface="宋体"/>
              </a:rPr>
              <a:t>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0727" y="3523488"/>
            <a:ext cx="7477125" cy="906780"/>
          </a:xfrm>
          <a:custGeom>
            <a:avLst/>
            <a:gdLst/>
            <a:ahLst/>
            <a:cxnLst/>
            <a:rect l="l" t="t" r="r" b="b"/>
            <a:pathLst>
              <a:path w="7477125" h="906779">
                <a:moveTo>
                  <a:pt x="0" y="151130"/>
                </a:moveTo>
                <a:lnTo>
                  <a:pt x="7704" y="103371"/>
                </a:lnTo>
                <a:lnTo>
                  <a:pt x="29160" y="61886"/>
                </a:lnTo>
                <a:lnTo>
                  <a:pt x="61875" y="29167"/>
                </a:lnTo>
                <a:lnTo>
                  <a:pt x="103362" y="7707"/>
                </a:lnTo>
                <a:lnTo>
                  <a:pt x="151129" y="0"/>
                </a:lnTo>
                <a:lnTo>
                  <a:pt x="7325614" y="0"/>
                </a:lnTo>
                <a:lnTo>
                  <a:pt x="7373372" y="7707"/>
                </a:lnTo>
                <a:lnTo>
                  <a:pt x="7414857" y="29167"/>
                </a:lnTo>
                <a:lnTo>
                  <a:pt x="7447576" y="61886"/>
                </a:lnTo>
                <a:lnTo>
                  <a:pt x="7469036" y="103371"/>
                </a:lnTo>
                <a:lnTo>
                  <a:pt x="7476744" y="151130"/>
                </a:lnTo>
                <a:lnTo>
                  <a:pt x="7476744" y="755650"/>
                </a:lnTo>
                <a:lnTo>
                  <a:pt x="7469036" y="803408"/>
                </a:lnTo>
                <a:lnTo>
                  <a:pt x="7447576" y="844893"/>
                </a:lnTo>
                <a:lnTo>
                  <a:pt x="7414857" y="877612"/>
                </a:lnTo>
                <a:lnTo>
                  <a:pt x="7373372" y="899072"/>
                </a:lnTo>
                <a:lnTo>
                  <a:pt x="7325614" y="906780"/>
                </a:lnTo>
                <a:lnTo>
                  <a:pt x="151129" y="906780"/>
                </a:lnTo>
                <a:lnTo>
                  <a:pt x="103362" y="899072"/>
                </a:lnTo>
                <a:lnTo>
                  <a:pt x="61875" y="877612"/>
                </a:lnTo>
                <a:lnTo>
                  <a:pt x="29160" y="844893"/>
                </a:lnTo>
                <a:lnTo>
                  <a:pt x="7704" y="803408"/>
                </a:lnTo>
                <a:lnTo>
                  <a:pt x="0" y="755650"/>
                </a:lnTo>
                <a:lnTo>
                  <a:pt x="0" y="151130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0727" y="4629911"/>
            <a:ext cx="7477125" cy="1769745"/>
          </a:xfrm>
          <a:custGeom>
            <a:avLst/>
            <a:gdLst/>
            <a:ahLst/>
            <a:cxnLst/>
            <a:rect l="l" t="t" r="r" b="b"/>
            <a:pathLst>
              <a:path w="7477125" h="1769745">
                <a:moveTo>
                  <a:pt x="0" y="294894"/>
                </a:moveTo>
                <a:lnTo>
                  <a:pt x="3859" y="247073"/>
                </a:lnTo>
                <a:lnTo>
                  <a:pt x="15033" y="201704"/>
                </a:lnTo>
                <a:lnTo>
                  <a:pt x="32915" y="159395"/>
                </a:lnTo>
                <a:lnTo>
                  <a:pt x="56897" y="120755"/>
                </a:lnTo>
                <a:lnTo>
                  <a:pt x="86372" y="86391"/>
                </a:lnTo>
                <a:lnTo>
                  <a:pt x="120733" y="56912"/>
                </a:lnTo>
                <a:lnTo>
                  <a:pt x="159373" y="32925"/>
                </a:lnTo>
                <a:lnTo>
                  <a:pt x="201684" y="15038"/>
                </a:lnTo>
                <a:lnTo>
                  <a:pt x="247060" y="3861"/>
                </a:lnTo>
                <a:lnTo>
                  <a:pt x="294894" y="0"/>
                </a:lnTo>
                <a:lnTo>
                  <a:pt x="7181850" y="0"/>
                </a:lnTo>
                <a:lnTo>
                  <a:pt x="7229670" y="3861"/>
                </a:lnTo>
                <a:lnTo>
                  <a:pt x="7275039" y="15038"/>
                </a:lnTo>
                <a:lnTo>
                  <a:pt x="7317348" y="32925"/>
                </a:lnTo>
                <a:lnTo>
                  <a:pt x="7355988" y="56912"/>
                </a:lnTo>
                <a:lnTo>
                  <a:pt x="7390352" y="86391"/>
                </a:lnTo>
                <a:lnTo>
                  <a:pt x="7419831" y="120755"/>
                </a:lnTo>
                <a:lnTo>
                  <a:pt x="7443818" y="159395"/>
                </a:lnTo>
                <a:lnTo>
                  <a:pt x="7461705" y="201704"/>
                </a:lnTo>
                <a:lnTo>
                  <a:pt x="7472882" y="247073"/>
                </a:lnTo>
                <a:lnTo>
                  <a:pt x="7476744" y="294894"/>
                </a:lnTo>
                <a:lnTo>
                  <a:pt x="7476744" y="1474457"/>
                </a:lnTo>
                <a:lnTo>
                  <a:pt x="7472882" y="1522293"/>
                </a:lnTo>
                <a:lnTo>
                  <a:pt x="7461705" y="1567672"/>
                </a:lnTo>
                <a:lnTo>
                  <a:pt x="7443818" y="1609986"/>
                </a:lnTo>
                <a:lnTo>
                  <a:pt x="7419831" y="1648627"/>
                </a:lnTo>
                <a:lnTo>
                  <a:pt x="7390352" y="1682989"/>
                </a:lnTo>
                <a:lnTo>
                  <a:pt x="7355988" y="1712465"/>
                </a:lnTo>
                <a:lnTo>
                  <a:pt x="7317348" y="1736448"/>
                </a:lnTo>
                <a:lnTo>
                  <a:pt x="7275039" y="1754329"/>
                </a:lnTo>
                <a:lnTo>
                  <a:pt x="7229670" y="1765504"/>
                </a:lnTo>
                <a:lnTo>
                  <a:pt x="7181850" y="1769364"/>
                </a:lnTo>
                <a:lnTo>
                  <a:pt x="294894" y="1769364"/>
                </a:lnTo>
                <a:lnTo>
                  <a:pt x="247060" y="1765504"/>
                </a:lnTo>
                <a:lnTo>
                  <a:pt x="201684" y="1754329"/>
                </a:lnTo>
                <a:lnTo>
                  <a:pt x="159373" y="1736448"/>
                </a:lnTo>
                <a:lnTo>
                  <a:pt x="120733" y="1712465"/>
                </a:lnTo>
                <a:lnTo>
                  <a:pt x="86372" y="1682989"/>
                </a:lnTo>
                <a:lnTo>
                  <a:pt x="56897" y="1648627"/>
                </a:lnTo>
                <a:lnTo>
                  <a:pt x="32915" y="1609986"/>
                </a:lnTo>
                <a:lnTo>
                  <a:pt x="15033" y="1567672"/>
                </a:lnTo>
                <a:lnTo>
                  <a:pt x="3859" y="1522293"/>
                </a:lnTo>
                <a:lnTo>
                  <a:pt x="0" y="1474457"/>
                </a:lnTo>
                <a:lnTo>
                  <a:pt x="0" y="294894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6973" y="3638851"/>
            <a:ext cx="6995159" cy="2586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95"/>
              </a:lnSpc>
            </a:pPr>
            <a:r>
              <a:rPr dirty="0" sz="1600" spc="15" b="1">
                <a:latin typeface="明兰"/>
                <a:cs typeface="明兰"/>
              </a:rPr>
              <a:t>代</a:t>
            </a:r>
            <a:r>
              <a:rPr dirty="0" sz="1600" b="1">
                <a:latin typeface="明兰"/>
                <a:cs typeface="明兰"/>
              </a:rPr>
              <a:t>工模</a:t>
            </a:r>
            <a:r>
              <a:rPr dirty="0" sz="1600" spc="15" b="1">
                <a:latin typeface="明兰"/>
                <a:cs typeface="明兰"/>
              </a:rPr>
              <a:t>式</a:t>
            </a:r>
            <a:r>
              <a:rPr dirty="0" sz="1600" b="1">
                <a:latin typeface="明兰"/>
                <a:cs typeface="明兰"/>
              </a:rPr>
              <a:t>下</a:t>
            </a:r>
            <a:r>
              <a:rPr dirty="0" sz="1600" spc="15" b="1">
                <a:latin typeface="明兰"/>
                <a:cs typeface="明兰"/>
              </a:rPr>
              <a:t>，</a:t>
            </a:r>
            <a:r>
              <a:rPr dirty="0" sz="1600" b="1">
                <a:latin typeface="明兰"/>
                <a:cs typeface="明兰"/>
              </a:rPr>
              <a:t>华</a:t>
            </a:r>
            <a:r>
              <a:rPr dirty="0" sz="1600" spc="15" b="1">
                <a:latin typeface="明兰"/>
                <a:cs typeface="明兰"/>
              </a:rPr>
              <a:t>为</a:t>
            </a:r>
            <a:r>
              <a:rPr dirty="0" sz="1600" b="1">
                <a:latin typeface="明兰"/>
                <a:cs typeface="明兰"/>
              </a:rPr>
              <a:t>散件</a:t>
            </a:r>
            <a:r>
              <a:rPr dirty="0" sz="1600" spc="15" b="1">
                <a:latin typeface="明兰"/>
                <a:cs typeface="明兰"/>
              </a:rPr>
              <a:t>拥</a:t>
            </a:r>
            <a:r>
              <a:rPr dirty="0" sz="1600" b="1">
                <a:latin typeface="明兰"/>
                <a:cs typeface="明兰"/>
              </a:rPr>
              <a:t>有</a:t>
            </a:r>
            <a:r>
              <a:rPr dirty="0" sz="1600" spc="15" b="1">
                <a:latin typeface="明兰"/>
                <a:cs typeface="明兰"/>
              </a:rPr>
              <a:t>销</a:t>
            </a:r>
            <a:r>
              <a:rPr dirty="0" sz="1600" b="1">
                <a:latin typeface="明兰"/>
                <a:cs typeface="明兰"/>
              </a:rPr>
              <a:t>售</a:t>
            </a:r>
            <a:r>
              <a:rPr dirty="0" sz="1600" spc="15" b="1">
                <a:latin typeface="明兰"/>
                <a:cs typeface="明兰"/>
              </a:rPr>
              <a:t>账</a:t>
            </a:r>
            <a:r>
              <a:rPr dirty="0" sz="1600" b="1">
                <a:latin typeface="明兰"/>
                <a:cs typeface="明兰"/>
              </a:rPr>
              <a:t>期风</a:t>
            </a:r>
            <a:r>
              <a:rPr dirty="0" sz="1600" spc="-5" b="1">
                <a:latin typeface="明兰"/>
                <a:cs typeface="明兰"/>
              </a:rPr>
              <a:t>险</a:t>
            </a:r>
            <a:endParaRPr sz="1600">
              <a:latin typeface="明兰"/>
              <a:cs typeface="明兰"/>
            </a:endParaRPr>
          </a:p>
          <a:p>
            <a:pPr>
              <a:lnSpc>
                <a:spcPct val="100000"/>
              </a:lnSpc>
              <a:tabLst>
                <a:tab pos="214629" algn="l"/>
              </a:tabLst>
            </a:pPr>
            <a:r>
              <a:rPr dirty="0" sz="1600" spc="-5">
                <a:latin typeface="Arial"/>
                <a:cs typeface="Arial"/>
              </a:rPr>
              <a:t>•	</a:t>
            </a:r>
            <a:r>
              <a:rPr dirty="0" sz="1600" spc="5">
                <a:latin typeface="宋体"/>
                <a:cs typeface="宋体"/>
              </a:rPr>
              <a:t>委</a:t>
            </a:r>
            <a:r>
              <a:rPr dirty="0" sz="1600" spc="-5">
                <a:latin typeface="宋体"/>
                <a:cs typeface="宋体"/>
              </a:rPr>
              <a:t>托代</a:t>
            </a:r>
            <a:r>
              <a:rPr dirty="0" sz="1600" spc="5">
                <a:latin typeface="宋体"/>
                <a:cs typeface="宋体"/>
              </a:rPr>
              <a:t>工</a:t>
            </a:r>
            <a:r>
              <a:rPr dirty="0" sz="1600" spc="-5">
                <a:latin typeface="宋体"/>
                <a:cs typeface="宋体"/>
              </a:rPr>
              <a:t>模式下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华为</a:t>
            </a:r>
            <a:r>
              <a:rPr dirty="0" sz="1600" spc="5">
                <a:latin typeface="宋体"/>
                <a:cs typeface="宋体"/>
              </a:rPr>
              <a:t>将</a:t>
            </a:r>
            <a:r>
              <a:rPr dirty="0" sz="1600" spc="-5">
                <a:latin typeface="宋体"/>
                <a:cs typeface="宋体"/>
              </a:rPr>
              <a:t>散件卖</a:t>
            </a:r>
            <a:r>
              <a:rPr dirty="0" sz="1600" spc="5">
                <a:latin typeface="宋体"/>
                <a:cs typeface="宋体"/>
              </a:rPr>
              <a:t>给</a:t>
            </a:r>
            <a:r>
              <a:rPr dirty="0" sz="1600" spc="-5">
                <a:latin typeface="宋体"/>
                <a:cs typeface="宋体"/>
              </a:rPr>
              <a:t>代工</a:t>
            </a:r>
            <a:r>
              <a:rPr dirty="0" sz="1600" spc="5">
                <a:latin typeface="宋体"/>
                <a:cs typeface="宋体"/>
              </a:rPr>
              <a:t>厂</a:t>
            </a:r>
            <a:r>
              <a:rPr dirty="0" sz="1600" spc="-5">
                <a:latin typeface="宋体"/>
                <a:cs typeface="宋体"/>
              </a:rPr>
              <a:t>，面临</a:t>
            </a:r>
            <a:r>
              <a:rPr dirty="0" sz="1600" spc="5">
                <a:latin typeface="宋体"/>
                <a:cs typeface="宋体"/>
              </a:rPr>
              <a:t>收</a:t>
            </a:r>
            <a:r>
              <a:rPr dirty="0" sz="1600" spc="-5">
                <a:latin typeface="宋体"/>
                <a:cs typeface="宋体"/>
              </a:rPr>
              <a:t>取账</a:t>
            </a:r>
            <a:r>
              <a:rPr dirty="0" sz="1600" spc="5">
                <a:latin typeface="宋体"/>
                <a:cs typeface="宋体"/>
              </a:rPr>
              <a:t>款</a:t>
            </a:r>
            <a:r>
              <a:rPr dirty="0" sz="1600" spc="-5">
                <a:latin typeface="宋体"/>
                <a:cs typeface="宋体"/>
              </a:rPr>
              <a:t>的风险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tabLst>
                <a:tab pos="214629" algn="l"/>
              </a:tabLst>
            </a:pPr>
            <a:r>
              <a:rPr dirty="0" sz="1600" spc="-5">
                <a:latin typeface="Arial"/>
                <a:cs typeface="Arial"/>
              </a:rPr>
              <a:t>•	</a:t>
            </a:r>
            <a:r>
              <a:rPr dirty="0" sz="1600" spc="5">
                <a:latin typeface="宋体"/>
                <a:cs typeface="宋体"/>
              </a:rPr>
              <a:t>对</a:t>
            </a:r>
            <a:r>
              <a:rPr dirty="0" sz="1600" spc="-5">
                <a:latin typeface="宋体"/>
                <a:cs typeface="宋体"/>
              </a:rPr>
              <a:t>于评</a:t>
            </a:r>
            <a:r>
              <a:rPr dirty="0" sz="1600" spc="5">
                <a:latin typeface="宋体"/>
                <a:cs typeface="宋体"/>
              </a:rPr>
              <a:t>估</a:t>
            </a:r>
            <a:r>
              <a:rPr dirty="0" sz="1600" spc="-5">
                <a:latin typeface="宋体"/>
                <a:cs typeface="宋体"/>
              </a:rPr>
              <a:t>代工厂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选择</a:t>
            </a:r>
            <a:r>
              <a:rPr dirty="0" sz="1600" spc="5">
                <a:latin typeface="宋体"/>
                <a:cs typeface="宋体"/>
              </a:rPr>
              <a:t>来</a:t>
            </a:r>
            <a:r>
              <a:rPr dirty="0" sz="1600" spc="-5">
                <a:latin typeface="宋体"/>
                <a:cs typeface="宋体"/>
              </a:rPr>
              <a:t>说，应</a:t>
            </a:r>
            <a:r>
              <a:rPr dirty="0" sz="1600" spc="5">
                <a:latin typeface="宋体"/>
                <a:cs typeface="宋体"/>
              </a:rPr>
              <a:t>付</a:t>
            </a:r>
            <a:r>
              <a:rPr dirty="0" sz="1600" spc="-5">
                <a:latin typeface="宋体"/>
                <a:cs typeface="宋体"/>
              </a:rPr>
              <a:t>账款</a:t>
            </a:r>
            <a:r>
              <a:rPr dirty="0" sz="1600" spc="5">
                <a:latin typeface="宋体"/>
                <a:cs typeface="宋体"/>
              </a:rPr>
              <a:t>周</a:t>
            </a:r>
            <a:r>
              <a:rPr dirty="0" sz="1600" spc="-5">
                <a:latin typeface="宋体"/>
                <a:cs typeface="宋体"/>
              </a:rPr>
              <a:t>转率和</a:t>
            </a:r>
            <a:r>
              <a:rPr dirty="0" sz="1600" spc="5">
                <a:latin typeface="宋体"/>
                <a:cs typeface="宋体"/>
              </a:rPr>
              <a:t>偿</a:t>
            </a:r>
            <a:r>
              <a:rPr dirty="0" sz="1600" spc="-5">
                <a:latin typeface="宋体"/>
                <a:cs typeface="宋体"/>
              </a:rPr>
              <a:t>债能</a:t>
            </a:r>
            <a:r>
              <a:rPr dirty="0" sz="1600" spc="5">
                <a:latin typeface="宋体"/>
                <a:cs typeface="宋体"/>
              </a:rPr>
              <a:t>力</a:t>
            </a:r>
            <a:r>
              <a:rPr dirty="0" sz="1600" spc="-5">
                <a:latin typeface="宋体"/>
                <a:cs typeface="宋体"/>
              </a:rPr>
              <a:t>是较为</a:t>
            </a:r>
            <a:r>
              <a:rPr dirty="0" sz="1600" spc="5">
                <a:latin typeface="宋体"/>
                <a:cs typeface="宋体"/>
              </a:rPr>
              <a:t>重</a:t>
            </a:r>
            <a:r>
              <a:rPr dirty="0" sz="1600" spc="-5">
                <a:latin typeface="宋体"/>
                <a:cs typeface="宋体"/>
              </a:rPr>
              <a:t>要的</a:t>
            </a:r>
            <a:r>
              <a:rPr dirty="0" sz="1600" spc="5">
                <a:latin typeface="宋体"/>
                <a:cs typeface="宋体"/>
              </a:rPr>
              <a:t>指</a:t>
            </a:r>
            <a:r>
              <a:rPr dirty="0" sz="1600" spc="-5">
                <a:latin typeface="宋体"/>
                <a:cs typeface="宋体"/>
              </a:rPr>
              <a:t>标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  <a:spcBef>
                <a:spcPts val="1215"/>
              </a:spcBef>
            </a:pPr>
            <a:r>
              <a:rPr dirty="0" sz="1600" spc="15" b="1">
                <a:latin typeface="明兰"/>
                <a:cs typeface="明兰"/>
              </a:rPr>
              <a:t>代</a:t>
            </a:r>
            <a:r>
              <a:rPr dirty="0" sz="1600" spc="5" b="1">
                <a:latin typeface="明兰"/>
                <a:cs typeface="明兰"/>
              </a:rPr>
              <a:t>工模</a:t>
            </a:r>
            <a:r>
              <a:rPr dirty="0" sz="1600" spc="15" b="1">
                <a:latin typeface="明兰"/>
                <a:cs typeface="明兰"/>
              </a:rPr>
              <a:t>式</a:t>
            </a:r>
            <a:r>
              <a:rPr dirty="0" sz="1600" spc="5" b="1">
                <a:latin typeface="明兰"/>
                <a:cs typeface="明兰"/>
              </a:rPr>
              <a:t>下</a:t>
            </a:r>
            <a:r>
              <a:rPr dirty="0" sz="1600" spc="15" b="1">
                <a:latin typeface="明兰"/>
                <a:cs typeface="明兰"/>
              </a:rPr>
              <a:t>，</a:t>
            </a:r>
            <a:r>
              <a:rPr dirty="0" sz="1600" spc="5" b="1">
                <a:latin typeface="明兰"/>
                <a:cs typeface="明兰"/>
              </a:rPr>
              <a:t>华</a:t>
            </a:r>
            <a:r>
              <a:rPr dirty="0" sz="1600" spc="15" b="1">
                <a:latin typeface="明兰"/>
                <a:cs typeface="明兰"/>
              </a:rPr>
              <a:t>为</a:t>
            </a:r>
            <a:r>
              <a:rPr dirty="0" sz="1600" spc="5" b="1">
                <a:latin typeface="明兰"/>
                <a:cs typeface="明兰"/>
              </a:rPr>
              <a:t>面向</a:t>
            </a:r>
            <a:r>
              <a:rPr dirty="0" sz="1600" spc="15" b="1">
                <a:latin typeface="明兰"/>
                <a:cs typeface="明兰"/>
              </a:rPr>
              <a:t>代</a:t>
            </a:r>
            <a:r>
              <a:rPr dirty="0" sz="1600" spc="5" b="1">
                <a:latin typeface="明兰"/>
                <a:cs typeface="明兰"/>
              </a:rPr>
              <a:t>工</a:t>
            </a:r>
            <a:r>
              <a:rPr dirty="0" sz="1600" spc="15" b="1">
                <a:latin typeface="明兰"/>
                <a:cs typeface="明兰"/>
              </a:rPr>
              <a:t>厂</a:t>
            </a:r>
            <a:r>
              <a:rPr dirty="0" sz="1600" spc="5" b="1">
                <a:latin typeface="明兰"/>
                <a:cs typeface="明兰"/>
              </a:rPr>
              <a:t>的</a:t>
            </a:r>
            <a:r>
              <a:rPr dirty="0" sz="1600" spc="15" b="1">
                <a:latin typeface="明兰"/>
                <a:cs typeface="明兰"/>
              </a:rPr>
              <a:t>议</a:t>
            </a:r>
            <a:r>
              <a:rPr dirty="0" sz="1600" spc="5" b="1">
                <a:latin typeface="明兰"/>
                <a:cs typeface="明兰"/>
              </a:rPr>
              <a:t>价能</a:t>
            </a:r>
            <a:r>
              <a:rPr dirty="0" sz="1600" spc="15" b="1">
                <a:latin typeface="明兰"/>
                <a:cs typeface="明兰"/>
              </a:rPr>
              <a:t>力</a:t>
            </a:r>
            <a:r>
              <a:rPr dirty="0" sz="1600" spc="5" b="1">
                <a:latin typeface="明兰"/>
                <a:cs typeface="明兰"/>
              </a:rPr>
              <a:t>有</a:t>
            </a:r>
            <a:r>
              <a:rPr dirty="0" sz="1600" spc="-5" b="1">
                <a:latin typeface="明兰"/>
                <a:cs typeface="明兰"/>
              </a:rPr>
              <a:t>限</a:t>
            </a:r>
            <a:endParaRPr sz="1600">
              <a:latin typeface="明兰"/>
              <a:cs typeface="明兰"/>
            </a:endParaRPr>
          </a:p>
          <a:p>
            <a:pPr marL="171450" indent="-129539">
              <a:lnSpc>
                <a:spcPct val="100000"/>
              </a:lnSpc>
            </a:pPr>
            <a:r>
              <a:rPr dirty="0" sz="1600" spc="-5">
                <a:latin typeface="Arial"/>
                <a:cs typeface="Arial"/>
              </a:rPr>
              <a:t>•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5">
                <a:latin typeface="宋体"/>
                <a:cs typeface="宋体"/>
              </a:rPr>
              <a:t>基于阿根廷</a:t>
            </a:r>
            <a:r>
              <a:rPr dirty="0" sz="1600" spc="-5">
                <a:latin typeface="宋体"/>
                <a:cs typeface="宋体"/>
              </a:rPr>
              <a:t>当地</a:t>
            </a:r>
            <a:r>
              <a:rPr dirty="0" sz="1600" spc="5">
                <a:latin typeface="宋体"/>
                <a:cs typeface="宋体"/>
              </a:rPr>
              <a:t>代</a:t>
            </a:r>
            <a:r>
              <a:rPr dirty="0" sz="1600" spc="-5">
                <a:latin typeface="宋体"/>
                <a:cs typeface="宋体"/>
              </a:rPr>
              <a:t>工厂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情况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仅</a:t>
            </a:r>
            <a:r>
              <a:rPr dirty="0" sz="1600" spc="5">
                <a:latin typeface="宋体"/>
                <a:cs typeface="宋体"/>
              </a:rPr>
              <a:t>有</a:t>
            </a:r>
            <a:r>
              <a:rPr dirty="0" sz="1600" spc="-5">
                <a:latin typeface="Arial"/>
                <a:cs typeface="Arial"/>
              </a:rPr>
              <a:t>4</a:t>
            </a:r>
            <a:r>
              <a:rPr dirty="0" sz="1600" spc="5">
                <a:latin typeface="宋体"/>
                <a:cs typeface="宋体"/>
              </a:rPr>
              <a:t>家</a:t>
            </a:r>
            <a:r>
              <a:rPr dirty="0" sz="1600" spc="-5">
                <a:latin typeface="宋体"/>
                <a:cs typeface="宋体"/>
              </a:rPr>
              <a:t>供应</a:t>
            </a:r>
            <a:r>
              <a:rPr dirty="0" sz="1600" spc="5">
                <a:latin typeface="宋体"/>
                <a:cs typeface="宋体"/>
              </a:rPr>
              <a:t>商</a:t>
            </a:r>
            <a:r>
              <a:rPr dirty="0" sz="1600" spc="-5">
                <a:latin typeface="宋体"/>
                <a:cs typeface="宋体"/>
              </a:rPr>
              <a:t>具有</a:t>
            </a:r>
            <a:r>
              <a:rPr dirty="0" sz="1600" spc="5">
                <a:latin typeface="宋体"/>
                <a:cs typeface="宋体"/>
              </a:rPr>
              <a:t>规</a:t>
            </a:r>
            <a:r>
              <a:rPr dirty="0" sz="1600" spc="-5">
                <a:latin typeface="宋体"/>
                <a:cs typeface="宋体"/>
              </a:rPr>
              <a:t>模生</a:t>
            </a:r>
            <a:r>
              <a:rPr dirty="0" sz="1600" spc="5">
                <a:latin typeface="宋体"/>
                <a:cs typeface="宋体"/>
              </a:rPr>
              <a:t>产</a:t>
            </a:r>
            <a:r>
              <a:rPr dirty="0" sz="1600" spc="-5">
                <a:latin typeface="宋体"/>
                <a:cs typeface="宋体"/>
              </a:rPr>
              <a:t>组装</a:t>
            </a:r>
            <a:r>
              <a:rPr dirty="0" sz="1600" spc="5">
                <a:latin typeface="宋体"/>
                <a:cs typeface="宋体"/>
              </a:rPr>
              <a:t>能</a:t>
            </a:r>
            <a:r>
              <a:rPr dirty="0" sz="1600" spc="-5">
                <a:latin typeface="宋体"/>
                <a:cs typeface="宋体"/>
              </a:rPr>
              <a:t>力，</a:t>
            </a:r>
            <a:r>
              <a:rPr dirty="0" sz="1600" spc="5">
                <a:latin typeface="宋体"/>
                <a:cs typeface="宋体"/>
              </a:rPr>
              <a:t>因</a:t>
            </a:r>
            <a:r>
              <a:rPr dirty="0" sz="1600" spc="-5">
                <a:latin typeface="宋体"/>
                <a:cs typeface="宋体"/>
              </a:rPr>
              <a:t>此 </a:t>
            </a:r>
            <a:r>
              <a:rPr dirty="0" sz="1600" spc="5">
                <a:latin typeface="宋体"/>
                <a:cs typeface="宋体"/>
              </a:rPr>
              <a:t>相</a:t>
            </a:r>
            <a:r>
              <a:rPr dirty="0" sz="1600" spc="-5">
                <a:latin typeface="宋体"/>
                <a:cs typeface="宋体"/>
              </a:rPr>
              <a:t>对来</a:t>
            </a:r>
            <a:r>
              <a:rPr dirty="0" sz="1600" spc="5">
                <a:latin typeface="宋体"/>
                <a:cs typeface="宋体"/>
              </a:rPr>
              <a:t>说</a:t>
            </a:r>
            <a:r>
              <a:rPr dirty="0" sz="1600" spc="-5">
                <a:latin typeface="宋体"/>
                <a:cs typeface="宋体"/>
              </a:rPr>
              <a:t>，供应</a:t>
            </a:r>
            <a:r>
              <a:rPr dirty="0" sz="1600" spc="5">
                <a:latin typeface="宋体"/>
                <a:cs typeface="宋体"/>
              </a:rPr>
              <a:t>商</a:t>
            </a:r>
            <a:r>
              <a:rPr dirty="0" sz="1600" spc="-5">
                <a:latin typeface="宋体"/>
                <a:cs typeface="宋体"/>
              </a:rPr>
              <a:t>端的</a:t>
            </a:r>
            <a:r>
              <a:rPr dirty="0" sz="1600" spc="5">
                <a:latin typeface="宋体"/>
                <a:cs typeface="宋体"/>
              </a:rPr>
              <a:t>议</a:t>
            </a:r>
            <a:r>
              <a:rPr dirty="0" sz="1600" spc="-5">
                <a:latin typeface="宋体"/>
                <a:cs typeface="宋体"/>
              </a:rPr>
              <a:t>价能力</a:t>
            </a:r>
            <a:r>
              <a:rPr dirty="0" sz="1600" spc="5">
                <a:latin typeface="宋体"/>
                <a:cs typeface="宋体"/>
              </a:rPr>
              <a:t>较</a:t>
            </a:r>
            <a:r>
              <a:rPr dirty="0" sz="1600" spc="-5">
                <a:latin typeface="宋体"/>
                <a:cs typeface="宋体"/>
              </a:rPr>
              <a:t>强</a:t>
            </a:r>
            <a:endParaRPr sz="1600">
              <a:latin typeface="宋体"/>
              <a:cs typeface="宋体"/>
            </a:endParaRPr>
          </a:p>
          <a:p>
            <a:pPr marL="41910">
              <a:lnSpc>
                <a:spcPct val="100000"/>
              </a:lnSpc>
            </a:pPr>
            <a:r>
              <a:rPr dirty="0" sz="1600" spc="-5">
                <a:latin typeface="Arial"/>
                <a:cs typeface="Arial"/>
              </a:rPr>
              <a:t>•</a:t>
            </a:r>
            <a:r>
              <a:rPr dirty="0" sz="1600" spc="15">
                <a:latin typeface="Arial"/>
                <a:cs typeface="Arial"/>
              </a:rPr>
              <a:t> </a:t>
            </a:r>
            <a:r>
              <a:rPr dirty="0" sz="1600" spc="5">
                <a:latin typeface="宋体"/>
                <a:cs typeface="宋体"/>
              </a:rPr>
              <a:t>在阿根廷的</a:t>
            </a:r>
            <a:r>
              <a:rPr dirty="0" sz="1600" spc="-5">
                <a:latin typeface="宋体"/>
                <a:cs typeface="宋体"/>
              </a:rPr>
              <a:t>智能</a:t>
            </a:r>
            <a:r>
              <a:rPr dirty="0" sz="1600" spc="5">
                <a:latin typeface="宋体"/>
                <a:cs typeface="宋体"/>
              </a:rPr>
              <a:t>手</a:t>
            </a:r>
            <a:r>
              <a:rPr dirty="0" sz="1600" spc="-5">
                <a:latin typeface="宋体"/>
                <a:cs typeface="宋体"/>
              </a:rPr>
              <a:t>机市</a:t>
            </a:r>
            <a:r>
              <a:rPr dirty="0" sz="1600" spc="5">
                <a:latin typeface="宋体"/>
                <a:cs typeface="宋体"/>
              </a:rPr>
              <a:t>场</a:t>
            </a:r>
            <a:r>
              <a:rPr dirty="0" sz="1600" spc="-5">
                <a:latin typeface="宋体"/>
                <a:cs typeface="宋体"/>
              </a:rPr>
              <a:t>，华</a:t>
            </a:r>
            <a:r>
              <a:rPr dirty="0" sz="1600" spc="15">
                <a:latin typeface="宋体"/>
                <a:cs typeface="宋体"/>
              </a:rPr>
              <a:t>为</a:t>
            </a:r>
            <a:r>
              <a:rPr dirty="0" sz="1600" spc="-5">
                <a:latin typeface="Arial"/>
                <a:cs typeface="Arial"/>
              </a:rPr>
              <a:t>2016</a:t>
            </a:r>
            <a:r>
              <a:rPr dirty="0" sz="1600" spc="-5">
                <a:latin typeface="宋体"/>
                <a:cs typeface="宋体"/>
              </a:rPr>
              <a:t>年排</a:t>
            </a:r>
            <a:r>
              <a:rPr dirty="0" sz="1600" spc="5">
                <a:latin typeface="宋体"/>
                <a:cs typeface="宋体"/>
              </a:rPr>
              <a:t>名</a:t>
            </a:r>
            <a:r>
              <a:rPr dirty="0" sz="1600" spc="-5">
                <a:latin typeface="宋体"/>
                <a:cs typeface="宋体"/>
              </a:rPr>
              <a:t>第四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从</a:t>
            </a:r>
            <a:r>
              <a:rPr dirty="0" sz="1600" spc="-10">
                <a:latin typeface="Arial"/>
                <a:cs typeface="Arial"/>
              </a:rPr>
              <a:t>Newman</a:t>
            </a:r>
            <a:r>
              <a:rPr dirty="0" sz="1600" spc="5">
                <a:latin typeface="宋体"/>
                <a:cs typeface="宋体"/>
              </a:rPr>
              <a:t>和</a:t>
            </a:r>
            <a:r>
              <a:rPr dirty="0" sz="1600" spc="-5">
                <a:latin typeface="Arial"/>
                <a:cs typeface="Arial"/>
              </a:rPr>
              <a:t>Electronic</a:t>
            </a:r>
            <a:endParaRPr sz="1600">
              <a:latin typeface="Arial"/>
              <a:cs typeface="Arial"/>
            </a:endParaRPr>
          </a:p>
          <a:p>
            <a:pPr marL="171450">
              <a:lnSpc>
                <a:spcPct val="100000"/>
              </a:lnSpc>
            </a:pPr>
            <a:r>
              <a:rPr dirty="0" sz="1600" spc="-5">
                <a:latin typeface="Arial"/>
                <a:cs typeface="Arial"/>
              </a:rPr>
              <a:t>System</a:t>
            </a:r>
            <a:r>
              <a:rPr dirty="0" sz="1600" spc="5">
                <a:latin typeface="宋体"/>
                <a:cs typeface="宋体"/>
              </a:rPr>
              <a:t>的情况来看，其</a:t>
            </a:r>
            <a:r>
              <a:rPr dirty="0" sz="1600" spc="-10">
                <a:latin typeface="宋体"/>
                <a:cs typeface="宋体"/>
              </a:rPr>
              <a:t>还</a:t>
            </a:r>
            <a:r>
              <a:rPr dirty="0" sz="1600" spc="5">
                <a:latin typeface="宋体"/>
                <a:cs typeface="宋体"/>
              </a:rPr>
              <a:t>代</a:t>
            </a:r>
            <a:r>
              <a:rPr dirty="0" sz="1600" spc="-10">
                <a:latin typeface="宋体"/>
                <a:cs typeface="宋体"/>
              </a:rPr>
              <a:t>工</a:t>
            </a:r>
            <a:r>
              <a:rPr dirty="0" sz="1600" spc="-25">
                <a:latin typeface="宋体"/>
                <a:cs typeface="宋体"/>
              </a:rPr>
              <a:t>了</a:t>
            </a:r>
            <a:r>
              <a:rPr dirty="0" sz="1600" spc="-10">
                <a:latin typeface="Arial"/>
                <a:cs typeface="Arial"/>
              </a:rPr>
              <a:t>LG</a:t>
            </a:r>
            <a:r>
              <a:rPr dirty="0" sz="1600">
                <a:latin typeface="宋体"/>
                <a:cs typeface="宋体"/>
              </a:rPr>
              <a:t>、三星</a:t>
            </a:r>
            <a:r>
              <a:rPr dirty="0" sz="1600" spc="-5">
                <a:latin typeface="宋体"/>
                <a:cs typeface="宋体"/>
              </a:rPr>
              <a:t>、</a:t>
            </a:r>
            <a:r>
              <a:rPr dirty="0" sz="1600" spc="-10">
                <a:latin typeface="宋体"/>
                <a:cs typeface="宋体"/>
              </a:rPr>
              <a:t>联</a:t>
            </a:r>
            <a:r>
              <a:rPr dirty="0" sz="1600">
                <a:latin typeface="宋体"/>
                <a:cs typeface="宋体"/>
              </a:rPr>
              <a:t>想</a:t>
            </a:r>
            <a:r>
              <a:rPr dirty="0" sz="1600" spc="-5">
                <a:latin typeface="宋体"/>
                <a:cs typeface="宋体"/>
              </a:rPr>
              <a:t>等</a:t>
            </a:r>
            <a:r>
              <a:rPr dirty="0" sz="1600" spc="-10">
                <a:latin typeface="宋体"/>
                <a:cs typeface="宋体"/>
              </a:rPr>
              <a:t>华</a:t>
            </a:r>
            <a:r>
              <a:rPr dirty="0" sz="1600">
                <a:latin typeface="宋体"/>
                <a:cs typeface="宋体"/>
              </a:rPr>
              <a:t>为</a:t>
            </a:r>
            <a:r>
              <a:rPr dirty="0" sz="1600" spc="-5">
                <a:latin typeface="宋体"/>
                <a:cs typeface="宋体"/>
              </a:rPr>
              <a:t>的</a:t>
            </a:r>
            <a:r>
              <a:rPr dirty="0" sz="1600" spc="-10">
                <a:latin typeface="宋体"/>
                <a:cs typeface="宋体"/>
              </a:rPr>
              <a:t>竞</a:t>
            </a:r>
            <a:r>
              <a:rPr dirty="0" sz="1600">
                <a:latin typeface="宋体"/>
                <a:cs typeface="宋体"/>
              </a:rPr>
              <a:t>争</a:t>
            </a:r>
            <a:r>
              <a:rPr dirty="0" sz="1600" spc="-5">
                <a:latin typeface="宋体"/>
                <a:cs typeface="宋体"/>
              </a:rPr>
              <a:t>品牌</a:t>
            </a:r>
            <a:endParaRPr sz="1600">
              <a:latin typeface="宋体"/>
              <a:cs typeface="宋体"/>
            </a:endParaRPr>
          </a:p>
          <a:p>
            <a:pPr marL="4191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latin typeface="Arial"/>
                <a:cs typeface="Arial"/>
              </a:rPr>
              <a:t>•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5">
                <a:latin typeface="宋体"/>
                <a:cs typeface="宋体"/>
              </a:rPr>
              <a:t>整</a:t>
            </a:r>
            <a:r>
              <a:rPr dirty="0" sz="1600" spc="-5">
                <a:latin typeface="宋体"/>
                <a:cs typeface="宋体"/>
              </a:rPr>
              <a:t>体来</a:t>
            </a:r>
            <a:r>
              <a:rPr dirty="0" sz="1600" spc="5">
                <a:latin typeface="宋体"/>
                <a:cs typeface="宋体"/>
              </a:rPr>
              <a:t>看</a:t>
            </a:r>
            <a:r>
              <a:rPr dirty="0" sz="1600" spc="-5">
                <a:latin typeface="宋体"/>
                <a:cs typeface="宋体"/>
              </a:rPr>
              <a:t>，华为</a:t>
            </a:r>
            <a:r>
              <a:rPr dirty="0" sz="1600" spc="5">
                <a:latin typeface="宋体"/>
                <a:cs typeface="宋体"/>
              </a:rPr>
              <a:t>较</a:t>
            </a:r>
            <a:r>
              <a:rPr dirty="0" sz="1600" spc="-5">
                <a:latin typeface="宋体"/>
                <a:cs typeface="宋体"/>
              </a:rPr>
              <a:t>难获</a:t>
            </a:r>
            <a:r>
              <a:rPr dirty="0" sz="1600" spc="5">
                <a:latin typeface="宋体"/>
                <a:cs typeface="宋体"/>
              </a:rPr>
              <a:t>得</a:t>
            </a:r>
            <a:r>
              <a:rPr dirty="0" sz="1600" spc="-5">
                <a:latin typeface="宋体"/>
                <a:cs typeface="宋体"/>
              </a:rPr>
              <a:t>有利的</a:t>
            </a:r>
            <a:r>
              <a:rPr dirty="0" sz="1600" spc="5">
                <a:latin typeface="宋体"/>
                <a:cs typeface="宋体"/>
              </a:rPr>
              <a:t>价</a:t>
            </a:r>
            <a:r>
              <a:rPr dirty="0" sz="1600" spc="-5">
                <a:latin typeface="宋体"/>
                <a:cs typeface="宋体"/>
              </a:rPr>
              <a:t>格政</a:t>
            </a:r>
            <a:r>
              <a:rPr dirty="0" sz="1600" spc="5">
                <a:latin typeface="宋体"/>
                <a:cs typeface="宋体"/>
              </a:rPr>
              <a:t>策</a:t>
            </a:r>
            <a:r>
              <a:rPr dirty="0" sz="1600" spc="-5">
                <a:latin typeface="宋体"/>
                <a:cs typeface="宋体"/>
              </a:rPr>
              <a:t>和账期</a:t>
            </a:r>
            <a:r>
              <a:rPr dirty="0" sz="1600" spc="5">
                <a:latin typeface="宋体"/>
                <a:cs typeface="宋体"/>
              </a:rPr>
              <a:t>政</a:t>
            </a:r>
            <a:r>
              <a:rPr dirty="0" sz="1600" spc="-5">
                <a:latin typeface="宋体"/>
                <a:cs typeface="宋体"/>
              </a:rPr>
              <a:t>策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5790" y="1199133"/>
            <a:ext cx="2945765" cy="1322070"/>
          </a:xfrm>
          <a:custGeom>
            <a:avLst/>
            <a:gdLst/>
            <a:ahLst/>
            <a:cxnLst/>
            <a:rect l="l" t="t" r="r" b="b"/>
            <a:pathLst>
              <a:path w="2945765" h="1322070">
                <a:moveTo>
                  <a:pt x="158737" y="1245615"/>
                </a:moveTo>
                <a:lnTo>
                  <a:pt x="158737" y="1321815"/>
                </a:lnTo>
                <a:lnTo>
                  <a:pt x="222237" y="1290065"/>
                </a:lnTo>
                <a:lnTo>
                  <a:pt x="171437" y="1290065"/>
                </a:lnTo>
                <a:lnTo>
                  <a:pt x="171437" y="1277365"/>
                </a:lnTo>
                <a:lnTo>
                  <a:pt x="222237" y="1277365"/>
                </a:lnTo>
                <a:lnTo>
                  <a:pt x="158737" y="1245615"/>
                </a:lnTo>
                <a:close/>
              </a:path>
              <a:path w="2945765" h="1322070">
                <a:moveTo>
                  <a:pt x="2945244" y="0"/>
                </a:moveTo>
                <a:lnTo>
                  <a:pt x="0" y="0"/>
                </a:lnTo>
                <a:lnTo>
                  <a:pt x="0" y="1290065"/>
                </a:lnTo>
                <a:lnTo>
                  <a:pt x="158737" y="1290065"/>
                </a:lnTo>
                <a:lnTo>
                  <a:pt x="158737" y="1283715"/>
                </a:lnTo>
                <a:lnTo>
                  <a:pt x="12700" y="1283715"/>
                </a:lnTo>
                <a:lnTo>
                  <a:pt x="6350" y="1277365"/>
                </a:lnTo>
                <a:lnTo>
                  <a:pt x="12700" y="1277365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945244" y="6350"/>
                </a:lnTo>
                <a:lnTo>
                  <a:pt x="2945244" y="0"/>
                </a:lnTo>
                <a:close/>
              </a:path>
              <a:path w="2945765" h="1322070">
                <a:moveTo>
                  <a:pt x="222237" y="1277365"/>
                </a:moveTo>
                <a:lnTo>
                  <a:pt x="171437" y="1277365"/>
                </a:lnTo>
                <a:lnTo>
                  <a:pt x="171437" y="1290065"/>
                </a:lnTo>
                <a:lnTo>
                  <a:pt x="222237" y="1290065"/>
                </a:lnTo>
                <a:lnTo>
                  <a:pt x="234937" y="1283715"/>
                </a:lnTo>
                <a:lnTo>
                  <a:pt x="222237" y="1277365"/>
                </a:lnTo>
                <a:close/>
              </a:path>
              <a:path w="2945765" h="1322070">
                <a:moveTo>
                  <a:pt x="12700" y="1277365"/>
                </a:moveTo>
                <a:lnTo>
                  <a:pt x="6350" y="1277365"/>
                </a:lnTo>
                <a:lnTo>
                  <a:pt x="12700" y="1283715"/>
                </a:lnTo>
                <a:lnTo>
                  <a:pt x="12700" y="1277365"/>
                </a:lnTo>
                <a:close/>
              </a:path>
              <a:path w="2945765" h="1322070">
                <a:moveTo>
                  <a:pt x="158737" y="1277365"/>
                </a:moveTo>
                <a:lnTo>
                  <a:pt x="12700" y="1277365"/>
                </a:lnTo>
                <a:lnTo>
                  <a:pt x="12700" y="1283715"/>
                </a:lnTo>
                <a:lnTo>
                  <a:pt x="158737" y="1283715"/>
                </a:lnTo>
                <a:lnTo>
                  <a:pt x="158737" y="1277365"/>
                </a:lnTo>
                <a:close/>
              </a:path>
              <a:path w="2945765" h="132207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945765" h="1322070">
                <a:moveTo>
                  <a:pt x="2945244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945244" y="12700"/>
                </a:lnTo>
                <a:lnTo>
                  <a:pt x="2945244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5790" y="1199133"/>
            <a:ext cx="2945765" cy="2815590"/>
          </a:xfrm>
          <a:custGeom>
            <a:avLst/>
            <a:gdLst/>
            <a:ahLst/>
            <a:cxnLst/>
            <a:rect l="l" t="t" r="r" b="b"/>
            <a:pathLst>
              <a:path w="2945765" h="2815590">
                <a:moveTo>
                  <a:pt x="158737" y="2739135"/>
                </a:moveTo>
                <a:lnTo>
                  <a:pt x="158737" y="2815335"/>
                </a:lnTo>
                <a:lnTo>
                  <a:pt x="222237" y="2783585"/>
                </a:lnTo>
                <a:lnTo>
                  <a:pt x="171437" y="2783585"/>
                </a:lnTo>
                <a:lnTo>
                  <a:pt x="171437" y="2770885"/>
                </a:lnTo>
                <a:lnTo>
                  <a:pt x="222237" y="2770885"/>
                </a:lnTo>
                <a:lnTo>
                  <a:pt x="158737" y="2739135"/>
                </a:lnTo>
                <a:close/>
              </a:path>
              <a:path w="2945765" h="2815590">
                <a:moveTo>
                  <a:pt x="2945244" y="0"/>
                </a:moveTo>
                <a:lnTo>
                  <a:pt x="0" y="0"/>
                </a:lnTo>
                <a:lnTo>
                  <a:pt x="0" y="2783585"/>
                </a:lnTo>
                <a:lnTo>
                  <a:pt x="158737" y="2783585"/>
                </a:lnTo>
                <a:lnTo>
                  <a:pt x="158737" y="2777235"/>
                </a:lnTo>
                <a:lnTo>
                  <a:pt x="12700" y="2777235"/>
                </a:lnTo>
                <a:lnTo>
                  <a:pt x="6350" y="2770885"/>
                </a:lnTo>
                <a:lnTo>
                  <a:pt x="12700" y="2770885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945244" y="6350"/>
                </a:lnTo>
                <a:lnTo>
                  <a:pt x="2945244" y="0"/>
                </a:lnTo>
                <a:close/>
              </a:path>
              <a:path w="2945765" h="2815590">
                <a:moveTo>
                  <a:pt x="222237" y="2770885"/>
                </a:moveTo>
                <a:lnTo>
                  <a:pt x="171437" y="2770885"/>
                </a:lnTo>
                <a:lnTo>
                  <a:pt x="171437" y="2783585"/>
                </a:lnTo>
                <a:lnTo>
                  <a:pt x="222237" y="2783585"/>
                </a:lnTo>
                <a:lnTo>
                  <a:pt x="234937" y="2777235"/>
                </a:lnTo>
                <a:lnTo>
                  <a:pt x="222237" y="2770885"/>
                </a:lnTo>
                <a:close/>
              </a:path>
              <a:path w="2945765" h="2815590">
                <a:moveTo>
                  <a:pt x="12700" y="2770885"/>
                </a:moveTo>
                <a:lnTo>
                  <a:pt x="6350" y="2770885"/>
                </a:lnTo>
                <a:lnTo>
                  <a:pt x="12700" y="2777235"/>
                </a:lnTo>
                <a:lnTo>
                  <a:pt x="12700" y="2770885"/>
                </a:lnTo>
                <a:close/>
              </a:path>
              <a:path w="2945765" h="2815590">
                <a:moveTo>
                  <a:pt x="158737" y="2770885"/>
                </a:moveTo>
                <a:lnTo>
                  <a:pt x="12700" y="2770885"/>
                </a:lnTo>
                <a:lnTo>
                  <a:pt x="12700" y="2777235"/>
                </a:lnTo>
                <a:lnTo>
                  <a:pt x="158737" y="2777235"/>
                </a:lnTo>
                <a:lnTo>
                  <a:pt x="158737" y="2770885"/>
                </a:lnTo>
                <a:close/>
              </a:path>
              <a:path w="2945765" h="281559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945765" h="2815590">
                <a:moveTo>
                  <a:pt x="2945244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945244" y="12700"/>
                </a:lnTo>
                <a:lnTo>
                  <a:pt x="2945244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5790" y="1199133"/>
            <a:ext cx="2945765" cy="4352925"/>
          </a:xfrm>
          <a:custGeom>
            <a:avLst/>
            <a:gdLst/>
            <a:ahLst/>
            <a:cxnLst/>
            <a:rect l="l" t="t" r="r" b="b"/>
            <a:pathLst>
              <a:path w="2945765" h="4352925">
                <a:moveTo>
                  <a:pt x="158737" y="4276471"/>
                </a:moveTo>
                <a:lnTo>
                  <a:pt x="158737" y="4352671"/>
                </a:lnTo>
                <a:lnTo>
                  <a:pt x="222237" y="4320921"/>
                </a:lnTo>
                <a:lnTo>
                  <a:pt x="171437" y="4320921"/>
                </a:lnTo>
                <a:lnTo>
                  <a:pt x="171437" y="4308221"/>
                </a:lnTo>
                <a:lnTo>
                  <a:pt x="222237" y="4308221"/>
                </a:lnTo>
                <a:lnTo>
                  <a:pt x="158737" y="4276471"/>
                </a:lnTo>
                <a:close/>
              </a:path>
              <a:path w="2945765" h="4352925">
                <a:moveTo>
                  <a:pt x="2945244" y="0"/>
                </a:moveTo>
                <a:lnTo>
                  <a:pt x="0" y="0"/>
                </a:lnTo>
                <a:lnTo>
                  <a:pt x="0" y="4320921"/>
                </a:lnTo>
                <a:lnTo>
                  <a:pt x="158737" y="4320921"/>
                </a:lnTo>
                <a:lnTo>
                  <a:pt x="158737" y="4314571"/>
                </a:lnTo>
                <a:lnTo>
                  <a:pt x="12700" y="4314571"/>
                </a:lnTo>
                <a:lnTo>
                  <a:pt x="6350" y="4308221"/>
                </a:lnTo>
                <a:lnTo>
                  <a:pt x="12700" y="4308221"/>
                </a:lnTo>
                <a:lnTo>
                  <a:pt x="12700" y="12699"/>
                </a:lnTo>
                <a:lnTo>
                  <a:pt x="6350" y="12700"/>
                </a:lnTo>
                <a:lnTo>
                  <a:pt x="12700" y="6350"/>
                </a:lnTo>
                <a:lnTo>
                  <a:pt x="2945244" y="6350"/>
                </a:lnTo>
                <a:lnTo>
                  <a:pt x="2945244" y="0"/>
                </a:lnTo>
                <a:close/>
              </a:path>
              <a:path w="2945765" h="4352925">
                <a:moveTo>
                  <a:pt x="222237" y="4308221"/>
                </a:moveTo>
                <a:lnTo>
                  <a:pt x="171437" y="4308221"/>
                </a:lnTo>
                <a:lnTo>
                  <a:pt x="171437" y="4320921"/>
                </a:lnTo>
                <a:lnTo>
                  <a:pt x="222237" y="4320921"/>
                </a:lnTo>
                <a:lnTo>
                  <a:pt x="234937" y="4314571"/>
                </a:lnTo>
                <a:lnTo>
                  <a:pt x="222237" y="4308221"/>
                </a:lnTo>
                <a:close/>
              </a:path>
              <a:path w="2945765" h="4352925">
                <a:moveTo>
                  <a:pt x="12700" y="4308221"/>
                </a:moveTo>
                <a:lnTo>
                  <a:pt x="6350" y="4308221"/>
                </a:lnTo>
                <a:lnTo>
                  <a:pt x="12700" y="4314571"/>
                </a:lnTo>
                <a:lnTo>
                  <a:pt x="12700" y="4308221"/>
                </a:lnTo>
                <a:close/>
              </a:path>
              <a:path w="2945765" h="4352925">
                <a:moveTo>
                  <a:pt x="158737" y="4308221"/>
                </a:moveTo>
                <a:lnTo>
                  <a:pt x="12700" y="4308221"/>
                </a:lnTo>
                <a:lnTo>
                  <a:pt x="12700" y="4314571"/>
                </a:lnTo>
                <a:lnTo>
                  <a:pt x="158737" y="4314571"/>
                </a:lnTo>
                <a:lnTo>
                  <a:pt x="158737" y="4308221"/>
                </a:lnTo>
                <a:close/>
              </a:path>
              <a:path w="2945765" h="4352925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945765" h="4352925">
                <a:moveTo>
                  <a:pt x="2945244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945244" y="12700"/>
                </a:lnTo>
                <a:lnTo>
                  <a:pt x="2945244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20681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代工模式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劣势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分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01923" y="984503"/>
            <a:ext cx="2799715" cy="443865"/>
          </a:xfrm>
          <a:custGeom>
            <a:avLst/>
            <a:gdLst/>
            <a:ahLst/>
            <a:cxnLst/>
            <a:rect l="l" t="t" r="r" b="b"/>
            <a:pathLst>
              <a:path w="2799715" h="443865">
                <a:moveTo>
                  <a:pt x="2725674" y="0"/>
                </a:moveTo>
                <a:lnTo>
                  <a:pt x="73913" y="0"/>
                </a:ln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3"/>
                </a:lnTo>
                <a:lnTo>
                  <a:pt x="0" y="369570"/>
                </a:lnTo>
                <a:lnTo>
                  <a:pt x="5816" y="398317"/>
                </a:lnTo>
                <a:lnTo>
                  <a:pt x="21669" y="421814"/>
                </a:lnTo>
                <a:lnTo>
                  <a:pt x="45166" y="437667"/>
                </a:lnTo>
                <a:lnTo>
                  <a:pt x="73913" y="443484"/>
                </a:lnTo>
                <a:lnTo>
                  <a:pt x="2725674" y="443484"/>
                </a:lnTo>
                <a:lnTo>
                  <a:pt x="2754421" y="437667"/>
                </a:lnTo>
                <a:lnTo>
                  <a:pt x="2777918" y="421814"/>
                </a:lnTo>
                <a:lnTo>
                  <a:pt x="2793771" y="398317"/>
                </a:lnTo>
                <a:lnTo>
                  <a:pt x="2799588" y="369570"/>
                </a:lnTo>
                <a:lnTo>
                  <a:pt x="2799588" y="73913"/>
                </a:lnTo>
                <a:lnTo>
                  <a:pt x="2793771" y="45166"/>
                </a:lnTo>
                <a:lnTo>
                  <a:pt x="2777918" y="21669"/>
                </a:lnTo>
                <a:lnTo>
                  <a:pt x="2754421" y="5816"/>
                </a:lnTo>
                <a:lnTo>
                  <a:pt x="272567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75353" y="1068704"/>
            <a:ext cx="12515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代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工模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式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劣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8431" y="1527047"/>
            <a:ext cx="8385175" cy="1887220"/>
          </a:xfrm>
          <a:custGeom>
            <a:avLst/>
            <a:gdLst/>
            <a:ahLst/>
            <a:cxnLst/>
            <a:rect l="l" t="t" r="r" b="b"/>
            <a:pathLst>
              <a:path w="8385175" h="1887220">
                <a:moveTo>
                  <a:pt x="0" y="1886712"/>
                </a:moveTo>
                <a:lnTo>
                  <a:pt x="8385048" y="1886712"/>
                </a:lnTo>
                <a:lnTo>
                  <a:pt x="8385048" y="0"/>
                </a:lnTo>
                <a:lnTo>
                  <a:pt x="0" y="0"/>
                </a:lnTo>
                <a:lnTo>
                  <a:pt x="0" y="1886712"/>
                </a:lnTo>
                <a:close/>
              </a:path>
            </a:pathLst>
          </a:custGeom>
          <a:solidFill>
            <a:srgbClr val="66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173593" y="1911858"/>
            <a:ext cx="254000" cy="1110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98500"/>
              </a:lnSpc>
              <a:spcBef>
                <a:spcPts val="130"/>
              </a:spcBef>
            </a:pPr>
            <a:r>
              <a:rPr dirty="0" sz="1800" b="1">
                <a:latin typeface="明兰"/>
                <a:cs typeface="明兰"/>
              </a:rPr>
              <a:t>生 产 因 素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8431" y="3409188"/>
            <a:ext cx="8385175" cy="3108960"/>
          </a:xfrm>
          <a:custGeom>
            <a:avLst/>
            <a:gdLst/>
            <a:ahLst/>
            <a:cxnLst/>
            <a:rect l="l" t="t" r="r" b="b"/>
            <a:pathLst>
              <a:path w="8385175" h="3108959">
                <a:moveTo>
                  <a:pt x="0" y="3108960"/>
                </a:moveTo>
                <a:lnTo>
                  <a:pt x="8385048" y="3108960"/>
                </a:lnTo>
                <a:lnTo>
                  <a:pt x="8385048" y="0"/>
                </a:lnTo>
                <a:lnTo>
                  <a:pt x="0" y="0"/>
                </a:lnTo>
                <a:lnTo>
                  <a:pt x="0" y="3108960"/>
                </a:lnTo>
                <a:close/>
              </a:path>
            </a:pathLst>
          </a:custGeom>
          <a:solidFill>
            <a:srgbClr val="C39E6B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173593" y="4138421"/>
            <a:ext cx="254635" cy="11112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98500"/>
              </a:lnSpc>
              <a:spcBef>
                <a:spcPts val="130"/>
              </a:spcBef>
            </a:pPr>
            <a:r>
              <a:rPr dirty="0" sz="1800" b="1">
                <a:latin typeface="明兰"/>
                <a:cs typeface="明兰"/>
              </a:rPr>
              <a:t>议 </a:t>
            </a:r>
            <a:r>
              <a:rPr dirty="0" sz="1800" b="1">
                <a:latin typeface="明兰"/>
                <a:cs typeface="明兰"/>
              </a:rPr>
              <a:t>价 </a:t>
            </a:r>
            <a:r>
              <a:rPr dirty="0" sz="1800" b="1">
                <a:latin typeface="明兰"/>
                <a:cs typeface="明兰"/>
              </a:rPr>
              <a:t>因 素</a:t>
            </a:r>
            <a:endParaRPr sz="18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0559" y="1488947"/>
            <a:ext cx="8133715" cy="2283460"/>
          </a:xfrm>
          <a:custGeom>
            <a:avLst/>
            <a:gdLst/>
            <a:ahLst/>
            <a:cxnLst/>
            <a:rect l="l" t="t" r="r" b="b"/>
            <a:pathLst>
              <a:path w="8133715" h="2283460">
                <a:moveTo>
                  <a:pt x="0" y="2282952"/>
                </a:moveTo>
                <a:lnTo>
                  <a:pt x="8133588" y="2282952"/>
                </a:lnTo>
                <a:lnTo>
                  <a:pt x="8133588" y="0"/>
                </a:lnTo>
                <a:lnTo>
                  <a:pt x="0" y="0"/>
                </a:lnTo>
                <a:lnTo>
                  <a:pt x="0" y="2282952"/>
                </a:lnTo>
                <a:close/>
              </a:path>
            </a:pathLst>
          </a:custGeom>
          <a:solidFill>
            <a:srgbClr val="66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70559" y="3787140"/>
            <a:ext cx="8133715" cy="809625"/>
          </a:xfrm>
          <a:custGeom>
            <a:avLst/>
            <a:gdLst/>
            <a:ahLst/>
            <a:cxnLst/>
            <a:rect l="l" t="t" r="r" b="b"/>
            <a:pathLst>
              <a:path w="8133715" h="809625">
                <a:moveTo>
                  <a:pt x="0" y="809244"/>
                </a:moveTo>
                <a:lnTo>
                  <a:pt x="8133588" y="809244"/>
                </a:lnTo>
                <a:lnTo>
                  <a:pt x="8133588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solidFill>
            <a:srgbClr val="C39E6B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0559" y="4596384"/>
            <a:ext cx="8133715" cy="2115820"/>
          </a:xfrm>
          <a:custGeom>
            <a:avLst/>
            <a:gdLst/>
            <a:ahLst/>
            <a:cxnLst/>
            <a:rect l="l" t="t" r="r" b="b"/>
            <a:pathLst>
              <a:path w="8133715" h="2115820">
                <a:moveTo>
                  <a:pt x="0" y="2115312"/>
                </a:moveTo>
                <a:lnTo>
                  <a:pt x="8133588" y="2115312"/>
                </a:lnTo>
                <a:lnTo>
                  <a:pt x="8133588" y="0"/>
                </a:lnTo>
                <a:lnTo>
                  <a:pt x="0" y="0"/>
                </a:lnTo>
                <a:lnTo>
                  <a:pt x="0" y="2115312"/>
                </a:lnTo>
                <a:close/>
              </a:path>
            </a:pathLst>
          </a:custGeom>
          <a:solidFill>
            <a:srgbClr val="AEABAB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37559" y="954024"/>
            <a:ext cx="2799715" cy="443865"/>
          </a:xfrm>
          <a:custGeom>
            <a:avLst/>
            <a:gdLst/>
            <a:ahLst/>
            <a:cxnLst/>
            <a:rect l="l" t="t" r="r" b="b"/>
            <a:pathLst>
              <a:path w="2799715" h="443865">
                <a:moveTo>
                  <a:pt x="2725674" y="0"/>
                </a:moveTo>
                <a:lnTo>
                  <a:pt x="73913" y="0"/>
                </a:ln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3"/>
                </a:lnTo>
                <a:lnTo>
                  <a:pt x="0" y="369570"/>
                </a:lnTo>
                <a:lnTo>
                  <a:pt x="5816" y="398317"/>
                </a:lnTo>
                <a:lnTo>
                  <a:pt x="21669" y="421814"/>
                </a:lnTo>
                <a:lnTo>
                  <a:pt x="45166" y="437667"/>
                </a:lnTo>
                <a:lnTo>
                  <a:pt x="73913" y="443484"/>
                </a:lnTo>
                <a:lnTo>
                  <a:pt x="2725674" y="443484"/>
                </a:lnTo>
                <a:lnTo>
                  <a:pt x="2754421" y="437667"/>
                </a:lnTo>
                <a:lnTo>
                  <a:pt x="2777918" y="421814"/>
                </a:lnTo>
                <a:lnTo>
                  <a:pt x="2793771" y="398317"/>
                </a:lnTo>
                <a:lnTo>
                  <a:pt x="2799588" y="369570"/>
                </a:lnTo>
                <a:lnTo>
                  <a:pt x="2799588" y="73913"/>
                </a:lnTo>
                <a:lnTo>
                  <a:pt x="2793771" y="45166"/>
                </a:lnTo>
                <a:lnTo>
                  <a:pt x="2777918" y="21669"/>
                </a:lnTo>
                <a:lnTo>
                  <a:pt x="2754421" y="5816"/>
                </a:lnTo>
                <a:lnTo>
                  <a:pt x="272567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11497" y="1037590"/>
            <a:ext cx="12515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代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工模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式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优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5327" y="1612391"/>
            <a:ext cx="5097780" cy="911860"/>
          </a:xfrm>
          <a:custGeom>
            <a:avLst/>
            <a:gdLst/>
            <a:ahLst/>
            <a:cxnLst/>
            <a:rect l="l" t="t" r="r" b="b"/>
            <a:pathLst>
              <a:path w="5097780" h="911860">
                <a:moveTo>
                  <a:pt x="0" y="151892"/>
                </a:moveTo>
                <a:lnTo>
                  <a:pt x="7737" y="103859"/>
                </a:lnTo>
                <a:lnTo>
                  <a:pt x="29289" y="62160"/>
                </a:lnTo>
                <a:lnTo>
                  <a:pt x="62160" y="29289"/>
                </a:lnTo>
                <a:lnTo>
                  <a:pt x="103859" y="7737"/>
                </a:lnTo>
                <a:lnTo>
                  <a:pt x="151892" y="0"/>
                </a:lnTo>
                <a:lnTo>
                  <a:pt x="4945888" y="0"/>
                </a:lnTo>
                <a:lnTo>
                  <a:pt x="4993920" y="7737"/>
                </a:lnTo>
                <a:lnTo>
                  <a:pt x="5035619" y="29289"/>
                </a:lnTo>
                <a:lnTo>
                  <a:pt x="5068490" y="62160"/>
                </a:lnTo>
                <a:lnTo>
                  <a:pt x="5090042" y="103859"/>
                </a:lnTo>
                <a:lnTo>
                  <a:pt x="5097780" y="151892"/>
                </a:lnTo>
                <a:lnTo>
                  <a:pt x="5097780" y="759460"/>
                </a:lnTo>
                <a:lnTo>
                  <a:pt x="5090042" y="807492"/>
                </a:lnTo>
                <a:lnTo>
                  <a:pt x="5068490" y="849191"/>
                </a:lnTo>
                <a:lnTo>
                  <a:pt x="5035619" y="882062"/>
                </a:lnTo>
                <a:lnTo>
                  <a:pt x="4993920" y="903614"/>
                </a:lnTo>
                <a:lnTo>
                  <a:pt x="4945888" y="911352"/>
                </a:lnTo>
                <a:lnTo>
                  <a:pt x="151892" y="911352"/>
                </a:lnTo>
                <a:lnTo>
                  <a:pt x="103859" y="903614"/>
                </a:lnTo>
                <a:lnTo>
                  <a:pt x="62160" y="882062"/>
                </a:lnTo>
                <a:lnTo>
                  <a:pt x="29289" y="849191"/>
                </a:lnTo>
                <a:lnTo>
                  <a:pt x="7737" y="807492"/>
                </a:lnTo>
                <a:lnTo>
                  <a:pt x="0" y="759460"/>
                </a:lnTo>
                <a:lnTo>
                  <a:pt x="0" y="151892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29152" y="1696973"/>
            <a:ext cx="4768850" cy="81026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99085" marR="5080" indent="-286385">
              <a:lnSpc>
                <a:spcPts val="1500"/>
              </a:lnSpc>
              <a:spcBef>
                <a:spcPts val="1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300" spc="-5">
                <a:latin typeface="宋体"/>
                <a:cs typeface="宋体"/>
              </a:rPr>
              <a:t>同一代</a:t>
            </a:r>
            <a:r>
              <a:rPr dirty="0" sz="1300" spc="5">
                <a:latin typeface="宋体"/>
                <a:cs typeface="宋体"/>
              </a:rPr>
              <a:t>工</a:t>
            </a:r>
            <a:r>
              <a:rPr dirty="0" sz="1300" spc="-5">
                <a:latin typeface="宋体"/>
                <a:cs typeface="宋体"/>
              </a:rPr>
              <a:t>厂可</a:t>
            </a:r>
            <a:r>
              <a:rPr dirty="0" sz="1300" spc="5">
                <a:latin typeface="宋体"/>
                <a:cs typeface="宋体"/>
              </a:rPr>
              <a:t>能</a:t>
            </a:r>
            <a:r>
              <a:rPr dirty="0" sz="1300" spc="-5">
                <a:latin typeface="宋体"/>
                <a:cs typeface="宋体"/>
              </a:rPr>
              <a:t>同</a:t>
            </a:r>
            <a:r>
              <a:rPr dirty="0" sz="1300" spc="5">
                <a:latin typeface="宋体"/>
                <a:cs typeface="宋体"/>
              </a:rPr>
              <a:t>时</a:t>
            </a:r>
            <a:r>
              <a:rPr dirty="0" sz="1300" spc="-5">
                <a:latin typeface="宋体"/>
                <a:cs typeface="宋体"/>
              </a:rPr>
              <a:t>负责多</a:t>
            </a:r>
            <a:r>
              <a:rPr dirty="0" sz="1300" spc="5">
                <a:latin typeface="宋体"/>
                <a:cs typeface="宋体"/>
              </a:rPr>
              <a:t>家</a:t>
            </a:r>
            <a:r>
              <a:rPr dirty="0" sz="1300" spc="-5">
                <a:latin typeface="宋体"/>
                <a:cs typeface="宋体"/>
              </a:rPr>
              <a:t>品牌</a:t>
            </a:r>
            <a:r>
              <a:rPr dirty="0" sz="1300" spc="5">
                <a:latin typeface="宋体"/>
                <a:cs typeface="宋体"/>
              </a:rPr>
              <a:t>厂</a:t>
            </a:r>
            <a:r>
              <a:rPr dirty="0" sz="1300" spc="-5">
                <a:latin typeface="宋体"/>
                <a:cs typeface="宋体"/>
              </a:rPr>
              <a:t>商</a:t>
            </a:r>
            <a:r>
              <a:rPr dirty="0" sz="1300" spc="5">
                <a:latin typeface="宋体"/>
                <a:cs typeface="宋体"/>
              </a:rPr>
              <a:t>的</a:t>
            </a:r>
            <a:r>
              <a:rPr dirty="0" sz="1300" spc="-5">
                <a:latin typeface="宋体"/>
                <a:cs typeface="宋体"/>
              </a:rPr>
              <a:t>代</a:t>
            </a:r>
            <a:r>
              <a:rPr dirty="0" sz="1300">
                <a:latin typeface="宋体"/>
                <a:cs typeface="宋体"/>
              </a:rPr>
              <a:t>工</a:t>
            </a:r>
            <a:r>
              <a:rPr dirty="0" sz="1300" spc="-5">
                <a:latin typeface="宋体"/>
                <a:cs typeface="宋体"/>
              </a:rPr>
              <a:t>。</a:t>
            </a:r>
            <a:r>
              <a:rPr dirty="0" sz="1300" spc="5">
                <a:latin typeface="宋体"/>
                <a:cs typeface="宋体"/>
              </a:rPr>
              <a:t>在</a:t>
            </a:r>
            <a:r>
              <a:rPr dirty="0" sz="1300" spc="-5">
                <a:latin typeface="宋体"/>
                <a:cs typeface="宋体"/>
              </a:rPr>
              <a:t>部分</a:t>
            </a:r>
            <a:r>
              <a:rPr dirty="0" sz="1300" spc="5">
                <a:latin typeface="宋体"/>
                <a:cs typeface="宋体"/>
              </a:rPr>
              <a:t>通</a:t>
            </a:r>
            <a:r>
              <a:rPr dirty="0" sz="1300" spc="-5">
                <a:latin typeface="宋体"/>
                <a:cs typeface="宋体"/>
              </a:rPr>
              <a:t>用散 </a:t>
            </a:r>
            <a:r>
              <a:rPr dirty="0" sz="1300" spc="-5">
                <a:latin typeface="宋体"/>
                <a:cs typeface="宋体"/>
              </a:rPr>
              <a:t>件的采</a:t>
            </a:r>
            <a:r>
              <a:rPr dirty="0" sz="1300" spc="5">
                <a:latin typeface="宋体"/>
                <a:cs typeface="宋体"/>
              </a:rPr>
              <a:t>购</a:t>
            </a:r>
            <a:r>
              <a:rPr dirty="0" sz="1300" spc="-5">
                <a:latin typeface="宋体"/>
                <a:cs typeface="宋体"/>
              </a:rPr>
              <a:t>、通</a:t>
            </a:r>
            <a:r>
              <a:rPr dirty="0" sz="1300" spc="5">
                <a:latin typeface="宋体"/>
                <a:cs typeface="宋体"/>
              </a:rPr>
              <a:t>用</a:t>
            </a:r>
            <a:r>
              <a:rPr dirty="0" sz="1300" spc="-5">
                <a:latin typeface="宋体"/>
                <a:cs typeface="宋体"/>
              </a:rPr>
              <a:t>生</a:t>
            </a:r>
            <a:r>
              <a:rPr dirty="0" sz="1300" spc="5">
                <a:latin typeface="宋体"/>
                <a:cs typeface="宋体"/>
              </a:rPr>
              <a:t>产</a:t>
            </a:r>
            <a:r>
              <a:rPr dirty="0" sz="1300" spc="-5">
                <a:latin typeface="宋体"/>
                <a:cs typeface="宋体"/>
              </a:rPr>
              <a:t>线的共</a:t>
            </a:r>
            <a:r>
              <a:rPr dirty="0" sz="1300" spc="5">
                <a:latin typeface="宋体"/>
                <a:cs typeface="宋体"/>
              </a:rPr>
              <a:t>享</a:t>
            </a:r>
            <a:r>
              <a:rPr dirty="0" sz="1300" spc="-5">
                <a:latin typeface="宋体"/>
                <a:cs typeface="宋体"/>
              </a:rPr>
              <a:t>以及</a:t>
            </a:r>
            <a:r>
              <a:rPr dirty="0" sz="1300" spc="5">
                <a:latin typeface="宋体"/>
                <a:cs typeface="宋体"/>
              </a:rPr>
              <a:t>管</a:t>
            </a:r>
            <a:r>
              <a:rPr dirty="0" sz="1300" spc="-15">
                <a:latin typeface="宋体"/>
                <a:cs typeface="宋体"/>
              </a:rPr>
              <a:t>理</a:t>
            </a:r>
            <a:r>
              <a:rPr dirty="0" sz="1300" spc="5">
                <a:latin typeface="宋体"/>
                <a:cs typeface="宋体"/>
              </a:rPr>
              <a:t>等</a:t>
            </a:r>
            <a:r>
              <a:rPr dirty="0" sz="1300" spc="-5">
                <a:latin typeface="宋体"/>
                <a:cs typeface="宋体"/>
              </a:rPr>
              <a:t>方面具</a:t>
            </a:r>
            <a:r>
              <a:rPr dirty="0" sz="1300" spc="5">
                <a:latin typeface="宋体"/>
                <a:cs typeface="宋体"/>
              </a:rPr>
              <a:t>有</a:t>
            </a:r>
            <a:r>
              <a:rPr dirty="0" sz="1300" spc="-5">
                <a:latin typeface="宋体"/>
                <a:cs typeface="宋体"/>
              </a:rPr>
              <a:t>规模</a:t>
            </a:r>
            <a:r>
              <a:rPr dirty="0" sz="1300" spc="5">
                <a:latin typeface="宋体"/>
                <a:cs typeface="宋体"/>
              </a:rPr>
              <a:t>效</a:t>
            </a:r>
            <a:r>
              <a:rPr dirty="0" sz="1300" spc="-5">
                <a:latin typeface="宋体"/>
                <a:cs typeface="宋体"/>
              </a:rPr>
              <a:t>应</a:t>
            </a:r>
            <a:endParaRPr sz="1300">
              <a:latin typeface="宋体"/>
              <a:cs typeface="宋体"/>
            </a:endParaRPr>
          </a:p>
          <a:p>
            <a:pPr marL="299085" indent="-286385">
              <a:lnSpc>
                <a:spcPts val="152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300" spc="-5">
                <a:latin typeface="宋体"/>
                <a:cs typeface="宋体"/>
              </a:rPr>
              <a:t>如</a:t>
            </a:r>
            <a:r>
              <a:rPr dirty="0" sz="1300" spc="-10">
                <a:latin typeface="Arial"/>
                <a:cs typeface="Arial"/>
              </a:rPr>
              <a:t>Electronic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System</a:t>
            </a:r>
            <a:r>
              <a:rPr dirty="0" sz="1300" spc="-5">
                <a:latin typeface="宋体"/>
                <a:cs typeface="宋体"/>
              </a:rPr>
              <a:t>同时是</a:t>
            </a:r>
            <a:r>
              <a:rPr dirty="0" sz="1300" spc="-5">
                <a:latin typeface="Arial"/>
                <a:cs typeface="Arial"/>
              </a:rPr>
              <a:t>Moto</a:t>
            </a:r>
            <a:r>
              <a:rPr dirty="0" sz="1300" spc="-5">
                <a:latin typeface="宋体"/>
                <a:cs typeface="宋体"/>
              </a:rPr>
              <a:t>、</a:t>
            </a:r>
            <a:r>
              <a:rPr dirty="0" sz="1300" spc="-5">
                <a:latin typeface="Arial"/>
                <a:cs typeface="Arial"/>
              </a:rPr>
              <a:t>LG</a:t>
            </a:r>
            <a:r>
              <a:rPr dirty="0" sz="1300" spc="5">
                <a:latin typeface="宋体"/>
                <a:cs typeface="宋体"/>
              </a:rPr>
              <a:t>等</a:t>
            </a:r>
            <a:r>
              <a:rPr dirty="0" sz="1300" spc="-5">
                <a:latin typeface="宋体"/>
                <a:cs typeface="宋体"/>
              </a:rPr>
              <a:t>品牌</a:t>
            </a:r>
            <a:r>
              <a:rPr dirty="0" sz="1300" spc="5">
                <a:latin typeface="宋体"/>
                <a:cs typeface="宋体"/>
              </a:rPr>
              <a:t>的</a:t>
            </a:r>
            <a:r>
              <a:rPr dirty="0" sz="1300" spc="-5">
                <a:latin typeface="宋体"/>
                <a:cs typeface="宋体"/>
              </a:rPr>
              <a:t>代工</a:t>
            </a:r>
            <a:r>
              <a:rPr dirty="0" sz="1300" spc="10">
                <a:latin typeface="宋体"/>
                <a:cs typeface="宋体"/>
              </a:rPr>
              <a:t>商</a:t>
            </a:r>
            <a:r>
              <a:rPr dirty="0" sz="1300" spc="-5">
                <a:latin typeface="宋体"/>
                <a:cs typeface="宋体"/>
              </a:rPr>
              <a:t>，除此</a:t>
            </a:r>
            <a:endParaRPr sz="1300">
              <a:latin typeface="宋体"/>
              <a:cs typeface="宋体"/>
            </a:endParaRPr>
          </a:p>
          <a:p>
            <a:pPr marL="299085">
              <a:lnSpc>
                <a:spcPct val="100000"/>
              </a:lnSpc>
            </a:pPr>
            <a:r>
              <a:rPr dirty="0" sz="1300" spc="-5">
                <a:latin typeface="宋体"/>
                <a:cs typeface="宋体"/>
              </a:rPr>
              <a:t>之</a:t>
            </a:r>
            <a:r>
              <a:rPr dirty="0" sz="1300" spc="-15">
                <a:latin typeface="宋体"/>
                <a:cs typeface="宋体"/>
              </a:rPr>
              <a:t>外</a:t>
            </a:r>
            <a:r>
              <a:rPr dirty="0" sz="1300" spc="-5">
                <a:latin typeface="宋体"/>
                <a:cs typeface="宋体"/>
              </a:rPr>
              <a:t>还</a:t>
            </a:r>
            <a:r>
              <a:rPr dirty="0" sz="1300">
                <a:latin typeface="宋体"/>
                <a:cs typeface="宋体"/>
              </a:rPr>
              <a:t>拥</a:t>
            </a:r>
            <a:r>
              <a:rPr dirty="0" sz="1300" spc="-5">
                <a:latin typeface="宋体"/>
                <a:cs typeface="宋体"/>
              </a:rPr>
              <a:t>有</a:t>
            </a:r>
            <a:r>
              <a:rPr dirty="0" sz="1300" spc="-15">
                <a:latin typeface="宋体"/>
                <a:cs typeface="宋体"/>
              </a:rPr>
              <a:t>自</a:t>
            </a:r>
            <a:r>
              <a:rPr dirty="0" sz="1300">
                <a:latin typeface="宋体"/>
                <a:cs typeface="宋体"/>
              </a:rPr>
              <a:t>有</a:t>
            </a:r>
            <a:r>
              <a:rPr dirty="0" sz="1300" spc="-5">
                <a:latin typeface="宋体"/>
                <a:cs typeface="宋体"/>
              </a:rPr>
              <a:t>小</a:t>
            </a:r>
            <a:r>
              <a:rPr dirty="0" sz="1300">
                <a:latin typeface="宋体"/>
                <a:cs typeface="宋体"/>
              </a:rPr>
              <a:t>众</a:t>
            </a:r>
            <a:r>
              <a:rPr dirty="0" sz="1300" spc="-5">
                <a:latin typeface="宋体"/>
                <a:cs typeface="宋体"/>
              </a:rPr>
              <a:t>手机</a:t>
            </a:r>
            <a:r>
              <a:rPr dirty="0" sz="1300" spc="-10">
                <a:latin typeface="宋体"/>
                <a:cs typeface="宋体"/>
              </a:rPr>
              <a:t>品牌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09900" y="2676144"/>
            <a:ext cx="5093335" cy="1021080"/>
          </a:xfrm>
          <a:custGeom>
            <a:avLst/>
            <a:gdLst/>
            <a:ahLst/>
            <a:cxnLst/>
            <a:rect l="l" t="t" r="r" b="b"/>
            <a:pathLst>
              <a:path w="5093334" h="1021079">
                <a:moveTo>
                  <a:pt x="0" y="170179"/>
                </a:moveTo>
                <a:lnTo>
                  <a:pt x="6079" y="124942"/>
                </a:lnTo>
                <a:lnTo>
                  <a:pt x="23236" y="84290"/>
                </a:lnTo>
                <a:lnTo>
                  <a:pt x="49847" y="49847"/>
                </a:lnTo>
                <a:lnTo>
                  <a:pt x="84290" y="23236"/>
                </a:lnTo>
                <a:lnTo>
                  <a:pt x="124942" y="6079"/>
                </a:lnTo>
                <a:lnTo>
                  <a:pt x="170180" y="0"/>
                </a:lnTo>
                <a:lnTo>
                  <a:pt x="4923028" y="0"/>
                </a:lnTo>
                <a:lnTo>
                  <a:pt x="4968265" y="6079"/>
                </a:lnTo>
                <a:lnTo>
                  <a:pt x="5008917" y="23236"/>
                </a:lnTo>
                <a:lnTo>
                  <a:pt x="5043360" y="49847"/>
                </a:lnTo>
                <a:lnTo>
                  <a:pt x="5069971" y="84290"/>
                </a:lnTo>
                <a:lnTo>
                  <a:pt x="5087128" y="124942"/>
                </a:lnTo>
                <a:lnTo>
                  <a:pt x="5093208" y="170179"/>
                </a:lnTo>
                <a:lnTo>
                  <a:pt x="5093208" y="850900"/>
                </a:lnTo>
                <a:lnTo>
                  <a:pt x="5087128" y="896137"/>
                </a:lnTo>
                <a:lnTo>
                  <a:pt x="5069971" y="936789"/>
                </a:lnTo>
                <a:lnTo>
                  <a:pt x="5043360" y="971232"/>
                </a:lnTo>
                <a:lnTo>
                  <a:pt x="5008917" y="997843"/>
                </a:lnTo>
                <a:lnTo>
                  <a:pt x="4968265" y="1015000"/>
                </a:lnTo>
                <a:lnTo>
                  <a:pt x="4923028" y="1021079"/>
                </a:lnTo>
                <a:lnTo>
                  <a:pt x="170180" y="1021079"/>
                </a:lnTo>
                <a:lnTo>
                  <a:pt x="124942" y="1015000"/>
                </a:lnTo>
                <a:lnTo>
                  <a:pt x="84290" y="997843"/>
                </a:lnTo>
                <a:lnTo>
                  <a:pt x="49847" y="971232"/>
                </a:lnTo>
                <a:lnTo>
                  <a:pt x="23236" y="936789"/>
                </a:lnTo>
                <a:lnTo>
                  <a:pt x="6079" y="896137"/>
                </a:lnTo>
                <a:lnTo>
                  <a:pt x="0" y="850900"/>
                </a:lnTo>
                <a:lnTo>
                  <a:pt x="0" y="170179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39567" y="2677413"/>
            <a:ext cx="4695190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7329" indent="-2146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27329" algn="l"/>
                <a:tab pos="227965" algn="l"/>
              </a:tabLst>
            </a:pPr>
            <a:r>
              <a:rPr dirty="0" sz="1300" spc="-5">
                <a:latin typeface="宋体"/>
                <a:cs typeface="宋体"/>
              </a:rPr>
              <a:t>合同签</a:t>
            </a:r>
            <a:r>
              <a:rPr dirty="0" sz="1300" spc="5">
                <a:latin typeface="宋体"/>
                <a:cs typeface="宋体"/>
              </a:rPr>
              <a:t>订</a:t>
            </a:r>
            <a:r>
              <a:rPr dirty="0" sz="1300" spc="-5">
                <a:latin typeface="宋体"/>
                <a:cs typeface="宋体"/>
              </a:rPr>
              <a:t>灵活</a:t>
            </a:r>
            <a:r>
              <a:rPr dirty="0" sz="1300" spc="5">
                <a:latin typeface="宋体"/>
                <a:cs typeface="宋体"/>
              </a:rPr>
              <a:t>、</a:t>
            </a:r>
            <a:r>
              <a:rPr dirty="0" sz="1300" spc="-5">
                <a:latin typeface="宋体"/>
                <a:cs typeface="宋体"/>
              </a:rPr>
              <a:t>产</a:t>
            </a:r>
            <a:r>
              <a:rPr dirty="0" sz="1300" spc="5">
                <a:latin typeface="宋体"/>
                <a:cs typeface="宋体"/>
              </a:rPr>
              <a:t>能</a:t>
            </a:r>
            <a:r>
              <a:rPr dirty="0" sz="1300" spc="-5">
                <a:latin typeface="宋体"/>
                <a:cs typeface="宋体"/>
              </a:rPr>
              <a:t>增减灵</a:t>
            </a:r>
            <a:r>
              <a:rPr dirty="0" sz="1300" spc="15">
                <a:latin typeface="宋体"/>
                <a:cs typeface="宋体"/>
              </a:rPr>
              <a:t>活</a:t>
            </a:r>
            <a:r>
              <a:rPr dirty="0" sz="1300" spc="-5">
                <a:latin typeface="宋体"/>
                <a:cs typeface="宋体"/>
              </a:rPr>
              <a:t>。</a:t>
            </a:r>
            <a:endParaRPr sz="1300">
              <a:latin typeface="宋体"/>
              <a:cs typeface="宋体"/>
            </a:endParaRPr>
          </a:p>
          <a:p>
            <a:pPr algn="just" marL="227329" marR="5080" indent="-214629">
              <a:lnSpc>
                <a:spcPct val="98700"/>
              </a:lnSpc>
              <a:spcBef>
                <a:spcPts val="85"/>
              </a:spcBef>
              <a:buFont typeface="Arial"/>
              <a:buChar char="•"/>
              <a:tabLst>
                <a:tab pos="227965" algn="l"/>
              </a:tabLst>
            </a:pPr>
            <a:r>
              <a:rPr dirty="0" sz="1300" spc="-5">
                <a:latin typeface="宋体"/>
                <a:cs typeface="宋体"/>
              </a:rPr>
              <a:t>通过代</a:t>
            </a:r>
            <a:r>
              <a:rPr dirty="0" sz="1300" spc="5">
                <a:latin typeface="宋体"/>
                <a:cs typeface="宋体"/>
              </a:rPr>
              <a:t>工</a:t>
            </a:r>
            <a:r>
              <a:rPr dirty="0" sz="1300" spc="-5">
                <a:latin typeface="宋体"/>
                <a:cs typeface="宋体"/>
              </a:rPr>
              <a:t>厂委</a:t>
            </a:r>
            <a:r>
              <a:rPr dirty="0" sz="1300" spc="5">
                <a:latin typeface="宋体"/>
                <a:cs typeface="宋体"/>
              </a:rPr>
              <a:t>托</a:t>
            </a:r>
            <a:r>
              <a:rPr dirty="0" sz="1300" spc="-5">
                <a:latin typeface="宋体"/>
                <a:cs typeface="宋体"/>
              </a:rPr>
              <a:t>生</a:t>
            </a:r>
            <a:r>
              <a:rPr dirty="0" sz="1300" spc="5">
                <a:latin typeface="宋体"/>
                <a:cs typeface="宋体"/>
              </a:rPr>
              <a:t>产</a:t>
            </a:r>
            <a:r>
              <a:rPr dirty="0" sz="1300" spc="-5">
                <a:latin typeface="宋体"/>
                <a:cs typeface="宋体"/>
              </a:rPr>
              <a:t>相较于</a:t>
            </a:r>
            <a:r>
              <a:rPr dirty="0" sz="1300" spc="5">
                <a:latin typeface="宋体"/>
                <a:cs typeface="宋体"/>
              </a:rPr>
              <a:t>自</a:t>
            </a:r>
            <a:r>
              <a:rPr dirty="0" sz="1300" spc="-5">
                <a:latin typeface="宋体"/>
                <a:cs typeface="宋体"/>
              </a:rPr>
              <a:t>建工</a:t>
            </a:r>
            <a:r>
              <a:rPr dirty="0" sz="1300" spc="5">
                <a:latin typeface="宋体"/>
                <a:cs typeface="宋体"/>
              </a:rPr>
              <a:t>厂</a:t>
            </a:r>
            <a:r>
              <a:rPr dirty="0" sz="1300" spc="-5">
                <a:latin typeface="宋体"/>
                <a:cs typeface="宋体"/>
              </a:rPr>
              <a:t>来</a:t>
            </a:r>
            <a:r>
              <a:rPr dirty="0" sz="1300" spc="5">
                <a:latin typeface="宋体"/>
                <a:cs typeface="宋体"/>
              </a:rPr>
              <a:t>说</a:t>
            </a:r>
            <a:r>
              <a:rPr dirty="0" sz="1300" spc="-5">
                <a:latin typeface="宋体"/>
                <a:cs typeface="宋体"/>
              </a:rPr>
              <a:t>，可以</a:t>
            </a:r>
            <a:r>
              <a:rPr dirty="0" sz="1300" spc="5">
                <a:latin typeface="宋体"/>
                <a:cs typeface="宋体"/>
              </a:rPr>
              <a:t>更</a:t>
            </a:r>
            <a:r>
              <a:rPr dirty="0" sz="1300" spc="-5">
                <a:latin typeface="宋体"/>
                <a:cs typeface="宋体"/>
              </a:rPr>
              <a:t>加灵</a:t>
            </a:r>
            <a:r>
              <a:rPr dirty="0" sz="1300" spc="5">
                <a:latin typeface="宋体"/>
                <a:cs typeface="宋体"/>
              </a:rPr>
              <a:t>活</a:t>
            </a:r>
            <a:r>
              <a:rPr dirty="0" sz="1300" spc="-5">
                <a:latin typeface="宋体"/>
                <a:cs typeface="宋体"/>
              </a:rPr>
              <a:t>地根 据需求</a:t>
            </a:r>
            <a:r>
              <a:rPr dirty="0" sz="1300" spc="5">
                <a:latin typeface="宋体"/>
                <a:cs typeface="宋体"/>
              </a:rPr>
              <a:t>调</a:t>
            </a:r>
            <a:r>
              <a:rPr dirty="0" sz="1300" spc="-5">
                <a:latin typeface="宋体"/>
                <a:cs typeface="宋体"/>
              </a:rPr>
              <a:t>节产</a:t>
            </a:r>
            <a:r>
              <a:rPr dirty="0" sz="1300" spc="5">
                <a:latin typeface="宋体"/>
                <a:cs typeface="宋体"/>
              </a:rPr>
              <a:t>能</a:t>
            </a:r>
            <a:r>
              <a:rPr dirty="0" sz="1300" spc="-5">
                <a:latin typeface="宋体"/>
                <a:cs typeface="宋体"/>
              </a:rPr>
              <a:t>。</a:t>
            </a:r>
            <a:r>
              <a:rPr dirty="0" sz="1300" spc="5">
                <a:latin typeface="宋体"/>
                <a:cs typeface="宋体"/>
              </a:rPr>
              <a:t>在</a:t>
            </a:r>
            <a:r>
              <a:rPr dirty="0" sz="1300" spc="-5">
                <a:latin typeface="宋体"/>
                <a:cs typeface="宋体"/>
              </a:rPr>
              <a:t>需求扩</a:t>
            </a:r>
            <a:r>
              <a:rPr dirty="0" sz="1300" spc="5">
                <a:latin typeface="宋体"/>
                <a:cs typeface="宋体"/>
              </a:rPr>
              <a:t>张</a:t>
            </a:r>
            <a:r>
              <a:rPr dirty="0" sz="1300" spc="-5">
                <a:latin typeface="宋体"/>
                <a:cs typeface="宋体"/>
              </a:rPr>
              <a:t>时，</a:t>
            </a:r>
            <a:r>
              <a:rPr dirty="0" sz="1300" spc="5">
                <a:latin typeface="宋体"/>
                <a:cs typeface="宋体"/>
              </a:rPr>
              <a:t>可</a:t>
            </a:r>
            <a:r>
              <a:rPr dirty="0" sz="1300" spc="-5">
                <a:latin typeface="宋体"/>
                <a:cs typeface="宋体"/>
              </a:rPr>
              <a:t>以</a:t>
            </a:r>
            <a:r>
              <a:rPr dirty="0" sz="1300" spc="5">
                <a:latin typeface="宋体"/>
                <a:cs typeface="宋体"/>
              </a:rPr>
              <a:t>通</a:t>
            </a:r>
            <a:r>
              <a:rPr dirty="0" sz="1300" spc="-5">
                <a:latin typeface="宋体"/>
                <a:cs typeface="宋体"/>
              </a:rPr>
              <a:t>过签订</a:t>
            </a:r>
            <a:r>
              <a:rPr dirty="0" sz="1300" spc="5">
                <a:latin typeface="宋体"/>
                <a:cs typeface="宋体"/>
              </a:rPr>
              <a:t>更</a:t>
            </a:r>
            <a:r>
              <a:rPr dirty="0" sz="1300" spc="-5">
                <a:latin typeface="宋体"/>
                <a:cs typeface="宋体"/>
              </a:rPr>
              <a:t>多的</a:t>
            </a:r>
            <a:r>
              <a:rPr dirty="0" sz="1300" spc="5">
                <a:latin typeface="宋体"/>
                <a:cs typeface="宋体"/>
              </a:rPr>
              <a:t>代</a:t>
            </a:r>
            <a:r>
              <a:rPr dirty="0" sz="1300" spc="-5">
                <a:latin typeface="宋体"/>
                <a:cs typeface="宋体"/>
              </a:rPr>
              <a:t>工厂 来实现</a:t>
            </a:r>
            <a:r>
              <a:rPr dirty="0" sz="1300" spc="5">
                <a:latin typeface="宋体"/>
                <a:cs typeface="宋体"/>
              </a:rPr>
              <a:t>产</a:t>
            </a:r>
            <a:r>
              <a:rPr dirty="0" sz="1300" spc="-5">
                <a:latin typeface="宋体"/>
                <a:cs typeface="宋体"/>
              </a:rPr>
              <a:t>能的</a:t>
            </a:r>
            <a:r>
              <a:rPr dirty="0" sz="1300" spc="5">
                <a:latin typeface="宋体"/>
                <a:cs typeface="宋体"/>
              </a:rPr>
              <a:t>迅</a:t>
            </a:r>
            <a:r>
              <a:rPr dirty="0" sz="1300" spc="-5">
                <a:latin typeface="宋体"/>
                <a:cs typeface="宋体"/>
              </a:rPr>
              <a:t>速</a:t>
            </a:r>
            <a:r>
              <a:rPr dirty="0" sz="1300" spc="5">
                <a:latin typeface="宋体"/>
                <a:cs typeface="宋体"/>
              </a:rPr>
              <a:t>扩</a:t>
            </a:r>
            <a:r>
              <a:rPr dirty="0" sz="1300" spc="-5">
                <a:latin typeface="宋体"/>
                <a:cs typeface="宋体"/>
              </a:rPr>
              <a:t>张；在</a:t>
            </a:r>
            <a:r>
              <a:rPr dirty="0" sz="1300" spc="5">
                <a:latin typeface="宋体"/>
                <a:cs typeface="宋体"/>
              </a:rPr>
              <a:t>需</a:t>
            </a:r>
            <a:r>
              <a:rPr dirty="0" sz="1300" spc="-5">
                <a:latin typeface="宋体"/>
                <a:cs typeface="宋体"/>
              </a:rPr>
              <a:t>求不</a:t>
            </a:r>
            <a:r>
              <a:rPr dirty="0" sz="1300" spc="5">
                <a:latin typeface="宋体"/>
                <a:cs typeface="宋体"/>
              </a:rPr>
              <a:t>足</a:t>
            </a:r>
            <a:r>
              <a:rPr dirty="0" sz="1300" spc="-5">
                <a:latin typeface="宋体"/>
                <a:cs typeface="宋体"/>
              </a:rPr>
              <a:t>时</a:t>
            </a:r>
            <a:r>
              <a:rPr dirty="0" sz="1300" spc="5">
                <a:latin typeface="宋体"/>
                <a:cs typeface="宋体"/>
              </a:rPr>
              <a:t>，</a:t>
            </a:r>
            <a:r>
              <a:rPr dirty="0" sz="1300" spc="-5">
                <a:latin typeface="宋体"/>
                <a:cs typeface="宋体"/>
              </a:rPr>
              <a:t>可以在</a:t>
            </a:r>
            <a:r>
              <a:rPr dirty="0" sz="1300" spc="5">
                <a:latin typeface="宋体"/>
                <a:cs typeface="宋体"/>
              </a:rPr>
              <a:t>合</a:t>
            </a:r>
            <a:r>
              <a:rPr dirty="0" sz="1300" spc="-5">
                <a:latin typeface="宋体"/>
                <a:cs typeface="宋体"/>
              </a:rPr>
              <a:t>同到</a:t>
            </a:r>
            <a:r>
              <a:rPr dirty="0" sz="1300" spc="5">
                <a:latin typeface="宋体"/>
                <a:cs typeface="宋体"/>
              </a:rPr>
              <a:t>期</a:t>
            </a:r>
            <a:r>
              <a:rPr dirty="0" sz="1300" spc="-5">
                <a:latin typeface="宋体"/>
                <a:cs typeface="宋体"/>
              </a:rPr>
              <a:t>时及 </a:t>
            </a:r>
            <a:r>
              <a:rPr dirty="0" sz="1300" spc="-5">
                <a:latin typeface="宋体"/>
                <a:cs typeface="宋体"/>
              </a:rPr>
              <a:t>时调整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09900" y="4664964"/>
            <a:ext cx="5093335" cy="528955"/>
          </a:xfrm>
          <a:custGeom>
            <a:avLst/>
            <a:gdLst/>
            <a:ahLst/>
            <a:cxnLst/>
            <a:rect l="l" t="t" r="r" b="b"/>
            <a:pathLst>
              <a:path w="5093334" h="528954">
                <a:moveTo>
                  <a:pt x="0" y="88137"/>
                </a:moveTo>
                <a:lnTo>
                  <a:pt x="6931" y="53846"/>
                </a:lnTo>
                <a:lnTo>
                  <a:pt x="25828" y="25828"/>
                </a:lnTo>
                <a:lnTo>
                  <a:pt x="53846" y="6931"/>
                </a:lnTo>
                <a:lnTo>
                  <a:pt x="88137" y="0"/>
                </a:lnTo>
                <a:lnTo>
                  <a:pt x="5005070" y="0"/>
                </a:lnTo>
                <a:lnTo>
                  <a:pt x="5039361" y="6931"/>
                </a:lnTo>
                <a:lnTo>
                  <a:pt x="5067379" y="25828"/>
                </a:lnTo>
                <a:lnTo>
                  <a:pt x="5086276" y="53846"/>
                </a:lnTo>
                <a:lnTo>
                  <a:pt x="5093208" y="88137"/>
                </a:lnTo>
                <a:lnTo>
                  <a:pt x="5093208" y="440690"/>
                </a:lnTo>
                <a:lnTo>
                  <a:pt x="5086276" y="474981"/>
                </a:lnTo>
                <a:lnTo>
                  <a:pt x="5067379" y="502999"/>
                </a:lnTo>
                <a:lnTo>
                  <a:pt x="5039361" y="521896"/>
                </a:lnTo>
                <a:lnTo>
                  <a:pt x="5005070" y="528828"/>
                </a:lnTo>
                <a:lnTo>
                  <a:pt x="88137" y="528828"/>
                </a:lnTo>
                <a:lnTo>
                  <a:pt x="53846" y="521896"/>
                </a:lnTo>
                <a:lnTo>
                  <a:pt x="25828" y="502999"/>
                </a:lnTo>
                <a:lnTo>
                  <a:pt x="6931" y="474981"/>
                </a:lnTo>
                <a:lnTo>
                  <a:pt x="0" y="440690"/>
                </a:lnTo>
                <a:lnTo>
                  <a:pt x="0" y="88137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09900" y="3829811"/>
            <a:ext cx="5093335" cy="690880"/>
          </a:xfrm>
          <a:custGeom>
            <a:avLst/>
            <a:gdLst/>
            <a:ahLst/>
            <a:cxnLst/>
            <a:rect l="l" t="t" r="r" b="b"/>
            <a:pathLst>
              <a:path w="5093334" h="690879">
                <a:moveTo>
                  <a:pt x="0" y="115062"/>
                </a:moveTo>
                <a:lnTo>
                  <a:pt x="9048" y="70294"/>
                </a:lnTo>
                <a:lnTo>
                  <a:pt x="33718" y="33718"/>
                </a:lnTo>
                <a:lnTo>
                  <a:pt x="70294" y="9048"/>
                </a:lnTo>
                <a:lnTo>
                  <a:pt x="115062" y="0"/>
                </a:lnTo>
                <a:lnTo>
                  <a:pt x="4978146" y="0"/>
                </a:lnTo>
                <a:lnTo>
                  <a:pt x="5022913" y="9048"/>
                </a:lnTo>
                <a:lnTo>
                  <a:pt x="5059489" y="33718"/>
                </a:lnTo>
                <a:lnTo>
                  <a:pt x="5084159" y="70294"/>
                </a:lnTo>
                <a:lnTo>
                  <a:pt x="5093208" y="115062"/>
                </a:lnTo>
                <a:lnTo>
                  <a:pt x="5093208" y="575310"/>
                </a:lnTo>
                <a:lnTo>
                  <a:pt x="5084159" y="620077"/>
                </a:lnTo>
                <a:lnTo>
                  <a:pt x="5059489" y="656653"/>
                </a:lnTo>
                <a:lnTo>
                  <a:pt x="5022913" y="681323"/>
                </a:lnTo>
                <a:lnTo>
                  <a:pt x="4978146" y="690371"/>
                </a:lnTo>
                <a:lnTo>
                  <a:pt x="115062" y="690371"/>
                </a:lnTo>
                <a:lnTo>
                  <a:pt x="70294" y="681323"/>
                </a:lnTo>
                <a:lnTo>
                  <a:pt x="33718" y="656653"/>
                </a:lnTo>
                <a:lnTo>
                  <a:pt x="9048" y="620077"/>
                </a:lnTo>
                <a:lnTo>
                  <a:pt x="0" y="575310"/>
                </a:lnTo>
                <a:lnTo>
                  <a:pt x="0" y="115062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123438" y="3872229"/>
            <a:ext cx="4947920" cy="6121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2240" marR="5080" indent="-129539">
              <a:lnSpc>
                <a:spcPct val="98100"/>
              </a:lnSpc>
              <a:spcBef>
                <a:spcPts val="125"/>
              </a:spcBef>
              <a:buFont typeface="Arial"/>
              <a:buChar char="•"/>
              <a:tabLst>
                <a:tab pos="142240" algn="l"/>
              </a:tabLst>
            </a:pPr>
            <a:r>
              <a:rPr dirty="0" sz="1300" spc="-5">
                <a:latin typeface="宋体"/>
                <a:cs typeface="宋体"/>
              </a:rPr>
              <a:t>当地代</a:t>
            </a:r>
            <a:r>
              <a:rPr dirty="0" sz="1300" spc="10">
                <a:latin typeface="宋体"/>
                <a:cs typeface="宋体"/>
              </a:rPr>
              <a:t>工</a:t>
            </a:r>
            <a:r>
              <a:rPr dirty="0" sz="1300" spc="-5">
                <a:latin typeface="宋体"/>
                <a:cs typeface="宋体"/>
              </a:rPr>
              <a:t>厂拥</a:t>
            </a:r>
            <a:r>
              <a:rPr dirty="0" sz="1300" spc="5">
                <a:latin typeface="宋体"/>
                <a:cs typeface="宋体"/>
              </a:rPr>
              <a:t>有</a:t>
            </a:r>
            <a:r>
              <a:rPr dirty="0" sz="1300" spc="-5">
                <a:latin typeface="宋体"/>
                <a:cs typeface="宋体"/>
              </a:rPr>
              <a:t>较</a:t>
            </a:r>
            <a:r>
              <a:rPr dirty="0" sz="1300" spc="10">
                <a:latin typeface="宋体"/>
                <a:cs typeface="宋体"/>
              </a:rPr>
              <a:t>为</a:t>
            </a:r>
            <a:r>
              <a:rPr dirty="0" sz="1300" spc="-5">
                <a:latin typeface="宋体"/>
                <a:cs typeface="宋体"/>
              </a:rPr>
              <a:t>本地化</a:t>
            </a:r>
            <a:r>
              <a:rPr dirty="0" sz="1300" spc="10">
                <a:latin typeface="宋体"/>
                <a:cs typeface="宋体"/>
              </a:rPr>
              <a:t>、</a:t>
            </a:r>
            <a:r>
              <a:rPr dirty="0" sz="1300" spc="-5">
                <a:latin typeface="宋体"/>
                <a:cs typeface="宋体"/>
              </a:rPr>
              <a:t>专业</a:t>
            </a:r>
            <a:r>
              <a:rPr dirty="0" sz="1300" spc="5">
                <a:latin typeface="宋体"/>
                <a:cs typeface="宋体"/>
              </a:rPr>
              <a:t>化</a:t>
            </a:r>
            <a:r>
              <a:rPr dirty="0" sz="1300" spc="-5">
                <a:latin typeface="宋体"/>
                <a:cs typeface="宋体"/>
              </a:rPr>
              <a:t>的</a:t>
            </a:r>
            <a:r>
              <a:rPr dirty="0" sz="1300" spc="10">
                <a:latin typeface="宋体"/>
                <a:cs typeface="宋体"/>
              </a:rPr>
              <a:t>客</a:t>
            </a:r>
            <a:r>
              <a:rPr dirty="0" sz="1300" spc="-5">
                <a:latin typeface="宋体"/>
                <a:cs typeface="宋体"/>
              </a:rPr>
              <a:t>户资源</a:t>
            </a:r>
            <a:r>
              <a:rPr dirty="0" sz="1300" spc="10">
                <a:latin typeface="宋体"/>
                <a:cs typeface="宋体"/>
              </a:rPr>
              <a:t>、</a:t>
            </a:r>
            <a:r>
              <a:rPr dirty="0" sz="1300" spc="-5">
                <a:latin typeface="宋体"/>
                <a:cs typeface="宋体"/>
              </a:rPr>
              <a:t>渠道</a:t>
            </a:r>
            <a:r>
              <a:rPr dirty="0" sz="1300" spc="5">
                <a:latin typeface="宋体"/>
                <a:cs typeface="宋体"/>
              </a:rPr>
              <a:t>资</a:t>
            </a:r>
            <a:r>
              <a:rPr dirty="0" sz="1300" spc="-5">
                <a:latin typeface="宋体"/>
                <a:cs typeface="宋体"/>
              </a:rPr>
              <a:t>源</a:t>
            </a:r>
            <a:r>
              <a:rPr dirty="0" sz="1300" spc="10">
                <a:latin typeface="宋体"/>
                <a:cs typeface="宋体"/>
              </a:rPr>
              <a:t>积</a:t>
            </a:r>
            <a:r>
              <a:rPr dirty="0" sz="1300" spc="-5">
                <a:latin typeface="宋体"/>
                <a:cs typeface="宋体"/>
              </a:rPr>
              <a:t>累， </a:t>
            </a:r>
            <a:r>
              <a:rPr dirty="0" sz="1300" spc="-5">
                <a:latin typeface="宋体"/>
                <a:cs typeface="宋体"/>
              </a:rPr>
              <a:t>面</a:t>
            </a:r>
            <a:r>
              <a:rPr dirty="0" sz="1300" spc="-10">
                <a:latin typeface="宋体"/>
                <a:cs typeface="宋体"/>
              </a:rPr>
              <a:t>向</a:t>
            </a:r>
            <a:r>
              <a:rPr dirty="0" sz="1300" spc="-5">
                <a:latin typeface="宋体"/>
                <a:cs typeface="宋体"/>
              </a:rPr>
              <a:t>下</a:t>
            </a:r>
            <a:r>
              <a:rPr dirty="0" sz="1300" spc="5">
                <a:latin typeface="宋体"/>
                <a:cs typeface="宋体"/>
              </a:rPr>
              <a:t>游</a:t>
            </a:r>
            <a:r>
              <a:rPr dirty="0" sz="1300" spc="-5">
                <a:latin typeface="宋体"/>
                <a:cs typeface="宋体"/>
              </a:rPr>
              <a:t>销售</a:t>
            </a:r>
            <a:r>
              <a:rPr dirty="0" sz="1300" spc="5">
                <a:latin typeface="宋体"/>
                <a:cs typeface="宋体"/>
              </a:rPr>
              <a:t>的</a:t>
            </a:r>
            <a:r>
              <a:rPr dirty="0" sz="1300" spc="-5">
                <a:latin typeface="宋体"/>
                <a:cs typeface="宋体"/>
              </a:rPr>
              <a:t>铺</a:t>
            </a:r>
            <a:r>
              <a:rPr dirty="0" sz="1300" spc="5">
                <a:latin typeface="宋体"/>
                <a:cs typeface="宋体"/>
              </a:rPr>
              <a:t>货</a:t>
            </a:r>
            <a:r>
              <a:rPr dirty="0" sz="1300" spc="-5">
                <a:latin typeface="宋体"/>
                <a:cs typeface="宋体"/>
              </a:rPr>
              <a:t>效率较</a:t>
            </a:r>
            <a:r>
              <a:rPr dirty="0" sz="1300" spc="5">
                <a:latin typeface="宋体"/>
                <a:cs typeface="宋体"/>
              </a:rPr>
              <a:t>高</a:t>
            </a:r>
            <a:r>
              <a:rPr dirty="0" sz="1300">
                <a:latin typeface="宋体"/>
                <a:cs typeface="宋体"/>
              </a:rPr>
              <a:t>，</a:t>
            </a:r>
            <a:r>
              <a:rPr dirty="0" sz="1300" spc="-5">
                <a:latin typeface="宋体"/>
                <a:cs typeface="宋体"/>
              </a:rPr>
              <a:t>有</a:t>
            </a:r>
            <a:r>
              <a:rPr dirty="0" sz="1300" spc="5">
                <a:latin typeface="宋体"/>
                <a:cs typeface="宋体"/>
              </a:rPr>
              <a:t>助</a:t>
            </a:r>
            <a:r>
              <a:rPr dirty="0" sz="1300" spc="-5">
                <a:latin typeface="宋体"/>
                <a:cs typeface="宋体"/>
              </a:rPr>
              <a:t>于</a:t>
            </a:r>
            <a:r>
              <a:rPr dirty="0" sz="1300" spc="5">
                <a:latin typeface="宋体"/>
                <a:cs typeface="宋体"/>
              </a:rPr>
              <a:t>提</a:t>
            </a:r>
            <a:r>
              <a:rPr dirty="0" sz="1300" spc="-5">
                <a:latin typeface="宋体"/>
                <a:cs typeface="宋体"/>
              </a:rPr>
              <a:t>升品牌</a:t>
            </a:r>
            <a:r>
              <a:rPr dirty="0" sz="1300" spc="5">
                <a:latin typeface="宋体"/>
                <a:cs typeface="宋体"/>
              </a:rPr>
              <a:t>新</a:t>
            </a:r>
            <a:r>
              <a:rPr dirty="0" sz="1300" spc="-5">
                <a:latin typeface="宋体"/>
                <a:cs typeface="宋体"/>
              </a:rPr>
              <a:t>品进</a:t>
            </a:r>
            <a:r>
              <a:rPr dirty="0" sz="1300" spc="5">
                <a:latin typeface="宋体"/>
                <a:cs typeface="宋体"/>
              </a:rPr>
              <a:t>入</a:t>
            </a:r>
            <a:r>
              <a:rPr dirty="0" sz="1300" spc="-5">
                <a:latin typeface="宋体"/>
                <a:cs typeface="宋体"/>
              </a:rPr>
              <a:t>市</a:t>
            </a:r>
            <a:r>
              <a:rPr dirty="0" sz="1300" spc="5">
                <a:latin typeface="宋体"/>
                <a:cs typeface="宋体"/>
              </a:rPr>
              <a:t>场</a:t>
            </a:r>
            <a:r>
              <a:rPr dirty="0" sz="1300" spc="-5">
                <a:latin typeface="宋体"/>
                <a:cs typeface="宋体"/>
              </a:rPr>
              <a:t>的 速度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09900" y="6022847"/>
            <a:ext cx="5093335" cy="605155"/>
          </a:xfrm>
          <a:custGeom>
            <a:avLst/>
            <a:gdLst/>
            <a:ahLst/>
            <a:cxnLst/>
            <a:rect l="l" t="t" r="r" b="b"/>
            <a:pathLst>
              <a:path w="5093334" h="605154">
                <a:moveTo>
                  <a:pt x="0" y="100837"/>
                </a:moveTo>
                <a:lnTo>
                  <a:pt x="7915" y="61588"/>
                </a:lnTo>
                <a:lnTo>
                  <a:pt x="29511" y="29535"/>
                </a:lnTo>
                <a:lnTo>
                  <a:pt x="61561" y="7924"/>
                </a:lnTo>
                <a:lnTo>
                  <a:pt x="100837" y="0"/>
                </a:lnTo>
                <a:lnTo>
                  <a:pt x="4992370" y="0"/>
                </a:lnTo>
                <a:lnTo>
                  <a:pt x="5031646" y="7924"/>
                </a:lnTo>
                <a:lnTo>
                  <a:pt x="5063696" y="29535"/>
                </a:lnTo>
                <a:lnTo>
                  <a:pt x="5085292" y="61588"/>
                </a:lnTo>
                <a:lnTo>
                  <a:pt x="5093208" y="100837"/>
                </a:lnTo>
                <a:lnTo>
                  <a:pt x="5093208" y="504189"/>
                </a:lnTo>
                <a:lnTo>
                  <a:pt x="5085292" y="543439"/>
                </a:lnTo>
                <a:lnTo>
                  <a:pt x="5063696" y="575492"/>
                </a:lnTo>
                <a:lnTo>
                  <a:pt x="5031646" y="597103"/>
                </a:lnTo>
                <a:lnTo>
                  <a:pt x="4992370" y="605027"/>
                </a:lnTo>
                <a:lnTo>
                  <a:pt x="100837" y="605027"/>
                </a:lnTo>
                <a:lnTo>
                  <a:pt x="61561" y="597103"/>
                </a:lnTo>
                <a:lnTo>
                  <a:pt x="29511" y="575492"/>
                </a:lnTo>
                <a:lnTo>
                  <a:pt x="7915" y="543439"/>
                </a:lnTo>
                <a:lnTo>
                  <a:pt x="0" y="504189"/>
                </a:lnTo>
                <a:lnTo>
                  <a:pt x="0" y="100837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3712" y="1612391"/>
            <a:ext cx="2074545" cy="911860"/>
          </a:xfrm>
          <a:custGeom>
            <a:avLst/>
            <a:gdLst/>
            <a:ahLst/>
            <a:cxnLst/>
            <a:rect l="l" t="t" r="r" b="b"/>
            <a:pathLst>
              <a:path w="2074545" h="911860">
                <a:moveTo>
                  <a:pt x="0" y="151892"/>
                </a:moveTo>
                <a:lnTo>
                  <a:pt x="7743" y="103859"/>
                </a:lnTo>
                <a:lnTo>
                  <a:pt x="29307" y="62160"/>
                </a:lnTo>
                <a:lnTo>
                  <a:pt x="62188" y="29289"/>
                </a:lnTo>
                <a:lnTo>
                  <a:pt x="103883" y="7737"/>
                </a:lnTo>
                <a:lnTo>
                  <a:pt x="151891" y="0"/>
                </a:lnTo>
                <a:lnTo>
                  <a:pt x="1922271" y="0"/>
                </a:lnTo>
                <a:lnTo>
                  <a:pt x="1970304" y="7737"/>
                </a:lnTo>
                <a:lnTo>
                  <a:pt x="2012003" y="29289"/>
                </a:lnTo>
                <a:lnTo>
                  <a:pt x="2044874" y="62160"/>
                </a:lnTo>
                <a:lnTo>
                  <a:pt x="2066426" y="103859"/>
                </a:lnTo>
                <a:lnTo>
                  <a:pt x="2074164" y="151892"/>
                </a:lnTo>
                <a:lnTo>
                  <a:pt x="2074164" y="759460"/>
                </a:lnTo>
                <a:lnTo>
                  <a:pt x="2066426" y="807492"/>
                </a:lnTo>
                <a:lnTo>
                  <a:pt x="2044874" y="849191"/>
                </a:lnTo>
                <a:lnTo>
                  <a:pt x="2012003" y="882062"/>
                </a:lnTo>
                <a:lnTo>
                  <a:pt x="1970304" y="903614"/>
                </a:lnTo>
                <a:lnTo>
                  <a:pt x="1922271" y="911352"/>
                </a:lnTo>
                <a:lnTo>
                  <a:pt x="151891" y="911352"/>
                </a:lnTo>
                <a:lnTo>
                  <a:pt x="103883" y="903614"/>
                </a:lnTo>
                <a:lnTo>
                  <a:pt x="62188" y="882062"/>
                </a:lnTo>
                <a:lnTo>
                  <a:pt x="29307" y="849191"/>
                </a:lnTo>
                <a:lnTo>
                  <a:pt x="7743" y="807492"/>
                </a:lnTo>
                <a:lnTo>
                  <a:pt x="0" y="759460"/>
                </a:lnTo>
                <a:lnTo>
                  <a:pt x="0" y="151892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47724" y="1926793"/>
            <a:ext cx="1661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生</a:t>
            </a:r>
            <a:r>
              <a:rPr dirty="0" sz="1600" b="1">
                <a:latin typeface="明兰"/>
                <a:cs typeface="明兰"/>
              </a:rPr>
              <a:t>产规</a:t>
            </a:r>
            <a:r>
              <a:rPr dirty="0" sz="1600" spc="15" b="1">
                <a:latin typeface="明兰"/>
                <a:cs typeface="明兰"/>
              </a:rPr>
              <a:t>模</a:t>
            </a:r>
            <a:r>
              <a:rPr dirty="0" sz="1600" b="1">
                <a:latin typeface="明兰"/>
                <a:cs typeface="明兰"/>
              </a:rPr>
              <a:t>效</a:t>
            </a:r>
            <a:r>
              <a:rPr dirty="0" sz="1600" spc="15" b="1">
                <a:latin typeface="明兰"/>
                <a:cs typeface="明兰"/>
              </a:rPr>
              <a:t>应</a:t>
            </a:r>
            <a:r>
              <a:rPr dirty="0" sz="1600" b="1">
                <a:latin typeface="明兰"/>
                <a:cs typeface="明兰"/>
              </a:rPr>
              <a:t>优</a:t>
            </a:r>
            <a:r>
              <a:rPr dirty="0" sz="1600" spc="-5" b="1"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3712" y="2676144"/>
            <a:ext cx="2074545" cy="1003300"/>
          </a:xfrm>
          <a:custGeom>
            <a:avLst/>
            <a:gdLst/>
            <a:ahLst/>
            <a:cxnLst/>
            <a:rect l="l" t="t" r="r" b="b"/>
            <a:pathLst>
              <a:path w="2074545" h="1003300">
                <a:moveTo>
                  <a:pt x="0" y="167131"/>
                </a:moveTo>
                <a:lnTo>
                  <a:pt x="5970" y="122693"/>
                </a:lnTo>
                <a:lnTo>
                  <a:pt x="22818" y="82766"/>
                </a:lnTo>
                <a:lnTo>
                  <a:pt x="48952" y="48942"/>
                </a:lnTo>
                <a:lnTo>
                  <a:pt x="82777" y="22812"/>
                </a:lnTo>
                <a:lnTo>
                  <a:pt x="122701" y="5968"/>
                </a:lnTo>
                <a:lnTo>
                  <a:pt x="167131" y="0"/>
                </a:lnTo>
                <a:lnTo>
                  <a:pt x="1907032" y="0"/>
                </a:lnTo>
                <a:lnTo>
                  <a:pt x="1951470" y="5968"/>
                </a:lnTo>
                <a:lnTo>
                  <a:pt x="1991397" y="22812"/>
                </a:lnTo>
                <a:lnTo>
                  <a:pt x="2025221" y="48942"/>
                </a:lnTo>
                <a:lnTo>
                  <a:pt x="2051351" y="82766"/>
                </a:lnTo>
                <a:lnTo>
                  <a:pt x="2068195" y="122693"/>
                </a:lnTo>
                <a:lnTo>
                  <a:pt x="2074164" y="167131"/>
                </a:lnTo>
                <a:lnTo>
                  <a:pt x="2074164" y="835659"/>
                </a:lnTo>
                <a:lnTo>
                  <a:pt x="2068195" y="880098"/>
                </a:lnTo>
                <a:lnTo>
                  <a:pt x="2051351" y="920025"/>
                </a:lnTo>
                <a:lnTo>
                  <a:pt x="2025221" y="953849"/>
                </a:lnTo>
                <a:lnTo>
                  <a:pt x="1991397" y="979979"/>
                </a:lnTo>
                <a:lnTo>
                  <a:pt x="1951470" y="996823"/>
                </a:lnTo>
                <a:lnTo>
                  <a:pt x="1907032" y="1002791"/>
                </a:lnTo>
                <a:lnTo>
                  <a:pt x="167131" y="1002791"/>
                </a:lnTo>
                <a:lnTo>
                  <a:pt x="122701" y="996823"/>
                </a:lnTo>
                <a:lnTo>
                  <a:pt x="82777" y="979979"/>
                </a:lnTo>
                <a:lnTo>
                  <a:pt x="48952" y="953849"/>
                </a:lnTo>
                <a:lnTo>
                  <a:pt x="22818" y="920025"/>
                </a:lnTo>
                <a:lnTo>
                  <a:pt x="5970" y="880098"/>
                </a:lnTo>
                <a:lnTo>
                  <a:pt x="0" y="835659"/>
                </a:lnTo>
                <a:lnTo>
                  <a:pt x="0" y="167131"/>
                </a:lnTo>
                <a:close/>
              </a:path>
            </a:pathLst>
          </a:custGeom>
          <a:ln w="12191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49832" y="3040761"/>
            <a:ext cx="14573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产</a:t>
            </a:r>
            <a:r>
              <a:rPr dirty="0" sz="1600" spc="5" b="1">
                <a:latin typeface="明兰"/>
                <a:cs typeface="明兰"/>
              </a:rPr>
              <a:t>能灵</a:t>
            </a:r>
            <a:r>
              <a:rPr dirty="0" sz="1600" spc="15" b="1">
                <a:latin typeface="明兰"/>
                <a:cs typeface="明兰"/>
              </a:rPr>
              <a:t>活</a:t>
            </a:r>
            <a:r>
              <a:rPr dirty="0" sz="1600" spc="5" b="1">
                <a:latin typeface="明兰"/>
                <a:cs typeface="明兰"/>
              </a:rPr>
              <a:t>性</a:t>
            </a:r>
            <a:r>
              <a:rPr dirty="0" sz="1600" spc="15" b="1">
                <a:latin typeface="明兰"/>
                <a:cs typeface="明兰"/>
              </a:rPr>
              <a:t>优</a:t>
            </a:r>
            <a:r>
              <a:rPr dirty="0" sz="1600" spc="-5" b="1"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3712" y="3829811"/>
            <a:ext cx="2074545" cy="683260"/>
          </a:xfrm>
          <a:custGeom>
            <a:avLst/>
            <a:gdLst/>
            <a:ahLst/>
            <a:cxnLst/>
            <a:rect l="l" t="t" r="r" b="b"/>
            <a:pathLst>
              <a:path w="2074545" h="683260">
                <a:moveTo>
                  <a:pt x="0" y="113792"/>
                </a:moveTo>
                <a:lnTo>
                  <a:pt x="8943" y="69490"/>
                </a:lnTo>
                <a:lnTo>
                  <a:pt x="33331" y="33321"/>
                </a:lnTo>
                <a:lnTo>
                  <a:pt x="69501" y="8939"/>
                </a:lnTo>
                <a:lnTo>
                  <a:pt x="113791" y="0"/>
                </a:lnTo>
                <a:lnTo>
                  <a:pt x="1960371" y="0"/>
                </a:lnTo>
                <a:lnTo>
                  <a:pt x="2004673" y="8939"/>
                </a:lnTo>
                <a:lnTo>
                  <a:pt x="2040842" y="33321"/>
                </a:lnTo>
                <a:lnTo>
                  <a:pt x="2065224" y="69490"/>
                </a:lnTo>
                <a:lnTo>
                  <a:pt x="2074164" y="113792"/>
                </a:lnTo>
                <a:lnTo>
                  <a:pt x="2074164" y="568960"/>
                </a:lnTo>
                <a:lnTo>
                  <a:pt x="2065224" y="613261"/>
                </a:lnTo>
                <a:lnTo>
                  <a:pt x="2040842" y="649430"/>
                </a:lnTo>
                <a:lnTo>
                  <a:pt x="2004673" y="673812"/>
                </a:lnTo>
                <a:lnTo>
                  <a:pt x="1960371" y="682751"/>
                </a:lnTo>
                <a:lnTo>
                  <a:pt x="113791" y="682751"/>
                </a:lnTo>
                <a:lnTo>
                  <a:pt x="69501" y="673812"/>
                </a:lnTo>
                <a:lnTo>
                  <a:pt x="33331" y="649430"/>
                </a:lnTo>
                <a:lnTo>
                  <a:pt x="8943" y="613261"/>
                </a:lnTo>
                <a:lnTo>
                  <a:pt x="0" y="568960"/>
                </a:lnTo>
                <a:lnTo>
                  <a:pt x="0" y="113792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50747" y="4035044"/>
            <a:ext cx="14573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本</a:t>
            </a:r>
            <a:r>
              <a:rPr dirty="0" sz="1600" spc="5" b="1">
                <a:latin typeface="明兰"/>
                <a:cs typeface="明兰"/>
              </a:rPr>
              <a:t>地化</a:t>
            </a:r>
            <a:r>
              <a:rPr dirty="0" sz="1600" spc="15" b="1">
                <a:latin typeface="明兰"/>
                <a:cs typeface="明兰"/>
              </a:rPr>
              <a:t>资</a:t>
            </a:r>
            <a:r>
              <a:rPr dirty="0" sz="1600" spc="5" b="1">
                <a:latin typeface="明兰"/>
                <a:cs typeface="明兰"/>
              </a:rPr>
              <a:t>源</a:t>
            </a:r>
            <a:r>
              <a:rPr dirty="0" sz="1600" spc="15" b="1">
                <a:latin typeface="明兰"/>
                <a:cs typeface="明兰"/>
              </a:rPr>
              <a:t>优</a:t>
            </a:r>
            <a:r>
              <a:rPr dirty="0" sz="1600" spc="-5" b="1"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3712" y="4664964"/>
            <a:ext cx="2074545" cy="528955"/>
          </a:xfrm>
          <a:custGeom>
            <a:avLst/>
            <a:gdLst/>
            <a:ahLst/>
            <a:cxnLst/>
            <a:rect l="l" t="t" r="r" b="b"/>
            <a:pathLst>
              <a:path w="2074545" h="528954">
                <a:moveTo>
                  <a:pt x="0" y="88137"/>
                </a:moveTo>
                <a:lnTo>
                  <a:pt x="6926" y="53846"/>
                </a:lnTo>
                <a:lnTo>
                  <a:pt x="25814" y="25828"/>
                </a:lnTo>
                <a:lnTo>
                  <a:pt x="53829" y="6931"/>
                </a:lnTo>
                <a:lnTo>
                  <a:pt x="88137" y="0"/>
                </a:lnTo>
                <a:lnTo>
                  <a:pt x="1986026" y="0"/>
                </a:lnTo>
                <a:lnTo>
                  <a:pt x="2020317" y="6931"/>
                </a:lnTo>
                <a:lnTo>
                  <a:pt x="2048335" y="25828"/>
                </a:lnTo>
                <a:lnTo>
                  <a:pt x="2067232" y="53846"/>
                </a:lnTo>
                <a:lnTo>
                  <a:pt x="2074164" y="88137"/>
                </a:lnTo>
                <a:lnTo>
                  <a:pt x="2074164" y="440690"/>
                </a:lnTo>
                <a:lnTo>
                  <a:pt x="2067232" y="474981"/>
                </a:lnTo>
                <a:lnTo>
                  <a:pt x="2048335" y="502999"/>
                </a:lnTo>
                <a:lnTo>
                  <a:pt x="2020317" y="521896"/>
                </a:lnTo>
                <a:lnTo>
                  <a:pt x="1986026" y="528828"/>
                </a:lnTo>
                <a:lnTo>
                  <a:pt x="88137" y="528828"/>
                </a:lnTo>
                <a:lnTo>
                  <a:pt x="53829" y="521896"/>
                </a:lnTo>
                <a:lnTo>
                  <a:pt x="25814" y="502999"/>
                </a:lnTo>
                <a:lnTo>
                  <a:pt x="6926" y="474981"/>
                </a:lnTo>
                <a:lnTo>
                  <a:pt x="0" y="440690"/>
                </a:lnTo>
                <a:lnTo>
                  <a:pt x="0" y="88137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48334" y="4792472"/>
            <a:ext cx="1661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拆</a:t>
            </a:r>
            <a:r>
              <a:rPr dirty="0" sz="1600" spc="5" b="1">
                <a:latin typeface="明兰"/>
                <a:cs typeface="明兰"/>
              </a:rPr>
              <a:t>机方</a:t>
            </a:r>
            <a:r>
              <a:rPr dirty="0" sz="1600" spc="15" b="1">
                <a:latin typeface="明兰"/>
                <a:cs typeface="明兰"/>
              </a:rPr>
              <a:t>案</a:t>
            </a:r>
            <a:r>
              <a:rPr dirty="0" sz="1600" spc="5" b="1">
                <a:latin typeface="明兰"/>
                <a:cs typeface="明兰"/>
              </a:rPr>
              <a:t>资</a:t>
            </a:r>
            <a:r>
              <a:rPr dirty="0" sz="1600" spc="15" b="1">
                <a:latin typeface="明兰"/>
                <a:cs typeface="明兰"/>
              </a:rPr>
              <a:t>源</a:t>
            </a:r>
            <a:r>
              <a:rPr dirty="0" sz="1600" spc="5" b="1">
                <a:latin typeface="明兰"/>
                <a:cs typeface="明兰"/>
              </a:rPr>
              <a:t>优</a:t>
            </a:r>
            <a:r>
              <a:rPr dirty="0" sz="1600" spc="-5" b="1"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3712" y="5341620"/>
            <a:ext cx="2074545" cy="570230"/>
          </a:xfrm>
          <a:custGeom>
            <a:avLst/>
            <a:gdLst/>
            <a:ahLst/>
            <a:cxnLst/>
            <a:rect l="l" t="t" r="r" b="b"/>
            <a:pathLst>
              <a:path w="2074545" h="570229">
                <a:moveTo>
                  <a:pt x="0" y="94995"/>
                </a:moveTo>
                <a:lnTo>
                  <a:pt x="7465" y="58025"/>
                </a:lnTo>
                <a:lnTo>
                  <a:pt x="27824" y="27828"/>
                </a:lnTo>
                <a:lnTo>
                  <a:pt x="58019" y="7467"/>
                </a:lnTo>
                <a:lnTo>
                  <a:pt x="94996" y="0"/>
                </a:lnTo>
                <a:lnTo>
                  <a:pt x="1979168" y="0"/>
                </a:lnTo>
                <a:lnTo>
                  <a:pt x="2016138" y="7467"/>
                </a:lnTo>
                <a:lnTo>
                  <a:pt x="2046335" y="27828"/>
                </a:lnTo>
                <a:lnTo>
                  <a:pt x="2066696" y="58025"/>
                </a:lnTo>
                <a:lnTo>
                  <a:pt x="2074164" y="94995"/>
                </a:lnTo>
                <a:lnTo>
                  <a:pt x="2074164" y="474979"/>
                </a:lnTo>
                <a:lnTo>
                  <a:pt x="2066696" y="511956"/>
                </a:lnTo>
                <a:lnTo>
                  <a:pt x="2046335" y="542151"/>
                </a:lnTo>
                <a:lnTo>
                  <a:pt x="2016138" y="562510"/>
                </a:lnTo>
                <a:lnTo>
                  <a:pt x="1979168" y="569975"/>
                </a:lnTo>
                <a:lnTo>
                  <a:pt x="94996" y="569975"/>
                </a:lnTo>
                <a:lnTo>
                  <a:pt x="58019" y="562510"/>
                </a:lnTo>
                <a:lnTo>
                  <a:pt x="27824" y="542151"/>
                </a:lnTo>
                <a:lnTo>
                  <a:pt x="7465" y="511956"/>
                </a:lnTo>
                <a:lnTo>
                  <a:pt x="0" y="474979"/>
                </a:lnTo>
                <a:lnTo>
                  <a:pt x="0" y="94995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47724" y="5489854"/>
            <a:ext cx="1661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进</a:t>
            </a:r>
            <a:r>
              <a:rPr dirty="0" sz="1600" b="1">
                <a:latin typeface="明兰"/>
                <a:cs typeface="明兰"/>
              </a:rPr>
              <a:t>口配</a:t>
            </a:r>
            <a:r>
              <a:rPr dirty="0" sz="1600" spc="15" b="1">
                <a:latin typeface="明兰"/>
                <a:cs typeface="明兰"/>
              </a:rPr>
              <a:t>额</a:t>
            </a:r>
            <a:r>
              <a:rPr dirty="0" sz="1600" b="1">
                <a:latin typeface="明兰"/>
                <a:cs typeface="明兰"/>
              </a:rPr>
              <a:t>资</a:t>
            </a:r>
            <a:r>
              <a:rPr dirty="0" sz="1600" spc="15" b="1">
                <a:latin typeface="明兰"/>
                <a:cs typeface="明兰"/>
              </a:rPr>
              <a:t>源</a:t>
            </a:r>
            <a:r>
              <a:rPr dirty="0" sz="1600" b="1">
                <a:latin typeface="明兰"/>
                <a:cs typeface="明兰"/>
              </a:rPr>
              <a:t>优</a:t>
            </a:r>
            <a:r>
              <a:rPr dirty="0" sz="1600" spc="-5" b="1"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3712" y="6022847"/>
            <a:ext cx="2074545" cy="607060"/>
          </a:xfrm>
          <a:custGeom>
            <a:avLst/>
            <a:gdLst/>
            <a:ahLst/>
            <a:cxnLst/>
            <a:rect l="l" t="t" r="r" b="b"/>
            <a:pathLst>
              <a:path w="2074545" h="607059">
                <a:moveTo>
                  <a:pt x="0" y="101091"/>
                </a:moveTo>
                <a:lnTo>
                  <a:pt x="7944" y="61743"/>
                </a:lnTo>
                <a:lnTo>
                  <a:pt x="29610" y="29610"/>
                </a:lnTo>
                <a:lnTo>
                  <a:pt x="61743" y="7944"/>
                </a:lnTo>
                <a:lnTo>
                  <a:pt x="101091" y="0"/>
                </a:lnTo>
                <a:lnTo>
                  <a:pt x="1973071" y="0"/>
                </a:lnTo>
                <a:lnTo>
                  <a:pt x="2012441" y="7944"/>
                </a:lnTo>
                <a:lnTo>
                  <a:pt x="2044572" y="29610"/>
                </a:lnTo>
                <a:lnTo>
                  <a:pt x="2066226" y="61743"/>
                </a:lnTo>
                <a:lnTo>
                  <a:pt x="2074164" y="101091"/>
                </a:lnTo>
                <a:lnTo>
                  <a:pt x="2074164" y="505459"/>
                </a:lnTo>
                <a:lnTo>
                  <a:pt x="2066226" y="544808"/>
                </a:lnTo>
                <a:lnTo>
                  <a:pt x="2044572" y="576941"/>
                </a:lnTo>
                <a:lnTo>
                  <a:pt x="2012441" y="598607"/>
                </a:lnTo>
                <a:lnTo>
                  <a:pt x="1973071" y="606551"/>
                </a:lnTo>
                <a:lnTo>
                  <a:pt x="101091" y="606551"/>
                </a:lnTo>
                <a:lnTo>
                  <a:pt x="61743" y="598607"/>
                </a:lnTo>
                <a:lnTo>
                  <a:pt x="29610" y="576941"/>
                </a:lnTo>
                <a:lnTo>
                  <a:pt x="7944" y="544808"/>
                </a:lnTo>
                <a:lnTo>
                  <a:pt x="0" y="505459"/>
                </a:lnTo>
                <a:lnTo>
                  <a:pt x="0" y="101091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53464" y="6189979"/>
            <a:ext cx="12515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外</a:t>
            </a:r>
            <a:r>
              <a:rPr dirty="0" sz="1600" spc="5" b="1">
                <a:latin typeface="明兰"/>
                <a:cs typeface="明兰"/>
              </a:rPr>
              <a:t>汇兑</a:t>
            </a:r>
            <a:r>
              <a:rPr dirty="0" sz="1600" spc="15" b="1">
                <a:latin typeface="明兰"/>
                <a:cs typeface="明兰"/>
              </a:rPr>
              <a:t>换</a:t>
            </a:r>
            <a:r>
              <a:rPr dirty="0" sz="1600" spc="5" b="1">
                <a:latin typeface="明兰"/>
                <a:cs typeface="明兰"/>
              </a:rPr>
              <a:t>优</a:t>
            </a:r>
            <a:r>
              <a:rPr dirty="0" sz="1600" spc="-5" b="1">
                <a:latin typeface="明兰"/>
                <a:cs typeface="明兰"/>
              </a:rPr>
              <a:t>势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8749" y="1168653"/>
            <a:ext cx="2830195" cy="938530"/>
          </a:xfrm>
          <a:custGeom>
            <a:avLst/>
            <a:gdLst/>
            <a:ahLst/>
            <a:cxnLst/>
            <a:rect l="l" t="t" r="r" b="b"/>
            <a:pathLst>
              <a:path w="2830195" h="938530">
                <a:moveTo>
                  <a:pt x="158762" y="861822"/>
                </a:moveTo>
                <a:lnTo>
                  <a:pt x="158762" y="938022"/>
                </a:lnTo>
                <a:lnTo>
                  <a:pt x="222262" y="906272"/>
                </a:lnTo>
                <a:lnTo>
                  <a:pt x="171462" y="906272"/>
                </a:lnTo>
                <a:lnTo>
                  <a:pt x="171462" y="893572"/>
                </a:lnTo>
                <a:lnTo>
                  <a:pt x="222262" y="893572"/>
                </a:lnTo>
                <a:lnTo>
                  <a:pt x="158762" y="861822"/>
                </a:lnTo>
                <a:close/>
              </a:path>
              <a:path w="2830195" h="938530">
                <a:moveTo>
                  <a:pt x="2829572" y="0"/>
                </a:moveTo>
                <a:lnTo>
                  <a:pt x="0" y="0"/>
                </a:lnTo>
                <a:lnTo>
                  <a:pt x="0" y="906272"/>
                </a:lnTo>
                <a:lnTo>
                  <a:pt x="158762" y="906272"/>
                </a:lnTo>
                <a:lnTo>
                  <a:pt x="158762" y="899922"/>
                </a:lnTo>
                <a:lnTo>
                  <a:pt x="12700" y="899922"/>
                </a:lnTo>
                <a:lnTo>
                  <a:pt x="6350" y="893572"/>
                </a:lnTo>
                <a:lnTo>
                  <a:pt x="12700" y="893572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829572" y="6350"/>
                </a:lnTo>
                <a:lnTo>
                  <a:pt x="2829572" y="0"/>
                </a:lnTo>
                <a:close/>
              </a:path>
              <a:path w="2830195" h="938530">
                <a:moveTo>
                  <a:pt x="222262" y="893572"/>
                </a:moveTo>
                <a:lnTo>
                  <a:pt x="171462" y="893572"/>
                </a:lnTo>
                <a:lnTo>
                  <a:pt x="171462" y="906272"/>
                </a:lnTo>
                <a:lnTo>
                  <a:pt x="222262" y="906272"/>
                </a:lnTo>
                <a:lnTo>
                  <a:pt x="234962" y="899922"/>
                </a:lnTo>
                <a:lnTo>
                  <a:pt x="222262" y="893572"/>
                </a:lnTo>
                <a:close/>
              </a:path>
              <a:path w="2830195" h="938530">
                <a:moveTo>
                  <a:pt x="12700" y="893572"/>
                </a:moveTo>
                <a:lnTo>
                  <a:pt x="6350" y="893572"/>
                </a:lnTo>
                <a:lnTo>
                  <a:pt x="12700" y="899922"/>
                </a:lnTo>
                <a:lnTo>
                  <a:pt x="12700" y="893572"/>
                </a:lnTo>
                <a:close/>
              </a:path>
              <a:path w="2830195" h="938530">
                <a:moveTo>
                  <a:pt x="158762" y="893572"/>
                </a:moveTo>
                <a:lnTo>
                  <a:pt x="12700" y="893572"/>
                </a:lnTo>
                <a:lnTo>
                  <a:pt x="12700" y="899922"/>
                </a:lnTo>
                <a:lnTo>
                  <a:pt x="158762" y="899922"/>
                </a:lnTo>
                <a:lnTo>
                  <a:pt x="158762" y="893572"/>
                </a:lnTo>
                <a:close/>
              </a:path>
              <a:path w="2830195" h="93853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830195" h="938530">
                <a:moveTo>
                  <a:pt x="2829572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829572" y="12700"/>
                </a:lnTo>
                <a:lnTo>
                  <a:pt x="2829572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749" y="1168653"/>
            <a:ext cx="2830195" cy="2047239"/>
          </a:xfrm>
          <a:custGeom>
            <a:avLst/>
            <a:gdLst/>
            <a:ahLst/>
            <a:cxnLst/>
            <a:rect l="l" t="t" r="r" b="b"/>
            <a:pathLst>
              <a:path w="2830195" h="2047239">
                <a:moveTo>
                  <a:pt x="158762" y="1970786"/>
                </a:moveTo>
                <a:lnTo>
                  <a:pt x="158762" y="2046986"/>
                </a:lnTo>
                <a:lnTo>
                  <a:pt x="222262" y="2015236"/>
                </a:lnTo>
                <a:lnTo>
                  <a:pt x="171462" y="2015236"/>
                </a:lnTo>
                <a:lnTo>
                  <a:pt x="171462" y="2002536"/>
                </a:lnTo>
                <a:lnTo>
                  <a:pt x="222262" y="2002536"/>
                </a:lnTo>
                <a:lnTo>
                  <a:pt x="158762" y="1970786"/>
                </a:lnTo>
                <a:close/>
              </a:path>
              <a:path w="2830195" h="2047239">
                <a:moveTo>
                  <a:pt x="2829572" y="0"/>
                </a:moveTo>
                <a:lnTo>
                  <a:pt x="0" y="0"/>
                </a:lnTo>
                <a:lnTo>
                  <a:pt x="0" y="2015236"/>
                </a:lnTo>
                <a:lnTo>
                  <a:pt x="158762" y="2015236"/>
                </a:lnTo>
                <a:lnTo>
                  <a:pt x="158762" y="2008886"/>
                </a:lnTo>
                <a:lnTo>
                  <a:pt x="12700" y="2008886"/>
                </a:lnTo>
                <a:lnTo>
                  <a:pt x="6350" y="2002536"/>
                </a:lnTo>
                <a:lnTo>
                  <a:pt x="12700" y="2002536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829572" y="6350"/>
                </a:lnTo>
                <a:lnTo>
                  <a:pt x="2829572" y="0"/>
                </a:lnTo>
                <a:close/>
              </a:path>
              <a:path w="2830195" h="2047239">
                <a:moveTo>
                  <a:pt x="222262" y="2002536"/>
                </a:moveTo>
                <a:lnTo>
                  <a:pt x="171462" y="2002536"/>
                </a:lnTo>
                <a:lnTo>
                  <a:pt x="171462" y="2015236"/>
                </a:lnTo>
                <a:lnTo>
                  <a:pt x="222262" y="2015236"/>
                </a:lnTo>
                <a:lnTo>
                  <a:pt x="234962" y="2008886"/>
                </a:lnTo>
                <a:lnTo>
                  <a:pt x="222262" y="2002536"/>
                </a:lnTo>
                <a:close/>
              </a:path>
              <a:path w="2830195" h="2047239">
                <a:moveTo>
                  <a:pt x="12700" y="2002536"/>
                </a:moveTo>
                <a:lnTo>
                  <a:pt x="6350" y="2002536"/>
                </a:lnTo>
                <a:lnTo>
                  <a:pt x="12700" y="2008886"/>
                </a:lnTo>
                <a:lnTo>
                  <a:pt x="12700" y="2002536"/>
                </a:lnTo>
                <a:close/>
              </a:path>
              <a:path w="2830195" h="2047239">
                <a:moveTo>
                  <a:pt x="158762" y="2002536"/>
                </a:moveTo>
                <a:lnTo>
                  <a:pt x="12700" y="2002536"/>
                </a:lnTo>
                <a:lnTo>
                  <a:pt x="12700" y="2008886"/>
                </a:lnTo>
                <a:lnTo>
                  <a:pt x="158762" y="2008886"/>
                </a:lnTo>
                <a:lnTo>
                  <a:pt x="158762" y="2002536"/>
                </a:lnTo>
                <a:close/>
              </a:path>
              <a:path w="2830195" h="2047239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830195" h="2047239">
                <a:moveTo>
                  <a:pt x="2829572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829572" y="12700"/>
                </a:lnTo>
                <a:lnTo>
                  <a:pt x="2829572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8749" y="1168653"/>
            <a:ext cx="2830195" cy="3041015"/>
          </a:xfrm>
          <a:custGeom>
            <a:avLst/>
            <a:gdLst/>
            <a:ahLst/>
            <a:cxnLst/>
            <a:rect l="l" t="t" r="r" b="b"/>
            <a:pathLst>
              <a:path w="2830195" h="3041015">
                <a:moveTo>
                  <a:pt x="158762" y="2964815"/>
                </a:moveTo>
                <a:lnTo>
                  <a:pt x="158762" y="3041015"/>
                </a:lnTo>
                <a:lnTo>
                  <a:pt x="222262" y="3009265"/>
                </a:lnTo>
                <a:lnTo>
                  <a:pt x="171462" y="3009265"/>
                </a:lnTo>
                <a:lnTo>
                  <a:pt x="171462" y="2996565"/>
                </a:lnTo>
                <a:lnTo>
                  <a:pt x="222262" y="2996565"/>
                </a:lnTo>
                <a:lnTo>
                  <a:pt x="158762" y="2964815"/>
                </a:lnTo>
                <a:close/>
              </a:path>
              <a:path w="2830195" h="3041015">
                <a:moveTo>
                  <a:pt x="2829572" y="0"/>
                </a:moveTo>
                <a:lnTo>
                  <a:pt x="0" y="0"/>
                </a:lnTo>
                <a:lnTo>
                  <a:pt x="0" y="3009265"/>
                </a:lnTo>
                <a:lnTo>
                  <a:pt x="158762" y="3009265"/>
                </a:lnTo>
                <a:lnTo>
                  <a:pt x="158762" y="3002915"/>
                </a:lnTo>
                <a:lnTo>
                  <a:pt x="12700" y="3002915"/>
                </a:lnTo>
                <a:lnTo>
                  <a:pt x="6350" y="2996565"/>
                </a:lnTo>
                <a:lnTo>
                  <a:pt x="12700" y="2996565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829572" y="6350"/>
                </a:lnTo>
                <a:lnTo>
                  <a:pt x="2829572" y="0"/>
                </a:lnTo>
                <a:close/>
              </a:path>
              <a:path w="2830195" h="3041015">
                <a:moveTo>
                  <a:pt x="222262" y="2996565"/>
                </a:moveTo>
                <a:lnTo>
                  <a:pt x="171462" y="2996565"/>
                </a:lnTo>
                <a:lnTo>
                  <a:pt x="171462" y="3009265"/>
                </a:lnTo>
                <a:lnTo>
                  <a:pt x="222262" y="3009265"/>
                </a:lnTo>
                <a:lnTo>
                  <a:pt x="234962" y="3002915"/>
                </a:lnTo>
                <a:lnTo>
                  <a:pt x="222262" y="2996565"/>
                </a:lnTo>
                <a:close/>
              </a:path>
              <a:path w="2830195" h="3041015">
                <a:moveTo>
                  <a:pt x="12700" y="2996565"/>
                </a:moveTo>
                <a:lnTo>
                  <a:pt x="6350" y="2996565"/>
                </a:lnTo>
                <a:lnTo>
                  <a:pt x="12700" y="3002915"/>
                </a:lnTo>
                <a:lnTo>
                  <a:pt x="12700" y="2996565"/>
                </a:lnTo>
                <a:close/>
              </a:path>
              <a:path w="2830195" h="3041015">
                <a:moveTo>
                  <a:pt x="158762" y="2996565"/>
                </a:moveTo>
                <a:lnTo>
                  <a:pt x="12700" y="2996565"/>
                </a:lnTo>
                <a:lnTo>
                  <a:pt x="12700" y="3002915"/>
                </a:lnTo>
                <a:lnTo>
                  <a:pt x="158762" y="3002915"/>
                </a:lnTo>
                <a:lnTo>
                  <a:pt x="158762" y="2996565"/>
                </a:lnTo>
                <a:close/>
              </a:path>
              <a:path w="2830195" h="3041015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830195" h="3041015">
                <a:moveTo>
                  <a:pt x="2829572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829572" y="12700"/>
                </a:lnTo>
                <a:lnTo>
                  <a:pt x="2829572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8749" y="1168653"/>
            <a:ext cx="2830195" cy="3798570"/>
          </a:xfrm>
          <a:custGeom>
            <a:avLst/>
            <a:gdLst/>
            <a:ahLst/>
            <a:cxnLst/>
            <a:rect l="l" t="t" r="r" b="b"/>
            <a:pathLst>
              <a:path w="2830195" h="3798570">
                <a:moveTo>
                  <a:pt x="158762" y="3722243"/>
                </a:moveTo>
                <a:lnTo>
                  <a:pt x="158762" y="3798443"/>
                </a:lnTo>
                <a:lnTo>
                  <a:pt x="222262" y="3766693"/>
                </a:lnTo>
                <a:lnTo>
                  <a:pt x="171462" y="3766693"/>
                </a:lnTo>
                <a:lnTo>
                  <a:pt x="171462" y="3753993"/>
                </a:lnTo>
                <a:lnTo>
                  <a:pt x="222262" y="3753993"/>
                </a:lnTo>
                <a:lnTo>
                  <a:pt x="158762" y="3722243"/>
                </a:lnTo>
                <a:close/>
              </a:path>
              <a:path w="2830195" h="3798570">
                <a:moveTo>
                  <a:pt x="2829572" y="0"/>
                </a:moveTo>
                <a:lnTo>
                  <a:pt x="0" y="0"/>
                </a:lnTo>
                <a:lnTo>
                  <a:pt x="0" y="3766693"/>
                </a:lnTo>
                <a:lnTo>
                  <a:pt x="158762" y="3766693"/>
                </a:lnTo>
                <a:lnTo>
                  <a:pt x="158762" y="3760343"/>
                </a:lnTo>
                <a:lnTo>
                  <a:pt x="12700" y="3760343"/>
                </a:lnTo>
                <a:lnTo>
                  <a:pt x="6350" y="3753993"/>
                </a:lnTo>
                <a:lnTo>
                  <a:pt x="12700" y="3753993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829572" y="6350"/>
                </a:lnTo>
                <a:lnTo>
                  <a:pt x="2829572" y="0"/>
                </a:lnTo>
                <a:close/>
              </a:path>
              <a:path w="2830195" h="3798570">
                <a:moveTo>
                  <a:pt x="222262" y="3753993"/>
                </a:moveTo>
                <a:lnTo>
                  <a:pt x="171462" y="3753993"/>
                </a:lnTo>
                <a:lnTo>
                  <a:pt x="171462" y="3766693"/>
                </a:lnTo>
                <a:lnTo>
                  <a:pt x="222262" y="3766693"/>
                </a:lnTo>
                <a:lnTo>
                  <a:pt x="234962" y="3760343"/>
                </a:lnTo>
                <a:lnTo>
                  <a:pt x="222262" y="3753993"/>
                </a:lnTo>
                <a:close/>
              </a:path>
              <a:path w="2830195" h="3798570">
                <a:moveTo>
                  <a:pt x="12700" y="3753993"/>
                </a:moveTo>
                <a:lnTo>
                  <a:pt x="6350" y="3753993"/>
                </a:lnTo>
                <a:lnTo>
                  <a:pt x="12700" y="3760343"/>
                </a:lnTo>
                <a:lnTo>
                  <a:pt x="12700" y="3753993"/>
                </a:lnTo>
                <a:close/>
              </a:path>
              <a:path w="2830195" h="3798570">
                <a:moveTo>
                  <a:pt x="158762" y="3753993"/>
                </a:moveTo>
                <a:lnTo>
                  <a:pt x="12700" y="3753993"/>
                </a:lnTo>
                <a:lnTo>
                  <a:pt x="12700" y="3760343"/>
                </a:lnTo>
                <a:lnTo>
                  <a:pt x="158762" y="3760343"/>
                </a:lnTo>
                <a:lnTo>
                  <a:pt x="158762" y="3753993"/>
                </a:lnTo>
                <a:close/>
              </a:path>
              <a:path w="2830195" h="379857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830195" h="3798570">
                <a:moveTo>
                  <a:pt x="2829572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829572" y="12700"/>
                </a:lnTo>
                <a:lnTo>
                  <a:pt x="2829572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8749" y="1168653"/>
            <a:ext cx="2830195" cy="4496435"/>
          </a:xfrm>
          <a:custGeom>
            <a:avLst/>
            <a:gdLst/>
            <a:ahLst/>
            <a:cxnLst/>
            <a:rect l="l" t="t" r="r" b="b"/>
            <a:pathLst>
              <a:path w="2830195" h="4496435">
                <a:moveTo>
                  <a:pt x="158762" y="4419866"/>
                </a:moveTo>
                <a:lnTo>
                  <a:pt x="158762" y="4496066"/>
                </a:lnTo>
                <a:lnTo>
                  <a:pt x="222262" y="4464316"/>
                </a:lnTo>
                <a:lnTo>
                  <a:pt x="171462" y="4464316"/>
                </a:lnTo>
                <a:lnTo>
                  <a:pt x="171462" y="4451616"/>
                </a:lnTo>
                <a:lnTo>
                  <a:pt x="222262" y="4451616"/>
                </a:lnTo>
                <a:lnTo>
                  <a:pt x="158762" y="4419866"/>
                </a:lnTo>
                <a:close/>
              </a:path>
              <a:path w="2830195" h="4496435">
                <a:moveTo>
                  <a:pt x="2829572" y="0"/>
                </a:moveTo>
                <a:lnTo>
                  <a:pt x="0" y="0"/>
                </a:lnTo>
                <a:lnTo>
                  <a:pt x="0" y="4464316"/>
                </a:lnTo>
                <a:lnTo>
                  <a:pt x="158762" y="4464316"/>
                </a:lnTo>
                <a:lnTo>
                  <a:pt x="158762" y="4457966"/>
                </a:lnTo>
                <a:lnTo>
                  <a:pt x="12700" y="4457966"/>
                </a:lnTo>
                <a:lnTo>
                  <a:pt x="6350" y="4451616"/>
                </a:lnTo>
                <a:lnTo>
                  <a:pt x="12700" y="4451616"/>
                </a:lnTo>
                <a:lnTo>
                  <a:pt x="12700" y="12700"/>
                </a:lnTo>
                <a:lnTo>
                  <a:pt x="6349" y="12700"/>
                </a:lnTo>
                <a:lnTo>
                  <a:pt x="12700" y="6350"/>
                </a:lnTo>
                <a:lnTo>
                  <a:pt x="2829572" y="6350"/>
                </a:lnTo>
                <a:lnTo>
                  <a:pt x="2829572" y="0"/>
                </a:lnTo>
                <a:close/>
              </a:path>
              <a:path w="2830195" h="4496435">
                <a:moveTo>
                  <a:pt x="222262" y="4451616"/>
                </a:moveTo>
                <a:lnTo>
                  <a:pt x="171462" y="4451616"/>
                </a:lnTo>
                <a:lnTo>
                  <a:pt x="171462" y="4464316"/>
                </a:lnTo>
                <a:lnTo>
                  <a:pt x="222262" y="4464316"/>
                </a:lnTo>
                <a:lnTo>
                  <a:pt x="234962" y="4457966"/>
                </a:lnTo>
                <a:lnTo>
                  <a:pt x="222262" y="4451616"/>
                </a:lnTo>
                <a:close/>
              </a:path>
              <a:path w="2830195" h="4496435">
                <a:moveTo>
                  <a:pt x="12700" y="4451616"/>
                </a:moveTo>
                <a:lnTo>
                  <a:pt x="6350" y="4451616"/>
                </a:lnTo>
                <a:lnTo>
                  <a:pt x="12700" y="4457966"/>
                </a:lnTo>
                <a:lnTo>
                  <a:pt x="12700" y="4451616"/>
                </a:lnTo>
                <a:close/>
              </a:path>
              <a:path w="2830195" h="4496435">
                <a:moveTo>
                  <a:pt x="158762" y="4451616"/>
                </a:moveTo>
                <a:lnTo>
                  <a:pt x="12700" y="4451616"/>
                </a:lnTo>
                <a:lnTo>
                  <a:pt x="12700" y="4457966"/>
                </a:lnTo>
                <a:lnTo>
                  <a:pt x="158762" y="4457966"/>
                </a:lnTo>
                <a:lnTo>
                  <a:pt x="158762" y="4451616"/>
                </a:lnTo>
                <a:close/>
              </a:path>
              <a:path w="2830195" h="4496435">
                <a:moveTo>
                  <a:pt x="12700" y="6350"/>
                </a:moveTo>
                <a:lnTo>
                  <a:pt x="6349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830195" h="4496435">
                <a:moveTo>
                  <a:pt x="2829572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829572" y="12700"/>
                </a:lnTo>
                <a:lnTo>
                  <a:pt x="2829572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8749" y="1168653"/>
            <a:ext cx="2830195" cy="5196205"/>
          </a:xfrm>
          <a:custGeom>
            <a:avLst/>
            <a:gdLst/>
            <a:ahLst/>
            <a:cxnLst/>
            <a:rect l="l" t="t" r="r" b="b"/>
            <a:pathLst>
              <a:path w="2830195" h="5196205">
                <a:moveTo>
                  <a:pt x="158762" y="5119497"/>
                </a:moveTo>
                <a:lnTo>
                  <a:pt x="158762" y="5195697"/>
                </a:lnTo>
                <a:lnTo>
                  <a:pt x="222262" y="5163947"/>
                </a:lnTo>
                <a:lnTo>
                  <a:pt x="171462" y="5163947"/>
                </a:lnTo>
                <a:lnTo>
                  <a:pt x="171462" y="5151247"/>
                </a:lnTo>
                <a:lnTo>
                  <a:pt x="222262" y="5151247"/>
                </a:lnTo>
                <a:lnTo>
                  <a:pt x="158762" y="5119497"/>
                </a:lnTo>
                <a:close/>
              </a:path>
              <a:path w="2830195" h="5196205">
                <a:moveTo>
                  <a:pt x="2829572" y="0"/>
                </a:moveTo>
                <a:lnTo>
                  <a:pt x="0" y="0"/>
                </a:lnTo>
                <a:lnTo>
                  <a:pt x="0" y="5163947"/>
                </a:lnTo>
                <a:lnTo>
                  <a:pt x="158762" y="5163947"/>
                </a:lnTo>
                <a:lnTo>
                  <a:pt x="158762" y="5157597"/>
                </a:lnTo>
                <a:lnTo>
                  <a:pt x="12700" y="5157597"/>
                </a:lnTo>
                <a:lnTo>
                  <a:pt x="6350" y="5151247"/>
                </a:lnTo>
                <a:lnTo>
                  <a:pt x="12700" y="5151247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2829572" y="6350"/>
                </a:lnTo>
                <a:lnTo>
                  <a:pt x="2829572" y="0"/>
                </a:lnTo>
                <a:close/>
              </a:path>
              <a:path w="2830195" h="5196205">
                <a:moveTo>
                  <a:pt x="222262" y="5151247"/>
                </a:moveTo>
                <a:lnTo>
                  <a:pt x="171462" y="5151247"/>
                </a:lnTo>
                <a:lnTo>
                  <a:pt x="171462" y="5163947"/>
                </a:lnTo>
                <a:lnTo>
                  <a:pt x="222262" y="5163947"/>
                </a:lnTo>
                <a:lnTo>
                  <a:pt x="234962" y="5157597"/>
                </a:lnTo>
                <a:lnTo>
                  <a:pt x="222262" y="5151247"/>
                </a:lnTo>
                <a:close/>
              </a:path>
              <a:path w="2830195" h="5196205">
                <a:moveTo>
                  <a:pt x="12700" y="5151247"/>
                </a:moveTo>
                <a:lnTo>
                  <a:pt x="6350" y="5151247"/>
                </a:lnTo>
                <a:lnTo>
                  <a:pt x="12700" y="5157597"/>
                </a:lnTo>
                <a:lnTo>
                  <a:pt x="12700" y="5151247"/>
                </a:lnTo>
                <a:close/>
              </a:path>
              <a:path w="2830195" h="5196205">
                <a:moveTo>
                  <a:pt x="158762" y="5151247"/>
                </a:moveTo>
                <a:lnTo>
                  <a:pt x="12700" y="5151247"/>
                </a:lnTo>
                <a:lnTo>
                  <a:pt x="12700" y="5157597"/>
                </a:lnTo>
                <a:lnTo>
                  <a:pt x="158762" y="5157597"/>
                </a:lnTo>
                <a:lnTo>
                  <a:pt x="158762" y="5151247"/>
                </a:lnTo>
                <a:close/>
              </a:path>
              <a:path w="2830195" h="5196205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2830195" h="5196205">
                <a:moveTo>
                  <a:pt x="2829572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2829572" y="12700"/>
                </a:lnTo>
                <a:lnTo>
                  <a:pt x="2829572" y="635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183118" y="2091309"/>
            <a:ext cx="254000" cy="11112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98600"/>
              </a:lnSpc>
              <a:spcBef>
                <a:spcPts val="130"/>
              </a:spcBef>
            </a:pPr>
            <a:r>
              <a:rPr dirty="0" sz="1800" b="1">
                <a:latin typeface="明兰"/>
                <a:cs typeface="明兰"/>
              </a:rPr>
              <a:t>生 产 因 素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82736" y="3869182"/>
            <a:ext cx="48577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10" b="1">
                <a:latin typeface="明兰"/>
                <a:cs typeface="明兰"/>
              </a:rPr>
              <a:t>资源 因素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2195" y="4725415"/>
            <a:ext cx="5344795" cy="64960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50825" marR="464820" indent="-214629">
              <a:lnSpc>
                <a:spcPts val="1500"/>
              </a:lnSpc>
              <a:spcBef>
                <a:spcPts val="195"/>
              </a:spcBef>
              <a:buFont typeface="Arial"/>
              <a:buChar char="•"/>
              <a:tabLst>
                <a:tab pos="250825" algn="l"/>
                <a:tab pos="251460" algn="l"/>
              </a:tabLst>
            </a:pPr>
            <a:r>
              <a:rPr dirty="0" sz="1300" spc="-5">
                <a:latin typeface="宋体"/>
                <a:cs typeface="宋体"/>
              </a:rPr>
              <a:t>本地代</a:t>
            </a:r>
            <a:r>
              <a:rPr dirty="0" sz="1300" spc="5">
                <a:latin typeface="宋体"/>
                <a:cs typeface="宋体"/>
              </a:rPr>
              <a:t>工</a:t>
            </a:r>
            <a:r>
              <a:rPr dirty="0" sz="1300" spc="-5">
                <a:latin typeface="宋体"/>
                <a:cs typeface="宋体"/>
              </a:rPr>
              <a:t>厂拥</a:t>
            </a:r>
            <a:r>
              <a:rPr dirty="0" sz="1300" spc="5">
                <a:latin typeface="宋体"/>
                <a:cs typeface="宋体"/>
              </a:rPr>
              <a:t>有</a:t>
            </a:r>
            <a:r>
              <a:rPr dirty="0" sz="1300" spc="-5">
                <a:latin typeface="宋体"/>
                <a:cs typeface="宋体"/>
              </a:rPr>
              <a:t>拆</a:t>
            </a:r>
            <a:r>
              <a:rPr dirty="0" sz="1300" spc="5">
                <a:latin typeface="宋体"/>
                <a:cs typeface="宋体"/>
              </a:rPr>
              <a:t>机</a:t>
            </a:r>
            <a:r>
              <a:rPr dirty="0" sz="1300" spc="-5">
                <a:latin typeface="宋体"/>
                <a:cs typeface="宋体"/>
              </a:rPr>
              <a:t>方案的</a:t>
            </a:r>
            <a:r>
              <a:rPr dirty="0" sz="1300" spc="5">
                <a:latin typeface="宋体"/>
                <a:cs typeface="宋体"/>
              </a:rPr>
              <a:t>审</a:t>
            </a:r>
            <a:r>
              <a:rPr dirty="0" sz="1300" spc="-5">
                <a:latin typeface="宋体"/>
                <a:cs typeface="宋体"/>
              </a:rPr>
              <a:t>批资</a:t>
            </a:r>
            <a:r>
              <a:rPr dirty="0" sz="1300" spc="5">
                <a:latin typeface="宋体"/>
                <a:cs typeface="宋体"/>
              </a:rPr>
              <a:t>源</a:t>
            </a:r>
            <a:r>
              <a:rPr dirty="0" sz="1300" spc="-5">
                <a:latin typeface="宋体"/>
                <a:cs typeface="宋体"/>
              </a:rPr>
              <a:t>，</a:t>
            </a:r>
            <a:r>
              <a:rPr dirty="0" sz="1300" spc="5">
                <a:latin typeface="宋体"/>
                <a:cs typeface="宋体"/>
              </a:rPr>
              <a:t>在</a:t>
            </a:r>
            <a:r>
              <a:rPr dirty="0" sz="1300" spc="-5">
                <a:latin typeface="宋体"/>
                <a:cs typeface="宋体"/>
              </a:rPr>
              <a:t>部分半</a:t>
            </a:r>
            <a:r>
              <a:rPr dirty="0" sz="1300" spc="5">
                <a:latin typeface="宋体"/>
                <a:cs typeface="宋体"/>
              </a:rPr>
              <a:t>成</a:t>
            </a:r>
            <a:r>
              <a:rPr dirty="0" sz="1300" spc="-5">
                <a:latin typeface="宋体"/>
                <a:cs typeface="宋体"/>
              </a:rPr>
              <a:t>品组</a:t>
            </a:r>
            <a:r>
              <a:rPr dirty="0" sz="1300" spc="5">
                <a:latin typeface="宋体"/>
                <a:cs typeface="宋体"/>
              </a:rPr>
              <a:t>件</a:t>
            </a:r>
            <a:r>
              <a:rPr dirty="0" sz="1300" spc="-5">
                <a:latin typeface="宋体"/>
                <a:cs typeface="宋体"/>
              </a:rPr>
              <a:t>的</a:t>
            </a:r>
            <a:r>
              <a:rPr dirty="0" sz="1300" spc="5">
                <a:latin typeface="宋体"/>
                <a:cs typeface="宋体"/>
              </a:rPr>
              <a:t>进</a:t>
            </a:r>
            <a:r>
              <a:rPr dirty="0" sz="1300" spc="-5">
                <a:latin typeface="宋体"/>
                <a:cs typeface="宋体"/>
              </a:rPr>
              <a:t>口 </a:t>
            </a:r>
            <a:r>
              <a:rPr dirty="0" sz="1300" spc="-5">
                <a:latin typeface="宋体"/>
                <a:cs typeface="宋体"/>
              </a:rPr>
              <a:t>商可以</a:t>
            </a:r>
            <a:r>
              <a:rPr dirty="0" sz="1300" spc="5">
                <a:latin typeface="宋体"/>
                <a:cs typeface="宋体"/>
              </a:rPr>
              <a:t>报</a:t>
            </a:r>
            <a:r>
              <a:rPr dirty="0" sz="1300" spc="-5">
                <a:latin typeface="宋体"/>
                <a:cs typeface="宋体"/>
              </a:rPr>
              <a:t>关散</a:t>
            </a:r>
            <a:r>
              <a:rPr dirty="0" sz="1300" spc="5">
                <a:latin typeface="宋体"/>
                <a:cs typeface="宋体"/>
              </a:rPr>
              <a:t>件</a:t>
            </a:r>
            <a:r>
              <a:rPr dirty="0" sz="1300" spc="-5">
                <a:latin typeface="宋体"/>
                <a:cs typeface="宋体"/>
              </a:rPr>
              <a:t>以</a:t>
            </a:r>
            <a:r>
              <a:rPr dirty="0" sz="1300" spc="5">
                <a:latin typeface="宋体"/>
                <a:cs typeface="宋体"/>
              </a:rPr>
              <a:t>获</a:t>
            </a:r>
            <a:r>
              <a:rPr dirty="0" sz="1300" spc="-5">
                <a:latin typeface="宋体"/>
                <a:cs typeface="宋体"/>
              </a:rPr>
              <a:t>得更优</a:t>
            </a:r>
            <a:r>
              <a:rPr dirty="0" sz="1300" spc="5">
                <a:latin typeface="宋体"/>
                <a:cs typeface="宋体"/>
              </a:rPr>
              <a:t>的</a:t>
            </a:r>
            <a:r>
              <a:rPr dirty="0" sz="1300" spc="-5">
                <a:latin typeface="宋体"/>
                <a:cs typeface="宋体"/>
              </a:rPr>
              <a:t>关税</a:t>
            </a:r>
            <a:r>
              <a:rPr dirty="0" sz="1300" spc="5">
                <a:latin typeface="宋体"/>
                <a:cs typeface="宋体"/>
              </a:rPr>
              <a:t>优</a:t>
            </a:r>
            <a:r>
              <a:rPr dirty="0" sz="1300" spc="-5">
                <a:latin typeface="宋体"/>
                <a:cs typeface="宋体"/>
              </a:rPr>
              <a:t>惠</a:t>
            </a:r>
            <a:endParaRPr sz="1300">
              <a:latin typeface="宋体"/>
              <a:cs typeface="宋体"/>
            </a:endParaRPr>
          </a:p>
          <a:p>
            <a:pPr marL="12700">
              <a:lnSpc>
                <a:spcPts val="1820"/>
              </a:lnSpc>
              <a:tabLst>
                <a:tab pos="5006340" algn="l"/>
              </a:tabLst>
            </a:pPr>
            <a:r>
              <a:rPr dirty="0" u="sng" sz="1800" b="1">
                <a:uFill>
                  <a:solidFill>
                    <a:srgbClr val="66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1800" b="1">
                <a:latin typeface="Times New Roman"/>
                <a:cs typeface="Times New Roman"/>
              </a:rPr>
              <a:t> </a:t>
            </a:r>
            <a:r>
              <a:rPr dirty="0" sz="1800" spc="-1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明兰"/>
                <a:cs typeface="明兰"/>
              </a:rPr>
              <a:t>政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17595" y="5359095"/>
            <a:ext cx="5320030" cy="1275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7329" indent="-214629">
              <a:lnSpc>
                <a:spcPts val="1830"/>
              </a:lnSpc>
              <a:spcBef>
                <a:spcPts val="100"/>
              </a:spcBef>
              <a:buFont typeface="Arial"/>
              <a:buChar char="•"/>
              <a:tabLst>
                <a:tab pos="227329" algn="l"/>
                <a:tab pos="227965" algn="l"/>
                <a:tab pos="5077460" algn="l"/>
              </a:tabLst>
            </a:pPr>
            <a:r>
              <a:rPr dirty="0" sz="1300" spc="-5">
                <a:latin typeface="宋体"/>
                <a:cs typeface="宋体"/>
              </a:rPr>
              <a:t>本地代</a:t>
            </a:r>
            <a:r>
              <a:rPr dirty="0" sz="1300" spc="5">
                <a:latin typeface="宋体"/>
                <a:cs typeface="宋体"/>
              </a:rPr>
              <a:t>工</a:t>
            </a:r>
            <a:r>
              <a:rPr dirty="0" sz="1300" spc="-5">
                <a:latin typeface="宋体"/>
                <a:cs typeface="宋体"/>
              </a:rPr>
              <a:t>厂拥</a:t>
            </a:r>
            <a:r>
              <a:rPr dirty="0" sz="1300" spc="5">
                <a:latin typeface="宋体"/>
                <a:cs typeface="宋体"/>
              </a:rPr>
              <a:t>有</a:t>
            </a:r>
            <a:r>
              <a:rPr dirty="0" sz="1300" spc="-5">
                <a:latin typeface="宋体"/>
                <a:cs typeface="宋体"/>
              </a:rPr>
              <a:t>进</a:t>
            </a:r>
            <a:r>
              <a:rPr dirty="0" sz="1300" spc="5">
                <a:latin typeface="宋体"/>
                <a:cs typeface="宋体"/>
              </a:rPr>
              <a:t>口</a:t>
            </a:r>
            <a:r>
              <a:rPr dirty="0" sz="1300" spc="-5">
                <a:latin typeface="宋体"/>
                <a:cs typeface="宋体"/>
              </a:rPr>
              <a:t>散件的</a:t>
            </a:r>
            <a:r>
              <a:rPr dirty="0" sz="1300" spc="5">
                <a:latin typeface="宋体"/>
                <a:cs typeface="宋体"/>
              </a:rPr>
              <a:t>配</a:t>
            </a:r>
            <a:r>
              <a:rPr dirty="0" sz="1300" spc="-5">
                <a:latin typeface="宋体"/>
                <a:cs typeface="宋体"/>
              </a:rPr>
              <a:t>额资</a:t>
            </a:r>
            <a:r>
              <a:rPr dirty="0" sz="1300" spc="15">
                <a:latin typeface="宋体"/>
                <a:cs typeface="宋体"/>
              </a:rPr>
              <a:t>源</a:t>
            </a:r>
            <a:r>
              <a:rPr dirty="0" sz="1300" spc="-5">
                <a:latin typeface="宋体"/>
                <a:cs typeface="宋体"/>
              </a:rPr>
              <a:t>，</a:t>
            </a:r>
            <a:r>
              <a:rPr dirty="0" sz="1300" spc="5">
                <a:latin typeface="宋体"/>
                <a:cs typeface="宋体"/>
              </a:rPr>
              <a:t>可</a:t>
            </a:r>
            <a:r>
              <a:rPr dirty="0" sz="1300" spc="-5">
                <a:latin typeface="宋体"/>
                <a:cs typeface="宋体"/>
              </a:rPr>
              <a:t>以减少</a:t>
            </a:r>
            <a:r>
              <a:rPr dirty="0" sz="1300" spc="5">
                <a:latin typeface="宋体"/>
                <a:cs typeface="宋体"/>
              </a:rPr>
              <a:t>因</a:t>
            </a:r>
            <a:r>
              <a:rPr dirty="0" sz="1300" spc="-5">
                <a:latin typeface="宋体"/>
                <a:cs typeface="宋体"/>
              </a:rPr>
              <a:t>国家</a:t>
            </a:r>
            <a:r>
              <a:rPr dirty="0" sz="1300" spc="5">
                <a:latin typeface="宋体"/>
                <a:cs typeface="宋体"/>
              </a:rPr>
              <a:t>进</a:t>
            </a:r>
            <a:r>
              <a:rPr dirty="0" sz="1300" spc="-5">
                <a:latin typeface="宋体"/>
                <a:cs typeface="宋体"/>
              </a:rPr>
              <a:t>口</a:t>
            </a:r>
            <a:r>
              <a:rPr dirty="0" sz="1300" spc="5">
                <a:latin typeface="宋体"/>
                <a:cs typeface="宋体"/>
              </a:rPr>
              <a:t>配</a:t>
            </a:r>
            <a:r>
              <a:rPr dirty="0" sz="1300" spc="-5">
                <a:latin typeface="宋体"/>
                <a:cs typeface="宋体"/>
              </a:rPr>
              <a:t>额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baseline="1543" sz="2700" b="1">
                <a:latin typeface="明兰"/>
                <a:cs typeface="明兰"/>
              </a:rPr>
              <a:t>策</a:t>
            </a:r>
            <a:endParaRPr baseline="1543" sz="2700">
              <a:latin typeface="明兰"/>
              <a:cs typeface="明兰"/>
            </a:endParaRPr>
          </a:p>
          <a:p>
            <a:pPr marL="227329">
              <a:lnSpc>
                <a:spcPts val="1830"/>
              </a:lnSpc>
              <a:tabLst>
                <a:tab pos="5077460" algn="l"/>
              </a:tabLst>
            </a:pPr>
            <a:r>
              <a:rPr dirty="0" sz="1300" spc="-5">
                <a:latin typeface="宋体"/>
                <a:cs typeface="宋体"/>
              </a:rPr>
              <a:t>政策所</a:t>
            </a:r>
            <a:r>
              <a:rPr dirty="0" sz="1300" spc="5">
                <a:latin typeface="宋体"/>
                <a:cs typeface="宋体"/>
              </a:rPr>
              <a:t>带</a:t>
            </a:r>
            <a:r>
              <a:rPr dirty="0" sz="1300" spc="-5">
                <a:latin typeface="宋体"/>
                <a:cs typeface="宋体"/>
              </a:rPr>
              <a:t>来的</a:t>
            </a:r>
            <a:r>
              <a:rPr dirty="0" sz="1300" spc="5">
                <a:latin typeface="宋体"/>
                <a:cs typeface="宋体"/>
              </a:rPr>
              <a:t>风</a:t>
            </a:r>
            <a:r>
              <a:rPr dirty="0" sz="1300" spc="-5">
                <a:latin typeface="宋体"/>
                <a:cs typeface="宋体"/>
              </a:rPr>
              <a:t>险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baseline="-18518" sz="2700" b="1">
                <a:latin typeface="明兰"/>
                <a:cs typeface="明兰"/>
              </a:rPr>
              <a:t>因</a:t>
            </a:r>
            <a:endParaRPr baseline="-18518" sz="2700">
              <a:latin typeface="明兰"/>
              <a:cs typeface="明兰"/>
            </a:endParaRPr>
          </a:p>
          <a:p>
            <a:pPr marL="229235" indent="-215265">
              <a:lnSpc>
                <a:spcPts val="2140"/>
              </a:lnSpc>
              <a:spcBef>
                <a:spcPts val="1000"/>
              </a:spcBef>
              <a:buFont typeface="Arial"/>
              <a:buChar char="•"/>
              <a:tabLst>
                <a:tab pos="229235" algn="l"/>
                <a:tab pos="229870" algn="l"/>
                <a:tab pos="5077460" algn="l"/>
              </a:tabLst>
            </a:pPr>
            <a:r>
              <a:rPr dirty="0" sz="1300" spc="-5">
                <a:latin typeface="宋体"/>
                <a:cs typeface="宋体"/>
              </a:rPr>
              <a:t>可以凭借代工厂商的外汇兑换资源</a:t>
            </a:r>
            <a:r>
              <a:rPr dirty="0" sz="1300" spc="5">
                <a:latin typeface="宋体"/>
                <a:cs typeface="宋体"/>
              </a:rPr>
              <a:t>无</a:t>
            </a:r>
            <a:r>
              <a:rPr dirty="0" sz="1300" spc="-5">
                <a:latin typeface="宋体"/>
                <a:cs typeface="宋体"/>
              </a:rPr>
              <a:t>风险</a:t>
            </a:r>
            <a:r>
              <a:rPr dirty="0" sz="1300" spc="5">
                <a:latin typeface="宋体"/>
                <a:cs typeface="宋体"/>
              </a:rPr>
              <a:t>地</a:t>
            </a:r>
            <a:r>
              <a:rPr dirty="0" sz="1300">
                <a:latin typeface="宋体"/>
                <a:cs typeface="宋体"/>
              </a:rPr>
              <a:t>将</a:t>
            </a:r>
            <a:r>
              <a:rPr dirty="0" sz="1300" spc="-5">
                <a:latin typeface="Arial"/>
                <a:cs typeface="Arial"/>
              </a:rPr>
              <a:t>Pe</a:t>
            </a:r>
            <a:r>
              <a:rPr dirty="0" sz="1300">
                <a:latin typeface="Arial"/>
                <a:cs typeface="Arial"/>
              </a:rPr>
              <a:t>s</a:t>
            </a:r>
            <a:r>
              <a:rPr dirty="0" sz="1300" spc="-5">
                <a:latin typeface="Arial"/>
                <a:cs typeface="Arial"/>
              </a:rPr>
              <a:t>os</a:t>
            </a:r>
            <a:r>
              <a:rPr dirty="0" sz="1300" spc="-5">
                <a:latin typeface="宋体"/>
                <a:cs typeface="宋体"/>
              </a:rPr>
              <a:t>兑</a:t>
            </a:r>
            <a:r>
              <a:rPr dirty="0" sz="1300" spc="5">
                <a:latin typeface="宋体"/>
                <a:cs typeface="宋体"/>
              </a:rPr>
              <a:t>换</a:t>
            </a:r>
            <a:r>
              <a:rPr dirty="0" sz="1300" spc="-5">
                <a:latin typeface="宋体"/>
                <a:cs typeface="宋体"/>
              </a:rPr>
              <a:t>为美元</a:t>
            </a:r>
            <a:r>
              <a:rPr dirty="0" sz="1300">
                <a:latin typeface="宋体"/>
                <a:cs typeface="宋体"/>
              </a:rPr>
              <a:t>	</a:t>
            </a:r>
            <a:r>
              <a:rPr dirty="0" baseline="15432" sz="2700" b="1">
                <a:latin typeface="明兰"/>
                <a:cs typeface="明兰"/>
              </a:rPr>
              <a:t>素</a:t>
            </a:r>
            <a:endParaRPr baseline="15432" sz="2700">
              <a:latin typeface="明兰"/>
              <a:cs typeface="明兰"/>
            </a:endParaRPr>
          </a:p>
          <a:p>
            <a:pPr marL="229235" marR="460375">
              <a:lnSpc>
                <a:spcPts val="1500"/>
              </a:lnSpc>
              <a:spcBef>
                <a:spcPts val="80"/>
              </a:spcBef>
            </a:pPr>
            <a:r>
              <a:rPr dirty="0" sz="1300" spc="-5">
                <a:latin typeface="宋体"/>
                <a:cs typeface="宋体"/>
              </a:rPr>
              <a:t>外汇，</a:t>
            </a:r>
            <a:r>
              <a:rPr dirty="0" sz="1300" spc="5">
                <a:latin typeface="宋体"/>
                <a:cs typeface="宋体"/>
              </a:rPr>
              <a:t>而</a:t>
            </a:r>
            <a:r>
              <a:rPr dirty="0" sz="1300" spc="-5">
                <a:latin typeface="宋体"/>
                <a:cs typeface="宋体"/>
              </a:rPr>
              <a:t>不受</a:t>
            </a:r>
            <a:r>
              <a:rPr dirty="0" sz="1300" spc="5">
                <a:latin typeface="宋体"/>
                <a:cs typeface="宋体"/>
              </a:rPr>
              <a:t>到</a:t>
            </a:r>
            <a:r>
              <a:rPr dirty="0" sz="1300" spc="-5">
                <a:latin typeface="宋体"/>
                <a:cs typeface="宋体"/>
              </a:rPr>
              <a:t>外</a:t>
            </a:r>
            <a:r>
              <a:rPr dirty="0" sz="1300" spc="5">
                <a:latin typeface="宋体"/>
                <a:cs typeface="宋体"/>
              </a:rPr>
              <a:t>汇</a:t>
            </a:r>
            <a:r>
              <a:rPr dirty="0" sz="1300" spc="-5">
                <a:latin typeface="宋体"/>
                <a:cs typeface="宋体"/>
              </a:rPr>
              <a:t>政策风</a:t>
            </a:r>
            <a:r>
              <a:rPr dirty="0" sz="1300" spc="5">
                <a:latin typeface="宋体"/>
                <a:cs typeface="宋体"/>
              </a:rPr>
              <a:t>险</a:t>
            </a:r>
            <a:r>
              <a:rPr dirty="0" sz="1300" spc="-5">
                <a:latin typeface="宋体"/>
                <a:cs typeface="宋体"/>
              </a:rPr>
              <a:t>的影</a:t>
            </a:r>
            <a:r>
              <a:rPr dirty="0" sz="1300" spc="15">
                <a:latin typeface="宋体"/>
                <a:cs typeface="宋体"/>
              </a:rPr>
              <a:t>响</a:t>
            </a:r>
            <a:r>
              <a:rPr dirty="0" sz="1300" spc="-5">
                <a:latin typeface="宋体"/>
                <a:cs typeface="宋体"/>
              </a:rPr>
              <a:t>；</a:t>
            </a:r>
            <a:r>
              <a:rPr dirty="0" sz="1300" spc="5">
                <a:latin typeface="宋体"/>
                <a:cs typeface="宋体"/>
              </a:rPr>
              <a:t>同</a:t>
            </a:r>
            <a:r>
              <a:rPr dirty="0" sz="1300" spc="-5">
                <a:latin typeface="宋体"/>
                <a:cs typeface="宋体"/>
              </a:rPr>
              <a:t>时，在</a:t>
            </a:r>
            <a:r>
              <a:rPr dirty="0" sz="1300" spc="5">
                <a:latin typeface="宋体"/>
                <a:cs typeface="宋体"/>
              </a:rPr>
              <a:t>汇</a:t>
            </a:r>
            <a:r>
              <a:rPr dirty="0" sz="1300" spc="-5">
                <a:latin typeface="宋体"/>
                <a:cs typeface="宋体"/>
              </a:rPr>
              <a:t>率政</a:t>
            </a:r>
            <a:r>
              <a:rPr dirty="0" sz="1300" spc="5">
                <a:latin typeface="宋体"/>
                <a:cs typeface="宋体"/>
              </a:rPr>
              <a:t>策</a:t>
            </a:r>
            <a:r>
              <a:rPr dirty="0" sz="1300" spc="-5">
                <a:latin typeface="宋体"/>
                <a:cs typeface="宋体"/>
              </a:rPr>
              <a:t>不</a:t>
            </a:r>
            <a:r>
              <a:rPr dirty="0" sz="1300" spc="5">
                <a:latin typeface="宋体"/>
                <a:cs typeface="宋体"/>
              </a:rPr>
              <a:t>稳</a:t>
            </a:r>
            <a:r>
              <a:rPr dirty="0" sz="1300" spc="-5">
                <a:latin typeface="宋体"/>
                <a:cs typeface="宋体"/>
              </a:rPr>
              <a:t>定 </a:t>
            </a:r>
            <a:r>
              <a:rPr dirty="0" sz="1300" spc="-5">
                <a:latin typeface="宋体"/>
                <a:cs typeface="宋体"/>
              </a:rPr>
              <a:t>状态下</a:t>
            </a:r>
            <a:r>
              <a:rPr dirty="0" sz="1300" spc="5">
                <a:latin typeface="宋体"/>
                <a:cs typeface="宋体"/>
              </a:rPr>
              <a:t>，</a:t>
            </a:r>
            <a:r>
              <a:rPr dirty="0" sz="1300" spc="-5">
                <a:latin typeface="宋体"/>
                <a:cs typeface="宋体"/>
              </a:rPr>
              <a:t>代工</a:t>
            </a:r>
            <a:r>
              <a:rPr dirty="0" sz="1300" spc="5">
                <a:latin typeface="宋体"/>
                <a:cs typeface="宋体"/>
              </a:rPr>
              <a:t>厂</a:t>
            </a:r>
            <a:r>
              <a:rPr dirty="0" sz="1300" spc="-5">
                <a:latin typeface="宋体"/>
                <a:cs typeface="宋体"/>
              </a:rPr>
              <a:t>在</a:t>
            </a:r>
            <a:r>
              <a:rPr dirty="0" sz="1300" spc="5">
                <a:latin typeface="宋体"/>
                <a:cs typeface="宋体"/>
              </a:rPr>
              <a:t>可</a:t>
            </a:r>
            <a:r>
              <a:rPr dirty="0" sz="1300" spc="-5">
                <a:latin typeface="宋体"/>
                <a:cs typeface="宋体"/>
              </a:rPr>
              <a:t>能产生</a:t>
            </a:r>
            <a:r>
              <a:rPr dirty="0" sz="1300" spc="5">
                <a:latin typeface="宋体"/>
                <a:cs typeface="宋体"/>
              </a:rPr>
              <a:t>的</a:t>
            </a:r>
            <a:r>
              <a:rPr dirty="0" sz="1300" spc="-5">
                <a:latin typeface="宋体"/>
                <a:cs typeface="宋体"/>
              </a:rPr>
              <a:t>歧视</a:t>
            </a:r>
            <a:r>
              <a:rPr dirty="0" sz="1300" spc="5">
                <a:latin typeface="宋体"/>
                <a:cs typeface="宋体"/>
              </a:rPr>
              <a:t>性</a:t>
            </a:r>
            <a:r>
              <a:rPr dirty="0" sz="1300" spc="-5">
                <a:latin typeface="宋体"/>
                <a:cs typeface="宋体"/>
              </a:rPr>
              <a:t>汇</a:t>
            </a:r>
            <a:r>
              <a:rPr dirty="0" sz="1300" spc="5">
                <a:latin typeface="宋体"/>
                <a:cs typeface="宋体"/>
              </a:rPr>
              <a:t>率</a:t>
            </a:r>
            <a:r>
              <a:rPr dirty="0" sz="1300" spc="-5">
                <a:latin typeface="宋体"/>
                <a:cs typeface="宋体"/>
              </a:rPr>
              <a:t>政策上</a:t>
            </a:r>
            <a:r>
              <a:rPr dirty="0" sz="1300" spc="5">
                <a:latin typeface="宋体"/>
                <a:cs typeface="宋体"/>
              </a:rPr>
              <a:t>具</a:t>
            </a:r>
            <a:r>
              <a:rPr dirty="0" sz="1300" spc="-5">
                <a:latin typeface="宋体"/>
                <a:cs typeface="宋体"/>
              </a:rPr>
              <a:t>有优势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206819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代工模式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优势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分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436753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全资自建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工厂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模式劣势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分析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：资金因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素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55108" y="1226819"/>
            <a:ext cx="284988" cy="243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05428" y="1162811"/>
            <a:ext cx="1153795" cy="332740"/>
          </a:xfrm>
          <a:custGeom>
            <a:avLst/>
            <a:gdLst/>
            <a:ahLst/>
            <a:cxnLst/>
            <a:rect l="l" t="t" r="r" b="b"/>
            <a:pathLst>
              <a:path w="1153795" h="332740">
                <a:moveTo>
                  <a:pt x="1098296" y="0"/>
                </a:moveTo>
                <a:lnTo>
                  <a:pt x="55372" y="0"/>
                </a:lnTo>
                <a:lnTo>
                  <a:pt x="33807" y="4347"/>
                </a:lnTo>
                <a:lnTo>
                  <a:pt x="16208" y="16208"/>
                </a:lnTo>
                <a:lnTo>
                  <a:pt x="4347" y="33807"/>
                </a:lnTo>
                <a:lnTo>
                  <a:pt x="0" y="55372"/>
                </a:lnTo>
                <a:lnTo>
                  <a:pt x="0" y="276860"/>
                </a:lnTo>
                <a:lnTo>
                  <a:pt x="4347" y="298424"/>
                </a:lnTo>
                <a:lnTo>
                  <a:pt x="16208" y="316023"/>
                </a:lnTo>
                <a:lnTo>
                  <a:pt x="33807" y="327884"/>
                </a:lnTo>
                <a:lnTo>
                  <a:pt x="55372" y="332232"/>
                </a:lnTo>
                <a:lnTo>
                  <a:pt x="1098296" y="332232"/>
                </a:lnTo>
                <a:lnTo>
                  <a:pt x="1119860" y="327884"/>
                </a:lnTo>
                <a:lnTo>
                  <a:pt x="1137459" y="316023"/>
                </a:lnTo>
                <a:lnTo>
                  <a:pt x="1149320" y="298424"/>
                </a:lnTo>
                <a:lnTo>
                  <a:pt x="1153668" y="276860"/>
                </a:lnTo>
                <a:lnTo>
                  <a:pt x="1153668" y="55372"/>
                </a:lnTo>
                <a:lnTo>
                  <a:pt x="1149320" y="33807"/>
                </a:lnTo>
                <a:lnTo>
                  <a:pt x="1137459" y="16208"/>
                </a:lnTo>
                <a:lnTo>
                  <a:pt x="1119860" y="4347"/>
                </a:lnTo>
                <a:lnTo>
                  <a:pt x="1098296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61638" y="1192148"/>
            <a:ext cx="842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产</a:t>
            </a:r>
            <a:r>
              <a:rPr dirty="0" sz="1600" spc="5" b="1">
                <a:latin typeface="明兰"/>
                <a:cs typeface="明兰"/>
              </a:rPr>
              <a:t>能需</a:t>
            </a:r>
            <a:r>
              <a:rPr dirty="0" sz="1600" spc="-5" b="1">
                <a:latin typeface="明兰"/>
                <a:cs typeface="明兰"/>
              </a:rPr>
              <a:t>求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4555" y="1193672"/>
            <a:ext cx="34448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0" b="1">
                <a:latin typeface="明兰"/>
                <a:cs typeface="明兰"/>
              </a:rPr>
              <a:t>华</a:t>
            </a:r>
            <a:r>
              <a:rPr dirty="0" sz="1500" spc="10" b="1">
                <a:latin typeface="明兰"/>
                <a:cs typeface="明兰"/>
              </a:rPr>
              <a:t>为</a:t>
            </a:r>
            <a:r>
              <a:rPr dirty="0" sz="1500" spc="-5" b="1">
                <a:solidFill>
                  <a:srgbClr val="BA8E51"/>
                </a:solidFill>
                <a:latin typeface="Arial"/>
                <a:cs typeface="Arial"/>
              </a:rPr>
              <a:t>2019</a:t>
            </a:r>
            <a:r>
              <a:rPr dirty="0" sz="1500" spc="10" b="1">
                <a:solidFill>
                  <a:srgbClr val="BA8E51"/>
                </a:solidFill>
                <a:latin typeface="明兰"/>
                <a:cs typeface="明兰"/>
              </a:rPr>
              <a:t>年</a:t>
            </a:r>
            <a:r>
              <a:rPr dirty="0" sz="1500" b="1">
                <a:latin typeface="明兰"/>
                <a:cs typeface="明兰"/>
              </a:rPr>
              <a:t>市占率</a:t>
            </a:r>
            <a:r>
              <a:rPr dirty="0" sz="1500" spc="-10" b="1">
                <a:solidFill>
                  <a:srgbClr val="BA8E51"/>
                </a:solidFill>
                <a:latin typeface="Arial"/>
                <a:cs typeface="Arial"/>
              </a:rPr>
              <a:t>15%</a:t>
            </a:r>
            <a:r>
              <a:rPr dirty="0" sz="1500" spc="-10" b="1">
                <a:latin typeface="明兰"/>
                <a:cs typeface="明兰"/>
              </a:rPr>
              <a:t>，</a:t>
            </a:r>
            <a:r>
              <a:rPr dirty="0" sz="1500" spc="10" b="1">
                <a:latin typeface="明兰"/>
                <a:cs typeface="明兰"/>
              </a:rPr>
              <a:t>销售</a:t>
            </a:r>
            <a:r>
              <a:rPr dirty="0" sz="1500" spc="5" b="1">
                <a:latin typeface="明兰"/>
                <a:cs typeface="明兰"/>
              </a:rPr>
              <a:t>量</a:t>
            </a:r>
            <a:r>
              <a:rPr dirty="0" sz="1500" spc="-5" b="1">
                <a:solidFill>
                  <a:srgbClr val="BA8E51"/>
                </a:solidFill>
                <a:latin typeface="Arial"/>
                <a:cs typeface="Arial"/>
              </a:rPr>
              <a:t>160</a:t>
            </a:r>
            <a:r>
              <a:rPr dirty="0" sz="1500" spc="1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500" b="1">
                <a:latin typeface="明兰"/>
                <a:cs typeface="明兰"/>
              </a:rPr>
              <a:t>台</a:t>
            </a:r>
            <a:endParaRPr sz="15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6952" y="1549908"/>
            <a:ext cx="5046345" cy="181546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221615" marR="106680" indent="-129539">
              <a:lnSpc>
                <a:spcPct val="100000"/>
              </a:lnSpc>
              <a:spcBef>
                <a:spcPts val="340"/>
              </a:spcBef>
              <a:buChar char="•"/>
              <a:tabLst>
                <a:tab pos="221615" algn="l"/>
              </a:tabLst>
            </a:pPr>
            <a:r>
              <a:rPr dirty="0" sz="1400" spc="-5">
                <a:latin typeface="Arial"/>
                <a:cs typeface="Arial"/>
              </a:rPr>
              <a:t>2016</a:t>
            </a:r>
            <a:r>
              <a:rPr dirty="0" sz="1400" spc="10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阿</a:t>
            </a:r>
            <a:r>
              <a:rPr dirty="0" sz="1400" spc="-10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廷智</a:t>
            </a:r>
            <a:r>
              <a:rPr dirty="0" sz="1400" spc="-10">
                <a:latin typeface="宋体"/>
                <a:cs typeface="宋体"/>
              </a:rPr>
              <a:t>能</a:t>
            </a:r>
            <a:r>
              <a:rPr dirty="0" sz="1400">
                <a:latin typeface="宋体"/>
                <a:cs typeface="宋体"/>
              </a:rPr>
              <a:t>手机</a:t>
            </a:r>
            <a:r>
              <a:rPr dirty="0" sz="1400" spc="-10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销售</a:t>
            </a:r>
            <a:r>
              <a:rPr dirty="0" sz="1400" spc="-10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场规</a:t>
            </a:r>
            <a:r>
              <a:rPr dirty="0" sz="1400" spc="-10">
                <a:latin typeface="宋体"/>
                <a:cs typeface="宋体"/>
              </a:rPr>
              <a:t>模</a:t>
            </a:r>
            <a:r>
              <a:rPr dirty="0" sz="1400" spc="-2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~970</a:t>
            </a:r>
            <a:r>
              <a:rPr dirty="0" sz="1400">
                <a:latin typeface="宋体"/>
                <a:cs typeface="宋体"/>
              </a:rPr>
              <a:t>万台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华为智 </a:t>
            </a:r>
            <a:r>
              <a:rPr dirty="0" sz="1400" spc="10">
                <a:latin typeface="宋体"/>
                <a:cs typeface="宋体"/>
              </a:rPr>
              <a:t>能手</a:t>
            </a:r>
            <a:r>
              <a:rPr dirty="0" sz="1400">
                <a:latin typeface="宋体"/>
                <a:cs typeface="宋体"/>
              </a:rPr>
              <a:t>机在</a:t>
            </a:r>
            <a:r>
              <a:rPr dirty="0" sz="1400" spc="-1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根廷</a:t>
            </a:r>
            <a:r>
              <a:rPr dirty="0" sz="1400" spc="-15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场的</a:t>
            </a:r>
            <a:r>
              <a:rPr dirty="0" sz="1400" spc="-15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出货</a:t>
            </a:r>
            <a:r>
              <a:rPr dirty="0" sz="1400" spc="-15">
                <a:latin typeface="宋体"/>
                <a:cs typeface="宋体"/>
              </a:rPr>
              <a:t>量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~90</a:t>
            </a:r>
            <a:r>
              <a:rPr dirty="0" sz="1400">
                <a:latin typeface="宋体"/>
                <a:cs typeface="宋体"/>
              </a:rPr>
              <a:t>万</a:t>
            </a:r>
            <a:r>
              <a:rPr dirty="0" sz="1400" spc="-15">
                <a:latin typeface="宋体"/>
                <a:cs typeface="宋体"/>
              </a:rPr>
              <a:t>台</a:t>
            </a:r>
            <a:r>
              <a:rPr dirty="0" sz="1400">
                <a:latin typeface="宋体"/>
                <a:cs typeface="宋体"/>
              </a:rPr>
              <a:t>，华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市场</a:t>
            </a:r>
            <a:r>
              <a:rPr dirty="0" sz="1400" spc="-15">
                <a:latin typeface="宋体"/>
                <a:cs typeface="宋体"/>
              </a:rPr>
              <a:t>份</a:t>
            </a:r>
            <a:r>
              <a:rPr dirty="0" sz="1400">
                <a:latin typeface="宋体"/>
                <a:cs typeface="宋体"/>
              </a:rPr>
              <a:t>额 </a:t>
            </a:r>
            <a:r>
              <a:rPr dirty="0" sz="1400" spc="10">
                <a:latin typeface="宋体"/>
                <a:cs typeface="宋体"/>
              </a:rPr>
              <a:t>为</a:t>
            </a:r>
            <a:r>
              <a:rPr dirty="0" sz="1400">
                <a:latin typeface="Arial"/>
                <a:cs typeface="Arial"/>
              </a:rPr>
              <a:t>9.5%</a:t>
            </a:r>
            <a:endParaRPr sz="1400">
              <a:latin typeface="Arial"/>
              <a:cs typeface="Arial"/>
            </a:endParaRPr>
          </a:p>
          <a:p>
            <a:pPr marL="221615" indent="-129539">
              <a:lnSpc>
                <a:spcPct val="100000"/>
              </a:lnSpc>
              <a:buFont typeface="Arial"/>
              <a:buChar char="•"/>
              <a:tabLst>
                <a:tab pos="221615" algn="l"/>
              </a:tabLst>
            </a:pPr>
            <a:r>
              <a:rPr dirty="0" sz="1400" spc="10">
                <a:latin typeface="宋体"/>
                <a:cs typeface="宋体"/>
              </a:rPr>
              <a:t>据彭</a:t>
            </a:r>
            <a:r>
              <a:rPr dirty="0" sz="1400">
                <a:latin typeface="宋体"/>
                <a:cs typeface="宋体"/>
              </a:rPr>
              <a:t>博预</a:t>
            </a:r>
            <a:r>
              <a:rPr dirty="0" sz="1400" spc="-10">
                <a:latin typeface="宋体"/>
                <a:cs typeface="宋体"/>
              </a:rPr>
              <a:t>测</a:t>
            </a:r>
            <a:r>
              <a:rPr dirty="0" sz="1400" spc="-10">
                <a:latin typeface="Arial"/>
                <a:cs typeface="Arial"/>
              </a:rPr>
              <a:t>2019</a:t>
            </a:r>
            <a:r>
              <a:rPr dirty="0" sz="1400">
                <a:latin typeface="宋体"/>
                <a:cs typeface="宋体"/>
              </a:rPr>
              <a:t>年，阿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廷智</a:t>
            </a:r>
            <a:r>
              <a:rPr dirty="0" sz="1400" spc="-15">
                <a:latin typeface="宋体"/>
                <a:cs typeface="宋体"/>
              </a:rPr>
              <a:t>能</a:t>
            </a:r>
            <a:r>
              <a:rPr dirty="0" sz="1400">
                <a:latin typeface="宋体"/>
                <a:cs typeface="宋体"/>
              </a:rPr>
              <a:t>手机</a:t>
            </a:r>
            <a:r>
              <a:rPr dirty="0" sz="1400" spc="-15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销售</a:t>
            </a:r>
            <a:r>
              <a:rPr dirty="0" sz="1400" spc="-15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场规</a:t>
            </a:r>
            <a:r>
              <a:rPr dirty="0" sz="1400" spc="-15">
                <a:latin typeface="宋体"/>
                <a:cs typeface="宋体"/>
              </a:rPr>
              <a:t>模</a:t>
            </a:r>
            <a:r>
              <a:rPr dirty="0" sz="1400">
                <a:latin typeface="宋体"/>
                <a:cs typeface="宋体"/>
              </a:rPr>
              <a:t>将达</a:t>
            </a:r>
            <a:endParaRPr sz="1400">
              <a:latin typeface="宋体"/>
              <a:cs typeface="宋体"/>
            </a:endParaRPr>
          </a:p>
          <a:p>
            <a:pPr marL="220979">
              <a:lnSpc>
                <a:spcPct val="100000"/>
              </a:lnSpc>
            </a:pPr>
            <a:r>
              <a:rPr dirty="0" sz="1400" spc="-25">
                <a:latin typeface="Arial"/>
                <a:cs typeface="Arial"/>
              </a:rPr>
              <a:t>~1100</a:t>
            </a:r>
            <a:r>
              <a:rPr dirty="0" sz="1400" spc="10">
                <a:latin typeface="宋体"/>
                <a:cs typeface="宋体"/>
              </a:rPr>
              <a:t>万台</a:t>
            </a:r>
            <a:endParaRPr sz="1400">
              <a:latin typeface="宋体"/>
              <a:cs typeface="宋体"/>
            </a:endParaRPr>
          </a:p>
          <a:p>
            <a:pPr marL="221615" marR="149860" indent="-129539">
              <a:lnSpc>
                <a:spcPct val="100000"/>
              </a:lnSpc>
              <a:buFont typeface="Arial"/>
              <a:buChar char="•"/>
              <a:tabLst>
                <a:tab pos="221615" algn="l"/>
              </a:tabLst>
            </a:pPr>
            <a:r>
              <a:rPr dirty="0" sz="1400" spc="10">
                <a:latin typeface="宋体"/>
                <a:cs typeface="宋体"/>
              </a:rPr>
              <a:t>根据</a:t>
            </a:r>
            <a:r>
              <a:rPr dirty="0" sz="1400">
                <a:latin typeface="宋体"/>
                <a:cs typeface="宋体"/>
              </a:rPr>
              <a:t>战略</a:t>
            </a:r>
            <a:r>
              <a:rPr dirty="0" sz="1400" spc="-15">
                <a:latin typeface="宋体"/>
                <a:cs typeface="宋体"/>
              </a:rPr>
              <a:t>目</a:t>
            </a:r>
            <a:r>
              <a:rPr dirty="0" sz="1400">
                <a:latin typeface="宋体"/>
                <a:cs typeface="宋体"/>
              </a:rPr>
              <a:t>标，</a:t>
            </a:r>
            <a:r>
              <a:rPr dirty="0" sz="1400" spc="-15">
                <a:latin typeface="宋体"/>
                <a:cs typeface="宋体"/>
              </a:rPr>
              <a:t>截</a:t>
            </a:r>
            <a:r>
              <a:rPr dirty="0" sz="1400">
                <a:latin typeface="宋体"/>
                <a:cs typeface="宋体"/>
              </a:rPr>
              <a:t>至</a:t>
            </a:r>
            <a:r>
              <a:rPr dirty="0" sz="1400" spc="-10">
                <a:latin typeface="Arial"/>
                <a:cs typeface="Arial"/>
              </a:rPr>
              <a:t>2019</a:t>
            </a:r>
            <a:r>
              <a:rPr dirty="0" sz="1400">
                <a:latin typeface="宋体"/>
                <a:cs typeface="宋体"/>
              </a:rPr>
              <a:t>年，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为希</a:t>
            </a:r>
            <a:r>
              <a:rPr dirty="0" sz="1400" spc="-15">
                <a:latin typeface="宋体"/>
                <a:cs typeface="宋体"/>
              </a:rPr>
              <a:t>望</a:t>
            </a:r>
            <a:r>
              <a:rPr dirty="0" sz="1400">
                <a:latin typeface="宋体"/>
                <a:cs typeface="宋体"/>
              </a:rPr>
              <a:t>在阿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廷智</a:t>
            </a:r>
            <a:r>
              <a:rPr dirty="0" sz="1400" spc="-15">
                <a:latin typeface="宋体"/>
                <a:cs typeface="宋体"/>
              </a:rPr>
              <a:t>能</a:t>
            </a:r>
            <a:r>
              <a:rPr dirty="0" sz="1400">
                <a:latin typeface="宋体"/>
                <a:cs typeface="宋体"/>
              </a:rPr>
              <a:t>市场占 </a:t>
            </a:r>
            <a:r>
              <a:rPr dirty="0" sz="1400" spc="10">
                <a:latin typeface="宋体"/>
                <a:cs typeface="宋体"/>
              </a:rPr>
              <a:t>比提</a:t>
            </a:r>
            <a:r>
              <a:rPr dirty="0" sz="1400">
                <a:latin typeface="宋体"/>
                <a:cs typeface="宋体"/>
              </a:rPr>
              <a:t>升至</a:t>
            </a:r>
            <a:r>
              <a:rPr dirty="0" sz="1400" spc="-5">
                <a:latin typeface="Arial"/>
                <a:cs typeface="Arial"/>
              </a:rPr>
              <a:t>15%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即</a:t>
            </a:r>
            <a:r>
              <a:rPr dirty="0" sz="1400">
                <a:latin typeface="宋体"/>
                <a:cs typeface="宋体"/>
              </a:rPr>
              <a:t>达年</a:t>
            </a:r>
            <a:r>
              <a:rPr dirty="0" sz="1400" spc="-15">
                <a:latin typeface="宋体"/>
                <a:cs typeface="宋体"/>
              </a:rPr>
              <a:t>销</a:t>
            </a:r>
            <a:r>
              <a:rPr dirty="0" sz="1400">
                <a:latin typeface="宋体"/>
                <a:cs typeface="宋体"/>
              </a:rPr>
              <a:t>售</a:t>
            </a:r>
            <a:r>
              <a:rPr dirty="0" sz="1400" spc="-10">
                <a:latin typeface="Arial"/>
                <a:cs typeface="Arial"/>
              </a:rPr>
              <a:t>~160</a:t>
            </a:r>
            <a:r>
              <a:rPr dirty="0" sz="1400">
                <a:latin typeface="宋体"/>
                <a:cs typeface="宋体"/>
              </a:rPr>
              <a:t>万台</a:t>
            </a:r>
            <a:endParaRPr sz="1400">
              <a:latin typeface="宋体"/>
              <a:cs typeface="宋体"/>
            </a:endParaRPr>
          </a:p>
          <a:p>
            <a:pPr marL="221615" indent="-129539">
              <a:lnSpc>
                <a:spcPct val="100000"/>
              </a:lnSpc>
              <a:buFont typeface="Arial"/>
              <a:buChar char="•"/>
              <a:tabLst>
                <a:tab pos="221615" algn="l"/>
              </a:tabLst>
            </a:pPr>
            <a:r>
              <a:rPr dirty="0" sz="1400" spc="10">
                <a:latin typeface="宋体"/>
                <a:cs typeface="宋体"/>
              </a:rPr>
              <a:t>三年</a:t>
            </a:r>
            <a:r>
              <a:rPr dirty="0" sz="1400">
                <a:latin typeface="宋体"/>
                <a:cs typeface="宋体"/>
              </a:rPr>
              <a:t>发展</a:t>
            </a:r>
            <a:r>
              <a:rPr dirty="0" sz="1400" spc="-15">
                <a:latin typeface="宋体"/>
                <a:cs typeface="宋体"/>
              </a:rPr>
              <a:t>战</a:t>
            </a:r>
            <a:r>
              <a:rPr dirty="0" sz="1400">
                <a:latin typeface="宋体"/>
                <a:cs typeface="宋体"/>
              </a:rPr>
              <a:t>略的</a:t>
            </a:r>
            <a:r>
              <a:rPr dirty="0" sz="1400" spc="-15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产能</a:t>
            </a:r>
            <a:r>
              <a:rPr dirty="0" sz="1400" spc="-15">
                <a:latin typeface="宋体"/>
                <a:cs typeface="宋体"/>
              </a:rPr>
              <a:t>提</a:t>
            </a:r>
            <a:r>
              <a:rPr dirty="0" sz="1400">
                <a:latin typeface="宋体"/>
                <a:cs typeface="宋体"/>
              </a:rPr>
              <a:t>升需</a:t>
            </a:r>
            <a:r>
              <a:rPr dirty="0" sz="1400" spc="-15">
                <a:latin typeface="宋体"/>
                <a:cs typeface="宋体"/>
              </a:rPr>
              <a:t>求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70</a:t>
            </a:r>
            <a:r>
              <a:rPr dirty="0" sz="1400">
                <a:latin typeface="宋体"/>
                <a:cs typeface="宋体"/>
              </a:rPr>
              <a:t>万台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240" y="4908803"/>
            <a:ext cx="845693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305435" indent="-214629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05435" algn="l"/>
                <a:tab pos="306070" algn="l"/>
              </a:tabLst>
            </a:pPr>
            <a:r>
              <a:rPr dirty="0" sz="1400" spc="10">
                <a:latin typeface="宋体"/>
                <a:cs typeface="宋体"/>
              </a:rPr>
              <a:t>生产</a:t>
            </a:r>
            <a:r>
              <a:rPr dirty="0" sz="1400">
                <a:latin typeface="宋体"/>
                <a:cs typeface="宋体"/>
              </a:rPr>
              <a:t>线构</a:t>
            </a:r>
            <a:r>
              <a:rPr dirty="0" sz="1400" spc="-15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15">
                <a:latin typeface="宋体"/>
                <a:cs typeface="宋体"/>
              </a:rPr>
              <a:t>：</a:t>
            </a:r>
            <a:r>
              <a:rPr dirty="0" sz="1400">
                <a:latin typeface="宋体"/>
                <a:cs typeface="宋体"/>
              </a:rPr>
              <a:t>年产</a:t>
            </a:r>
            <a:r>
              <a:rPr dirty="0" sz="1400" spc="-10">
                <a:latin typeface="宋体"/>
                <a:cs typeface="宋体"/>
              </a:rPr>
              <a:t>能</a:t>
            </a:r>
            <a:r>
              <a:rPr dirty="0" sz="1400" spc="-10">
                <a:latin typeface="Arial"/>
                <a:cs typeface="Arial"/>
              </a:rPr>
              <a:t>1200</a:t>
            </a:r>
            <a:r>
              <a:rPr dirty="0" sz="1400">
                <a:latin typeface="宋体"/>
                <a:cs typeface="宋体"/>
              </a:rPr>
              <a:t>万台的</a:t>
            </a:r>
            <a:r>
              <a:rPr dirty="0" sz="1400" spc="-15">
                <a:latin typeface="宋体"/>
                <a:cs typeface="宋体"/>
              </a:rPr>
              <a:t>手</a:t>
            </a:r>
            <a:r>
              <a:rPr dirty="0" sz="1400">
                <a:latin typeface="宋体"/>
                <a:cs typeface="宋体"/>
              </a:rPr>
              <a:t>机生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线，</a:t>
            </a:r>
            <a:r>
              <a:rPr dirty="0" sz="1400" spc="-15">
                <a:latin typeface="宋体"/>
                <a:cs typeface="宋体"/>
              </a:rPr>
              <a:t>常</a:t>
            </a:r>
            <a:r>
              <a:rPr dirty="0" sz="1400">
                <a:latin typeface="宋体"/>
                <a:cs typeface="宋体"/>
              </a:rPr>
              <a:t>规配</a:t>
            </a:r>
            <a:r>
              <a:rPr dirty="0" sz="1400" spc="-15">
                <a:latin typeface="宋体"/>
                <a:cs typeface="宋体"/>
              </a:rPr>
              <a:t>备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5">
                <a:latin typeface="Arial"/>
                <a:cs typeface="Arial"/>
              </a:rPr>
              <a:t>5</a:t>
            </a:r>
            <a:r>
              <a:rPr dirty="0" sz="1400">
                <a:latin typeface="宋体"/>
                <a:cs typeface="宋体"/>
              </a:rPr>
              <a:t>台</a:t>
            </a:r>
            <a:r>
              <a:rPr dirty="0" sz="1400" spc="-5">
                <a:latin typeface="Arial"/>
                <a:cs typeface="Arial"/>
              </a:rPr>
              <a:t>SMT</a:t>
            </a:r>
            <a:r>
              <a:rPr dirty="0" sz="1400">
                <a:latin typeface="宋体"/>
                <a:cs typeface="宋体"/>
              </a:rPr>
              <a:t>贴</a:t>
            </a:r>
            <a:r>
              <a:rPr dirty="0" sz="1400" spc="-15">
                <a:latin typeface="宋体"/>
                <a:cs typeface="宋体"/>
              </a:rPr>
              <a:t>片</a:t>
            </a:r>
            <a:r>
              <a:rPr dirty="0" sz="1400">
                <a:latin typeface="宋体"/>
                <a:cs typeface="宋体"/>
              </a:rPr>
              <a:t>机、</a:t>
            </a:r>
            <a:r>
              <a:rPr dirty="0" sz="1400" spc="-10">
                <a:latin typeface="Arial"/>
                <a:cs typeface="Arial"/>
              </a:rPr>
              <a:t>12</a:t>
            </a:r>
            <a:r>
              <a:rPr dirty="0" sz="1400">
                <a:latin typeface="宋体"/>
                <a:cs typeface="宋体"/>
              </a:rPr>
              <a:t>条</a:t>
            </a:r>
            <a:r>
              <a:rPr dirty="0" sz="1400" spc="-10">
                <a:latin typeface="宋体"/>
                <a:cs typeface="宋体"/>
              </a:rPr>
              <a:t>组</a:t>
            </a:r>
            <a:r>
              <a:rPr dirty="0" sz="1400">
                <a:latin typeface="宋体"/>
                <a:cs typeface="宋体"/>
              </a:rPr>
              <a:t>装线</a:t>
            </a:r>
            <a:r>
              <a:rPr dirty="0" sz="1400" spc="-20">
                <a:latin typeface="宋体"/>
                <a:cs typeface="宋体"/>
              </a:rPr>
              <a:t>和</a:t>
            </a:r>
            <a:r>
              <a:rPr dirty="0" sz="1400" spc="-5">
                <a:latin typeface="Arial"/>
                <a:cs typeface="Arial"/>
              </a:rPr>
              <a:t>300</a:t>
            </a:r>
            <a:r>
              <a:rPr dirty="0" sz="1400">
                <a:latin typeface="宋体"/>
                <a:cs typeface="宋体"/>
              </a:rPr>
              <a:t>名生</a:t>
            </a:r>
            <a:endParaRPr sz="1400">
              <a:latin typeface="宋体"/>
              <a:cs typeface="宋体"/>
            </a:endParaRPr>
          </a:p>
          <a:p>
            <a:pPr marL="305435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产工</a:t>
            </a:r>
            <a:r>
              <a:rPr dirty="0" sz="1400" spc="5">
                <a:latin typeface="宋体"/>
                <a:cs typeface="宋体"/>
              </a:rPr>
              <a:t>人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0">
                <a:latin typeface="宋体"/>
                <a:cs typeface="宋体"/>
              </a:rPr>
              <a:t>购</a:t>
            </a:r>
            <a:r>
              <a:rPr dirty="0" sz="1400" spc="5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成</a:t>
            </a:r>
            <a:r>
              <a:rPr dirty="0" sz="1400" spc="-10">
                <a:latin typeface="宋体"/>
                <a:cs typeface="宋体"/>
              </a:rPr>
              <a:t>本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4000</a:t>
            </a:r>
            <a:r>
              <a:rPr dirty="0" sz="1400">
                <a:latin typeface="宋体"/>
                <a:cs typeface="宋体"/>
              </a:rPr>
              <a:t>万</a:t>
            </a:r>
            <a:r>
              <a:rPr dirty="0" sz="1400" spc="-5">
                <a:latin typeface="Arial"/>
                <a:cs typeface="Arial"/>
              </a:rPr>
              <a:t>RMB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约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 spc="-10">
                <a:latin typeface="Arial"/>
                <a:cs typeface="Arial"/>
              </a:rPr>
              <a:t>9200</a:t>
            </a:r>
            <a:r>
              <a:rPr dirty="0" sz="1400">
                <a:latin typeface="宋体"/>
                <a:cs typeface="宋体"/>
              </a:rPr>
              <a:t>万</a:t>
            </a:r>
            <a:r>
              <a:rPr dirty="0" sz="1400">
                <a:latin typeface="Arial"/>
                <a:cs typeface="Arial"/>
              </a:rPr>
              <a:t>Pesos</a:t>
            </a:r>
            <a:endParaRPr sz="1400">
              <a:latin typeface="Arial"/>
              <a:cs typeface="Arial"/>
            </a:endParaRPr>
          </a:p>
          <a:p>
            <a:pPr marL="305435" indent="-2146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05435" algn="l"/>
                <a:tab pos="306070" algn="l"/>
              </a:tabLst>
            </a:pPr>
            <a:r>
              <a:rPr dirty="0" sz="1400" spc="10">
                <a:latin typeface="宋体"/>
                <a:cs typeface="宋体"/>
              </a:rPr>
              <a:t>土地</a:t>
            </a:r>
            <a:r>
              <a:rPr dirty="0" sz="1400">
                <a:latin typeface="宋体"/>
                <a:cs typeface="宋体"/>
              </a:rPr>
              <a:t>租赁</a:t>
            </a:r>
            <a:r>
              <a:rPr dirty="0" sz="1400" spc="-15">
                <a:latin typeface="宋体"/>
                <a:cs typeface="宋体"/>
              </a:rPr>
              <a:t>成</a:t>
            </a:r>
            <a:r>
              <a:rPr dirty="0" sz="1400">
                <a:latin typeface="宋体"/>
                <a:cs typeface="宋体"/>
              </a:rPr>
              <a:t>本：</a:t>
            </a:r>
            <a:r>
              <a:rPr dirty="0" sz="1400" spc="-15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能</a:t>
            </a:r>
            <a:r>
              <a:rPr dirty="0" sz="1400" spc="-10">
                <a:latin typeface="Arial"/>
                <a:cs typeface="Arial"/>
              </a:rPr>
              <a:t>600</a:t>
            </a:r>
            <a:r>
              <a:rPr dirty="0" sz="1400">
                <a:latin typeface="宋体"/>
                <a:cs typeface="宋体"/>
              </a:rPr>
              <a:t>万台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手机</a:t>
            </a:r>
            <a:r>
              <a:rPr dirty="0" sz="1400" spc="-15">
                <a:latin typeface="宋体"/>
                <a:cs typeface="宋体"/>
              </a:rPr>
              <a:t>生</a:t>
            </a:r>
            <a:r>
              <a:rPr dirty="0" sz="1400">
                <a:latin typeface="宋体"/>
                <a:cs typeface="宋体"/>
              </a:rPr>
              <a:t>产线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厂的</a:t>
            </a:r>
            <a:r>
              <a:rPr dirty="0" sz="1400" spc="-15">
                <a:latin typeface="宋体"/>
                <a:cs typeface="宋体"/>
              </a:rPr>
              <a:t>土</a:t>
            </a:r>
            <a:r>
              <a:rPr dirty="0" sz="1400">
                <a:latin typeface="宋体"/>
                <a:cs typeface="宋体"/>
              </a:rPr>
              <a:t>地租</a:t>
            </a:r>
            <a:r>
              <a:rPr dirty="0" sz="1400" spc="-15">
                <a:latin typeface="宋体"/>
                <a:cs typeface="宋体"/>
              </a:rPr>
              <a:t>赁</a:t>
            </a:r>
            <a:r>
              <a:rPr dirty="0" sz="1400">
                <a:latin typeface="宋体"/>
                <a:cs typeface="宋体"/>
              </a:rPr>
              <a:t>成本</a:t>
            </a:r>
            <a:r>
              <a:rPr dirty="0" sz="1400" spc="-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300</a:t>
            </a:r>
            <a:r>
              <a:rPr dirty="0" sz="1400">
                <a:latin typeface="宋体"/>
                <a:cs typeface="宋体"/>
              </a:rPr>
              <a:t>万</a:t>
            </a:r>
            <a:r>
              <a:rPr dirty="0" sz="1400" spc="-5">
                <a:latin typeface="Arial"/>
                <a:cs typeface="Arial"/>
              </a:rPr>
              <a:t>Pesos/</a:t>
            </a:r>
            <a:r>
              <a:rPr dirty="0" sz="1400">
                <a:latin typeface="宋体"/>
                <a:cs typeface="宋体"/>
              </a:rPr>
              <a:t>年</a:t>
            </a:r>
            <a:endParaRPr sz="1400">
              <a:latin typeface="宋体"/>
              <a:cs typeface="宋体"/>
            </a:endParaRPr>
          </a:p>
          <a:p>
            <a:pPr marL="305435" indent="-214629">
              <a:lnSpc>
                <a:spcPct val="100000"/>
              </a:lnSpc>
              <a:buFont typeface="Arial"/>
              <a:buChar char="•"/>
              <a:tabLst>
                <a:tab pos="305435" algn="l"/>
                <a:tab pos="306070" algn="l"/>
              </a:tabLst>
            </a:pPr>
            <a:r>
              <a:rPr dirty="0" sz="1400" spc="10">
                <a:latin typeface="宋体"/>
                <a:cs typeface="宋体"/>
              </a:rPr>
              <a:t>生产</a:t>
            </a:r>
            <a:r>
              <a:rPr dirty="0" sz="1400">
                <a:latin typeface="宋体"/>
                <a:cs typeface="宋体"/>
              </a:rPr>
              <a:t>线工</a:t>
            </a:r>
            <a:r>
              <a:rPr dirty="0" sz="1400" spc="-15">
                <a:latin typeface="宋体"/>
                <a:cs typeface="宋体"/>
              </a:rPr>
              <a:t>人</a:t>
            </a:r>
            <a:r>
              <a:rPr dirty="0" sz="1400">
                <a:latin typeface="宋体"/>
                <a:cs typeface="宋体"/>
              </a:rPr>
              <a:t>工资</a:t>
            </a:r>
            <a:r>
              <a:rPr dirty="0" sz="1400" spc="-15">
                <a:latin typeface="宋体"/>
                <a:cs typeface="宋体"/>
              </a:rPr>
              <a:t>成</a:t>
            </a:r>
            <a:r>
              <a:rPr dirty="0" sz="1400">
                <a:latin typeface="宋体"/>
                <a:cs typeface="宋体"/>
              </a:rPr>
              <a:t>本：</a:t>
            </a:r>
            <a:r>
              <a:rPr dirty="0" sz="1400" spc="-15">
                <a:latin typeface="宋体"/>
                <a:cs typeface="宋体"/>
              </a:rPr>
              <a:t>据</a:t>
            </a:r>
            <a:r>
              <a:rPr dirty="0" sz="1400">
                <a:latin typeface="宋体"/>
                <a:cs typeface="宋体"/>
              </a:rPr>
              <a:t>阿根</a:t>
            </a:r>
            <a:r>
              <a:rPr dirty="0" sz="1400" spc="-10">
                <a:latin typeface="宋体"/>
                <a:cs typeface="宋体"/>
              </a:rPr>
              <a:t>廷</a:t>
            </a:r>
            <a:r>
              <a:rPr dirty="0" sz="1400" spc="-5">
                <a:latin typeface="Arial"/>
                <a:cs typeface="Arial"/>
              </a:rPr>
              <a:t>Labor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Ministry</a:t>
            </a:r>
            <a:r>
              <a:rPr dirty="0" sz="1400" spc="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最低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资要</a:t>
            </a:r>
            <a:r>
              <a:rPr dirty="0" sz="1400" spc="-15">
                <a:latin typeface="宋体"/>
                <a:cs typeface="宋体"/>
              </a:rPr>
              <a:t>求</a:t>
            </a:r>
            <a:r>
              <a:rPr dirty="0" sz="1400">
                <a:latin typeface="宋体"/>
                <a:cs typeface="宋体"/>
              </a:rPr>
              <a:t>，海</a:t>
            </a:r>
            <a:r>
              <a:rPr dirty="0" sz="1400" spc="-15">
                <a:latin typeface="宋体"/>
                <a:cs typeface="宋体"/>
              </a:rPr>
              <a:t>地</a:t>
            </a:r>
            <a:r>
              <a:rPr dirty="0" sz="1400">
                <a:latin typeface="宋体"/>
                <a:cs typeface="宋体"/>
              </a:rPr>
              <a:t>岛生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工人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最低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资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8060</a:t>
            </a:r>
            <a:endParaRPr sz="1400">
              <a:latin typeface="Arial"/>
              <a:cs typeface="Arial"/>
            </a:endParaRPr>
          </a:p>
          <a:p>
            <a:pPr marL="305435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Pesos/Month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据</a:t>
            </a:r>
            <a:r>
              <a:rPr dirty="0" sz="1400">
                <a:latin typeface="宋体"/>
                <a:cs typeface="宋体"/>
              </a:rPr>
              <a:t>阿根廷</a:t>
            </a:r>
            <a:r>
              <a:rPr dirty="0" sz="1400" spc="-15">
                <a:latin typeface="宋体"/>
                <a:cs typeface="宋体"/>
              </a:rPr>
              <a:t>政</a:t>
            </a:r>
            <a:r>
              <a:rPr dirty="0" sz="1400">
                <a:latin typeface="宋体"/>
                <a:cs typeface="宋体"/>
              </a:rPr>
              <a:t>府统</a:t>
            </a:r>
            <a:r>
              <a:rPr dirty="0" sz="1400" spc="-15">
                <a:latin typeface="宋体"/>
                <a:cs typeface="宋体"/>
              </a:rPr>
              <a:t>计</a:t>
            </a:r>
            <a:r>
              <a:rPr dirty="0" sz="1400">
                <a:latin typeface="宋体"/>
                <a:cs typeface="宋体"/>
              </a:rPr>
              <a:t>，海</a:t>
            </a:r>
            <a:r>
              <a:rPr dirty="0" sz="1400" spc="-15">
                <a:latin typeface="宋体"/>
                <a:cs typeface="宋体"/>
              </a:rPr>
              <a:t>地</a:t>
            </a:r>
            <a:r>
              <a:rPr dirty="0" sz="1400">
                <a:latin typeface="宋体"/>
                <a:cs typeface="宋体"/>
              </a:rPr>
              <a:t>岛生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工人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平均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资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40">
                <a:latin typeface="Arial"/>
                <a:cs typeface="Arial"/>
              </a:rPr>
              <a:t>113 </a:t>
            </a:r>
            <a:r>
              <a:rPr dirty="0" sz="1400">
                <a:latin typeface="Arial"/>
                <a:cs typeface="Arial"/>
              </a:rPr>
              <a:t>Pesos/hr</a:t>
            </a:r>
            <a:r>
              <a:rPr dirty="0" sz="1400">
                <a:latin typeface="宋体"/>
                <a:cs typeface="宋体"/>
              </a:rPr>
              <a:t>（其</a:t>
            </a:r>
            <a:r>
              <a:rPr dirty="0" sz="1400" spc="-15">
                <a:latin typeface="宋体"/>
                <a:cs typeface="宋体"/>
              </a:rPr>
              <a:t>中</a:t>
            </a:r>
            <a:r>
              <a:rPr dirty="0" sz="1400">
                <a:latin typeface="宋体"/>
                <a:cs typeface="宋体"/>
              </a:rPr>
              <a:t>基础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资为</a:t>
            </a:r>
            <a:r>
              <a:rPr dirty="0" sz="1400" spc="-10">
                <a:latin typeface="Arial"/>
                <a:cs typeface="Arial"/>
              </a:rPr>
              <a:t>53</a:t>
            </a:r>
            <a:endParaRPr sz="1400">
              <a:latin typeface="Arial"/>
              <a:cs typeface="Arial"/>
            </a:endParaRPr>
          </a:p>
          <a:p>
            <a:pPr marL="30543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Pesos/hr</a:t>
            </a:r>
            <a:r>
              <a:rPr dirty="0" sz="1400">
                <a:latin typeface="宋体"/>
                <a:cs typeface="宋体"/>
              </a:rPr>
              <a:t>，绩</a:t>
            </a:r>
            <a:r>
              <a:rPr dirty="0" sz="1400" spc="-10">
                <a:latin typeface="宋体"/>
                <a:cs typeface="宋体"/>
              </a:rPr>
              <a:t>效</a:t>
            </a:r>
            <a:r>
              <a:rPr dirty="0" sz="1400">
                <a:latin typeface="宋体"/>
                <a:cs typeface="宋体"/>
              </a:rPr>
              <a:t>工资</a:t>
            </a:r>
            <a:r>
              <a:rPr dirty="0" sz="1400" spc="-20">
                <a:latin typeface="宋体"/>
                <a:cs typeface="宋体"/>
              </a:rPr>
              <a:t>为</a:t>
            </a:r>
            <a:r>
              <a:rPr dirty="0" sz="1400">
                <a:latin typeface="Arial"/>
                <a:cs typeface="Arial"/>
              </a:rPr>
              <a:t>60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Pesos/hr</a:t>
            </a:r>
            <a:r>
              <a:rPr dirty="0" sz="1400">
                <a:latin typeface="宋体"/>
                <a:cs typeface="宋体"/>
              </a:rPr>
              <a:t>），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计</a:t>
            </a:r>
            <a:r>
              <a:rPr dirty="0" sz="1400" spc="-5">
                <a:latin typeface="Arial"/>
                <a:cs typeface="Arial"/>
              </a:rPr>
              <a:t>20000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Pesos/Month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9847" y="4286834"/>
            <a:ext cx="749109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" b="1">
                <a:latin typeface="明兰"/>
                <a:cs typeface="明兰"/>
              </a:rPr>
              <a:t>仅</a:t>
            </a:r>
            <a:r>
              <a:rPr dirty="0" sz="1400" b="1">
                <a:latin typeface="明兰"/>
                <a:cs typeface="明兰"/>
              </a:rPr>
              <a:t>新</a:t>
            </a:r>
            <a:r>
              <a:rPr dirty="0" sz="1400" spc="5" b="1">
                <a:latin typeface="明兰"/>
                <a:cs typeface="明兰"/>
              </a:rPr>
              <a:t>增</a:t>
            </a:r>
            <a:r>
              <a:rPr dirty="0" sz="1400" spc="-15" b="1">
                <a:latin typeface="明兰"/>
                <a:cs typeface="明兰"/>
              </a:rPr>
              <a:t>产</a:t>
            </a:r>
            <a:r>
              <a:rPr dirty="0" sz="1400" spc="5" b="1">
                <a:latin typeface="明兰"/>
                <a:cs typeface="明兰"/>
              </a:rPr>
              <a:t>能</a:t>
            </a:r>
            <a:r>
              <a:rPr dirty="0" sz="1400" b="1">
                <a:latin typeface="明兰"/>
                <a:cs typeface="明兰"/>
              </a:rPr>
              <a:t>：</a:t>
            </a:r>
            <a:r>
              <a:rPr dirty="0" sz="1400" spc="-10" b="1">
                <a:latin typeface="明兰"/>
                <a:cs typeface="明兰"/>
              </a:rPr>
              <a:t>生产</a:t>
            </a:r>
            <a:r>
              <a:rPr dirty="0" sz="1400" spc="5" b="1">
                <a:latin typeface="明兰"/>
                <a:cs typeface="明兰"/>
              </a:rPr>
              <a:t>线</a:t>
            </a:r>
            <a:r>
              <a:rPr dirty="0" sz="1400" b="1">
                <a:latin typeface="明兰"/>
                <a:cs typeface="明兰"/>
              </a:rPr>
              <a:t>投</a:t>
            </a:r>
            <a:r>
              <a:rPr dirty="0" sz="1400" spc="10" b="1">
                <a:latin typeface="明兰"/>
                <a:cs typeface="明兰"/>
              </a:rPr>
              <a:t>资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540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400" spc="5" b="1">
                <a:latin typeface="明兰"/>
                <a:cs typeface="明兰"/>
              </a:rPr>
              <a:t>，</a:t>
            </a:r>
            <a:r>
              <a:rPr dirty="0" sz="1400" b="1">
                <a:latin typeface="明兰"/>
                <a:cs typeface="明兰"/>
              </a:rPr>
              <a:t>土</a:t>
            </a:r>
            <a:r>
              <a:rPr dirty="0" sz="1400" spc="-10" b="1">
                <a:latin typeface="明兰"/>
                <a:cs typeface="明兰"/>
              </a:rPr>
              <a:t>地</a:t>
            </a:r>
            <a:r>
              <a:rPr dirty="0" sz="1400" spc="5" b="1">
                <a:latin typeface="明兰"/>
                <a:cs typeface="明兰"/>
              </a:rPr>
              <a:t>租</a:t>
            </a:r>
            <a:r>
              <a:rPr dirty="0" sz="1400" b="1">
                <a:latin typeface="明兰"/>
                <a:cs typeface="明兰"/>
              </a:rPr>
              <a:t>赁</a:t>
            </a:r>
            <a:r>
              <a:rPr dirty="0" sz="1400" spc="5" b="1">
                <a:latin typeface="明兰"/>
                <a:cs typeface="明兰"/>
              </a:rPr>
              <a:t>成</a:t>
            </a:r>
            <a:r>
              <a:rPr dirty="0" sz="1400" spc="-5" b="1">
                <a:latin typeface="明兰"/>
                <a:cs typeface="明兰"/>
              </a:rPr>
              <a:t>本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30</a:t>
            </a:r>
            <a:r>
              <a:rPr dirty="0" sz="1400" spc="1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/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年</a:t>
            </a:r>
            <a:r>
              <a:rPr dirty="0" sz="1400" spc="5" b="1">
                <a:latin typeface="明兰"/>
                <a:cs typeface="明兰"/>
              </a:rPr>
              <a:t>，</a:t>
            </a:r>
            <a:r>
              <a:rPr dirty="0" sz="1400" b="1">
                <a:latin typeface="明兰"/>
                <a:cs typeface="明兰"/>
              </a:rPr>
              <a:t>人</a:t>
            </a:r>
            <a:r>
              <a:rPr dirty="0" sz="1400" spc="5" b="1">
                <a:latin typeface="明兰"/>
                <a:cs typeface="明兰"/>
              </a:rPr>
              <a:t>力</a:t>
            </a:r>
            <a:r>
              <a:rPr dirty="0" sz="1400" b="1">
                <a:latin typeface="明兰"/>
                <a:cs typeface="明兰"/>
              </a:rPr>
              <a:t>成</a:t>
            </a:r>
            <a:r>
              <a:rPr dirty="0" sz="1400" spc="-10" b="1">
                <a:latin typeface="明兰"/>
                <a:cs typeface="明兰"/>
              </a:rPr>
              <a:t>本</a:t>
            </a:r>
            <a:r>
              <a:rPr dirty="0" sz="1400" spc="5" b="1">
                <a:latin typeface="明兰"/>
                <a:cs typeface="明兰"/>
              </a:rPr>
              <a:t>投</a:t>
            </a:r>
            <a:r>
              <a:rPr dirty="0" sz="1400" spc="10" b="1">
                <a:latin typeface="明兰"/>
                <a:cs typeface="明兰"/>
              </a:rPr>
              <a:t>入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35</a:t>
            </a:r>
            <a:r>
              <a:rPr dirty="0" sz="1400" spc="1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/</a:t>
            </a:r>
            <a:r>
              <a:rPr dirty="0" sz="1400" spc="5" b="1">
                <a:solidFill>
                  <a:srgbClr val="BA8E51"/>
                </a:solidFill>
                <a:latin typeface="明兰"/>
                <a:cs typeface="明兰"/>
              </a:rPr>
              <a:t>月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（</a:t>
            </a:r>
            <a:r>
              <a:rPr dirty="0" sz="1400" spc="5" b="1">
                <a:solidFill>
                  <a:srgbClr val="BA8E51"/>
                </a:solidFill>
                <a:latin typeface="明兰"/>
                <a:cs typeface="明兰"/>
              </a:rPr>
              <a:t>单</a:t>
            </a:r>
            <a:r>
              <a:rPr dirty="0" sz="1400" spc="-15" b="1">
                <a:solidFill>
                  <a:srgbClr val="BA8E51"/>
                </a:solidFill>
                <a:latin typeface="明兰"/>
                <a:cs typeface="明兰"/>
              </a:rPr>
              <a:t>位</a:t>
            </a:r>
            <a:r>
              <a:rPr dirty="0" sz="1400" spc="5" b="1">
                <a:solidFill>
                  <a:srgbClr val="BA8E51"/>
                </a:solidFill>
                <a:latin typeface="明兰"/>
                <a:cs typeface="明兰"/>
              </a:rPr>
              <a:t>：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比</a:t>
            </a:r>
            <a:r>
              <a:rPr dirty="0" sz="1400" spc="-10" b="1">
                <a:solidFill>
                  <a:srgbClr val="BA8E51"/>
                </a:solidFill>
                <a:latin typeface="明兰"/>
                <a:cs typeface="明兰"/>
              </a:rPr>
              <a:t>索</a:t>
            </a:r>
            <a:r>
              <a:rPr dirty="0" sz="1400" spc="5" b="1">
                <a:solidFill>
                  <a:srgbClr val="BA8E51"/>
                </a:solidFill>
                <a:latin typeface="明兰"/>
                <a:cs typeface="明兰"/>
              </a:rPr>
              <a:t>）</a:t>
            </a:r>
            <a:endParaRPr sz="1400">
              <a:latin typeface="明兰"/>
              <a:cs typeface="明兰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明兰"/>
                <a:cs typeface="明兰"/>
              </a:rPr>
              <a:t>逐步全</a:t>
            </a:r>
            <a:r>
              <a:rPr dirty="0" sz="1400" spc="-15" b="1">
                <a:latin typeface="明兰"/>
                <a:cs typeface="明兰"/>
              </a:rPr>
              <a:t>自</a:t>
            </a:r>
            <a:r>
              <a:rPr dirty="0" sz="1400" b="1">
                <a:latin typeface="明兰"/>
                <a:cs typeface="明兰"/>
              </a:rPr>
              <a:t>产：</a:t>
            </a:r>
            <a:r>
              <a:rPr dirty="0" sz="1400" spc="-15" b="1">
                <a:latin typeface="明兰"/>
                <a:cs typeface="明兰"/>
              </a:rPr>
              <a:t>生产</a:t>
            </a:r>
            <a:r>
              <a:rPr dirty="0" sz="1400" b="1">
                <a:latin typeface="明兰"/>
                <a:cs typeface="明兰"/>
              </a:rPr>
              <a:t>线投</a:t>
            </a:r>
            <a:r>
              <a:rPr dirty="0" sz="1400" spc="15" b="1">
                <a:latin typeface="明兰"/>
                <a:cs typeface="明兰"/>
              </a:rPr>
              <a:t>资</a:t>
            </a:r>
            <a:r>
              <a:rPr dirty="0" sz="1400" spc="-15" b="1">
                <a:solidFill>
                  <a:srgbClr val="BA8E51"/>
                </a:solidFill>
                <a:latin typeface="Arial"/>
                <a:cs typeface="Arial"/>
              </a:rPr>
              <a:t>1300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400" b="1">
                <a:latin typeface="明兰"/>
                <a:cs typeface="明兰"/>
              </a:rPr>
              <a:t>，</a:t>
            </a:r>
            <a:r>
              <a:rPr dirty="0" sz="1400" spc="-15" b="1">
                <a:latin typeface="明兰"/>
                <a:cs typeface="明兰"/>
              </a:rPr>
              <a:t>土</a:t>
            </a:r>
            <a:r>
              <a:rPr dirty="0" sz="1400" b="1">
                <a:latin typeface="明兰"/>
                <a:cs typeface="明兰"/>
              </a:rPr>
              <a:t>地租赁</a:t>
            </a:r>
            <a:r>
              <a:rPr dirty="0" sz="1400" spc="-15" b="1">
                <a:latin typeface="明兰"/>
                <a:cs typeface="明兰"/>
              </a:rPr>
              <a:t>成</a:t>
            </a:r>
            <a:r>
              <a:rPr dirty="0" sz="1400" spc="15" b="1">
                <a:latin typeface="明兰"/>
                <a:cs typeface="明兰"/>
              </a:rPr>
              <a:t>本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80</a:t>
            </a:r>
            <a:r>
              <a:rPr dirty="0" sz="1400" spc="1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/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年</a:t>
            </a:r>
            <a:r>
              <a:rPr dirty="0" sz="1400" b="1">
                <a:latin typeface="明兰"/>
                <a:cs typeface="明兰"/>
              </a:rPr>
              <a:t>，人力</a:t>
            </a:r>
            <a:r>
              <a:rPr dirty="0" sz="1400" spc="-15" b="1">
                <a:latin typeface="明兰"/>
                <a:cs typeface="明兰"/>
              </a:rPr>
              <a:t>成</a:t>
            </a:r>
            <a:r>
              <a:rPr dirty="0" sz="1400" b="1">
                <a:latin typeface="明兰"/>
                <a:cs typeface="明兰"/>
              </a:rPr>
              <a:t>本投入</a:t>
            </a:r>
            <a:r>
              <a:rPr dirty="0" sz="1400" spc="-15" b="1">
                <a:solidFill>
                  <a:srgbClr val="BA8E51"/>
                </a:solidFill>
                <a:latin typeface="Arial"/>
                <a:cs typeface="Arial"/>
              </a:rPr>
              <a:t>80</a:t>
            </a:r>
            <a:r>
              <a:rPr dirty="0" sz="1400" spc="10" b="1">
                <a:solidFill>
                  <a:srgbClr val="BA8E51"/>
                </a:solidFill>
                <a:latin typeface="明兰"/>
                <a:cs typeface="明兰"/>
              </a:rPr>
              <a:t>万</a:t>
            </a:r>
            <a:r>
              <a:rPr dirty="0" sz="1400" spc="-20" b="1">
                <a:solidFill>
                  <a:srgbClr val="BA8E51"/>
                </a:solidFill>
                <a:latin typeface="Arial"/>
                <a:cs typeface="Arial"/>
              </a:rPr>
              <a:t>/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月（单</a:t>
            </a:r>
            <a:r>
              <a:rPr dirty="0" sz="1400" spc="-15" b="1">
                <a:solidFill>
                  <a:srgbClr val="BA8E51"/>
                </a:solidFill>
                <a:latin typeface="明兰"/>
                <a:cs typeface="明兰"/>
              </a:rPr>
              <a:t>位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：比</a:t>
            </a:r>
            <a:r>
              <a:rPr dirty="0" sz="1400" spc="-15" b="1">
                <a:solidFill>
                  <a:srgbClr val="BA8E51"/>
                </a:solidFill>
                <a:latin typeface="明兰"/>
                <a:cs typeface="明兰"/>
              </a:rPr>
              <a:t>索</a:t>
            </a:r>
            <a:r>
              <a:rPr dirty="0" sz="1400" b="1">
                <a:solidFill>
                  <a:srgbClr val="BA8E51"/>
                </a:solidFill>
                <a:latin typeface="明兰"/>
                <a:cs typeface="明兰"/>
              </a:rPr>
              <a:t>）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6209" y="6531661"/>
            <a:ext cx="3230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数据来源：</a:t>
            </a:r>
            <a:r>
              <a:rPr dirty="0" sz="1000" spc="-5">
                <a:latin typeface="宋体"/>
                <a:cs typeface="宋体"/>
              </a:rPr>
              <a:t>公开</a:t>
            </a:r>
            <a:r>
              <a:rPr dirty="0" sz="1000" spc="5">
                <a:latin typeface="宋体"/>
                <a:cs typeface="宋体"/>
              </a:rPr>
              <a:t>资</a:t>
            </a:r>
            <a:r>
              <a:rPr dirty="0" sz="1000" spc="-5">
                <a:latin typeface="宋体"/>
                <a:cs typeface="宋体"/>
              </a:rPr>
              <a:t>料整</a:t>
            </a:r>
            <a:r>
              <a:rPr dirty="0" sz="1000" spc="5">
                <a:latin typeface="宋体"/>
                <a:cs typeface="宋体"/>
              </a:rPr>
              <a:t>理</a:t>
            </a:r>
            <a:r>
              <a:rPr dirty="0" sz="1000" spc="-5">
                <a:latin typeface="宋体"/>
                <a:cs typeface="宋体"/>
              </a:rPr>
              <a:t>，</a:t>
            </a:r>
            <a:r>
              <a:rPr dirty="0" sz="1000" spc="5">
                <a:latin typeface="宋体"/>
                <a:cs typeface="宋体"/>
              </a:rPr>
              <a:t>为</a:t>
            </a:r>
            <a:r>
              <a:rPr dirty="0" sz="1000" spc="-10">
                <a:latin typeface="Arial"/>
                <a:cs typeface="Arial"/>
              </a:rPr>
              <a:t>2016</a:t>
            </a:r>
            <a:r>
              <a:rPr dirty="0" sz="1000" spc="-5">
                <a:latin typeface="宋体"/>
                <a:cs typeface="宋体"/>
              </a:rPr>
              <a:t>年年</a:t>
            </a:r>
            <a:r>
              <a:rPr dirty="0" sz="1000" spc="5">
                <a:latin typeface="宋体"/>
                <a:cs typeface="宋体"/>
              </a:rPr>
              <a:t>底</a:t>
            </a:r>
            <a:r>
              <a:rPr dirty="0" sz="1000" spc="-5">
                <a:latin typeface="宋体"/>
                <a:cs typeface="宋体"/>
              </a:rPr>
              <a:t>汇率</a:t>
            </a:r>
            <a:r>
              <a:rPr dirty="0" sz="1000" spc="5">
                <a:latin typeface="宋体"/>
                <a:cs typeface="宋体"/>
              </a:rPr>
              <a:t>水</a:t>
            </a:r>
            <a:r>
              <a:rPr dirty="0" sz="1000" spc="-5">
                <a:latin typeface="宋体"/>
                <a:cs typeface="宋体"/>
              </a:rPr>
              <a:t>平换</a:t>
            </a:r>
            <a:r>
              <a:rPr dirty="0" sz="1000" spc="5">
                <a:latin typeface="宋体"/>
                <a:cs typeface="宋体"/>
              </a:rPr>
              <a:t>算</a:t>
            </a:r>
            <a:r>
              <a:rPr dirty="0" sz="1000" spc="-5">
                <a:latin typeface="宋体"/>
                <a:cs typeface="宋体"/>
              </a:rPr>
              <a:t>，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6240" y="1161288"/>
            <a:ext cx="3182620" cy="332740"/>
          </a:xfrm>
          <a:custGeom>
            <a:avLst/>
            <a:gdLst/>
            <a:ahLst/>
            <a:cxnLst/>
            <a:rect l="l" t="t" r="r" b="b"/>
            <a:pathLst>
              <a:path w="3182620" h="332740">
                <a:moveTo>
                  <a:pt x="3126740" y="0"/>
                </a:moveTo>
                <a:lnTo>
                  <a:pt x="55372" y="0"/>
                </a:lnTo>
                <a:lnTo>
                  <a:pt x="33818" y="4347"/>
                </a:lnTo>
                <a:lnTo>
                  <a:pt x="16217" y="16208"/>
                </a:lnTo>
                <a:lnTo>
                  <a:pt x="4351" y="33807"/>
                </a:lnTo>
                <a:lnTo>
                  <a:pt x="0" y="55372"/>
                </a:lnTo>
                <a:lnTo>
                  <a:pt x="0" y="276860"/>
                </a:lnTo>
                <a:lnTo>
                  <a:pt x="4351" y="298424"/>
                </a:lnTo>
                <a:lnTo>
                  <a:pt x="16217" y="316023"/>
                </a:lnTo>
                <a:lnTo>
                  <a:pt x="33818" y="327884"/>
                </a:lnTo>
                <a:lnTo>
                  <a:pt x="55372" y="332232"/>
                </a:lnTo>
                <a:lnTo>
                  <a:pt x="3126740" y="332232"/>
                </a:lnTo>
                <a:lnTo>
                  <a:pt x="3148304" y="327884"/>
                </a:lnTo>
                <a:lnTo>
                  <a:pt x="3165903" y="316023"/>
                </a:lnTo>
                <a:lnTo>
                  <a:pt x="3177764" y="298424"/>
                </a:lnTo>
                <a:lnTo>
                  <a:pt x="3182112" y="276860"/>
                </a:lnTo>
                <a:lnTo>
                  <a:pt x="3182112" y="55372"/>
                </a:lnTo>
                <a:lnTo>
                  <a:pt x="3177764" y="33807"/>
                </a:lnTo>
                <a:lnTo>
                  <a:pt x="3165903" y="16208"/>
                </a:lnTo>
                <a:lnTo>
                  <a:pt x="3148304" y="4347"/>
                </a:lnTo>
                <a:lnTo>
                  <a:pt x="3126740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59535" y="1189481"/>
            <a:ext cx="12515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注</a:t>
            </a:r>
            <a:r>
              <a:rPr dirty="0" sz="1600" spc="5" b="1">
                <a:latin typeface="明兰"/>
                <a:cs typeface="明兰"/>
              </a:rPr>
              <a:t>册资</a:t>
            </a:r>
            <a:r>
              <a:rPr dirty="0" sz="1600" spc="15" b="1">
                <a:latin typeface="明兰"/>
                <a:cs typeface="明兰"/>
              </a:rPr>
              <a:t>金</a:t>
            </a:r>
            <a:r>
              <a:rPr dirty="0" sz="1600" spc="5" b="1">
                <a:latin typeface="明兰"/>
                <a:cs typeface="明兰"/>
              </a:rPr>
              <a:t>需</a:t>
            </a:r>
            <a:r>
              <a:rPr dirty="0" sz="1600" spc="-5" b="1">
                <a:latin typeface="明兰"/>
                <a:cs typeface="明兰"/>
              </a:rPr>
              <a:t>求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" y="3575303"/>
            <a:ext cx="2517578" cy="513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60933" y="3620770"/>
            <a:ext cx="179514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660000"/>
                </a:solidFill>
                <a:latin typeface="Arial"/>
                <a:cs typeface="Arial"/>
              </a:rPr>
              <a:t>SMT</a:t>
            </a:r>
            <a:r>
              <a:rPr dirty="0" sz="1300" spc="-10">
                <a:solidFill>
                  <a:srgbClr val="660000"/>
                </a:solidFill>
                <a:latin typeface="宋体"/>
                <a:cs typeface="宋体"/>
              </a:rPr>
              <a:t>（</a:t>
            </a:r>
            <a:r>
              <a:rPr dirty="0" sz="1300" spc="-10">
                <a:solidFill>
                  <a:srgbClr val="660000"/>
                </a:solidFill>
                <a:latin typeface="Arial"/>
                <a:cs typeface="Arial"/>
              </a:rPr>
              <a:t>Surface Mounted  </a:t>
            </a:r>
            <a:r>
              <a:rPr dirty="0" sz="1300" spc="-20">
                <a:solidFill>
                  <a:srgbClr val="660000"/>
                </a:solidFill>
                <a:latin typeface="Arial"/>
                <a:cs typeface="Arial"/>
              </a:rPr>
              <a:t>Technology</a:t>
            </a:r>
            <a:r>
              <a:rPr dirty="0" sz="1300" spc="-20">
                <a:solidFill>
                  <a:srgbClr val="660000"/>
                </a:solidFill>
                <a:latin typeface="宋体"/>
                <a:cs typeface="宋体"/>
              </a:rPr>
              <a:t>）</a:t>
            </a:r>
            <a:r>
              <a:rPr dirty="0" sz="1300" spc="-5">
                <a:solidFill>
                  <a:srgbClr val="660000"/>
                </a:solidFill>
                <a:latin typeface="宋体"/>
                <a:cs typeface="宋体"/>
              </a:rPr>
              <a:t>贴片机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08376" y="3575303"/>
            <a:ext cx="5844540" cy="5135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12135" y="3719829"/>
            <a:ext cx="6838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660000"/>
                </a:solidFill>
                <a:latin typeface="宋体"/>
                <a:cs typeface="宋体"/>
              </a:rPr>
              <a:t>板测流程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1952" y="3719829"/>
            <a:ext cx="6838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660000"/>
                </a:solidFill>
                <a:latin typeface="宋体"/>
                <a:cs typeface="宋体"/>
              </a:rPr>
              <a:t>组装车间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71769" y="3719829"/>
            <a:ext cx="6838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660000"/>
                </a:solidFill>
                <a:latin typeface="宋体"/>
                <a:cs typeface="宋体"/>
              </a:rPr>
              <a:t>组装车间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5391" y="3719829"/>
            <a:ext cx="6838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660000"/>
                </a:solidFill>
                <a:latin typeface="宋体"/>
                <a:cs typeface="宋体"/>
              </a:rPr>
              <a:t>组装车间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63457" y="3719829"/>
            <a:ext cx="3549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660000"/>
                </a:solidFill>
                <a:latin typeface="宋体"/>
                <a:cs typeface="宋体"/>
              </a:rPr>
              <a:t>封装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7200" y="4247388"/>
            <a:ext cx="1080770" cy="510540"/>
          </a:xfrm>
          <a:custGeom>
            <a:avLst/>
            <a:gdLst/>
            <a:ahLst/>
            <a:cxnLst/>
            <a:rect l="l" t="t" r="r" b="b"/>
            <a:pathLst>
              <a:path w="1080770" h="510539">
                <a:moveTo>
                  <a:pt x="995426" y="0"/>
                </a:moveTo>
                <a:lnTo>
                  <a:pt x="85090" y="0"/>
                </a:lnTo>
                <a:lnTo>
                  <a:pt x="51970" y="6687"/>
                </a:lnTo>
                <a:lnTo>
                  <a:pt x="24923" y="24923"/>
                </a:lnTo>
                <a:lnTo>
                  <a:pt x="6687" y="51970"/>
                </a:lnTo>
                <a:lnTo>
                  <a:pt x="0" y="85089"/>
                </a:lnTo>
                <a:lnTo>
                  <a:pt x="0" y="425450"/>
                </a:lnTo>
                <a:lnTo>
                  <a:pt x="6687" y="458569"/>
                </a:lnTo>
                <a:lnTo>
                  <a:pt x="24923" y="485616"/>
                </a:lnTo>
                <a:lnTo>
                  <a:pt x="51970" y="503852"/>
                </a:lnTo>
                <a:lnTo>
                  <a:pt x="85090" y="510539"/>
                </a:lnTo>
                <a:lnTo>
                  <a:pt x="995426" y="510539"/>
                </a:lnTo>
                <a:lnTo>
                  <a:pt x="1028545" y="503852"/>
                </a:lnTo>
                <a:lnTo>
                  <a:pt x="1055592" y="485616"/>
                </a:lnTo>
                <a:lnTo>
                  <a:pt x="1073828" y="458569"/>
                </a:lnTo>
                <a:lnTo>
                  <a:pt x="1080516" y="425450"/>
                </a:lnTo>
                <a:lnTo>
                  <a:pt x="1080516" y="85089"/>
                </a:lnTo>
                <a:lnTo>
                  <a:pt x="1073828" y="51970"/>
                </a:lnTo>
                <a:lnTo>
                  <a:pt x="1055592" y="24923"/>
                </a:lnTo>
                <a:lnTo>
                  <a:pt x="1028545" y="6687"/>
                </a:lnTo>
                <a:lnTo>
                  <a:pt x="995426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75259" y="4254753"/>
            <a:ext cx="842010" cy="502284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14300" marR="5080" indent="-102235">
              <a:lnSpc>
                <a:spcPts val="1839"/>
              </a:lnSpc>
              <a:spcBef>
                <a:spcPts val="225"/>
              </a:spcBef>
            </a:pPr>
            <a:r>
              <a:rPr dirty="0" sz="1600" spc="15" b="1">
                <a:latin typeface="明兰"/>
                <a:cs typeface="明兰"/>
              </a:rPr>
              <a:t>生</a:t>
            </a:r>
            <a:r>
              <a:rPr dirty="0" sz="1600" spc="5" b="1">
                <a:latin typeface="明兰"/>
                <a:cs typeface="明兰"/>
              </a:rPr>
              <a:t>产线</a:t>
            </a:r>
            <a:r>
              <a:rPr dirty="0" sz="1600" spc="-5" b="1">
                <a:latin typeface="明兰"/>
                <a:cs typeface="明兰"/>
              </a:rPr>
              <a:t>资 </a:t>
            </a:r>
            <a:r>
              <a:rPr dirty="0" sz="1600" spc="15" b="1">
                <a:latin typeface="明兰"/>
                <a:cs typeface="明兰"/>
              </a:rPr>
              <a:t>金</a:t>
            </a:r>
            <a:r>
              <a:rPr dirty="0" sz="1600" spc="5" b="1">
                <a:latin typeface="明兰"/>
                <a:cs typeface="明兰"/>
              </a:rPr>
              <a:t>需</a:t>
            </a:r>
            <a:r>
              <a:rPr dirty="0" sz="1600" spc="-5" b="1">
                <a:latin typeface="明兰"/>
                <a:cs typeface="明兰"/>
              </a:rPr>
              <a:t>求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9288" y="2458211"/>
            <a:ext cx="3182620" cy="954405"/>
          </a:xfrm>
          <a:custGeom>
            <a:avLst/>
            <a:gdLst/>
            <a:ahLst/>
            <a:cxnLst/>
            <a:rect l="l" t="t" r="r" b="b"/>
            <a:pathLst>
              <a:path w="3182620" h="954404">
                <a:moveTo>
                  <a:pt x="0" y="954024"/>
                </a:moveTo>
                <a:lnTo>
                  <a:pt x="3182112" y="954024"/>
                </a:lnTo>
                <a:lnTo>
                  <a:pt x="3182112" y="0"/>
                </a:lnTo>
                <a:lnTo>
                  <a:pt x="0" y="0"/>
                </a:lnTo>
                <a:lnTo>
                  <a:pt x="0" y="954024"/>
                </a:lnTo>
                <a:close/>
              </a:path>
            </a:pathLst>
          </a:custGeom>
          <a:ln w="914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78027" y="2495804"/>
            <a:ext cx="3000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2240" indent="-129539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42240" algn="l"/>
              </a:tabLst>
            </a:pPr>
            <a:r>
              <a:rPr dirty="0" sz="1400">
                <a:latin typeface="宋体"/>
                <a:cs typeface="宋体"/>
              </a:rPr>
              <a:t>根据可</a:t>
            </a:r>
            <a:r>
              <a:rPr dirty="0" sz="1400" spc="-15">
                <a:latin typeface="宋体"/>
                <a:cs typeface="宋体"/>
              </a:rPr>
              <a:t>比</a:t>
            </a:r>
            <a:r>
              <a:rPr dirty="0" sz="1400">
                <a:latin typeface="宋体"/>
                <a:cs typeface="宋体"/>
              </a:rPr>
              <a:t>代工</a:t>
            </a:r>
            <a:r>
              <a:rPr dirty="0" sz="1400" spc="-15">
                <a:latin typeface="宋体"/>
                <a:cs typeface="宋体"/>
              </a:rPr>
              <a:t>厂的</a:t>
            </a:r>
            <a:r>
              <a:rPr dirty="0" sz="1400">
                <a:latin typeface="宋体"/>
                <a:cs typeface="宋体"/>
              </a:rPr>
              <a:t>注册资</a:t>
            </a:r>
            <a:r>
              <a:rPr dirty="0" sz="1400" spc="-15">
                <a:latin typeface="宋体"/>
                <a:cs typeface="宋体"/>
              </a:rPr>
              <a:t>本</a:t>
            </a:r>
            <a:r>
              <a:rPr dirty="0" sz="1400">
                <a:latin typeface="宋体"/>
                <a:cs typeface="宋体"/>
              </a:rPr>
              <a:t>，乘</a:t>
            </a:r>
            <a:r>
              <a:rPr dirty="0" sz="1400" spc="-15">
                <a:latin typeface="宋体"/>
                <a:cs typeface="宋体"/>
              </a:rPr>
              <a:t>以</a:t>
            </a:r>
            <a:r>
              <a:rPr dirty="0" sz="1400">
                <a:latin typeface="宋体"/>
                <a:cs typeface="宋体"/>
              </a:rPr>
              <a:t>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7568" y="2709163"/>
            <a:ext cx="30473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总营收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代表</a:t>
            </a:r>
            <a:r>
              <a:rPr dirty="0" sz="1400" spc="-15">
                <a:latin typeface="宋体"/>
                <a:cs typeface="宋体"/>
              </a:rPr>
              <a:t>的规</a:t>
            </a:r>
            <a:r>
              <a:rPr dirty="0" sz="1400">
                <a:latin typeface="宋体"/>
                <a:cs typeface="宋体"/>
              </a:rPr>
              <a:t>模乘数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可以</a:t>
            </a:r>
            <a:r>
              <a:rPr dirty="0" sz="1400" spc="-15">
                <a:latin typeface="宋体"/>
                <a:cs typeface="宋体"/>
              </a:rPr>
              <a:t>估计</a:t>
            </a:r>
            <a:r>
              <a:rPr dirty="0" sz="1400">
                <a:latin typeface="宋体"/>
                <a:cs typeface="宋体"/>
              </a:rPr>
              <a:t>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7568" y="2914904"/>
            <a:ext cx="285877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10">
                <a:latin typeface="宋体"/>
                <a:cs typeface="宋体"/>
              </a:rPr>
              <a:t>自建</a:t>
            </a:r>
            <a:r>
              <a:rPr dirty="0" sz="1400">
                <a:latin typeface="宋体"/>
                <a:cs typeface="宋体"/>
              </a:rPr>
              <a:t>年产</a:t>
            </a:r>
            <a:r>
              <a:rPr dirty="0" sz="1400" spc="-15">
                <a:latin typeface="宋体"/>
                <a:cs typeface="宋体"/>
              </a:rPr>
              <a:t>能</a:t>
            </a:r>
            <a:r>
              <a:rPr dirty="0" sz="1400">
                <a:latin typeface="Arial"/>
                <a:cs typeface="Arial"/>
              </a:rPr>
              <a:t>70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~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160</a:t>
            </a:r>
            <a:r>
              <a:rPr dirty="0" sz="1400" spc="10">
                <a:latin typeface="宋体"/>
                <a:cs typeface="宋体"/>
              </a:rPr>
              <a:t>万</a:t>
            </a:r>
            <a:r>
              <a:rPr dirty="0" sz="1400">
                <a:latin typeface="宋体"/>
                <a:cs typeface="宋体"/>
              </a:rPr>
              <a:t>台的</a:t>
            </a:r>
            <a:r>
              <a:rPr dirty="0" sz="1400" spc="-15">
                <a:latin typeface="宋体"/>
                <a:cs typeface="宋体"/>
              </a:rPr>
              <a:t>手</a:t>
            </a:r>
            <a:r>
              <a:rPr dirty="0" sz="1400">
                <a:latin typeface="宋体"/>
                <a:cs typeface="宋体"/>
              </a:rPr>
              <a:t>机工厂 </a:t>
            </a:r>
            <a:r>
              <a:rPr dirty="0" sz="1400" spc="10">
                <a:latin typeface="宋体"/>
                <a:cs typeface="宋体"/>
              </a:rPr>
              <a:t>需要</a:t>
            </a:r>
            <a:r>
              <a:rPr dirty="0" sz="1400">
                <a:latin typeface="宋体"/>
                <a:cs typeface="宋体"/>
              </a:rPr>
              <a:t>的注</a:t>
            </a:r>
            <a:r>
              <a:rPr dirty="0" sz="1400" spc="-15">
                <a:latin typeface="宋体"/>
                <a:cs typeface="宋体"/>
              </a:rPr>
              <a:t>册</a:t>
            </a:r>
            <a:r>
              <a:rPr dirty="0" sz="1400">
                <a:latin typeface="宋体"/>
                <a:cs typeface="宋体"/>
              </a:rPr>
              <a:t>资本</a:t>
            </a:r>
            <a:r>
              <a:rPr dirty="0" sz="1400" spc="-10">
                <a:latin typeface="Arial"/>
                <a:cs typeface="Arial"/>
              </a:rPr>
              <a:t>1.3</a:t>
            </a:r>
            <a:r>
              <a:rPr dirty="0" sz="1400">
                <a:latin typeface="宋体"/>
                <a:cs typeface="宋体"/>
              </a:rPr>
              <a:t>亿</a:t>
            </a:r>
            <a:r>
              <a:rPr dirty="0" sz="1400" spc="-5">
                <a:latin typeface="Arial"/>
                <a:cs typeface="Arial"/>
              </a:rPr>
              <a:t>Pesos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9288" y="1793748"/>
            <a:ext cx="284988" cy="2423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05078" y="1700021"/>
            <a:ext cx="2692400" cy="473709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dirty="0" sz="1500" b="1">
                <a:latin typeface="明兰"/>
                <a:cs typeface="明兰"/>
              </a:rPr>
              <a:t>华为全资自建工厂模式，需注册 </a:t>
            </a:r>
            <a:r>
              <a:rPr dirty="0" sz="1500" spc="20" b="1">
                <a:latin typeface="明兰"/>
                <a:cs typeface="明兰"/>
              </a:rPr>
              <a:t>资</a:t>
            </a:r>
            <a:r>
              <a:rPr dirty="0" sz="1500" spc="10" b="1">
                <a:latin typeface="明兰"/>
                <a:cs typeface="明兰"/>
              </a:rPr>
              <a:t>金</a:t>
            </a:r>
            <a:r>
              <a:rPr dirty="0" sz="1500" b="1">
                <a:latin typeface="明兰"/>
                <a:cs typeface="明兰"/>
              </a:rPr>
              <a:t>投入</a:t>
            </a:r>
            <a:r>
              <a:rPr dirty="0" sz="1500" spc="-10" b="1">
                <a:solidFill>
                  <a:srgbClr val="C39E6B"/>
                </a:solidFill>
                <a:latin typeface="Arial"/>
                <a:cs typeface="Arial"/>
              </a:rPr>
              <a:t>1.3</a:t>
            </a:r>
            <a:r>
              <a:rPr dirty="0" sz="1500" spc="15" b="1">
                <a:solidFill>
                  <a:srgbClr val="C39E6B"/>
                </a:solidFill>
                <a:latin typeface="明兰"/>
                <a:cs typeface="明兰"/>
              </a:rPr>
              <a:t>亿</a:t>
            </a:r>
            <a:r>
              <a:rPr dirty="0" sz="1500" spc="-5" b="1">
                <a:solidFill>
                  <a:srgbClr val="C39E6B"/>
                </a:solidFill>
                <a:latin typeface="Arial"/>
                <a:cs typeface="Arial"/>
              </a:rPr>
              <a:t>Pesos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436753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全资自建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工厂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模式优势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分析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：杠杆因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素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402080"/>
            <a:ext cx="1152525" cy="784860"/>
          </a:xfrm>
          <a:custGeom>
            <a:avLst/>
            <a:gdLst/>
            <a:ahLst/>
            <a:cxnLst/>
            <a:rect l="l" t="t" r="r" b="b"/>
            <a:pathLst>
              <a:path w="1152525" h="784860">
                <a:moveTo>
                  <a:pt x="1021334" y="0"/>
                </a:moveTo>
                <a:lnTo>
                  <a:pt x="130809" y="0"/>
                </a:lnTo>
                <a:lnTo>
                  <a:pt x="79895" y="10277"/>
                </a:lnTo>
                <a:lnTo>
                  <a:pt x="38315" y="38306"/>
                </a:lnTo>
                <a:lnTo>
                  <a:pt x="10280" y="79884"/>
                </a:lnTo>
                <a:lnTo>
                  <a:pt x="0" y="130810"/>
                </a:lnTo>
                <a:lnTo>
                  <a:pt x="0" y="654050"/>
                </a:lnTo>
                <a:lnTo>
                  <a:pt x="10280" y="704975"/>
                </a:lnTo>
                <a:lnTo>
                  <a:pt x="38315" y="746553"/>
                </a:lnTo>
                <a:lnTo>
                  <a:pt x="79895" y="774582"/>
                </a:lnTo>
                <a:lnTo>
                  <a:pt x="130809" y="784860"/>
                </a:lnTo>
                <a:lnTo>
                  <a:pt x="1021334" y="784860"/>
                </a:lnTo>
                <a:lnTo>
                  <a:pt x="1072259" y="774582"/>
                </a:lnTo>
                <a:lnTo>
                  <a:pt x="1113837" y="746553"/>
                </a:lnTo>
                <a:lnTo>
                  <a:pt x="1141866" y="704975"/>
                </a:lnTo>
                <a:lnTo>
                  <a:pt x="1152144" y="654050"/>
                </a:lnTo>
                <a:lnTo>
                  <a:pt x="1152144" y="130810"/>
                </a:lnTo>
                <a:lnTo>
                  <a:pt x="1141866" y="79884"/>
                </a:lnTo>
                <a:lnTo>
                  <a:pt x="1113837" y="38306"/>
                </a:lnTo>
                <a:lnTo>
                  <a:pt x="1072259" y="10277"/>
                </a:lnTo>
                <a:lnTo>
                  <a:pt x="1021334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1225" y="1656968"/>
            <a:ext cx="843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" b="1">
                <a:latin typeface="明兰"/>
                <a:cs typeface="明兰"/>
              </a:rPr>
              <a:t>经</a:t>
            </a:r>
            <a:r>
              <a:rPr dirty="0" sz="1600" spc="5" b="1">
                <a:latin typeface="明兰"/>
                <a:cs typeface="明兰"/>
              </a:rPr>
              <a:t>营杠</a:t>
            </a:r>
            <a:r>
              <a:rPr dirty="0" sz="1600" spc="-5" b="1">
                <a:latin typeface="明兰"/>
                <a:cs typeface="明兰"/>
              </a:rPr>
              <a:t>杆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3680459"/>
            <a:ext cx="1152525" cy="1330960"/>
          </a:xfrm>
          <a:custGeom>
            <a:avLst/>
            <a:gdLst/>
            <a:ahLst/>
            <a:cxnLst/>
            <a:rect l="l" t="t" r="r" b="b"/>
            <a:pathLst>
              <a:path w="1152525" h="1330960">
                <a:moveTo>
                  <a:pt x="960119" y="0"/>
                </a:moveTo>
                <a:lnTo>
                  <a:pt x="192023" y="0"/>
                </a:ln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3"/>
                </a:lnTo>
                <a:lnTo>
                  <a:pt x="0" y="1138427"/>
                </a:lnTo>
                <a:lnTo>
                  <a:pt x="5071" y="1182455"/>
                </a:lnTo>
                <a:lnTo>
                  <a:pt x="19518" y="1222872"/>
                </a:lnTo>
                <a:lnTo>
                  <a:pt x="42187" y="1258526"/>
                </a:lnTo>
                <a:lnTo>
                  <a:pt x="71925" y="1288264"/>
                </a:lnTo>
                <a:lnTo>
                  <a:pt x="107579" y="1310933"/>
                </a:lnTo>
                <a:lnTo>
                  <a:pt x="147996" y="1325380"/>
                </a:lnTo>
                <a:lnTo>
                  <a:pt x="192023" y="1330452"/>
                </a:lnTo>
                <a:lnTo>
                  <a:pt x="960119" y="1330452"/>
                </a:lnTo>
                <a:lnTo>
                  <a:pt x="1004147" y="1325380"/>
                </a:lnTo>
                <a:lnTo>
                  <a:pt x="1044564" y="1310933"/>
                </a:lnTo>
                <a:lnTo>
                  <a:pt x="1080218" y="1288264"/>
                </a:lnTo>
                <a:lnTo>
                  <a:pt x="1109956" y="1258526"/>
                </a:lnTo>
                <a:lnTo>
                  <a:pt x="1132625" y="1222872"/>
                </a:lnTo>
                <a:lnTo>
                  <a:pt x="1147072" y="1182455"/>
                </a:lnTo>
                <a:lnTo>
                  <a:pt x="1152144" y="1138427"/>
                </a:lnTo>
                <a:lnTo>
                  <a:pt x="1152144" y="192023"/>
                </a:lnTo>
                <a:lnTo>
                  <a:pt x="1147072" y="147996"/>
                </a:lnTo>
                <a:lnTo>
                  <a:pt x="1132625" y="107579"/>
                </a:lnTo>
                <a:lnTo>
                  <a:pt x="1109956" y="71925"/>
                </a:lnTo>
                <a:lnTo>
                  <a:pt x="1080218" y="42187"/>
                </a:lnTo>
                <a:lnTo>
                  <a:pt x="1044564" y="19518"/>
                </a:lnTo>
                <a:lnTo>
                  <a:pt x="1004147" y="5071"/>
                </a:lnTo>
                <a:lnTo>
                  <a:pt x="960119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1225" y="4208779"/>
            <a:ext cx="8432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" b="1">
                <a:latin typeface="明兰"/>
                <a:cs typeface="明兰"/>
              </a:rPr>
              <a:t>财</a:t>
            </a:r>
            <a:r>
              <a:rPr dirty="0" sz="1600" spc="5" b="1">
                <a:latin typeface="明兰"/>
                <a:cs typeface="明兰"/>
              </a:rPr>
              <a:t>务杠</a:t>
            </a:r>
            <a:r>
              <a:rPr dirty="0" sz="1600" spc="-5" b="1">
                <a:latin typeface="明兰"/>
                <a:cs typeface="明兰"/>
              </a:rPr>
              <a:t>杆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2472" y="1392936"/>
            <a:ext cx="6600825" cy="794385"/>
          </a:xfrm>
          <a:custGeom>
            <a:avLst/>
            <a:gdLst/>
            <a:ahLst/>
            <a:cxnLst/>
            <a:rect l="l" t="t" r="r" b="b"/>
            <a:pathLst>
              <a:path w="6600825" h="794385">
                <a:moveTo>
                  <a:pt x="6468109" y="0"/>
                </a:moveTo>
                <a:lnTo>
                  <a:pt x="132333" y="0"/>
                </a:lnTo>
                <a:lnTo>
                  <a:pt x="90529" y="6752"/>
                </a:lnTo>
                <a:lnTo>
                  <a:pt x="54205" y="25550"/>
                </a:lnTo>
                <a:lnTo>
                  <a:pt x="25550" y="54205"/>
                </a:lnTo>
                <a:lnTo>
                  <a:pt x="6752" y="90529"/>
                </a:lnTo>
                <a:lnTo>
                  <a:pt x="0" y="132334"/>
                </a:lnTo>
                <a:lnTo>
                  <a:pt x="0" y="661669"/>
                </a:lnTo>
                <a:lnTo>
                  <a:pt x="6752" y="703474"/>
                </a:lnTo>
                <a:lnTo>
                  <a:pt x="25550" y="739798"/>
                </a:lnTo>
                <a:lnTo>
                  <a:pt x="54205" y="768453"/>
                </a:lnTo>
                <a:lnTo>
                  <a:pt x="90529" y="787251"/>
                </a:lnTo>
                <a:lnTo>
                  <a:pt x="132333" y="794003"/>
                </a:lnTo>
                <a:lnTo>
                  <a:pt x="6468109" y="794003"/>
                </a:lnTo>
                <a:lnTo>
                  <a:pt x="6509914" y="787251"/>
                </a:lnTo>
                <a:lnTo>
                  <a:pt x="6546238" y="768453"/>
                </a:lnTo>
                <a:lnTo>
                  <a:pt x="6574893" y="739798"/>
                </a:lnTo>
                <a:lnTo>
                  <a:pt x="6593691" y="703474"/>
                </a:lnTo>
                <a:lnTo>
                  <a:pt x="6600444" y="661669"/>
                </a:lnTo>
                <a:lnTo>
                  <a:pt x="6600444" y="132334"/>
                </a:lnTo>
                <a:lnTo>
                  <a:pt x="6593691" y="90529"/>
                </a:lnTo>
                <a:lnTo>
                  <a:pt x="6574893" y="54205"/>
                </a:lnTo>
                <a:lnTo>
                  <a:pt x="6546238" y="25550"/>
                </a:lnTo>
                <a:lnTo>
                  <a:pt x="6509914" y="6752"/>
                </a:lnTo>
                <a:lnTo>
                  <a:pt x="6468109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8748" y="1461643"/>
            <a:ext cx="62496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固定成本</a:t>
            </a:r>
            <a:endParaRPr sz="1400">
              <a:latin typeface="明兰"/>
              <a:cs typeface="明兰"/>
            </a:endParaRPr>
          </a:p>
          <a:p>
            <a:pPr algn="ctr">
              <a:lnSpc>
                <a:spcPct val="100000"/>
              </a:lnSpc>
            </a:pPr>
            <a:r>
              <a:rPr dirty="0" sz="1400" spc="5">
                <a:latin typeface="宋体"/>
                <a:cs typeface="宋体"/>
              </a:rPr>
              <a:t>生</a:t>
            </a:r>
            <a:r>
              <a:rPr dirty="0" sz="1400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线</a:t>
            </a:r>
            <a:r>
              <a:rPr dirty="0" sz="1400" spc="-15">
                <a:latin typeface="宋体"/>
                <a:cs typeface="宋体"/>
              </a:rPr>
              <a:t>建</a:t>
            </a:r>
            <a:r>
              <a:rPr dirty="0" sz="1400" spc="5">
                <a:latin typeface="宋体"/>
                <a:cs typeface="宋体"/>
              </a:rPr>
              <a:t>设</a:t>
            </a:r>
            <a:r>
              <a:rPr dirty="0" sz="1400">
                <a:latin typeface="宋体"/>
                <a:cs typeface="宋体"/>
              </a:rPr>
              <a:t>成</a:t>
            </a:r>
            <a:r>
              <a:rPr dirty="0" sz="1400" spc="-10">
                <a:latin typeface="宋体"/>
                <a:cs typeface="宋体"/>
              </a:rPr>
              <a:t>本的</a:t>
            </a:r>
            <a:r>
              <a:rPr dirty="0" sz="1400" spc="5">
                <a:latin typeface="宋体"/>
                <a:cs typeface="宋体"/>
              </a:rPr>
              <a:t>折</a:t>
            </a:r>
            <a:r>
              <a:rPr dirty="0" sz="1400">
                <a:latin typeface="宋体"/>
                <a:cs typeface="宋体"/>
              </a:rPr>
              <a:t>旧</a:t>
            </a:r>
            <a:r>
              <a:rPr dirty="0" sz="1400" spc="5">
                <a:latin typeface="宋体"/>
                <a:cs typeface="宋体"/>
              </a:rPr>
              <a:t>摊</a:t>
            </a:r>
            <a:r>
              <a:rPr dirty="0" sz="1400" spc="-15">
                <a:latin typeface="宋体"/>
                <a:cs typeface="宋体"/>
              </a:rPr>
              <a:t>销</a:t>
            </a:r>
            <a:r>
              <a:rPr dirty="0" sz="1400" spc="5">
                <a:latin typeface="宋体"/>
                <a:cs typeface="宋体"/>
              </a:rPr>
              <a:t>（</a:t>
            </a:r>
            <a:r>
              <a:rPr dirty="0" sz="1400">
                <a:latin typeface="宋体"/>
                <a:cs typeface="宋体"/>
              </a:rPr>
              <a:t>机</a:t>
            </a:r>
            <a:r>
              <a:rPr dirty="0" sz="1400" spc="-10">
                <a:latin typeface="宋体"/>
                <a:cs typeface="宋体"/>
              </a:rPr>
              <a:t>器设</a:t>
            </a:r>
            <a:r>
              <a:rPr dirty="0" sz="1400" spc="5">
                <a:latin typeface="宋体"/>
                <a:cs typeface="宋体"/>
              </a:rPr>
              <a:t>备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5">
                <a:latin typeface="宋体"/>
                <a:cs typeface="宋体"/>
              </a:rPr>
              <a:t>土</a:t>
            </a:r>
            <a:r>
              <a:rPr dirty="0" sz="1400" spc="-15">
                <a:latin typeface="宋体"/>
                <a:cs typeface="宋体"/>
              </a:rPr>
              <a:t>地</a:t>
            </a:r>
            <a:r>
              <a:rPr dirty="0" sz="1400" spc="5">
                <a:latin typeface="宋体"/>
                <a:cs typeface="宋体"/>
              </a:rPr>
              <a:t>、</a:t>
            </a:r>
            <a:r>
              <a:rPr dirty="0" sz="1400">
                <a:latin typeface="宋体"/>
                <a:cs typeface="宋体"/>
              </a:rPr>
              <a:t>厂</a:t>
            </a:r>
            <a:r>
              <a:rPr dirty="0" sz="1400" spc="-10">
                <a:latin typeface="宋体"/>
                <a:cs typeface="宋体"/>
              </a:rPr>
              <a:t>房等</a:t>
            </a:r>
            <a:r>
              <a:rPr dirty="0" sz="1400" spc="5">
                <a:latin typeface="宋体"/>
                <a:cs typeface="宋体"/>
              </a:rPr>
              <a:t>）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5">
                <a:latin typeface="宋体"/>
                <a:cs typeface="宋体"/>
              </a:rPr>
              <a:t>生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线</a:t>
            </a:r>
            <a:r>
              <a:rPr dirty="0" sz="1400">
                <a:latin typeface="宋体"/>
                <a:cs typeface="宋体"/>
              </a:rPr>
              <a:t>工</a:t>
            </a:r>
            <a:r>
              <a:rPr dirty="0" sz="1400" spc="-10">
                <a:latin typeface="宋体"/>
                <a:cs typeface="宋体"/>
              </a:rPr>
              <a:t>人基</a:t>
            </a:r>
            <a:r>
              <a:rPr dirty="0" sz="1400" spc="5">
                <a:latin typeface="宋体"/>
                <a:cs typeface="宋体"/>
              </a:rPr>
              <a:t>本</a:t>
            </a:r>
            <a:r>
              <a:rPr dirty="0" sz="1400">
                <a:latin typeface="宋体"/>
                <a:cs typeface="宋体"/>
              </a:rPr>
              <a:t>工</a:t>
            </a:r>
            <a:r>
              <a:rPr dirty="0" sz="1400" spc="5">
                <a:latin typeface="宋体"/>
                <a:cs typeface="宋体"/>
              </a:rPr>
              <a:t>资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2321051"/>
            <a:ext cx="8341359" cy="11690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306070" indent="-214629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经营杠</a:t>
            </a:r>
            <a:r>
              <a:rPr dirty="0" sz="1400" spc="-15">
                <a:latin typeface="宋体"/>
                <a:cs typeface="宋体"/>
              </a:rPr>
              <a:t>杆</a:t>
            </a:r>
            <a:r>
              <a:rPr dirty="0" sz="1400">
                <a:latin typeface="宋体"/>
                <a:cs typeface="宋体"/>
              </a:rPr>
              <a:t>指固</a:t>
            </a:r>
            <a:r>
              <a:rPr dirty="0" sz="1400" spc="-15">
                <a:latin typeface="宋体"/>
                <a:cs typeface="宋体"/>
              </a:rPr>
              <a:t>定成</a:t>
            </a:r>
            <a:r>
              <a:rPr dirty="0" sz="1400">
                <a:latin typeface="宋体"/>
                <a:cs typeface="宋体"/>
              </a:rPr>
              <a:t>本的存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使得</a:t>
            </a:r>
            <a:r>
              <a:rPr dirty="0" sz="1400" spc="-15">
                <a:latin typeface="宋体"/>
                <a:cs typeface="宋体"/>
              </a:rPr>
              <a:t>息税</a:t>
            </a:r>
            <a:r>
              <a:rPr dirty="0" sz="1400">
                <a:latin typeface="宋体"/>
                <a:cs typeface="宋体"/>
              </a:rPr>
              <a:t>前利润</a:t>
            </a:r>
            <a:r>
              <a:rPr dirty="0" sz="1400" spc="-15">
                <a:latin typeface="宋体"/>
                <a:cs typeface="宋体"/>
              </a:rPr>
              <a:t>变</a:t>
            </a:r>
            <a:r>
              <a:rPr dirty="0" sz="1400">
                <a:latin typeface="宋体"/>
                <a:cs typeface="宋体"/>
              </a:rPr>
              <a:t>动率</a:t>
            </a:r>
            <a:r>
              <a:rPr dirty="0" sz="1400" spc="-15">
                <a:latin typeface="宋体"/>
                <a:cs typeface="宋体"/>
              </a:rPr>
              <a:t>大于</a:t>
            </a:r>
            <a:r>
              <a:rPr dirty="0" sz="1400">
                <a:latin typeface="宋体"/>
                <a:cs typeface="宋体"/>
              </a:rPr>
              <a:t>产销量</a:t>
            </a:r>
            <a:r>
              <a:rPr dirty="0" sz="1400" spc="-15">
                <a:latin typeface="宋体"/>
                <a:cs typeface="宋体"/>
              </a:rPr>
              <a:t>变</a:t>
            </a:r>
            <a:r>
              <a:rPr dirty="0" sz="1400">
                <a:latin typeface="宋体"/>
                <a:cs typeface="宋体"/>
              </a:rPr>
              <a:t>动率</a:t>
            </a:r>
            <a:endParaRPr sz="1400">
              <a:latin typeface="宋体"/>
              <a:cs typeface="宋体"/>
            </a:endParaRPr>
          </a:p>
          <a:p>
            <a:pPr marL="306070" indent="-214629">
              <a:lnSpc>
                <a:spcPts val="1650"/>
              </a:lnSpc>
              <a:spcBef>
                <a:spcPts val="60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相较于</a:t>
            </a:r>
            <a:r>
              <a:rPr dirty="0" sz="1400" spc="-1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工模</a:t>
            </a:r>
            <a:r>
              <a:rPr dirty="0" sz="1400" spc="-15">
                <a:latin typeface="宋体"/>
                <a:cs typeface="宋体"/>
              </a:rPr>
              <a:t>式来</a:t>
            </a:r>
            <a:r>
              <a:rPr dirty="0" sz="1400">
                <a:latin typeface="宋体"/>
                <a:cs typeface="宋体"/>
              </a:rPr>
              <a:t>说，自</a:t>
            </a:r>
            <a:r>
              <a:rPr dirty="0" sz="1400" spc="-15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厂房</a:t>
            </a:r>
            <a:r>
              <a:rPr dirty="0" sz="1400" spc="-15">
                <a:latin typeface="宋体"/>
                <a:cs typeface="宋体"/>
              </a:rPr>
              <a:t>有较</a:t>
            </a:r>
            <a:r>
              <a:rPr dirty="0" sz="1400">
                <a:latin typeface="宋体"/>
                <a:cs typeface="宋体"/>
              </a:rPr>
              <a:t>大的固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资产</a:t>
            </a:r>
            <a:r>
              <a:rPr dirty="0" sz="1400" spc="-15">
                <a:latin typeface="宋体"/>
                <a:cs typeface="宋体"/>
              </a:rPr>
              <a:t>投入</a:t>
            </a:r>
            <a:r>
              <a:rPr dirty="0" sz="1400">
                <a:latin typeface="宋体"/>
                <a:cs typeface="宋体"/>
              </a:rPr>
              <a:t>，增加</a:t>
            </a:r>
            <a:r>
              <a:rPr dirty="0" sz="1400" spc="-15">
                <a:latin typeface="宋体"/>
                <a:cs typeface="宋体"/>
              </a:rPr>
              <a:t>了</a:t>
            </a:r>
            <a:r>
              <a:rPr dirty="0" sz="1400">
                <a:latin typeface="宋体"/>
                <a:cs typeface="宋体"/>
              </a:rPr>
              <a:t>自身</a:t>
            </a:r>
            <a:r>
              <a:rPr dirty="0" sz="1400" spc="-15">
                <a:latin typeface="宋体"/>
                <a:cs typeface="宋体"/>
              </a:rPr>
              <a:t>在阿</a:t>
            </a:r>
            <a:r>
              <a:rPr dirty="0" sz="1400">
                <a:latin typeface="宋体"/>
                <a:cs typeface="宋体"/>
              </a:rPr>
              <a:t>根廷业</a:t>
            </a:r>
            <a:r>
              <a:rPr dirty="0" sz="1400" spc="-15">
                <a:latin typeface="宋体"/>
                <a:cs typeface="宋体"/>
              </a:rPr>
              <a:t>务</a:t>
            </a:r>
            <a:r>
              <a:rPr dirty="0" sz="1400">
                <a:latin typeface="宋体"/>
                <a:cs typeface="宋体"/>
              </a:rPr>
              <a:t>的经</a:t>
            </a:r>
            <a:r>
              <a:rPr dirty="0" sz="1400" spc="-15">
                <a:latin typeface="宋体"/>
                <a:cs typeface="宋体"/>
              </a:rPr>
              <a:t>营杠</a:t>
            </a:r>
            <a:r>
              <a:rPr dirty="0" sz="1400">
                <a:latin typeface="宋体"/>
                <a:cs typeface="宋体"/>
              </a:rPr>
              <a:t>杆，尽管</a:t>
            </a:r>
            <a:endParaRPr sz="1400">
              <a:latin typeface="宋体"/>
              <a:cs typeface="宋体"/>
            </a:endParaRPr>
          </a:p>
          <a:p>
            <a:pPr marL="306070">
              <a:lnSpc>
                <a:spcPts val="1650"/>
              </a:lnSpc>
            </a:pPr>
            <a:r>
              <a:rPr dirty="0" sz="1400" spc="5">
                <a:latin typeface="宋体"/>
                <a:cs typeface="宋体"/>
              </a:rPr>
              <a:t>经</a:t>
            </a:r>
            <a:r>
              <a:rPr dirty="0" sz="1400">
                <a:latin typeface="宋体"/>
                <a:cs typeface="宋体"/>
              </a:rPr>
              <a:t>营</a:t>
            </a:r>
            <a:r>
              <a:rPr dirty="0" sz="1400" spc="5">
                <a:latin typeface="宋体"/>
                <a:cs typeface="宋体"/>
              </a:rPr>
              <a:t>风</a:t>
            </a:r>
            <a:r>
              <a:rPr dirty="0" sz="1400" spc="-15">
                <a:latin typeface="宋体"/>
                <a:cs typeface="宋体"/>
              </a:rPr>
              <a:t>险</a:t>
            </a:r>
            <a:r>
              <a:rPr dirty="0" sz="1400" spc="5">
                <a:latin typeface="宋体"/>
                <a:cs typeface="宋体"/>
              </a:rPr>
              <a:t>提</a:t>
            </a:r>
            <a:r>
              <a:rPr dirty="0" sz="1400">
                <a:latin typeface="宋体"/>
                <a:cs typeface="宋体"/>
              </a:rPr>
              <a:t>升</a:t>
            </a:r>
            <a:r>
              <a:rPr dirty="0" sz="1400" spc="-10">
                <a:latin typeface="宋体"/>
                <a:cs typeface="宋体"/>
              </a:rPr>
              <a:t>，但</a:t>
            </a:r>
            <a:r>
              <a:rPr dirty="0" sz="1400" spc="5">
                <a:latin typeface="宋体"/>
                <a:cs typeface="宋体"/>
              </a:rPr>
              <a:t>乐</a:t>
            </a:r>
            <a:r>
              <a:rPr dirty="0" sz="1400">
                <a:latin typeface="宋体"/>
                <a:cs typeface="宋体"/>
              </a:rPr>
              <a:t>观</a:t>
            </a:r>
            <a:r>
              <a:rPr dirty="0" sz="1400" spc="5">
                <a:latin typeface="宋体"/>
                <a:cs typeface="宋体"/>
              </a:rPr>
              <a:t>状</a:t>
            </a:r>
            <a:r>
              <a:rPr dirty="0" sz="1400" spc="-15">
                <a:latin typeface="宋体"/>
                <a:cs typeface="宋体"/>
              </a:rPr>
              <a:t>况</a:t>
            </a:r>
            <a:r>
              <a:rPr dirty="0" sz="1400" spc="5">
                <a:latin typeface="宋体"/>
                <a:cs typeface="宋体"/>
              </a:rPr>
              <a:t>下</a:t>
            </a:r>
            <a:r>
              <a:rPr dirty="0" sz="1400">
                <a:latin typeface="宋体"/>
                <a:cs typeface="宋体"/>
              </a:rPr>
              <a:t>海</a:t>
            </a:r>
            <a:r>
              <a:rPr dirty="0" sz="1400" spc="-10">
                <a:latin typeface="宋体"/>
                <a:cs typeface="宋体"/>
              </a:rPr>
              <a:t>外自</a:t>
            </a:r>
            <a:r>
              <a:rPr dirty="0" sz="1400" spc="5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工</a:t>
            </a:r>
            <a:r>
              <a:rPr dirty="0" sz="1400" spc="5">
                <a:latin typeface="宋体"/>
                <a:cs typeface="宋体"/>
              </a:rPr>
              <a:t>厂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 spc="5">
                <a:latin typeface="宋体"/>
                <a:cs typeface="宋体"/>
              </a:rPr>
              <a:t>整</a:t>
            </a:r>
            <a:r>
              <a:rPr dirty="0" sz="1400">
                <a:latin typeface="宋体"/>
                <a:cs typeface="宋体"/>
              </a:rPr>
              <a:t>体</a:t>
            </a:r>
            <a:r>
              <a:rPr dirty="0" sz="1400" spc="-10">
                <a:latin typeface="宋体"/>
                <a:cs typeface="宋体"/>
              </a:rPr>
              <a:t>盈利</a:t>
            </a:r>
            <a:r>
              <a:rPr dirty="0" sz="1400" spc="5">
                <a:latin typeface="宋体"/>
                <a:cs typeface="宋体"/>
              </a:rPr>
              <a:t>性</a:t>
            </a:r>
            <a:r>
              <a:rPr dirty="0" sz="1400">
                <a:latin typeface="宋体"/>
                <a:cs typeface="宋体"/>
              </a:rPr>
              <a:t>进</a:t>
            </a:r>
            <a:r>
              <a:rPr dirty="0" sz="1400" spc="5">
                <a:latin typeface="宋体"/>
                <a:cs typeface="宋体"/>
              </a:rPr>
              <a:t>一</a:t>
            </a:r>
            <a:r>
              <a:rPr dirty="0" sz="1400" spc="-15">
                <a:latin typeface="宋体"/>
                <a:cs typeface="宋体"/>
              </a:rPr>
              <a:t>步</a:t>
            </a:r>
            <a:r>
              <a:rPr dirty="0" sz="1400" spc="5">
                <a:latin typeface="宋体"/>
                <a:cs typeface="宋体"/>
              </a:rPr>
              <a:t>凸显</a:t>
            </a:r>
            <a:endParaRPr sz="1400">
              <a:latin typeface="宋体"/>
              <a:cs typeface="宋体"/>
            </a:endParaRPr>
          </a:p>
          <a:p>
            <a:pPr marL="306070" marR="205104" indent="-214629">
              <a:lnSpc>
                <a:spcPts val="1620"/>
              </a:lnSpc>
              <a:spcBef>
                <a:spcPts val="165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判断华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全资</a:t>
            </a:r>
            <a:r>
              <a:rPr dirty="0" sz="1400" spc="-15">
                <a:latin typeface="宋体"/>
                <a:cs typeface="宋体"/>
              </a:rPr>
              <a:t>自建</a:t>
            </a:r>
            <a:r>
              <a:rPr dirty="0" sz="1400">
                <a:latin typeface="宋体"/>
                <a:cs typeface="宋体"/>
              </a:rPr>
              <a:t>厂房能</a:t>
            </a:r>
            <a:r>
              <a:rPr dirty="0" sz="1400" spc="-15">
                <a:latin typeface="宋体"/>
                <a:cs typeface="宋体"/>
              </a:rPr>
              <a:t>否</a:t>
            </a:r>
            <a:r>
              <a:rPr dirty="0" sz="1400">
                <a:latin typeface="宋体"/>
                <a:cs typeface="宋体"/>
              </a:rPr>
              <a:t>享受</a:t>
            </a:r>
            <a:r>
              <a:rPr dirty="0" sz="1400" spc="-15">
                <a:latin typeface="宋体"/>
                <a:cs typeface="宋体"/>
              </a:rPr>
              <a:t>“正</a:t>
            </a:r>
            <a:r>
              <a:rPr dirty="0" sz="1400">
                <a:latin typeface="宋体"/>
                <a:cs typeface="宋体"/>
              </a:rPr>
              <a:t>经营杠</a:t>
            </a:r>
            <a:r>
              <a:rPr dirty="0" sz="1400" spc="-15">
                <a:latin typeface="宋体"/>
                <a:cs typeface="宋体"/>
              </a:rPr>
              <a:t>杆</a:t>
            </a:r>
            <a:r>
              <a:rPr dirty="0" sz="1400">
                <a:latin typeface="宋体"/>
                <a:cs typeface="宋体"/>
              </a:rPr>
              <a:t>效应</a:t>
            </a:r>
            <a:r>
              <a:rPr dirty="0" sz="1400" spc="-15">
                <a:latin typeface="宋体"/>
                <a:cs typeface="宋体"/>
              </a:rPr>
              <a:t>”的</a:t>
            </a:r>
            <a:r>
              <a:rPr dirty="0" sz="1400">
                <a:latin typeface="宋体"/>
                <a:cs typeface="宋体"/>
              </a:rPr>
              <a:t>关键在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宏观</a:t>
            </a:r>
            <a:r>
              <a:rPr dirty="0" sz="1400" spc="-15">
                <a:latin typeface="宋体"/>
                <a:cs typeface="宋体"/>
              </a:rPr>
              <a:t>政治</a:t>
            </a:r>
            <a:r>
              <a:rPr dirty="0" sz="1400">
                <a:latin typeface="宋体"/>
                <a:cs typeface="宋体"/>
              </a:rPr>
              <a:t>、经济</a:t>
            </a:r>
            <a:r>
              <a:rPr dirty="0" sz="1400" spc="-15">
                <a:latin typeface="宋体"/>
                <a:cs typeface="宋体"/>
              </a:rPr>
              <a:t>因</a:t>
            </a:r>
            <a:r>
              <a:rPr dirty="0" sz="1400">
                <a:latin typeface="宋体"/>
                <a:cs typeface="宋体"/>
              </a:rPr>
              <a:t>素及</a:t>
            </a:r>
            <a:r>
              <a:rPr dirty="0" sz="1400" spc="-15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发展战略 的判断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9527" y="3685032"/>
            <a:ext cx="3665220" cy="1332230"/>
          </a:xfrm>
          <a:custGeom>
            <a:avLst/>
            <a:gdLst/>
            <a:ahLst/>
            <a:cxnLst/>
            <a:rect l="l" t="t" r="r" b="b"/>
            <a:pathLst>
              <a:path w="3665220" h="1332229">
                <a:moveTo>
                  <a:pt x="3443224" y="0"/>
                </a:moveTo>
                <a:lnTo>
                  <a:pt x="221996" y="0"/>
                </a:lnTo>
                <a:lnTo>
                  <a:pt x="177270" y="4512"/>
                </a:lnTo>
                <a:lnTo>
                  <a:pt x="135606" y="17452"/>
                </a:lnTo>
                <a:lnTo>
                  <a:pt x="97897" y="37926"/>
                </a:lnTo>
                <a:lnTo>
                  <a:pt x="65039" y="65039"/>
                </a:lnTo>
                <a:lnTo>
                  <a:pt x="37926" y="97897"/>
                </a:lnTo>
                <a:lnTo>
                  <a:pt x="17452" y="135606"/>
                </a:lnTo>
                <a:lnTo>
                  <a:pt x="4512" y="177270"/>
                </a:lnTo>
                <a:lnTo>
                  <a:pt x="0" y="221996"/>
                </a:lnTo>
                <a:lnTo>
                  <a:pt x="0" y="1109980"/>
                </a:lnTo>
                <a:lnTo>
                  <a:pt x="4512" y="1154705"/>
                </a:lnTo>
                <a:lnTo>
                  <a:pt x="17452" y="1196369"/>
                </a:lnTo>
                <a:lnTo>
                  <a:pt x="37926" y="1234078"/>
                </a:lnTo>
                <a:lnTo>
                  <a:pt x="65039" y="1266936"/>
                </a:lnTo>
                <a:lnTo>
                  <a:pt x="97897" y="1294049"/>
                </a:lnTo>
                <a:lnTo>
                  <a:pt x="135606" y="1314523"/>
                </a:lnTo>
                <a:lnTo>
                  <a:pt x="177270" y="1327463"/>
                </a:lnTo>
                <a:lnTo>
                  <a:pt x="221996" y="1331976"/>
                </a:lnTo>
                <a:lnTo>
                  <a:pt x="3443224" y="1331976"/>
                </a:lnTo>
                <a:lnTo>
                  <a:pt x="3487949" y="1327463"/>
                </a:lnTo>
                <a:lnTo>
                  <a:pt x="3529613" y="1314523"/>
                </a:lnTo>
                <a:lnTo>
                  <a:pt x="3567322" y="1294049"/>
                </a:lnTo>
                <a:lnTo>
                  <a:pt x="3600180" y="1266936"/>
                </a:lnTo>
                <a:lnTo>
                  <a:pt x="3627293" y="1234078"/>
                </a:lnTo>
                <a:lnTo>
                  <a:pt x="3647767" y="1196369"/>
                </a:lnTo>
                <a:lnTo>
                  <a:pt x="3660707" y="1154705"/>
                </a:lnTo>
                <a:lnTo>
                  <a:pt x="3665220" y="1109980"/>
                </a:lnTo>
                <a:lnTo>
                  <a:pt x="3665220" y="221996"/>
                </a:lnTo>
                <a:lnTo>
                  <a:pt x="3660707" y="177270"/>
                </a:lnTo>
                <a:lnTo>
                  <a:pt x="3647767" y="135606"/>
                </a:lnTo>
                <a:lnTo>
                  <a:pt x="3627293" y="97897"/>
                </a:lnTo>
                <a:lnTo>
                  <a:pt x="3600180" y="65039"/>
                </a:lnTo>
                <a:lnTo>
                  <a:pt x="3567322" y="37926"/>
                </a:lnTo>
                <a:lnTo>
                  <a:pt x="3529613" y="17452"/>
                </a:lnTo>
                <a:lnTo>
                  <a:pt x="3487949" y="4512"/>
                </a:lnTo>
                <a:lnTo>
                  <a:pt x="3443224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50338" y="3695827"/>
            <a:ext cx="3404235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056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债券融</a:t>
            </a:r>
            <a:r>
              <a:rPr dirty="0" sz="1400" spc="-15" b="1">
                <a:latin typeface="明兰"/>
                <a:cs typeface="明兰"/>
              </a:rPr>
              <a:t>资</a:t>
            </a:r>
            <a:r>
              <a:rPr dirty="0" sz="1400" b="1">
                <a:latin typeface="明兰"/>
                <a:cs typeface="明兰"/>
              </a:rPr>
              <a:t>以增</a:t>
            </a:r>
            <a:r>
              <a:rPr dirty="0" sz="1400" spc="-15" b="1">
                <a:latin typeface="明兰"/>
                <a:cs typeface="明兰"/>
              </a:rPr>
              <a:t>加财</a:t>
            </a:r>
            <a:r>
              <a:rPr dirty="0" sz="1400" b="1">
                <a:latin typeface="明兰"/>
                <a:cs typeface="明兰"/>
              </a:rPr>
              <a:t>务杠杆</a:t>
            </a:r>
            <a:endParaRPr sz="1400">
              <a:latin typeface="明兰"/>
              <a:cs typeface="明兰"/>
            </a:endParaRPr>
          </a:p>
          <a:p>
            <a:pPr algn="ctr" marL="12065" marR="5080" indent="-24765">
              <a:lnSpc>
                <a:spcPct val="99100"/>
              </a:lnSpc>
              <a:spcBef>
                <a:spcPts val="80"/>
              </a:spcBef>
            </a:pPr>
            <a:r>
              <a:rPr dirty="0" sz="1400" spc="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5">
                <a:latin typeface="宋体"/>
                <a:cs typeface="宋体"/>
              </a:rPr>
              <a:t>全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 spc="5">
                <a:latin typeface="宋体"/>
                <a:cs typeface="宋体"/>
              </a:rPr>
              <a:t>自</a:t>
            </a:r>
            <a:r>
              <a:rPr dirty="0" sz="1400">
                <a:latin typeface="宋体"/>
                <a:cs typeface="宋体"/>
              </a:rPr>
              <a:t>建</a:t>
            </a:r>
            <a:r>
              <a:rPr dirty="0" sz="1400" spc="-10">
                <a:latin typeface="宋体"/>
                <a:cs typeface="宋体"/>
              </a:rPr>
              <a:t>工厂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资</a:t>
            </a:r>
            <a:r>
              <a:rPr dirty="0" sz="1400" spc="5">
                <a:latin typeface="宋体"/>
                <a:cs typeface="宋体"/>
              </a:rPr>
              <a:t>金</a:t>
            </a:r>
            <a:r>
              <a:rPr dirty="0" sz="1400" spc="-15">
                <a:latin typeface="宋体"/>
                <a:cs typeface="宋体"/>
              </a:rPr>
              <a:t>来</a:t>
            </a:r>
            <a:r>
              <a:rPr dirty="0" sz="1400" spc="5">
                <a:latin typeface="宋体"/>
                <a:cs typeface="宋体"/>
              </a:rPr>
              <a:t>源</a:t>
            </a:r>
            <a:r>
              <a:rPr dirty="0" sz="1400">
                <a:latin typeface="宋体"/>
                <a:cs typeface="宋体"/>
              </a:rPr>
              <a:t>可</a:t>
            </a:r>
            <a:r>
              <a:rPr dirty="0" sz="1400" spc="-10">
                <a:latin typeface="宋体"/>
                <a:cs typeface="宋体"/>
              </a:rPr>
              <a:t>以是</a:t>
            </a:r>
            <a:r>
              <a:rPr dirty="0" sz="1400" spc="5">
                <a:latin typeface="宋体"/>
                <a:cs typeface="宋体"/>
              </a:rPr>
              <a:t>债券 </a:t>
            </a:r>
            <a:r>
              <a:rPr dirty="0" sz="1400">
                <a:latin typeface="宋体"/>
                <a:cs typeface="宋体"/>
              </a:rPr>
              <a:t>融资，</a:t>
            </a:r>
            <a:r>
              <a:rPr dirty="0" sz="1400" spc="-15">
                <a:latin typeface="宋体"/>
                <a:cs typeface="宋体"/>
              </a:rPr>
              <a:t>发</a:t>
            </a:r>
            <a:r>
              <a:rPr dirty="0" sz="1400">
                <a:latin typeface="宋体"/>
                <a:cs typeface="宋体"/>
              </a:rPr>
              <a:t>债地</a:t>
            </a:r>
            <a:r>
              <a:rPr dirty="0" sz="1400" spc="-15">
                <a:latin typeface="宋体"/>
                <a:cs typeface="宋体"/>
              </a:rPr>
              <a:t>点和</a:t>
            </a:r>
            <a:r>
              <a:rPr dirty="0" sz="1400">
                <a:latin typeface="宋体"/>
                <a:cs typeface="宋体"/>
              </a:rPr>
              <a:t>发债币</a:t>
            </a:r>
            <a:r>
              <a:rPr dirty="0" sz="1400" spc="-15">
                <a:latin typeface="宋体"/>
                <a:cs typeface="宋体"/>
              </a:rPr>
              <a:t>种</a:t>
            </a:r>
            <a:r>
              <a:rPr dirty="0" sz="1400">
                <a:latin typeface="宋体"/>
                <a:cs typeface="宋体"/>
              </a:rPr>
              <a:t>均有</a:t>
            </a:r>
            <a:r>
              <a:rPr dirty="0" sz="1400" spc="-15">
                <a:latin typeface="宋体"/>
                <a:cs typeface="宋体"/>
              </a:rPr>
              <a:t>多种</a:t>
            </a:r>
            <a:r>
              <a:rPr dirty="0" sz="1400">
                <a:latin typeface="宋体"/>
                <a:cs typeface="宋体"/>
              </a:rPr>
              <a:t>选择， </a:t>
            </a:r>
            <a:r>
              <a:rPr dirty="0" sz="1400">
                <a:latin typeface="宋体"/>
                <a:cs typeface="宋体"/>
              </a:rPr>
              <a:t>但问题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于，</a:t>
            </a:r>
            <a:r>
              <a:rPr dirty="0" sz="1400" spc="-15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为非上</a:t>
            </a:r>
            <a:r>
              <a:rPr dirty="0" sz="1400" spc="-15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公司</a:t>
            </a:r>
            <a:r>
              <a:rPr dirty="0" sz="1400" spc="-15">
                <a:latin typeface="宋体"/>
                <a:cs typeface="宋体"/>
              </a:rPr>
              <a:t>，目</a:t>
            </a:r>
            <a:r>
              <a:rPr dirty="0" sz="1400">
                <a:latin typeface="宋体"/>
                <a:cs typeface="宋体"/>
              </a:rPr>
              <a:t>前没 有信用</a:t>
            </a:r>
            <a:r>
              <a:rPr dirty="0" sz="1400" spc="-15">
                <a:latin typeface="宋体"/>
                <a:cs typeface="宋体"/>
              </a:rPr>
              <a:t>评</a:t>
            </a:r>
            <a:r>
              <a:rPr dirty="0" sz="1400">
                <a:latin typeface="宋体"/>
                <a:cs typeface="宋体"/>
              </a:rPr>
              <a:t>级且</a:t>
            </a:r>
            <a:r>
              <a:rPr dirty="0" sz="1400" spc="-15">
                <a:latin typeface="宋体"/>
                <a:cs typeface="宋体"/>
              </a:rPr>
              <a:t>历史</a:t>
            </a:r>
            <a:r>
              <a:rPr dirty="0" sz="1400">
                <a:latin typeface="宋体"/>
                <a:cs typeface="宋体"/>
              </a:rPr>
              <a:t>海外发</a:t>
            </a:r>
            <a:r>
              <a:rPr dirty="0" sz="1400" spc="-15">
                <a:latin typeface="宋体"/>
                <a:cs typeface="宋体"/>
              </a:rPr>
              <a:t>债</a:t>
            </a:r>
            <a:r>
              <a:rPr dirty="0" sz="1400">
                <a:latin typeface="宋体"/>
                <a:cs typeface="宋体"/>
              </a:rPr>
              <a:t>较少</a:t>
            </a:r>
            <a:r>
              <a:rPr dirty="0" sz="1400" spc="-15">
                <a:latin typeface="宋体"/>
                <a:cs typeface="宋体"/>
              </a:rPr>
              <a:t>，难</a:t>
            </a:r>
            <a:r>
              <a:rPr dirty="0" sz="1400">
                <a:latin typeface="宋体"/>
                <a:cs typeface="宋体"/>
              </a:rPr>
              <a:t>以量 化海外</a:t>
            </a:r>
            <a:r>
              <a:rPr dirty="0" sz="1400" spc="-15">
                <a:latin typeface="宋体"/>
                <a:cs typeface="宋体"/>
              </a:rPr>
              <a:t>市</a:t>
            </a:r>
            <a:r>
              <a:rPr dirty="0" sz="1400">
                <a:latin typeface="宋体"/>
                <a:cs typeface="宋体"/>
              </a:rPr>
              <a:t>场发</a:t>
            </a:r>
            <a:r>
              <a:rPr dirty="0" sz="1400" spc="-15">
                <a:latin typeface="宋体"/>
                <a:cs typeface="宋体"/>
              </a:rPr>
              <a:t>债成</a:t>
            </a:r>
            <a:r>
              <a:rPr dirty="0" sz="1400">
                <a:latin typeface="宋体"/>
                <a:cs typeface="宋体"/>
              </a:rPr>
              <a:t>本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47815" y="3674364"/>
            <a:ext cx="2650490" cy="1336675"/>
          </a:xfrm>
          <a:custGeom>
            <a:avLst/>
            <a:gdLst/>
            <a:ahLst/>
            <a:cxnLst/>
            <a:rect l="l" t="t" r="r" b="b"/>
            <a:pathLst>
              <a:path w="2650490" h="1336675">
                <a:moveTo>
                  <a:pt x="2427478" y="0"/>
                </a:moveTo>
                <a:lnTo>
                  <a:pt x="222758" y="0"/>
                </a:lnTo>
                <a:lnTo>
                  <a:pt x="177853" y="4524"/>
                </a:lnTo>
                <a:lnTo>
                  <a:pt x="136034" y="17500"/>
                </a:lnTo>
                <a:lnTo>
                  <a:pt x="98195" y="38033"/>
                </a:lnTo>
                <a:lnTo>
                  <a:pt x="65230" y="65230"/>
                </a:lnTo>
                <a:lnTo>
                  <a:pt x="38033" y="98195"/>
                </a:lnTo>
                <a:lnTo>
                  <a:pt x="17500" y="136034"/>
                </a:lnTo>
                <a:lnTo>
                  <a:pt x="4524" y="177853"/>
                </a:lnTo>
                <a:lnTo>
                  <a:pt x="0" y="222758"/>
                </a:lnTo>
                <a:lnTo>
                  <a:pt x="0" y="1113790"/>
                </a:lnTo>
                <a:lnTo>
                  <a:pt x="4524" y="1158694"/>
                </a:lnTo>
                <a:lnTo>
                  <a:pt x="17500" y="1200513"/>
                </a:lnTo>
                <a:lnTo>
                  <a:pt x="38033" y="1238352"/>
                </a:lnTo>
                <a:lnTo>
                  <a:pt x="65230" y="1271317"/>
                </a:lnTo>
                <a:lnTo>
                  <a:pt x="98195" y="1298514"/>
                </a:lnTo>
                <a:lnTo>
                  <a:pt x="136034" y="1319047"/>
                </a:lnTo>
                <a:lnTo>
                  <a:pt x="177853" y="1332023"/>
                </a:lnTo>
                <a:lnTo>
                  <a:pt x="222758" y="1336548"/>
                </a:lnTo>
                <a:lnTo>
                  <a:pt x="2427478" y="1336548"/>
                </a:lnTo>
                <a:lnTo>
                  <a:pt x="2472382" y="1332023"/>
                </a:lnTo>
                <a:lnTo>
                  <a:pt x="2514201" y="1319047"/>
                </a:lnTo>
                <a:lnTo>
                  <a:pt x="2552040" y="1298514"/>
                </a:lnTo>
                <a:lnTo>
                  <a:pt x="2585005" y="1271317"/>
                </a:lnTo>
                <a:lnTo>
                  <a:pt x="2612202" y="1238352"/>
                </a:lnTo>
                <a:lnTo>
                  <a:pt x="2632735" y="1200513"/>
                </a:lnTo>
                <a:lnTo>
                  <a:pt x="2645711" y="1158694"/>
                </a:lnTo>
                <a:lnTo>
                  <a:pt x="2650236" y="1113790"/>
                </a:lnTo>
                <a:lnTo>
                  <a:pt x="2650236" y="222758"/>
                </a:lnTo>
                <a:lnTo>
                  <a:pt x="2645711" y="177853"/>
                </a:lnTo>
                <a:lnTo>
                  <a:pt x="2632735" y="136034"/>
                </a:lnTo>
                <a:lnTo>
                  <a:pt x="2612202" y="98195"/>
                </a:lnTo>
                <a:lnTo>
                  <a:pt x="2585005" y="65230"/>
                </a:lnTo>
                <a:lnTo>
                  <a:pt x="2552040" y="38033"/>
                </a:lnTo>
                <a:lnTo>
                  <a:pt x="2514201" y="17500"/>
                </a:lnTo>
                <a:lnTo>
                  <a:pt x="2472382" y="4524"/>
                </a:lnTo>
                <a:lnTo>
                  <a:pt x="2427478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305550" y="3794505"/>
            <a:ext cx="233807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银行贷款</a:t>
            </a:r>
            <a:endParaRPr sz="1400">
              <a:latin typeface="明兰"/>
              <a:cs typeface="明兰"/>
            </a:endParaRPr>
          </a:p>
          <a:p>
            <a:pPr algn="ctr" marL="12700" marR="5080" indent="-1270">
              <a:lnSpc>
                <a:spcPct val="98900"/>
              </a:lnSpc>
              <a:spcBef>
                <a:spcPts val="80"/>
              </a:spcBef>
            </a:pPr>
            <a:r>
              <a:rPr dirty="0" sz="1400">
                <a:latin typeface="宋体"/>
                <a:cs typeface="宋体"/>
              </a:rPr>
              <a:t>华为全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自建</a:t>
            </a:r>
            <a:r>
              <a:rPr dirty="0" sz="1400" spc="-15">
                <a:latin typeface="宋体"/>
                <a:cs typeface="宋体"/>
              </a:rPr>
              <a:t>工厂</a:t>
            </a:r>
            <a:r>
              <a:rPr dirty="0" sz="1400">
                <a:latin typeface="宋体"/>
                <a:cs typeface="宋体"/>
              </a:rPr>
              <a:t>的资金</a:t>
            </a:r>
            <a:r>
              <a:rPr dirty="0" sz="1400" spc="-15">
                <a:latin typeface="宋体"/>
                <a:cs typeface="宋体"/>
              </a:rPr>
              <a:t>来</a:t>
            </a:r>
            <a:r>
              <a:rPr dirty="0" sz="1400">
                <a:latin typeface="宋体"/>
                <a:cs typeface="宋体"/>
              </a:rPr>
              <a:t>源 </a:t>
            </a:r>
            <a:r>
              <a:rPr dirty="0" sz="1400" spc="5">
                <a:latin typeface="宋体"/>
                <a:cs typeface="宋体"/>
              </a:rPr>
              <a:t>可</a:t>
            </a:r>
            <a:r>
              <a:rPr dirty="0" sz="1400">
                <a:latin typeface="宋体"/>
                <a:cs typeface="宋体"/>
              </a:rPr>
              <a:t>以</a:t>
            </a:r>
            <a:r>
              <a:rPr dirty="0" sz="1400" spc="5">
                <a:latin typeface="宋体"/>
                <a:cs typeface="宋体"/>
              </a:rPr>
              <a:t>是</a:t>
            </a:r>
            <a:r>
              <a:rPr dirty="0" sz="1400" spc="-15">
                <a:latin typeface="宋体"/>
                <a:cs typeface="宋体"/>
              </a:rPr>
              <a:t>银</a:t>
            </a:r>
            <a:r>
              <a:rPr dirty="0" sz="1400" spc="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贷</a:t>
            </a:r>
            <a:r>
              <a:rPr dirty="0" sz="1400" spc="-10">
                <a:latin typeface="宋体"/>
                <a:cs typeface="宋体"/>
              </a:rPr>
              <a:t>款，</a:t>
            </a:r>
            <a:r>
              <a:rPr dirty="0" sz="1400" spc="5">
                <a:latin typeface="宋体"/>
                <a:cs typeface="宋体"/>
              </a:rPr>
              <a:t>可</a:t>
            </a:r>
            <a:r>
              <a:rPr dirty="0" sz="1400">
                <a:latin typeface="宋体"/>
                <a:cs typeface="宋体"/>
              </a:rPr>
              <a:t>行</a:t>
            </a:r>
            <a:r>
              <a:rPr dirty="0" sz="1400" spc="5">
                <a:latin typeface="宋体"/>
                <a:cs typeface="宋体"/>
              </a:rPr>
              <a:t>模</a:t>
            </a:r>
            <a:r>
              <a:rPr dirty="0" sz="1400" spc="-15">
                <a:latin typeface="宋体"/>
                <a:cs typeface="宋体"/>
              </a:rPr>
              <a:t>式</a:t>
            </a:r>
            <a:r>
              <a:rPr dirty="0" sz="1400">
                <a:latin typeface="宋体"/>
                <a:cs typeface="宋体"/>
              </a:rPr>
              <a:t>有 </a:t>
            </a:r>
            <a:r>
              <a:rPr dirty="0" sz="1400">
                <a:latin typeface="宋体"/>
                <a:cs typeface="宋体"/>
              </a:rPr>
              <a:t>在中国</a:t>
            </a:r>
            <a:r>
              <a:rPr dirty="0" sz="1400" spc="-15">
                <a:latin typeface="宋体"/>
                <a:cs typeface="宋体"/>
              </a:rPr>
              <a:t>借</a:t>
            </a:r>
            <a:r>
              <a:rPr dirty="0" sz="1400">
                <a:latin typeface="宋体"/>
                <a:cs typeface="宋体"/>
              </a:rPr>
              <a:t>人民</a:t>
            </a:r>
            <a:r>
              <a:rPr dirty="0" sz="1400" spc="-15">
                <a:latin typeface="宋体"/>
                <a:cs typeface="宋体"/>
              </a:rPr>
              <a:t>币、</a:t>
            </a:r>
            <a:r>
              <a:rPr dirty="0" sz="1400">
                <a:latin typeface="宋体"/>
                <a:cs typeface="宋体"/>
              </a:rPr>
              <a:t>在阿根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借 </a:t>
            </a:r>
            <a:r>
              <a:rPr dirty="0" sz="1400">
                <a:latin typeface="宋体"/>
                <a:cs typeface="宋体"/>
              </a:rPr>
              <a:t>美元、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阿根</a:t>
            </a:r>
            <a:r>
              <a:rPr dirty="0" sz="1400" spc="-15">
                <a:latin typeface="宋体"/>
                <a:cs typeface="宋体"/>
              </a:rPr>
              <a:t>廷借</a:t>
            </a:r>
            <a:r>
              <a:rPr dirty="0" sz="1400">
                <a:latin typeface="宋体"/>
                <a:cs typeface="宋体"/>
              </a:rPr>
              <a:t>比索等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200" y="5047488"/>
            <a:ext cx="8341359" cy="11690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306070" indent="-214629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 spc="5">
                <a:latin typeface="宋体"/>
                <a:cs typeface="宋体"/>
              </a:rPr>
              <a:t>财</a:t>
            </a:r>
            <a:r>
              <a:rPr dirty="0" sz="1400">
                <a:latin typeface="宋体"/>
                <a:cs typeface="宋体"/>
              </a:rPr>
              <a:t>务</a:t>
            </a:r>
            <a:r>
              <a:rPr dirty="0" sz="1400" spc="5">
                <a:latin typeface="宋体"/>
                <a:cs typeface="宋体"/>
              </a:rPr>
              <a:t>杠</a:t>
            </a:r>
            <a:r>
              <a:rPr dirty="0" sz="1400" spc="-15">
                <a:latin typeface="宋体"/>
                <a:cs typeface="宋体"/>
              </a:rPr>
              <a:t>杆</a:t>
            </a:r>
            <a:r>
              <a:rPr dirty="0" sz="1400" spc="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负</a:t>
            </a:r>
            <a:r>
              <a:rPr dirty="0" sz="1400" spc="-10">
                <a:latin typeface="宋体"/>
                <a:cs typeface="宋体"/>
              </a:rPr>
              <a:t>债的</a:t>
            </a:r>
            <a:r>
              <a:rPr dirty="0" sz="1400" spc="5">
                <a:latin typeface="宋体"/>
                <a:cs typeface="宋体"/>
              </a:rPr>
              <a:t>存</a:t>
            </a:r>
            <a:r>
              <a:rPr dirty="0" sz="1400">
                <a:latin typeface="宋体"/>
                <a:cs typeface="宋体"/>
              </a:rPr>
              <a:t>在</a:t>
            </a:r>
            <a:r>
              <a:rPr dirty="0" sz="1400" spc="5">
                <a:latin typeface="宋体"/>
                <a:cs typeface="宋体"/>
              </a:rPr>
              <a:t>使</a:t>
            </a:r>
            <a:r>
              <a:rPr dirty="0" sz="1400" spc="-15">
                <a:latin typeface="宋体"/>
                <a:cs typeface="宋体"/>
              </a:rPr>
              <a:t>得</a:t>
            </a:r>
            <a:r>
              <a:rPr dirty="0" sz="1400" spc="5">
                <a:latin typeface="宋体"/>
                <a:cs typeface="宋体"/>
              </a:rPr>
              <a:t>每</a:t>
            </a:r>
            <a:r>
              <a:rPr dirty="0" sz="1400">
                <a:latin typeface="宋体"/>
                <a:cs typeface="宋体"/>
              </a:rPr>
              <a:t>股</a:t>
            </a:r>
            <a:r>
              <a:rPr dirty="0" sz="1400" spc="-10">
                <a:latin typeface="宋体"/>
                <a:cs typeface="宋体"/>
              </a:rPr>
              <a:t>利润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变</a:t>
            </a:r>
            <a:r>
              <a:rPr dirty="0" sz="1400" spc="5">
                <a:latin typeface="宋体"/>
                <a:cs typeface="宋体"/>
              </a:rPr>
              <a:t>动</a:t>
            </a:r>
            <a:r>
              <a:rPr dirty="0" sz="1400" spc="-15">
                <a:latin typeface="宋体"/>
                <a:cs typeface="宋体"/>
              </a:rPr>
              <a:t>率</a:t>
            </a:r>
            <a:r>
              <a:rPr dirty="0" sz="1400" spc="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于</a:t>
            </a:r>
            <a:r>
              <a:rPr dirty="0" sz="1400" spc="-10">
                <a:latin typeface="宋体"/>
                <a:cs typeface="宋体"/>
              </a:rPr>
              <a:t>息税</a:t>
            </a:r>
            <a:r>
              <a:rPr dirty="0" sz="1400" spc="5">
                <a:latin typeface="宋体"/>
                <a:cs typeface="宋体"/>
              </a:rPr>
              <a:t>前</a:t>
            </a:r>
            <a:r>
              <a:rPr dirty="0" sz="1400">
                <a:latin typeface="宋体"/>
                <a:cs typeface="宋体"/>
              </a:rPr>
              <a:t>利</a:t>
            </a:r>
            <a:r>
              <a:rPr dirty="0" sz="1400" spc="5">
                <a:latin typeface="宋体"/>
                <a:cs typeface="宋体"/>
              </a:rPr>
              <a:t>润</a:t>
            </a:r>
            <a:r>
              <a:rPr dirty="0" sz="1400" spc="-15">
                <a:latin typeface="宋体"/>
                <a:cs typeface="宋体"/>
              </a:rPr>
              <a:t>变</a:t>
            </a:r>
            <a:r>
              <a:rPr dirty="0" sz="1400" spc="5">
                <a:latin typeface="宋体"/>
                <a:cs typeface="宋体"/>
              </a:rPr>
              <a:t>动率</a:t>
            </a:r>
            <a:endParaRPr sz="1400">
              <a:latin typeface="宋体"/>
              <a:cs typeface="宋体"/>
            </a:endParaRPr>
          </a:p>
          <a:p>
            <a:pPr marL="306070" marR="205104" indent="-214629">
              <a:lnSpc>
                <a:spcPts val="1620"/>
              </a:lnSpc>
              <a:spcBef>
                <a:spcPts val="170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相较于</a:t>
            </a:r>
            <a:r>
              <a:rPr dirty="0" sz="1400" spc="-1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工模</a:t>
            </a:r>
            <a:r>
              <a:rPr dirty="0" sz="1400" spc="-15">
                <a:latin typeface="宋体"/>
                <a:cs typeface="宋体"/>
              </a:rPr>
              <a:t>式来</a:t>
            </a:r>
            <a:r>
              <a:rPr dirty="0" sz="1400">
                <a:latin typeface="宋体"/>
                <a:cs typeface="宋体"/>
              </a:rPr>
              <a:t>说，自</a:t>
            </a:r>
            <a:r>
              <a:rPr dirty="0" sz="1400" spc="-15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厂房</a:t>
            </a:r>
            <a:r>
              <a:rPr dirty="0" sz="1400" spc="-15">
                <a:latin typeface="宋体"/>
                <a:cs typeface="宋体"/>
              </a:rPr>
              <a:t>需要</a:t>
            </a:r>
            <a:r>
              <a:rPr dirty="0" sz="1400">
                <a:latin typeface="宋体"/>
                <a:cs typeface="宋体"/>
              </a:rPr>
              <a:t>资金的</a:t>
            </a:r>
            <a:r>
              <a:rPr dirty="0" sz="1400" spc="-15">
                <a:latin typeface="宋体"/>
                <a:cs typeface="宋体"/>
              </a:rPr>
              <a:t>支</a:t>
            </a:r>
            <a:r>
              <a:rPr dirty="0" sz="1400">
                <a:latin typeface="宋体"/>
                <a:cs typeface="宋体"/>
              </a:rPr>
              <a:t>持，</a:t>
            </a:r>
            <a:r>
              <a:rPr dirty="0" sz="1400" spc="-15">
                <a:latin typeface="宋体"/>
                <a:cs typeface="宋体"/>
              </a:rPr>
              <a:t>资金</a:t>
            </a:r>
            <a:r>
              <a:rPr dirty="0" sz="1400">
                <a:latin typeface="宋体"/>
                <a:cs typeface="宋体"/>
              </a:rPr>
              <a:t>的来源</a:t>
            </a:r>
            <a:r>
              <a:rPr dirty="0" sz="1400" spc="-15">
                <a:latin typeface="宋体"/>
                <a:cs typeface="宋体"/>
              </a:rPr>
              <a:t>若</a:t>
            </a:r>
            <a:r>
              <a:rPr dirty="0" sz="1400">
                <a:latin typeface="宋体"/>
                <a:cs typeface="宋体"/>
              </a:rPr>
              <a:t>有借</a:t>
            </a:r>
            <a:r>
              <a:rPr dirty="0" sz="1400" spc="-15">
                <a:latin typeface="宋体"/>
                <a:cs typeface="宋体"/>
              </a:rPr>
              <a:t>贷资</a:t>
            </a:r>
            <a:r>
              <a:rPr dirty="0" sz="1400">
                <a:latin typeface="宋体"/>
                <a:cs typeface="宋体"/>
              </a:rPr>
              <a:t>金的支</a:t>
            </a:r>
            <a:r>
              <a:rPr dirty="0" sz="1400" spc="-15">
                <a:latin typeface="宋体"/>
                <a:cs typeface="宋体"/>
              </a:rPr>
              <a:t>持</a:t>
            </a:r>
            <a:r>
              <a:rPr dirty="0" sz="1400">
                <a:latin typeface="宋体"/>
                <a:cs typeface="宋体"/>
              </a:rPr>
              <a:t>，则</a:t>
            </a:r>
            <a:r>
              <a:rPr dirty="0" sz="1400" spc="-15">
                <a:latin typeface="宋体"/>
                <a:cs typeface="宋体"/>
              </a:rPr>
              <a:t>可以</a:t>
            </a:r>
            <a:r>
              <a:rPr dirty="0" sz="1400">
                <a:latin typeface="宋体"/>
                <a:cs typeface="宋体"/>
              </a:rPr>
              <a:t>增加财务 杠杆。</a:t>
            </a:r>
            <a:r>
              <a:rPr dirty="0" sz="1400" spc="-15">
                <a:latin typeface="宋体"/>
                <a:cs typeface="宋体"/>
              </a:rPr>
              <a:t>尽</a:t>
            </a:r>
            <a:r>
              <a:rPr dirty="0" sz="1400">
                <a:latin typeface="宋体"/>
                <a:cs typeface="宋体"/>
              </a:rPr>
              <a:t>管财</a:t>
            </a:r>
            <a:r>
              <a:rPr dirty="0" sz="1400" spc="-15">
                <a:latin typeface="宋体"/>
                <a:cs typeface="宋体"/>
              </a:rPr>
              <a:t>务风</a:t>
            </a:r>
            <a:r>
              <a:rPr dirty="0" sz="1400">
                <a:latin typeface="宋体"/>
                <a:cs typeface="宋体"/>
              </a:rPr>
              <a:t>险提升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但乐</a:t>
            </a:r>
            <a:r>
              <a:rPr dirty="0" sz="1400" spc="-15">
                <a:latin typeface="宋体"/>
                <a:cs typeface="宋体"/>
              </a:rPr>
              <a:t>观状</a:t>
            </a:r>
            <a:r>
              <a:rPr dirty="0" sz="1400">
                <a:latin typeface="宋体"/>
                <a:cs typeface="宋体"/>
              </a:rPr>
              <a:t>况下的</a:t>
            </a:r>
            <a:r>
              <a:rPr dirty="0" sz="1400" spc="-15">
                <a:latin typeface="宋体"/>
                <a:cs typeface="宋体"/>
              </a:rPr>
              <a:t>自</a:t>
            </a:r>
            <a:r>
              <a:rPr dirty="0" sz="1400">
                <a:latin typeface="宋体"/>
                <a:cs typeface="宋体"/>
              </a:rPr>
              <a:t>有资</a:t>
            </a:r>
            <a:r>
              <a:rPr dirty="0" sz="1400" spc="-15">
                <a:latin typeface="宋体"/>
                <a:cs typeface="宋体"/>
              </a:rPr>
              <a:t>本的</a:t>
            </a:r>
            <a:r>
              <a:rPr dirty="0" sz="1400">
                <a:latin typeface="宋体"/>
                <a:cs typeface="宋体"/>
              </a:rPr>
              <a:t>盈利性</a:t>
            </a:r>
            <a:r>
              <a:rPr dirty="0" sz="1400" spc="-15">
                <a:latin typeface="宋体"/>
                <a:cs typeface="宋体"/>
              </a:rPr>
              <a:t>可</a:t>
            </a:r>
            <a:r>
              <a:rPr dirty="0" sz="1400">
                <a:latin typeface="宋体"/>
                <a:cs typeface="宋体"/>
              </a:rPr>
              <a:t>以有</a:t>
            </a:r>
            <a:r>
              <a:rPr dirty="0" sz="1400" spc="-15">
                <a:latin typeface="宋体"/>
                <a:cs typeface="宋体"/>
              </a:rPr>
              <a:t>效提</a:t>
            </a:r>
            <a:r>
              <a:rPr dirty="0" sz="1400">
                <a:latin typeface="宋体"/>
                <a:cs typeface="宋体"/>
              </a:rPr>
              <a:t>升</a:t>
            </a:r>
            <a:endParaRPr sz="1400">
              <a:latin typeface="宋体"/>
              <a:cs typeface="宋体"/>
            </a:endParaRPr>
          </a:p>
          <a:p>
            <a:pPr marL="306070" marR="205104" indent="-214629">
              <a:lnSpc>
                <a:spcPts val="1620"/>
              </a:lnSpc>
              <a:spcBef>
                <a:spcPts val="114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判断华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全资</a:t>
            </a:r>
            <a:r>
              <a:rPr dirty="0" sz="1400" spc="-15">
                <a:latin typeface="宋体"/>
                <a:cs typeface="宋体"/>
              </a:rPr>
              <a:t>自建</a:t>
            </a:r>
            <a:r>
              <a:rPr dirty="0" sz="1400">
                <a:latin typeface="宋体"/>
                <a:cs typeface="宋体"/>
              </a:rPr>
              <a:t>厂房能</a:t>
            </a:r>
            <a:r>
              <a:rPr dirty="0" sz="1400" spc="-15">
                <a:latin typeface="宋体"/>
                <a:cs typeface="宋体"/>
              </a:rPr>
              <a:t>否</a:t>
            </a:r>
            <a:r>
              <a:rPr dirty="0" sz="1400">
                <a:latin typeface="宋体"/>
                <a:cs typeface="宋体"/>
              </a:rPr>
              <a:t>享受</a:t>
            </a:r>
            <a:r>
              <a:rPr dirty="0" sz="1400" spc="-15">
                <a:latin typeface="宋体"/>
                <a:cs typeface="宋体"/>
              </a:rPr>
              <a:t>“正</a:t>
            </a:r>
            <a:r>
              <a:rPr dirty="0" sz="1400">
                <a:latin typeface="宋体"/>
                <a:cs typeface="宋体"/>
              </a:rPr>
              <a:t>经营杠</a:t>
            </a:r>
            <a:r>
              <a:rPr dirty="0" sz="1400" spc="-15">
                <a:latin typeface="宋体"/>
                <a:cs typeface="宋体"/>
              </a:rPr>
              <a:t>杆</a:t>
            </a:r>
            <a:r>
              <a:rPr dirty="0" sz="1400">
                <a:latin typeface="宋体"/>
                <a:cs typeface="宋体"/>
              </a:rPr>
              <a:t>效应</a:t>
            </a:r>
            <a:r>
              <a:rPr dirty="0" sz="1400" spc="-15">
                <a:latin typeface="宋体"/>
                <a:cs typeface="宋体"/>
              </a:rPr>
              <a:t>”的</a:t>
            </a:r>
            <a:r>
              <a:rPr dirty="0" sz="1400">
                <a:latin typeface="宋体"/>
                <a:cs typeface="宋体"/>
              </a:rPr>
              <a:t>关键在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宏观</a:t>
            </a:r>
            <a:r>
              <a:rPr dirty="0" sz="1400" spc="-15">
                <a:latin typeface="宋体"/>
                <a:cs typeface="宋体"/>
              </a:rPr>
              <a:t>政治</a:t>
            </a:r>
            <a:r>
              <a:rPr dirty="0" sz="1400">
                <a:latin typeface="宋体"/>
                <a:cs typeface="宋体"/>
              </a:rPr>
              <a:t>、经济</a:t>
            </a:r>
            <a:r>
              <a:rPr dirty="0" sz="1400" spc="-15">
                <a:latin typeface="宋体"/>
                <a:cs typeface="宋体"/>
              </a:rPr>
              <a:t>因</a:t>
            </a:r>
            <a:r>
              <a:rPr dirty="0" sz="1400">
                <a:latin typeface="宋体"/>
                <a:cs typeface="宋体"/>
              </a:rPr>
              <a:t>素及</a:t>
            </a:r>
            <a:r>
              <a:rPr dirty="0" sz="1400" spc="-15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发展战略 的判断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200" y="1001267"/>
            <a:ext cx="8395970" cy="33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4130" rIns="0" bIns="0" rtlCol="0" vert="horz">
            <a:spAutoFit/>
          </a:bodyPr>
          <a:lstStyle/>
          <a:p>
            <a:pPr marL="630555">
              <a:lnSpc>
                <a:spcPct val="100000"/>
              </a:lnSpc>
              <a:spcBef>
                <a:spcPts val="190"/>
              </a:spcBef>
            </a:pPr>
            <a:r>
              <a:rPr dirty="0" sz="1800" spc="10" b="1">
                <a:latin typeface="明兰"/>
                <a:cs typeface="明兰"/>
              </a:rPr>
              <a:t>杠杆因素：华为可掌握经营、财务杠杆提升主动权，乐观状况下盈利性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33831" y="1735327"/>
            <a:ext cx="594183" cy="2679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67359" y="4217670"/>
            <a:ext cx="594183" cy="266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539432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全资自建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工厂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模式优势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分析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：杠杆因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素作</a:t>
            </a:r>
            <a:r>
              <a:rPr dirty="0" sz="2000" spc="40" b="1">
                <a:solidFill>
                  <a:srgbClr val="660000"/>
                </a:solidFill>
                <a:latin typeface="明兰"/>
                <a:cs typeface="明兰"/>
              </a:rPr>
              <a:t>用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背景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001267"/>
            <a:ext cx="8395970" cy="33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4130" rIns="0" bIns="0" rtlCol="0" vert="horz">
            <a:spAutoFit/>
          </a:bodyPr>
          <a:lstStyle/>
          <a:p>
            <a:pPr marL="745490">
              <a:lnSpc>
                <a:spcPct val="100000"/>
              </a:lnSpc>
              <a:spcBef>
                <a:spcPts val="190"/>
              </a:spcBef>
            </a:pPr>
            <a:r>
              <a:rPr dirty="0" sz="1800" spc="10" b="1">
                <a:latin typeface="明兰"/>
                <a:cs typeface="明兰"/>
              </a:rPr>
              <a:t>杠杆因素的作用背景：阿根廷政治、经济、外商投资及贸易政策分析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1598675"/>
            <a:ext cx="3901440" cy="26136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70485" rIns="0" bIns="0" rtlCol="0" vert="horz">
            <a:spAutoFit/>
          </a:bodyPr>
          <a:lstStyle/>
          <a:p>
            <a:pPr marL="1438910" marR="104139" indent="-1332230">
              <a:lnSpc>
                <a:spcPts val="1839"/>
              </a:lnSpc>
              <a:spcBef>
                <a:spcPts val="555"/>
              </a:spcBef>
            </a:pPr>
            <a:r>
              <a:rPr dirty="0" sz="1600" spc="15" b="1">
                <a:latin typeface="明兰"/>
                <a:cs typeface="明兰"/>
              </a:rPr>
              <a:t>新</a:t>
            </a:r>
            <a:r>
              <a:rPr dirty="0" sz="1600" spc="5" b="1">
                <a:latin typeface="明兰"/>
                <a:cs typeface="明兰"/>
              </a:rPr>
              <a:t>政府</a:t>
            </a:r>
            <a:r>
              <a:rPr dirty="0" sz="1600" spc="15" b="1">
                <a:latin typeface="明兰"/>
                <a:cs typeface="明兰"/>
              </a:rPr>
              <a:t>任</a:t>
            </a:r>
            <a:r>
              <a:rPr dirty="0" sz="1600" spc="5" b="1">
                <a:latin typeface="明兰"/>
                <a:cs typeface="明兰"/>
              </a:rPr>
              <a:t>期</a:t>
            </a:r>
            <a:r>
              <a:rPr dirty="0" sz="1600" spc="15" b="1">
                <a:latin typeface="明兰"/>
                <a:cs typeface="明兰"/>
              </a:rPr>
              <a:t>内</a:t>
            </a:r>
            <a:r>
              <a:rPr dirty="0" sz="1600" spc="5" b="1">
                <a:latin typeface="明兰"/>
                <a:cs typeface="明兰"/>
              </a:rPr>
              <a:t>政</a:t>
            </a:r>
            <a:r>
              <a:rPr dirty="0" sz="1600" spc="15" b="1">
                <a:latin typeface="明兰"/>
                <a:cs typeface="明兰"/>
              </a:rPr>
              <a:t>治</a:t>
            </a:r>
            <a:r>
              <a:rPr dirty="0" sz="1600" spc="5" b="1">
                <a:latin typeface="明兰"/>
                <a:cs typeface="明兰"/>
              </a:rPr>
              <a:t>风险</a:t>
            </a:r>
            <a:r>
              <a:rPr dirty="0" sz="1600" spc="15" b="1">
                <a:latin typeface="明兰"/>
                <a:cs typeface="明兰"/>
              </a:rPr>
              <a:t>有</a:t>
            </a:r>
            <a:r>
              <a:rPr dirty="0" sz="1600" spc="5" b="1">
                <a:latin typeface="明兰"/>
                <a:cs typeface="明兰"/>
              </a:rPr>
              <a:t>效</a:t>
            </a:r>
            <a:r>
              <a:rPr dirty="0" sz="1600" spc="15" b="1">
                <a:latin typeface="明兰"/>
                <a:cs typeface="明兰"/>
              </a:rPr>
              <a:t>平</a:t>
            </a:r>
            <a:r>
              <a:rPr dirty="0" sz="1600" spc="5" b="1">
                <a:latin typeface="明兰"/>
                <a:cs typeface="明兰"/>
              </a:rPr>
              <a:t>缓</a:t>
            </a:r>
            <a:r>
              <a:rPr dirty="0" sz="1600" spc="15" b="1">
                <a:latin typeface="明兰"/>
                <a:cs typeface="明兰"/>
              </a:rPr>
              <a:t>，</a:t>
            </a:r>
            <a:r>
              <a:rPr dirty="0" sz="1600" spc="5" b="1">
                <a:latin typeface="明兰"/>
                <a:cs typeface="明兰"/>
              </a:rPr>
              <a:t>稳定</a:t>
            </a:r>
            <a:r>
              <a:rPr dirty="0" sz="1600" spc="-5" b="1">
                <a:latin typeface="明兰"/>
                <a:cs typeface="明兰"/>
              </a:rPr>
              <a:t>发 </a:t>
            </a:r>
            <a:r>
              <a:rPr dirty="0" sz="1600" spc="15" b="1">
                <a:latin typeface="明兰"/>
                <a:cs typeface="明兰"/>
              </a:rPr>
              <a:t>展</a:t>
            </a:r>
            <a:r>
              <a:rPr dirty="0" sz="1600" spc="5" b="1">
                <a:latin typeface="明兰"/>
                <a:cs typeface="明兰"/>
              </a:rPr>
              <a:t>窗口</a:t>
            </a:r>
            <a:r>
              <a:rPr dirty="0" sz="1600" spc="15" b="1">
                <a:latin typeface="明兰"/>
                <a:cs typeface="明兰"/>
              </a:rPr>
              <a:t>可</a:t>
            </a:r>
            <a:r>
              <a:rPr dirty="0" sz="1600" spc="-5" b="1">
                <a:latin typeface="明兰"/>
                <a:cs typeface="明兰"/>
              </a:rPr>
              <a:t>期</a:t>
            </a:r>
            <a:endParaRPr sz="1600">
              <a:latin typeface="明兰"/>
              <a:cs typeface="明兰"/>
            </a:endParaRPr>
          </a:p>
          <a:p>
            <a:pPr marL="91440">
              <a:lnSpc>
                <a:spcPts val="1870"/>
              </a:lnSpc>
            </a:pPr>
            <a:r>
              <a:rPr dirty="0" sz="1600" spc="15" b="1">
                <a:latin typeface="明兰"/>
                <a:cs typeface="明兰"/>
              </a:rPr>
              <a:t>要点</a:t>
            </a:r>
            <a:endParaRPr sz="1600">
              <a:latin typeface="明兰"/>
              <a:cs typeface="明兰"/>
            </a:endParaRPr>
          </a:p>
          <a:p>
            <a:pPr algn="just" marL="377825" marR="216535" indent="-286385">
              <a:lnSpc>
                <a:spcPct val="100000"/>
              </a:lnSpc>
              <a:buChar char="•"/>
              <a:tabLst>
                <a:tab pos="378460" algn="l"/>
              </a:tabLst>
            </a:pPr>
            <a:r>
              <a:rPr dirty="0" sz="1600" spc="-5">
                <a:latin typeface="Arial"/>
                <a:cs typeface="Arial"/>
              </a:rPr>
              <a:t>2015</a:t>
            </a:r>
            <a:r>
              <a:rPr dirty="0" sz="1600" spc="5">
                <a:latin typeface="宋体"/>
                <a:cs typeface="宋体"/>
              </a:rPr>
              <a:t>年马克里</a:t>
            </a:r>
            <a:r>
              <a:rPr dirty="0" sz="1600" spc="-5">
                <a:latin typeface="宋体"/>
                <a:cs typeface="宋体"/>
              </a:rPr>
              <a:t>上</a:t>
            </a:r>
            <a:r>
              <a:rPr dirty="0" sz="1600" spc="5">
                <a:latin typeface="宋体"/>
                <a:cs typeface="宋体"/>
              </a:rPr>
              <a:t>任</a:t>
            </a:r>
            <a:r>
              <a:rPr dirty="0" sz="1600" spc="-5">
                <a:latin typeface="宋体"/>
                <a:cs typeface="宋体"/>
              </a:rPr>
              <a:t>阿</a:t>
            </a:r>
            <a:r>
              <a:rPr dirty="0" sz="1600" spc="5">
                <a:latin typeface="宋体"/>
                <a:cs typeface="宋体"/>
              </a:rPr>
              <a:t>根</a:t>
            </a:r>
            <a:r>
              <a:rPr dirty="0" sz="1600" spc="-5">
                <a:latin typeface="宋体"/>
                <a:cs typeface="宋体"/>
              </a:rPr>
              <a:t>廷总</a:t>
            </a:r>
            <a:r>
              <a:rPr dirty="0" sz="1600" spc="5">
                <a:latin typeface="宋体"/>
                <a:cs typeface="宋体"/>
              </a:rPr>
              <a:t>统</a:t>
            </a:r>
            <a:r>
              <a:rPr dirty="0" sz="1600" spc="-5">
                <a:latin typeface="宋体"/>
                <a:cs typeface="宋体"/>
              </a:rPr>
              <a:t>，政府 </a:t>
            </a:r>
            <a:r>
              <a:rPr dirty="0" sz="1600" spc="5">
                <a:latin typeface="宋体"/>
                <a:cs typeface="宋体"/>
              </a:rPr>
              <a:t>改</a:t>
            </a:r>
            <a:r>
              <a:rPr dirty="0" sz="1600" spc="-5">
                <a:latin typeface="宋体"/>
                <a:cs typeface="宋体"/>
              </a:rPr>
              <a:t>革推</a:t>
            </a:r>
            <a:r>
              <a:rPr dirty="0" sz="1600" spc="5">
                <a:latin typeface="宋体"/>
                <a:cs typeface="宋体"/>
              </a:rPr>
              <a:t>进</a:t>
            </a:r>
            <a:r>
              <a:rPr dirty="0" sz="1600" spc="-5">
                <a:latin typeface="宋体"/>
                <a:cs typeface="宋体"/>
              </a:rPr>
              <a:t>，削减</a:t>
            </a:r>
            <a:r>
              <a:rPr dirty="0" sz="1600" spc="5">
                <a:latin typeface="宋体"/>
                <a:cs typeface="宋体"/>
              </a:rPr>
              <a:t>财</a:t>
            </a:r>
            <a:r>
              <a:rPr dirty="0" sz="1600" spc="-5">
                <a:latin typeface="宋体"/>
                <a:cs typeface="宋体"/>
              </a:rPr>
              <a:t>政赤</a:t>
            </a:r>
            <a:r>
              <a:rPr dirty="0" sz="1600" spc="5">
                <a:latin typeface="宋体"/>
                <a:cs typeface="宋体"/>
              </a:rPr>
              <a:t>字</a:t>
            </a:r>
            <a:r>
              <a:rPr dirty="0" sz="1600" spc="-5">
                <a:latin typeface="宋体"/>
                <a:cs typeface="宋体"/>
              </a:rPr>
              <a:t>，主权</a:t>
            </a:r>
            <a:r>
              <a:rPr dirty="0" sz="1600" spc="5">
                <a:latin typeface="宋体"/>
                <a:cs typeface="宋体"/>
              </a:rPr>
              <a:t>债</a:t>
            </a:r>
            <a:r>
              <a:rPr dirty="0" sz="1600" spc="-5">
                <a:latin typeface="宋体"/>
                <a:cs typeface="宋体"/>
              </a:rPr>
              <a:t>务 </a:t>
            </a:r>
            <a:r>
              <a:rPr dirty="0" sz="1600">
                <a:latin typeface="宋体"/>
                <a:cs typeface="宋体"/>
              </a:rPr>
              <a:t>危</a:t>
            </a:r>
            <a:r>
              <a:rPr dirty="0" sz="1600" spc="-5">
                <a:latin typeface="宋体"/>
                <a:cs typeface="宋体"/>
              </a:rPr>
              <a:t>机</a:t>
            </a:r>
            <a:r>
              <a:rPr dirty="0" sz="1600" spc="-10">
                <a:latin typeface="宋体"/>
                <a:cs typeface="宋体"/>
              </a:rPr>
              <a:t>得</a:t>
            </a:r>
            <a:r>
              <a:rPr dirty="0" sz="1600">
                <a:latin typeface="宋体"/>
                <a:cs typeface="宋体"/>
              </a:rPr>
              <a:t>到</a:t>
            </a:r>
            <a:r>
              <a:rPr dirty="0" sz="1600" spc="-5">
                <a:latin typeface="宋体"/>
                <a:cs typeface="宋体"/>
              </a:rPr>
              <a:t>解</a:t>
            </a:r>
            <a:r>
              <a:rPr dirty="0" sz="1600" spc="-10">
                <a:latin typeface="宋体"/>
                <a:cs typeface="宋体"/>
              </a:rPr>
              <a:t>决</a:t>
            </a:r>
            <a:r>
              <a:rPr dirty="0" sz="1600" spc="-5">
                <a:latin typeface="宋体"/>
                <a:cs typeface="宋体"/>
              </a:rPr>
              <a:t>，</a:t>
            </a:r>
            <a:r>
              <a:rPr dirty="0" sz="1600">
                <a:latin typeface="宋体"/>
                <a:cs typeface="宋体"/>
              </a:rPr>
              <a:t>政</a:t>
            </a:r>
            <a:r>
              <a:rPr dirty="0" sz="1600" spc="-5">
                <a:latin typeface="宋体"/>
                <a:cs typeface="宋体"/>
              </a:rPr>
              <a:t>治</a:t>
            </a:r>
            <a:r>
              <a:rPr dirty="0" sz="1600" spc="-10">
                <a:latin typeface="宋体"/>
                <a:cs typeface="宋体"/>
              </a:rPr>
              <a:t>风</a:t>
            </a:r>
            <a:r>
              <a:rPr dirty="0" sz="1600">
                <a:latin typeface="宋体"/>
                <a:cs typeface="宋体"/>
              </a:rPr>
              <a:t>险</a:t>
            </a:r>
            <a:r>
              <a:rPr dirty="0" sz="1600" spc="-5">
                <a:latin typeface="宋体"/>
                <a:cs typeface="宋体"/>
              </a:rPr>
              <a:t>大</a:t>
            </a:r>
            <a:r>
              <a:rPr dirty="0" sz="1600" spc="-10">
                <a:latin typeface="宋体"/>
                <a:cs typeface="宋体"/>
              </a:rPr>
              <a:t>幅</a:t>
            </a:r>
            <a:r>
              <a:rPr dirty="0" sz="1600" spc="-5">
                <a:latin typeface="宋体"/>
                <a:cs typeface="宋体"/>
              </a:rPr>
              <a:t>下降</a:t>
            </a:r>
            <a:endParaRPr sz="1600">
              <a:latin typeface="宋体"/>
              <a:cs typeface="宋体"/>
            </a:endParaRPr>
          </a:p>
          <a:p>
            <a:pPr algn="just" marL="377825" marR="265430" indent="-286385">
              <a:lnSpc>
                <a:spcPct val="98500"/>
              </a:lnSpc>
              <a:spcBef>
                <a:spcPts val="110"/>
              </a:spcBef>
              <a:buFont typeface="Arial"/>
              <a:buChar char="•"/>
              <a:tabLst>
                <a:tab pos="378460" algn="l"/>
              </a:tabLst>
            </a:pPr>
            <a:r>
              <a:rPr dirty="0" sz="1600" spc="5">
                <a:latin typeface="宋体"/>
                <a:cs typeface="宋体"/>
              </a:rPr>
              <a:t>马</a:t>
            </a:r>
            <a:r>
              <a:rPr dirty="0" sz="1600" spc="-5">
                <a:latin typeface="宋体"/>
                <a:cs typeface="宋体"/>
              </a:rPr>
              <a:t>克里</a:t>
            </a:r>
            <a:r>
              <a:rPr dirty="0" sz="1600" spc="5">
                <a:latin typeface="宋体"/>
                <a:cs typeface="宋体"/>
              </a:rPr>
              <a:t>政</a:t>
            </a:r>
            <a:r>
              <a:rPr dirty="0" sz="1600" spc="-5">
                <a:latin typeface="宋体"/>
                <a:cs typeface="宋体"/>
              </a:rPr>
              <a:t>府坚持</a:t>
            </a:r>
            <a:r>
              <a:rPr dirty="0" sz="1600" spc="5">
                <a:latin typeface="宋体"/>
                <a:cs typeface="宋体"/>
              </a:rPr>
              <a:t>开</a:t>
            </a:r>
            <a:r>
              <a:rPr dirty="0" sz="1600" spc="-5">
                <a:latin typeface="宋体"/>
                <a:cs typeface="宋体"/>
              </a:rPr>
              <a:t>放型</a:t>
            </a:r>
            <a:r>
              <a:rPr dirty="0" sz="1600" spc="5">
                <a:latin typeface="宋体"/>
                <a:cs typeface="宋体"/>
              </a:rPr>
              <a:t>政</a:t>
            </a:r>
            <a:r>
              <a:rPr dirty="0" sz="1600" spc="-5">
                <a:latin typeface="宋体"/>
                <a:cs typeface="宋体"/>
              </a:rPr>
              <a:t>治导向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其 </a:t>
            </a:r>
            <a:r>
              <a:rPr dirty="0" sz="1600" spc="5">
                <a:latin typeface="宋体"/>
                <a:cs typeface="宋体"/>
              </a:rPr>
              <a:t>家</a:t>
            </a:r>
            <a:r>
              <a:rPr dirty="0" sz="1600" spc="-5">
                <a:latin typeface="宋体"/>
                <a:cs typeface="宋体"/>
              </a:rPr>
              <a:t>族与</a:t>
            </a:r>
            <a:r>
              <a:rPr dirty="0" sz="1600" spc="5">
                <a:latin typeface="宋体"/>
                <a:cs typeface="宋体"/>
              </a:rPr>
              <a:t>工</a:t>
            </a:r>
            <a:r>
              <a:rPr dirty="0" sz="1600" spc="-5">
                <a:latin typeface="宋体"/>
                <a:cs typeface="宋体"/>
              </a:rPr>
              <a:t>商界关</a:t>
            </a:r>
            <a:r>
              <a:rPr dirty="0" sz="1600" spc="5">
                <a:latin typeface="宋体"/>
                <a:cs typeface="宋体"/>
              </a:rPr>
              <a:t>系</a:t>
            </a:r>
            <a:r>
              <a:rPr dirty="0" sz="1600" spc="-5">
                <a:latin typeface="宋体"/>
                <a:cs typeface="宋体"/>
              </a:rPr>
              <a:t>密切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注重同</a:t>
            </a:r>
            <a:r>
              <a:rPr dirty="0" sz="1600" spc="5">
                <a:latin typeface="宋体"/>
                <a:cs typeface="宋体"/>
              </a:rPr>
              <a:t>中</a:t>
            </a:r>
            <a:r>
              <a:rPr dirty="0" sz="1600" spc="-5">
                <a:latin typeface="宋体"/>
                <a:cs typeface="宋体"/>
              </a:rPr>
              <a:t>国 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经济</a:t>
            </a:r>
            <a:r>
              <a:rPr dirty="0" sz="1600" spc="5">
                <a:latin typeface="宋体"/>
                <a:cs typeface="宋体"/>
              </a:rPr>
              <a:t>合</a:t>
            </a:r>
            <a:r>
              <a:rPr dirty="0" sz="1600" spc="-5">
                <a:latin typeface="宋体"/>
                <a:cs typeface="宋体"/>
              </a:rPr>
              <a:t>作，为</a:t>
            </a:r>
            <a:r>
              <a:rPr dirty="0" sz="1600" spc="5">
                <a:latin typeface="宋体"/>
                <a:cs typeface="宋体"/>
              </a:rPr>
              <a:t>我</a:t>
            </a:r>
            <a:r>
              <a:rPr dirty="0" sz="1600" spc="-5">
                <a:latin typeface="宋体"/>
                <a:cs typeface="宋体"/>
              </a:rPr>
              <a:t>国企</a:t>
            </a:r>
            <a:r>
              <a:rPr dirty="0" sz="1600" spc="5">
                <a:latin typeface="宋体"/>
                <a:cs typeface="宋体"/>
              </a:rPr>
              <a:t>业</a:t>
            </a:r>
            <a:r>
              <a:rPr dirty="0" sz="1600" spc="-5">
                <a:latin typeface="宋体"/>
                <a:cs typeface="宋体"/>
              </a:rPr>
              <a:t>贸易、</a:t>
            </a:r>
            <a:r>
              <a:rPr dirty="0" sz="1600" spc="5">
                <a:latin typeface="宋体"/>
                <a:cs typeface="宋体"/>
              </a:rPr>
              <a:t>投</a:t>
            </a:r>
            <a:r>
              <a:rPr dirty="0" sz="1600" spc="-5">
                <a:latin typeface="宋体"/>
                <a:cs typeface="宋体"/>
              </a:rPr>
              <a:t>资 </a:t>
            </a:r>
            <a:r>
              <a:rPr dirty="0" sz="1600" spc="5">
                <a:latin typeface="宋体"/>
                <a:cs typeface="宋体"/>
              </a:rPr>
              <a:t>等</a:t>
            </a:r>
            <a:r>
              <a:rPr dirty="0" sz="1600" spc="-5">
                <a:latin typeface="宋体"/>
                <a:cs typeface="宋体"/>
              </a:rPr>
              <a:t>方面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发展提</a:t>
            </a:r>
            <a:r>
              <a:rPr dirty="0" sz="1600" spc="5">
                <a:latin typeface="宋体"/>
                <a:cs typeface="宋体"/>
              </a:rPr>
              <a:t>供</a:t>
            </a:r>
            <a:r>
              <a:rPr dirty="0" sz="1600" spc="-5">
                <a:latin typeface="宋体"/>
                <a:cs typeface="宋体"/>
              </a:rPr>
              <a:t>了良</a:t>
            </a:r>
            <a:r>
              <a:rPr dirty="0" sz="1600" spc="5">
                <a:latin typeface="宋体"/>
                <a:cs typeface="宋体"/>
              </a:rPr>
              <a:t>好</a:t>
            </a:r>
            <a:r>
              <a:rPr dirty="0" sz="1600" spc="-5">
                <a:latin typeface="宋体"/>
                <a:cs typeface="宋体"/>
              </a:rPr>
              <a:t>的土壤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4464" y="1607819"/>
            <a:ext cx="4378960" cy="2613660"/>
          </a:xfrm>
          <a:custGeom>
            <a:avLst/>
            <a:gdLst/>
            <a:ahLst/>
            <a:cxnLst/>
            <a:rect l="l" t="t" r="r" b="b"/>
            <a:pathLst>
              <a:path w="4378959" h="2613660">
                <a:moveTo>
                  <a:pt x="0" y="2613660"/>
                </a:moveTo>
                <a:lnTo>
                  <a:pt x="4378451" y="2613660"/>
                </a:lnTo>
                <a:lnTo>
                  <a:pt x="4378451" y="0"/>
                </a:lnTo>
                <a:lnTo>
                  <a:pt x="0" y="0"/>
                </a:lnTo>
                <a:lnTo>
                  <a:pt x="0" y="2613660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54092" y="1649729"/>
            <a:ext cx="4219575" cy="123380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007870" marR="57785" indent="-1946910">
              <a:lnSpc>
                <a:spcPts val="1839"/>
              </a:lnSpc>
              <a:spcBef>
                <a:spcPts val="220"/>
              </a:spcBef>
            </a:pPr>
            <a:r>
              <a:rPr dirty="0" sz="1600" spc="15" b="1">
                <a:latin typeface="明兰"/>
                <a:cs typeface="明兰"/>
              </a:rPr>
              <a:t>经</a:t>
            </a:r>
            <a:r>
              <a:rPr dirty="0" sz="1600" spc="5" b="1">
                <a:latin typeface="明兰"/>
                <a:cs typeface="明兰"/>
              </a:rPr>
              <a:t>济预</a:t>
            </a:r>
            <a:r>
              <a:rPr dirty="0" sz="1600" spc="15" b="1">
                <a:latin typeface="明兰"/>
                <a:cs typeface="明兰"/>
              </a:rPr>
              <a:t>期</a:t>
            </a:r>
            <a:r>
              <a:rPr dirty="0" sz="1600" spc="5" b="1">
                <a:latin typeface="明兰"/>
                <a:cs typeface="明兰"/>
              </a:rPr>
              <a:t>向</a:t>
            </a:r>
            <a:r>
              <a:rPr dirty="0" sz="1600" spc="15" b="1">
                <a:latin typeface="明兰"/>
                <a:cs typeface="明兰"/>
              </a:rPr>
              <a:t>好</a:t>
            </a:r>
            <a:r>
              <a:rPr dirty="0" sz="1600" spc="5" b="1">
                <a:latin typeface="明兰"/>
                <a:cs typeface="明兰"/>
              </a:rPr>
              <a:t>，</a:t>
            </a:r>
            <a:r>
              <a:rPr dirty="0" sz="1600" spc="15" b="1">
                <a:latin typeface="明兰"/>
                <a:cs typeface="明兰"/>
              </a:rPr>
              <a:t>自</a:t>
            </a:r>
            <a:r>
              <a:rPr dirty="0" sz="1600" spc="5" b="1">
                <a:latin typeface="明兰"/>
                <a:cs typeface="明兰"/>
              </a:rPr>
              <a:t>由度</a:t>
            </a:r>
            <a:r>
              <a:rPr dirty="0" sz="1600" spc="15" b="1">
                <a:latin typeface="明兰"/>
                <a:cs typeface="明兰"/>
              </a:rPr>
              <a:t>持</a:t>
            </a:r>
            <a:r>
              <a:rPr dirty="0" sz="1600" spc="5" b="1">
                <a:latin typeface="明兰"/>
                <a:cs typeface="明兰"/>
              </a:rPr>
              <a:t>续</a:t>
            </a:r>
            <a:r>
              <a:rPr dirty="0" sz="1600" spc="15" b="1">
                <a:latin typeface="明兰"/>
                <a:cs typeface="明兰"/>
              </a:rPr>
              <a:t>提</a:t>
            </a:r>
            <a:r>
              <a:rPr dirty="0" sz="1600" spc="5" b="1">
                <a:latin typeface="明兰"/>
                <a:cs typeface="明兰"/>
              </a:rPr>
              <a:t>升</a:t>
            </a:r>
            <a:r>
              <a:rPr dirty="0" sz="1600" spc="15" b="1">
                <a:latin typeface="明兰"/>
                <a:cs typeface="明兰"/>
              </a:rPr>
              <a:t>，</a:t>
            </a:r>
            <a:r>
              <a:rPr dirty="0" sz="1600" spc="5" b="1">
                <a:latin typeface="明兰"/>
                <a:cs typeface="明兰"/>
              </a:rPr>
              <a:t>通胀</a:t>
            </a:r>
            <a:r>
              <a:rPr dirty="0" sz="1600" spc="15" b="1">
                <a:latin typeface="明兰"/>
                <a:cs typeface="明兰"/>
              </a:rPr>
              <a:t>有</a:t>
            </a:r>
            <a:r>
              <a:rPr dirty="0" sz="1600" spc="5" b="1">
                <a:latin typeface="明兰"/>
                <a:cs typeface="明兰"/>
              </a:rPr>
              <a:t>效</a:t>
            </a:r>
            <a:r>
              <a:rPr dirty="0" sz="1600" spc="-5" b="1">
                <a:latin typeface="明兰"/>
                <a:cs typeface="明兰"/>
              </a:rPr>
              <a:t>抑 </a:t>
            </a:r>
            <a:r>
              <a:rPr dirty="0" sz="1600" spc="-5" b="1">
                <a:latin typeface="明兰"/>
                <a:cs typeface="明兰"/>
              </a:rPr>
              <a:t>制</a:t>
            </a:r>
            <a:endParaRPr sz="1600">
              <a:latin typeface="明兰"/>
              <a:cs typeface="明兰"/>
            </a:endParaRPr>
          </a:p>
          <a:p>
            <a:pPr marL="12700">
              <a:lnSpc>
                <a:spcPts val="1870"/>
              </a:lnSpc>
            </a:pPr>
            <a:r>
              <a:rPr dirty="0" sz="1600" spc="15" b="1">
                <a:latin typeface="明兰"/>
                <a:cs typeface="明兰"/>
              </a:rPr>
              <a:t>要点</a:t>
            </a:r>
            <a:endParaRPr sz="1600">
              <a:latin typeface="明兰"/>
              <a:cs typeface="明兰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1600" spc="-5">
                <a:latin typeface="Arial"/>
                <a:cs typeface="Arial"/>
              </a:rPr>
              <a:t>2015</a:t>
            </a:r>
            <a:r>
              <a:rPr dirty="0" sz="1600">
                <a:latin typeface="宋体"/>
                <a:cs typeface="宋体"/>
              </a:rPr>
              <a:t>年末开始</a:t>
            </a:r>
            <a:r>
              <a:rPr dirty="0" sz="1600" spc="-5">
                <a:latin typeface="宋体"/>
                <a:cs typeface="宋体"/>
              </a:rPr>
              <a:t>，</a:t>
            </a:r>
            <a:r>
              <a:rPr dirty="0" sz="1600">
                <a:latin typeface="宋体"/>
                <a:cs typeface="宋体"/>
              </a:rPr>
              <a:t>经</a:t>
            </a:r>
            <a:r>
              <a:rPr dirty="0" sz="1600" spc="-5">
                <a:latin typeface="宋体"/>
                <a:cs typeface="宋体"/>
              </a:rPr>
              <a:t>济</a:t>
            </a:r>
            <a:r>
              <a:rPr dirty="0" sz="1600">
                <a:latin typeface="宋体"/>
                <a:cs typeface="宋体"/>
              </a:rPr>
              <a:t>风</a:t>
            </a:r>
            <a:r>
              <a:rPr dirty="0" sz="1600" spc="-5">
                <a:latin typeface="宋体"/>
                <a:cs typeface="宋体"/>
              </a:rPr>
              <a:t>险</a:t>
            </a:r>
            <a:r>
              <a:rPr dirty="0" sz="1600" spc="-10">
                <a:latin typeface="宋体"/>
                <a:cs typeface="宋体"/>
              </a:rPr>
              <a:t>指</a:t>
            </a:r>
            <a:r>
              <a:rPr dirty="0" sz="1600">
                <a:latin typeface="宋体"/>
                <a:cs typeface="宋体"/>
              </a:rPr>
              <a:t>数</a:t>
            </a:r>
            <a:r>
              <a:rPr dirty="0" sz="1600" spc="-5">
                <a:latin typeface="宋体"/>
                <a:cs typeface="宋体"/>
              </a:rPr>
              <a:t>波</a:t>
            </a:r>
            <a:r>
              <a:rPr dirty="0" sz="1600" spc="-10">
                <a:latin typeface="宋体"/>
                <a:cs typeface="宋体"/>
              </a:rPr>
              <a:t>动</a:t>
            </a:r>
            <a:r>
              <a:rPr dirty="0" sz="1600" spc="-5">
                <a:latin typeface="宋体"/>
                <a:cs typeface="宋体"/>
              </a:rPr>
              <a:t>下</a:t>
            </a:r>
            <a:r>
              <a:rPr dirty="0" sz="1600" spc="-10">
                <a:latin typeface="宋体"/>
                <a:cs typeface="宋体"/>
              </a:rPr>
              <a:t>降</a:t>
            </a:r>
            <a:r>
              <a:rPr dirty="0" sz="1600" spc="-5">
                <a:latin typeface="宋体"/>
                <a:cs typeface="宋体"/>
              </a:rPr>
              <a:t>，通</a:t>
            </a:r>
            <a:endParaRPr sz="1600">
              <a:latin typeface="宋体"/>
              <a:cs typeface="宋体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600" spc="5">
                <a:latin typeface="宋体"/>
                <a:cs typeface="宋体"/>
              </a:rPr>
              <a:t>胀</a:t>
            </a:r>
            <a:r>
              <a:rPr dirty="0" sz="1600" spc="-5">
                <a:latin typeface="宋体"/>
                <a:cs typeface="宋体"/>
              </a:rPr>
              <a:t>有效</a:t>
            </a:r>
            <a:r>
              <a:rPr dirty="0" sz="1600" spc="5">
                <a:latin typeface="宋体"/>
                <a:cs typeface="宋体"/>
              </a:rPr>
              <a:t>抑</a:t>
            </a:r>
            <a:r>
              <a:rPr dirty="0" sz="1600" spc="-5">
                <a:latin typeface="宋体"/>
                <a:cs typeface="宋体"/>
              </a:rPr>
              <a:t>制，预</a:t>
            </a:r>
            <a:r>
              <a:rPr dirty="0" sz="1600" spc="10">
                <a:latin typeface="宋体"/>
                <a:cs typeface="宋体"/>
              </a:rPr>
              <a:t>期</a:t>
            </a:r>
            <a:r>
              <a:rPr dirty="0" sz="1600" spc="-5">
                <a:latin typeface="宋体"/>
                <a:cs typeface="宋体"/>
              </a:rPr>
              <a:t>向好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4092" y="2869183"/>
            <a:ext cx="4378325" cy="123380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99085" marR="5080" indent="-286385">
              <a:lnSpc>
                <a:spcPts val="1839"/>
              </a:lnSpc>
              <a:spcBef>
                <a:spcPts val="22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汇</a:t>
            </a:r>
            <a:r>
              <a:rPr dirty="0" sz="1600" spc="-5">
                <a:latin typeface="宋体"/>
                <a:cs typeface="宋体"/>
              </a:rPr>
              <a:t>率制</a:t>
            </a:r>
            <a:r>
              <a:rPr dirty="0" sz="1600" spc="5">
                <a:latin typeface="宋体"/>
                <a:cs typeface="宋体"/>
              </a:rPr>
              <a:t>度</a:t>
            </a:r>
            <a:r>
              <a:rPr dirty="0" sz="1600" spc="-5">
                <a:latin typeface="宋体"/>
                <a:cs typeface="宋体"/>
              </a:rPr>
              <a:t>及金融</a:t>
            </a:r>
            <a:r>
              <a:rPr dirty="0" sz="1600" spc="10">
                <a:latin typeface="宋体"/>
                <a:cs typeface="宋体"/>
              </a:rPr>
              <a:t>自</a:t>
            </a:r>
            <a:r>
              <a:rPr dirty="0" sz="1600" spc="-5">
                <a:latin typeface="宋体"/>
                <a:cs typeface="宋体"/>
              </a:rPr>
              <a:t>由化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国际外</a:t>
            </a:r>
            <a:r>
              <a:rPr dirty="0" sz="1600" spc="10">
                <a:latin typeface="宋体"/>
                <a:cs typeface="宋体"/>
              </a:rPr>
              <a:t>汇</a:t>
            </a:r>
            <a:r>
              <a:rPr dirty="0" sz="1600" spc="-5">
                <a:latin typeface="宋体"/>
                <a:cs typeface="宋体"/>
              </a:rPr>
              <a:t>储备</a:t>
            </a:r>
            <a:r>
              <a:rPr dirty="0" sz="1600" spc="5">
                <a:latin typeface="宋体"/>
                <a:cs typeface="宋体"/>
              </a:rPr>
              <a:t>累</a:t>
            </a:r>
            <a:r>
              <a:rPr dirty="0" sz="1600" spc="-5">
                <a:latin typeface="宋体"/>
                <a:cs typeface="宋体"/>
              </a:rPr>
              <a:t>计， </a:t>
            </a:r>
            <a:r>
              <a:rPr dirty="0" sz="1600" spc="5">
                <a:latin typeface="宋体"/>
                <a:cs typeface="宋体"/>
              </a:rPr>
              <a:t>国</a:t>
            </a:r>
            <a:r>
              <a:rPr dirty="0" sz="1600" spc="-5">
                <a:latin typeface="宋体"/>
                <a:cs typeface="宋体"/>
              </a:rPr>
              <a:t>家汇</a:t>
            </a:r>
            <a:r>
              <a:rPr dirty="0" sz="1600" spc="5">
                <a:latin typeface="宋体"/>
                <a:cs typeface="宋体"/>
              </a:rPr>
              <a:t>兑</a:t>
            </a:r>
            <a:r>
              <a:rPr dirty="0" sz="1600" spc="-5">
                <a:latin typeface="宋体"/>
                <a:cs typeface="宋体"/>
              </a:rPr>
              <a:t>政策有</a:t>
            </a:r>
            <a:r>
              <a:rPr dirty="0" sz="1600" spc="10">
                <a:latin typeface="宋体"/>
                <a:cs typeface="宋体"/>
              </a:rPr>
              <a:t>所</a:t>
            </a:r>
            <a:r>
              <a:rPr dirty="0" sz="1600" spc="-5">
                <a:latin typeface="宋体"/>
                <a:cs typeface="宋体"/>
              </a:rPr>
              <a:t>放松</a:t>
            </a:r>
            <a:r>
              <a:rPr dirty="0" sz="1600" spc="5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外商投</a:t>
            </a:r>
            <a:r>
              <a:rPr dirty="0" sz="1600" spc="10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利好</a:t>
            </a:r>
            <a:endParaRPr sz="1600">
              <a:latin typeface="宋体"/>
              <a:cs typeface="宋体"/>
            </a:endParaRPr>
          </a:p>
          <a:p>
            <a:pPr marL="299085" marR="207645" indent="-286385">
              <a:lnSpc>
                <a:spcPct val="97900"/>
              </a:lnSpc>
              <a:spcBef>
                <a:spcPts val="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通</a:t>
            </a:r>
            <a:r>
              <a:rPr dirty="0" sz="1600" spc="-5">
                <a:latin typeface="宋体"/>
                <a:cs typeface="宋体"/>
              </a:rPr>
              <a:t>胀有</a:t>
            </a:r>
            <a:r>
              <a:rPr dirty="0" sz="1600" spc="5">
                <a:latin typeface="宋体"/>
                <a:cs typeface="宋体"/>
              </a:rPr>
              <a:t>效</a:t>
            </a:r>
            <a:r>
              <a:rPr dirty="0" sz="1600" spc="-5">
                <a:latin typeface="宋体"/>
                <a:cs typeface="宋体"/>
              </a:rPr>
              <a:t>抑制，</a:t>
            </a:r>
            <a:r>
              <a:rPr dirty="0" sz="1600" spc="10">
                <a:latin typeface="宋体"/>
                <a:cs typeface="宋体"/>
              </a:rPr>
              <a:t>重</a:t>
            </a:r>
            <a:r>
              <a:rPr dirty="0" sz="1600" spc="-5">
                <a:latin typeface="宋体"/>
                <a:cs typeface="宋体"/>
              </a:rPr>
              <a:t>新与</a:t>
            </a:r>
            <a:r>
              <a:rPr dirty="0" sz="1600" spc="5">
                <a:latin typeface="宋体"/>
                <a:cs typeface="宋体"/>
              </a:rPr>
              <a:t>国</a:t>
            </a:r>
            <a:r>
              <a:rPr dirty="0" sz="1600" spc="-5">
                <a:latin typeface="宋体"/>
                <a:cs typeface="宋体"/>
              </a:rPr>
              <a:t>际货币</a:t>
            </a:r>
            <a:r>
              <a:rPr dirty="0" sz="1600" spc="10">
                <a:latin typeface="宋体"/>
                <a:cs typeface="宋体"/>
              </a:rPr>
              <a:t>基</a:t>
            </a:r>
            <a:r>
              <a:rPr dirty="0" sz="1600" spc="-5">
                <a:latin typeface="宋体"/>
                <a:cs typeface="宋体"/>
              </a:rPr>
              <a:t>金组</a:t>
            </a:r>
            <a:r>
              <a:rPr dirty="0" sz="1600" spc="5">
                <a:latin typeface="宋体"/>
                <a:cs typeface="宋体"/>
              </a:rPr>
              <a:t>织</a:t>
            </a:r>
            <a:r>
              <a:rPr dirty="0" sz="1600" spc="-5">
                <a:latin typeface="宋体"/>
                <a:cs typeface="宋体"/>
              </a:rPr>
              <a:t>磋 </a:t>
            </a:r>
            <a:r>
              <a:rPr dirty="0" sz="1600" spc="5">
                <a:latin typeface="宋体"/>
                <a:cs typeface="宋体"/>
              </a:rPr>
              <a:t>商，解除对</a:t>
            </a:r>
            <a:r>
              <a:rPr dirty="0" sz="1600" spc="-5">
                <a:latin typeface="宋体"/>
                <a:cs typeface="宋体"/>
              </a:rPr>
              <a:t>阿根</a:t>
            </a:r>
            <a:r>
              <a:rPr dirty="0" sz="1600" spc="5">
                <a:latin typeface="宋体"/>
                <a:cs typeface="宋体"/>
              </a:rPr>
              <a:t>廷</a:t>
            </a:r>
            <a:r>
              <a:rPr dirty="0" sz="1600" spc="-5">
                <a:latin typeface="宋体"/>
                <a:cs typeface="宋体"/>
              </a:rPr>
              <a:t>通胀</a:t>
            </a:r>
            <a:r>
              <a:rPr dirty="0" sz="1600" spc="5">
                <a:latin typeface="宋体"/>
                <a:cs typeface="宋体"/>
              </a:rPr>
              <a:t>数</a:t>
            </a:r>
            <a:r>
              <a:rPr dirty="0" sz="1600" spc="-5">
                <a:latin typeface="宋体"/>
                <a:cs typeface="宋体"/>
              </a:rPr>
              <a:t>据（</a:t>
            </a:r>
            <a:r>
              <a:rPr dirty="0" sz="1600" spc="-5">
                <a:latin typeface="Arial"/>
                <a:cs typeface="Arial"/>
              </a:rPr>
              <a:t>CPI</a:t>
            </a:r>
            <a:r>
              <a:rPr dirty="0" sz="1600" spc="-5">
                <a:latin typeface="宋体"/>
                <a:cs typeface="宋体"/>
              </a:rPr>
              <a:t>）操控的 </a:t>
            </a:r>
            <a:r>
              <a:rPr dirty="0" sz="1600" spc="5">
                <a:latin typeface="宋体"/>
                <a:cs typeface="宋体"/>
              </a:rPr>
              <a:t>谴责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4352544"/>
            <a:ext cx="8408670" cy="1853564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algn="ctr" marR="8255">
              <a:lnSpc>
                <a:spcPct val="100000"/>
              </a:lnSpc>
              <a:spcBef>
                <a:spcPts val="340"/>
              </a:spcBef>
            </a:pPr>
            <a:r>
              <a:rPr dirty="0" sz="1600" spc="15" b="1">
                <a:latin typeface="明兰"/>
                <a:cs typeface="明兰"/>
              </a:rPr>
              <a:t>外</a:t>
            </a:r>
            <a:r>
              <a:rPr dirty="0" sz="1600" spc="5" b="1">
                <a:latin typeface="明兰"/>
                <a:cs typeface="明兰"/>
              </a:rPr>
              <a:t>商投</a:t>
            </a:r>
            <a:r>
              <a:rPr dirty="0" sz="1600" spc="15" b="1">
                <a:latin typeface="明兰"/>
                <a:cs typeface="明兰"/>
              </a:rPr>
              <a:t>资</a:t>
            </a:r>
            <a:r>
              <a:rPr dirty="0" sz="1600" spc="5" b="1">
                <a:latin typeface="明兰"/>
                <a:cs typeface="明兰"/>
              </a:rPr>
              <a:t>级</a:t>
            </a:r>
            <a:r>
              <a:rPr dirty="0" sz="1600" spc="15" b="1">
                <a:latin typeface="明兰"/>
                <a:cs typeface="明兰"/>
              </a:rPr>
              <a:t>贸</a:t>
            </a:r>
            <a:r>
              <a:rPr dirty="0" sz="1600" spc="5" b="1">
                <a:latin typeface="明兰"/>
                <a:cs typeface="明兰"/>
              </a:rPr>
              <a:t>易</a:t>
            </a:r>
            <a:r>
              <a:rPr dirty="0" sz="1600" spc="15" b="1">
                <a:latin typeface="明兰"/>
                <a:cs typeface="明兰"/>
              </a:rPr>
              <a:t>政</a:t>
            </a:r>
            <a:r>
              <a:rPr dirty="0" sz="1600" spc="5" b="1">
                <a:latin typeface="明兰"/>
                <a:cs typeface="明兰"/>
              </a:rPr>
              <a:t>策框</a:t>
            </a:r>
            <a:r>
              <a:rPr dirty="0" sz="1600" spc="15" b="1">
                <a:latin typeface="明兰"/>
                <a:cs typeface="明兰"/>
              </a:rPr>
              <a:t>架</a:t>
            </a:r>
            <a:r>
              <a:rPr dirty="0" sz="1600" spc="5" b="1">
                <a:latin typeface="明兰"/>
                <a:cs typeface="明兰"/>
              </a:rPr>
              <a:t>日</a:t>
            </a:r>
            <a:r>
              <a:rPr dirty="0" sz="1600" spc="15" b="1">
                <a:latin typeface="明兰"/>
                <a:cs typeface="明兰"/>
              </a:rPr>
              <a:t>趋</a:t>
            </a:r>
            <a:r>
              <a:rPr dirty="0" sz="1600" spc="5" b="1">
                <a:latin typeface="明兰"/>
                <a:cs typeface="明兰"/>
              </a:rPr>
              <a:t>完</a:t>
            </a:r>
            <a:r>
              <a:rPr dirty="0" sz="1600" spc="15" b="1">
                <a:latin typeface="明兰"/>
                <a:cs typeface="明兰"/>
              </a:rPr>
              <a:t>善</a:t>
            </a:r>
            <a:r>
              <a:rPr dirty="0" sz="1600" spc="5" b="1">
                <a:latin typeface="明兰"/>
                <a:cs typeface="明兰"/>
              </a:rPr>
              <a:t>，外</a:t>
            </a:r>
            <a:r>
              <a:rPr dirty="0" sz="1600" spc="15" b="1">
                <a:latin typeface="明兰"/>
                <a:cs typeface="明兰"/>
              </a:rPr>
              <a:t>商</a:t>
            </a:r>
            <a:r>
              <a:rPr dirty="0" sz="1600" spc="5" b="1">
                <a:latin typeface="明兰"/>
                <a:cs typeface="明兰"/>
              </a:rPr>
              <a:t>投</a:t>
            </a:r>
            <a:r>
              <a:rPr dirty="0" sz="1600" spc="15" b="1">
                <a:latin typeface="明兰"/>
                <a:cs typeface="明兰"/>
              </a:rPr>
              <a:t>资</a:t>
            </a:r>
            <a:r>
              <a:rPr dirty="0" sz="1600" spc="5" b="1">
                <a:latin typeface="明兰"/>
                <a:cs typeface="明兰"/>
              </a:rPr>
              <a:t>激</a:t>
            </a:r>
            <a:r>
              <a:rPr dirty="0" sz="1600" spc="15" b="1">
                <a:latin typeface="明兰"/>
                <a:cs typeface="明兰"/>
              </a:rPr>
              <a:t>励</a:t>
            </a:r>
            <a:r>
              <a:rPr dirty="0" sz="1600" spc="5" b="1">
                <a:latin typeface="明兰"/>
                <a:cs typeface="明兰"/>
              </a:rPr>
              <a:t>保障</a:t>
            </a:r>
            <a:r>
              <a:rPr dirty="0" sz="1600" spc="15" b="1">
                <a:latin typeface="明兰"/>
                <a:cs typeface="明兰"/>
              </a:rPr>
              <a:t>优</a:t>
            </a:r>
            <a:r>
              <a:rPr dirty="0" sz="1600" spc="5" b="1">
                <a:latin typeface="明兰"/>
                <a:cs typeface="明兰"/>
              </a:rPr>
              <a:t>势</a:t>
            </a:r>
            <a:r>
              <a:rPr dirty="0" sz="1600" spc="15" b="1">
                <a:latin typeface="明兰"/>
                <a:cs typeface="明兰"/>
              </a:rPr>
              <a:t>凸</a:t>
            </a:r>
            <a:r>
              <a:rPr dirty="0" sz="1600" spc="-5" b="1">
                <a:latin typeface="明兰"/>
                <a:cs typeface="明兰"/>
              </a:rPr>
              <a:t>显</a:t>
            </a:r>
            <a:endParaRPr sz="1600">
              <a:latin typeface="明兰"/>
              <a:cs typeface="明兰"/>
            </a:endParaRPr>
          </a:p>
          <a:p>
            <a:pPr marL="91440" marR="3175">
              <a:lnSpc>
                <a:spcPct val="100000"/>
              </a:lnSpc>
            </a:pPr>
            <a:r>
              <a:rPr dirty="0" sz="1600" spc="15" b="1">
                <a:latin typeface="明兰"/>
                <a:cs typeface="明兰"/>
              </a:rPr>
              <a:t>要点</a:t>
            </a:r>
            <a:endParaRPr sz="1600">
              <a:latin typeface="明兰"/>
              <a:cs typeface="明兰"/>
            </a:endParaRPr>
          </a:p>
          <a:p>
            <a:pPr marL="377825" marR="3175" indent="-286385">
              <a:lnSpc>
                <a:spcPct val="100000"/>
              </a:lnSpc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dirty="0" sz="1600" spc="5">
                <a:latin typeface="宋体"/>
                <a:cs typeface="宋体"/>
              </a:rPr>
              <a:t>外</a:t>
            </a:r>
            <a:r>
              <a:rPr dirty="0" sz="1600" spc="-5">
                <a:latin typeface="宋体"/>
                <a:cs typeface="宋体"/>
              </a:rPr>
              <a:t>商投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者与本</a:t>
            </a:r>
            <a:r>
              <a:rPr dirty="0" sz="1600" spc="5">
                <a:latin typeface="宋体"/>
                <a:cs typeface="宋体"/>
              </a:rPr>
              <a:t>国</a:t>
            </a:r>
            <a:r>
              <a:rPr dirty="0" sz="1600" spc="-5">
                <a:latin typeface="宋体"/>
                <a:cs typeface="宋体"/>
              </a:rPr>
              <a:t>投资</a:t>
            </a:r>
            <a:r>
              <a:rPr dirty="0" sz="1600" spc="5">
                <a:latin typeface="宋体"/>
                <a:cs typeface="宋体"/>
              </a:rPr>
              <a:t>者</a:t>
            </a:r>
            <a:r>
              <a:rPr dirty="0" sz="1600" spc="-5">
                <a:latin typeface="宋体"/>
                <a:cs typeface="宋体"/>
              </a:rPr>
              <a:t>享有同</a:t>
            </a:r>
            <a:r>
              <a:rPr dirty="0" sz="1600" spc="5">
                <a:latin typeface="宋体"/>
                <a:cs typeface="宋体"/>
              </a:rPr>
              <a:t>等</a:t>
            </a:r>
            <a:r>
              <a:rPr dirty="0" sz="1600" spc="-5">
                <a:latin typeface="宋体"/>
                <a:cs typeface="宋体"/>
              </a:rPr>
              <a:t>权利</a:t>
            </a:r>
            <a:endParaRPr sz="1600">
              <a:latin typeface="宋体"/>
              <a:cs typeface="宋体"/>
            </a:endParaRPr>
          </a:p>
          <a:p>
            <a:pPr marL="377825" marR="3175" indent="-286385">
              <a:lnSpc>
                <a:spcPct val="100000"/>
              </a:lnSpc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dirty="0" sz="1600" spc="5">
                <a:latin typeface="宋体"/>
                <a:cs typeface="宋体"/>
              </a:rPr>
              <a:t>税</a:t>
            </a:r>
            <a:r>
              <a:rPr dirty="0" sz="1600" spc="-5">
                <a:latin typeface="宋体"/>
                <a:cs typeface="宋体"/>
              </a:rPr>
              <a:t>收方</a:t>
            </a:r>
            <a:r>
              <a:rPr dirty="0" sz="1600" spc="5">
                <a:latin typeface="宋体"/>
                <a:cs typeface="宋体"/>
              </a:rPr>
              <a:t>面</a:t>
            </a:r>
            <a:r>
              <a:rPr dirty="0" sz="1600" spc="-5">
                <a:latin typeface="宋体"/>
                <a:cs typeface="宋体"/>
              </a:rPr>
              <a:t>优惠政</a:t>
            </a:r>
            <a:r>
              <a:rPr dirty="0" sz="1600" spc="5">
                <a:latin typeface="宋体"/>
                <a:cs typeface="宋体"/>
              </a:rPr>
              <a:t>策</a:t>
            </a:r>
            <a:r>
              <a:rPr dirty="0" sz="1600" spc="-5">
                <a:latin typeface="宋体"/>
                <a:cs typeface="宋体"/>
              </a:rPr>
              <a:t>框架</a:t>
            </a:r>
            <a:r>
              <a:rPr dirty="0" sz="1600" spc="5">
                <a:latin typeface="宋体"/>
                <a:cs typeface="宋体"/>
              </a:rPr>
              <a:t>：</a:t>
            </a:r>
            <a:r>
              <a:rPr dirty="0" sz="1600" spc="-5">
                <a:latin typeface="宋体"/>
                <a:cs typeface="宋体"/>
              </a:rPr>
              <a:t>大型项</a:t>
            </a:r>
            <a:r>
              <a:rPr dirty="0" sz="1600" spc="5">
                <a:latin typeface="宋体"/>
                <a:cs typeface="宋体"/>
              </a:rPr>
              <a:t>目</a:t>
            </a:r>
            <a:r>
              <a:rPr dirty="0" sz="1600" spc="-5">
                <a:latin typeface="宋体"/>
                <a:cs typeface="宋体"/>
              </a:rPr>
              <a:t>进口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本品税</a:t>
            </a:r>
            <a:r>
              <a:rPr dirty="0" sz="1600" spc="5">
                <a:latin typeface="宋体"/>
                <a:cs typeface="宋体"/>
              </a:rPr>
              <a:t>收</a:t>
            </a:r>
            <a:r>
              <a:rPr dirty="0" sz="1600" spc="-5">
                <a:latin typeface="宋体"/>
                <a:cs typeface="宋体"/>
              </a:rPr>
              <a:t>优惠</a:t>
            </a:r>
            <a:r>
              <a:rPr dirty="0" sz="1600" spc="5">
                <a:latin typeface="宋体"/>
                <a:cs typeface="宋体"/>
              </a:rPr>
              <a:t>、</a:t>
            </a:r>
            <a:r>
              <a:rPr dirty="0" sz="1600" spc="-5">
                <a:latin typeface="宋体"/>
                <a:cs typeface="宋体"/>
              </a:rPr>
              <a:t>火地岛</a:t>
            </a:r>
            <a:r>
              <a:rPr dirty="0" sz="1600" spc="5">
                <a:latin typeface="宋体"/>
                <a:cs typeface="宋体"/>
              </a:rPr>
              <a:t>地</a:t>
            </a:r>
            <a:r>
              <a:rPr dirty="0" sz="1600" spc="-5">
                <a:latin typeface="宋体"/>
                <a:cs typeface="宋体"/>
              </a:rPr>
              <a:t>区工</a:t>
            </a:r>
            <a:r>
              <a:rPr dirty="0" sz="1600" spc="5">
                <a:latin typeface="宋体"/>
                <a:cs typeface="宋体"/>
              </a:rPr>
              <a:t>厂</a:t>
            </a:r>
            <a:r>
              <a:rPr dirty="0" sz="1600" spc="-5">
                <a:latin typeface="宋体"/>
                <a:cs typeface="宋体"/>
              </a:rPr>
              <a:t>进出口</a:t>
            </a:r>
            <a:r>
              <a:rPr dirty="0" sz="1600" spc="5">
                <a:latin typeface="宋体"/>
                <a:cs typeface="宋体"/>
              </a:rPr>
              <a:t>税</a:t>
            </a:r>
            <a:r>
              <a:rPr dirty="0" sz="1600" spc="-5">
                <a:latin typeface="宋体"/>
                <a:cs typeface="宋体"/>
              </a:rPr>
              <a:t>收优惠</a:t>
            </a:r>
            <a:endParaRPr sz="1600">
              <a:latin typeface="宋体"/>
              <a:cs typeface="宋体"/>
            </a:endParaRPr>
          </a:p>
          <a:p>
            <a:pPr marL="377825" marR="3175" indent="-286385">
              <a:lnSpc>
                <a:spcPct val="100000"/>
              </a:lnSpc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dirty="0" sz="1600" spc="5">
                <a:latin typeface="宋体"/>
                <a:cs typeface="宋体"/>
              </a:rPr>
              <a:t>产业方面优</a:t>
            </a:r>
            <a:r>
              <a:rPr dirty="0" sz="1600" spc="-5">
                <a:latin typeface="宋体"/>
                <a:cs typeface="宋体"/>
              </a:rPr>
              <a:t>惠政</a:t>
            </a:r>
            <a:r>
              <a:rPr dirty="0" sz="1600" spc="5">
                <a:latin typeface="宋体"/>
                <a:cs typeface="宋体"/>
              </a:rPr>
              <a:t>策</a:t>
            </a:r>
            <a:r>
              <a:rPr dirty="0" sz="1600" spc="-5">
                <a:latin typeface="宋体"/>
                <a:cs typeface="宋体"/>
              </a:rPr>
              <a:t>框架</a:t>
            </a:r>
            <a:r>
              <a:rPr dirty="0" sz="1600">
                <a:latin typeface="宋体"/>
                <a:cs typeface="宋体"/>
              </a:rPr>
              <a:t>：</a:t>
            </a:r>
            <a:r>
              <a:rPr dirty="0" sz="1600">
                <a:latin typeface="Arial"/>
                <a:cs typeface="Arial"/>
              </a:rPr>
              <a:t>IT</a:t>
            </a:r>
            <a:r>
              <a:rPr dirty="0" sz="1600" spc="5">
                <a:latin typeface="宋体"/>
                <a:cs typeface="宋体"/>
              </a:rPr>
              <a:t>及</a:t>
            </a:r>
            <a:r>
              <a:rPr dirty="0" sz="1600" spc="-5">
                <a:latin typeface="宋体"/>
                <a:cs typeface="宋体"/>
              </a:rPr>
              <a:t>电信</a:t>
            </a:r>
            <a:r>
              <a:rPr dirty="0" sz="1600" spc="5">
                <a:latin typeface="宋体"/>
                <a:cs typeface="宋体"/>
              </a:rPr>
              <a:t>产</a:t>
            </a:r>
            <a:r>
              <a:rPr dirty="0" sz="1600" spc="-5">
                <a:latin typeface="宋体"/>
                <a:cs typeface="宋体"/>
              </a:rPr>
              <a:t>业方</a:t>
            </a:r>
            <a:r>
              <a:rPr dirty="0" sz="1600" spc="5">
                <a:latin typeface="宋体"/>
                <a:cs typeface="宋体"/>
              </a:rPr>
              <a:t>面</a:t>
            </a:r>
            <a:r>
              <a:rPr dirty="0" sz="1600" spc="-5">
                <a:latin typeface="宋体"/>
                <a:cs typeface="宋体"/>
              </a:rPr>
              <a:t>的投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政策</a:t>
            </a:r>
            <a:r>
              <a:rPr dirty="0" sz="1600" spc="5">
                <a:latin typeface="宋体"/>
                <a:cs typeface="宋体"/>
              </a:rPr>
              <a:t>框</a:t>
            </a:r>
            <a:r>
              <a:rPr dirty="0" sz="1600" spc="-5">
                <a:latin typeface="宋体"/>
                <a:cs typeface="宋体"/>
              </a:rPr>
              <a:t>架</a:t>
            </a:r>
            <a:endParaRPr sz="1600">
              <a:latin typeface="宋体"/>
              <a:cs typeface="宋体"/>
            </a:endParaRPr>
          </a:p>
          <a:p>
            <a:pPr marL="377825" indent="-286385">
              <a:lnSpc>
                <a:spcPct val="100000"/>
              </a:lnSpc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dirty="0" sz="1600">
                <a:latin typeface="宋体"/>
                <a:cs typeface="宋体"/>
              </a:rPr>
              <a:t>贸</a:t>
            </a:r>
            <a:r>
              <a:rPr dirty="0" sz="1600" spc="-5">
                <a:latin typeface="宋体"/>
                <a:cs typeface="宋体"/>
              </a:rPr>
              <a:t>易</a:t>
            </a:r>
            <a:r>
              <a:rPr dirty="0" sz="1600" spc="-10">
                <a:latin typeface="宋体"/>
                <a:cs typeface="宋体"/>
              </a:rPr>
              <a:t>方</a:t>
            </a:r>
            <a:r>
              <a:rPr dirty="0" sz="1600">
                <a:latin typeface="宋体"/>
                <a:cs typeface="宋体"/>
              </a:rPr>
              <a:t>面</a:t>
            </a:r>
            <a:r>
              <a:rPr dirty="0" sz="1600" spc="-5">
                <a:latin typeface="宋体"/>
                <a:cs typeface="宋体"/>
              </a:rPr>
              <a:t>政</a:t>
            </a:r>
            <a:r>
              <a:rPr dirty="0" sz="1600" spc="-10">
                <a:latin typeface="宋体"/>
                <a:cs typeface="宋体"/>
              </a:rPr>
              <a:t>策</a:t>
            </a:r>
            <a:r>
              <a:rPr dirty="0" sz="1600" spc="-5">
                <a:latin typeface="宋体"/>
                <a:cs typeface="宋体"/>
              </a:rPr>
              <a:t>框</a:t>
            </a:r>
            <a:r>
              <a:rPr dirty="0" sz="1600">
                <a:latin typeface="宋体"/>
                <a:cs typeface="宋体"/>
              </a:rPr>
              <a:t>架</a:t>
            </a:r>
            <a:r>
              <a:rPr dirty="0" sz="1600" spc="-5">
                <a:latin typeface="宋体"/>
                <a:cs typeface="宋体"/>
              </a:rPr>
              <a:t>：</a:t>
            </a:r>
            <a:r>
              <a:rPr dirty="0" sz="1600" spc="-10">
                <a:latin typeface="宋体"/>
                <a:cs typeface="宋体"/>
              </a:rPr>
              <a:t>中</a:t>
            </a:r>
            <a:r>
              <a:rPr dirty="0" sz="1600">
                <a:latin typeface="宋体"/>
                <a:cs typeface="宋体"/>
              </a:rPr>
              <a:t>国</a:t>
            </a:r>
            <a:r>
              <a:rPr dirty="0" sz="1600" spc="-5">
                <a:latin typeface="宋体"/>
                <a:cs typeface="宋体"/>
              </a:rPr>
              <a:t>与</a:t>
            </a:r>
            <a:r>
              <a:rPr dirty="0" sz="1600" spc="-10">
                <a:latin typeface="宋体"/>
                <a:cs typeface="宋体"/>
              </a:rPr>
              <a:t>阿</a:t>
            </a:r>
            <a:r>
              <a:rPr dirty="0" sz="1600" spc="-5">
                <a:latin typeface="宋体"/>
                <a:cs typeface="宋体"/>
              </a:rPr>
              <a:t>根</a:t>
            </a:r>
            <a:r>
              <a:rPr dirty="0" sz="1600">
                <a:latin typeface="宋体"/>
                <a:cs typeface="宋体"/>
              </a:rPr>
              <a:t>廷</a:t>
            </a:r>
            <a:r>
              <a:rPr dirty="0" sz="1600" spc="-5">
                <a:latin typeface="宋体"/>
                <a:cs typeface="宋体"/>
              </a:rPr>
              <a:t>贸</a:t>
            </a:r>
            <a:r>
              <a:rPr dirty="0" sz="1600" spc="-10">
                <a:latin typeface="宋体"/>
                <a:cs typeface="宋体"/>
              </a:rPr>
              <a:t>易</a:t>
            </a:r>
            <a:r>
              <a:rPr dirty="0" sz="1600">
                <a:latin typeface="宋体"/>
                <a:cs typeface="宋体"/>
              </a:rPr>
              <a:t>促</a:t>
            </a:r>
            <a:r>
              <a:rPr dirty="0" sz="1600" spc="-5">
                <a:latin typeface="宋体"/>
                <a:cs typeface="宋体"/>
              </a:rPr>
              <a:t>进</a:t>
            </a:r>
            <a:r>
              <a:rPr dirty="0" sz="1600" spc="-10">
                <a:latin typeface="宋体"/>
                <a:cs typeface="宋体"/>
              </a:rPr>
              <a:t>与</a:t>
            </a:r>
            <a:r>
              <a:rPr dirty="0" sz="1600" spc="-5">
                <a:latin typeface="宋体"/>
                <a:cs typeface="宋体"/>
              </a:rPr>
              <a:t>保</a:t>
            </a:r>
            <a:r>
              <a:rPr dirty="0" sz="1600">
                <a:latin typeface="宋体"/>
                <a:cs typeface="宋体"/>
              </a:rPr>
              <a:t>护</a:t>
            </a:r>
            <a:r>
              <a:rPr dirty="0" sz="1600" spc="-5">
                <a:latin typeface="宋体"/>
                <a:cs typeface="宋体"/>
              </a:rPr>
              <a:t>协</a:t>
            </a:r>
            <a:r>
              <a:rPr dirty="0" sz="1600" spc="-10">
                <a:latin typeface="宋体"/>
                <a:cs typeface="宋体"/>
              </a:rPr>
              <a:t>议</a:t>
            </a:r>
            <a:r>
              <a:rPr dirty="0" sz="1600" spc="20">
                <a:latin typeface="宋体"/>
                <a:cs typeface="宋体"/>
              </a:rPr>
              <a:t>、</a:t>
            </a:r>
            <a:r>
              <a:rPr dirty="0" sz="1600" spc="-10">
                <a:latin typeface="宋体"/>
                <a:cs typeface="宋体"/>
              </a:rPr>
              <a:t>阿根</a:t>
            </a:r>
            <a:r>
              <a:rPr dirty="0" sz="1600">
                <a:latin typeface="宋体"/>
                <a:cs typeface="宋体"/>
              </a:rPr>
              <a:t>廷</a:t>
            </a:r>
            <a:r>
              <a:rPr dirty="0" sz="1600" spc="-10">
                <a:latin typeface="Arial"/>
                <a:cs typeface="Arial"/>
              </a:rPr>
              <a:t>“</a:t>
            </a:r>
            <a:r>
              <a:rPr dirty="0" sz="1600">
                <a:latin typeface="宋体"/>
                <a:cs typeface="宋体"/>
              </a:rPr>
              <a:t>贸</a:t>
            </a:r>
            <a:r>
              <a:rPr dirty="0" sz="1600" spc="-5">
                <a:latin typeface="宋体"/>
                <a:cs typeface="宋体"/>
              </a:rPr>
              <a:t>易</a:t>
            </a:r>
            <a:r>
              <a:rPr dirty="0" sz="1600" spc="-10">
                <a:latin typeface="宋体"/>
                <a:cs typeface="宋体"/>
              </a:rPr>
              <a:t>便</a:t>
            </a:r>
            <a:r>
              <a:rPr dirty="0" sz="1600">
                <a:latin typeface="宋体"/>
                <a:cs typeface="宋体"/>
              </a:rPr>
              <a:t>利</a:t>
            </a:r>
            <a:r>
              <a:rPr dirty="0" sz="1600" spc="-5">
                <a:latin typeface="宋体"/>
                <a:cs typeface="宋体"/>
              </a:rPr>
              <a:t>化</a:t>
            </a:r>
            <a:r>
              <a:rPr dirty="0" sz="1600" spc="-10">
                <a:latin typeface="宋体"/>
                <a:cs typeface="宋体"/>
              </a:rPr>
              <a:t>协</a:t>
            </a:r>
            <a:r>
              <a:rPr dirty="0" sz="1600" spc="10">
                <a:latin typeface="宋体"/>
                <a:cs typeface="宋体"/>
              </a:rPr>
              <a:t>定</a:t>
            </a:r>
            <a:r>
              <a:rPr dirty="0" sz="1600" spc="-20">
                <a:latin typeface="Arial"/>
                <a:cs typeface="Arial"/>
              </a:rPr>
              <a:t>”</a:t>
            </a:r>
            <a:r>
              <a:rPr dirty="0" sz="1600" spc="-20">
                <a:latin typeface="宋体"/>
                <a:cs typeface="宋体"/>
              </a:rPr>
              <a:t>（</a:t>
            </a:r>
            <a:r>
              <a:rPr dirty="0" sz="1600" spc="-20">
                <a:latin typeface="Arial"/>
                <a:cs typeface="Arial"/>
              </a:rPr>
              <a:t>TFA</a:t>
            </a:r>
            <a:r>
              <a:rPr dirty="0" sz="1600" spc="-20">
                <a:latin typeface="宋体"/>
                <a:cs typeface="宋体"/>
              </a:rPr>
              <a:t>）</a:t>
            </a:r>
            <a:endParaRPr sz="1600">
              <a:latin typeface="宋体"/>
              <a:cs typeface="宋体"/>
            </a:endParaRPr>
          </a:p>
          <a:p>
            <a:pPr marL="377825" marR="3175">
              <a:lnSpc>
                <a:spcPct val="100000"/>
              </a:lnSpc>
            </a:pPr>
            <a:r>
              <a:rPr dirty="0" sz="1600" spc="5">
                <a:latin typeface="宋体"/>
                <a:cs typeface="宋体"/>
              </a:rPr>
              <a:t>审批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19416" y="1423416"/>
            <a:ext cx="1251203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4904" y="1423416"/>
            <a:ext cx="6989445" cy="7378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algn="just" marL="90805" marR="90170">
              <a:lnSpc>
                <a:spcPct val="100000"/>
              </a:lnSpc>
              <a:spcBef>
                <a:spcPts val="340"/>
              </a:spcBef>
            </a:pPr>
            <a:r>
              <a:rPr dirty="0" sz="1400" spc="-5">
                <a:latin typeface="Arial"/>
                <a:cs typeface="Arial"/>
              </a:rPr>
              <a:t>2015</a:t>
            </a:r>
            <a:r>
              <a:rPr dirty="0" sz="1400" spc="10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马</a:t>
            </a:r>
            <a:r>
              <a:rPr dirty="0" sz="1400">
                <a:latin typeface="宋体"/>
                <a:cs typeface="宋体"/>
              </a:rPr>
              <a:t>克里</a:t>
            </a:r>
            <a:r>
              <a:rPr dirty="0" sz="1400" spc="-15">
                <a:latin typeface="宋体"/>
                <a:cs typeface="宋体"/>
              </a:rPr>
              <a:t>上</a:t>
            </a:r>
            <a:r>
              <a:rPr dirty="0" sz="1400">
                <a:latin typeface="宋体"/>
                <a:cs typeface="宋体"/>
              </a:rPr>
              <a:t>任阿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廷总</a:t>
            </a:r>
            <a:r>
              <a:rPr dirty="0" sz="1400" spc="-15">
                <a:latin typeface="宋体"/>
                <a:cs typeface="宋体"/>
              </a:rPr>
              <a:t>统</a:t>
            </a:r>
            <a:r>
              <a:rPr dirty="0" sz="1400">
                <a:latin typeface="宋体"/>
                <a:cs typeface="宋体"/>
              </a:rPr>
              <a:t>。马</a:t>
            </a:r>
            <a:r>
              <a:rPr dirty="0" sz="1400" spc="-15">
                <a:latin typeface="宋体"/>
                <a:cs typeface="宋体"/>
              </a:rPr>
              <a:t>克</a:t>
            </a:r>
            <a:r>
              <a:rPr dirty="0" sz="1400">
                <a:latin typeface="宋体"/>
                <a:cs typeface="宋体"/>
              </a:rPr>
              <a:t>里所</a:t>
            </a:r>
            <a:r>
              <a:rPr dirty="0" sz="1400" spc="-15">
                <a:latin typeface="宋体"/>
                <a:cs typeface="宋体"/>
              </a:rPr>
              <a:t>属</a:t>
            </a:r>
            <a:r>
              <a:rPr dirty="0" sz="1400">
                <a:latin typeface="宋体"/>
                <a:cs typeface="宋体"/>
              </a:rPr>
              <a:t>“变</a:t>
            </a:r>
            <a:r>
              <a:rPr dirty="0" sz="1400" spc="-15">
                <a:latin typeface="宋体"/>
                <a:cs typeface="宋体"/>
              </a:rPr>
              <a:t>革</a:t>
            </a:r>
            <a:r>
              <a:rPr dirty="0" sz="1400">
                <a:latin typeface="宋体"/>
                <a:cs typeface="宋体"/>
              </a:rPr>
              <a:t>”竞</a:t>
            </a:r>
            <a:r>
              <a:rPr dirty="0" sz="1400" spc="-15">
                <a:latin typeface="宋体"/>
                <a:cs typeface="宋体"/>
              </a:rPr>
              <a:t>选</a:t>
            </a:r>
            <a:r>
              <a:rPr dirty="0" sz="1400">
                <a:latin typeface="宋体"/>
                <a:cs typeface="宋体"/>
              </a:rPr>
              <a:t>联盟</a:t>
            </a:r>
            <a:r>
              <a:rPr dirty="0" sz="1400" spc="-15">
                <a:latin typeface="宋体"/>
                <a:cs typeface="宋体"/>
              </a:rPr>
              <a:t>属</a:t>
            </a:r>
            <a:r>
              <a:rPr dirty="0" sz="1400">
                <a:latin typeface="宋体"/>
                <a:cs typeface="宋体"/>
              </a:rPr>
              <a:t>中的</a:t>
            </a:r>
            <a:r>
              <a:rPr dirty="0" sz="1400" spc="-15">
                <a:latin typeface="宋体"/>
                <a:cs typeface="宋体"/>
              </a:rPr>
              <a:t>右</a:t>
            </a:r>
            <a:r>
              <a:rPr dirty="0" sz="1400">
                <a:latin typeface="宋体"/>
                <a:cs typeface="宋体"/>
              </a:rPr>
              <a:t>翼政</a:t>
            </a:r>
            <a:r>
              <a:rPr dirty="0" sz="1400" spc="-15">
                <a:latin typeface="宋体"/>
                <a:cs typeface="宋体"/>
              </a:rPr>
              <a:t>党</a:t>
            </a:r>
            <a:r>
              <a:rPr dirty="0" sz="1400">
                <a:latin typeface="宋体"/>
                <a:cs typeface="宋体"/>
              </a:rPr>
              <a:t>，其政 治主张</a:t>
            </a:r>
            <a:r>
              <a:rPr dirty="0" sz="1400" spc="-10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于，</a:t>
            </a:r>
            <a:r>
              <a:rPr dirty="0" sz="1400" spc="-10">
                <a:latin typeface="宋体"/>
                <a:cs typeface="宋体"/>
              </a:rPr>
              <a:t>弱化</a:t>
            </a:r>
            <a:r>
              <a:rPr dirty="0" sz="1400">
                <a:latin typeface="宋体"/>
                <a:cs typeface="宋体"/>
              </a:rPr>
              <a:t>政府对</a:t>
            </a:r>
            <a:r>
              <a:rPr dirty="0" sz="1400" spc="-10">
                <a:latin typeface="宋体"/>
                <a:cs typeface="宋体"/>
              </a:rPr>
              <a:t>经</a:t>
            </a:r>
            <a:r>
              <a:rPr dirty="0" sz="1400">
                <a:latin typeface="宋体"/>
                <a:cs typeface="宋体"/>
              </a:rPr>
              <a:t>济的</a:t>
            </a:r>
            <a:r>
              <a:rPr dirty="0" sz="1400" spc="-10">
                <a:latin typeface="宋体"/>
                <a:cs typeface="宋体"/>
              </a:rPr>
              <a:t>干预</a:t>
            </a:r>
            <a:r>
              <a:rPr dirty="0" sz="1400">
                <a:latin typeface="宋体"/>
                <a:cs typeface="宋体"/>
              </a:rPr>
              <a:t>，取消</a:t>
            </a:r>
            <a:r>
              <a:rPr dirty="0" sz="1400" spc="-10">
                <a:latin typeface="宋体"/>
                <a:cs typeface="宋体"/>
              </a:rPr>
              <a:t>现</a:t>
            </a:r>
            <a:r>
              <a:rPr dirty="0" sz="1400">
                <a:latin typeface="宋体"/>
                <a:cs typeface="宋体"/>
              </a:rPr>
              <a:t>行金</a:t>
            </a:r>
            <a:r>
              <a:rPr dirty="0" sz="1400" spc="-10">
                <a:latin typeface="宋体"/>
                <a:cs typeface="宋体"/>
              </a:rPr>
              <a:t>融管</a:t>
            </a:r>
            <a:r>
              <a:rPr dirty="0" sz="1400">
                <a:latin typeface="宋体"/>
                <a:cs typeface="宋体"/>
              </a:rPr>
              <a:t>制，改</a:t>
            </a:r>
            <a:r>
              <a:rPr dirty="0" sz="1400" spc="-10">
                <a:latin typeface="宋体"/>
                <a:cs typeface="宋体"/>
              </a:rPr>
              <a:t>善</a:t>
            </a:r>
            <a:r>
              <a:rPr dirty="0" sz="1400">
                <a:latin typeface="宋体"/>
                <a:cs typeface="宋体"/>
              </a:rPr>
              <a:t>与国</a:t>
            </a:r>
            <a:r>
              <a:rPr dirty="0" sz="1400" spc="-10">
                <a:latin typeface="宋体"/>
                <a:cs typeface="宋体"/>
              </a:rPr>
              <a:t>内外</a:t>
            </a:r>
            <a:r>
              <a:rPr dirty="0" sz="1400">
                <a:latin typeface="宋体"/>
                <a:cs typeface="宋体"/>
              </a:rPr>
              <a:t>投资者</a:t>
            </a:r>
            <a:r>
              <a:rPr dirty="0" sz="1400" spc="-10">
                <a:latin typeface="宋体"/>
                <a:cs typeface="宋体"/>
              </a:rPr>
              <a:t>关</a:t>
            </a:r>
            <a:r>
              <a:rPr dirty="0" sz="1400">
                <a:latin typeface="宋体"/>
                <a:cs typeface="宋体"/>
              </a:rPr>
              <a:t>系，  通过市</a:t>
            </a:r>
            <a:r>
              <a:rPr dirty="0" sz="1400" spc="-10">
                <a:latin typeface="宋体"/>
                <a:cs typeface="宋体"/>
              </a:rPr>
              <a:t>场</a:t>
            </a:r>
            <a:r>
              <a:rPr dirty="0" sz="1400">
                <a:latin typeface="宋体"/>
                <a:cs typeface="宋体"/>
              </a:rPr>
              <a:t>化改</a:t>
            </a:r>
            <a:r>
              <a:rPr dirty="0" sz="1400" spc="-10">
                <a:latin typeface="宋体"/>
                <a:cs typeface="宋体"/>
              </a:rPr>
              <a:t>革和</a:t>
            </a:r>
            <a:r>
              <a:rPr dirty="0" sz="1400">
                <a:latin typeface="宋体"/>
                <a:cs typeface="宋体"/>
              </a:rPr>
              <a:t>亲商政</a:t>
            </a:r>
            <a:r>
              <a:rPr dirty="0" sz="1400" spc="-10">
                <a:latin typeface="宋体"/>
                <a:cs typeface="宋体"/>
              </a:rPr>
              <a:t>策</a:t>
            </a:r>
            <a:r>
              <a:rPr dirty="0" sz="1400">
                <a:latin typeface="宋体"/>
                <a:cs typeface="宋体"/>
              </a:rPr>
              <a:t>吸引</a:t>
            </a:r>
            <a:r>
              <a:rPr dirty="0" sz="1400" spc="-10">
                <a:latin typeface="宋体"/>
                <a:cs typeface="宋体"/>
              </a:rPr>
              <a:t>投资</a:t>
            </a:r>
            <a:r>
              <a:rPr dirty="0" sz="1400">
                <a:latin typeface="宋体"/>
                <a:cs typeface="宋体"/>
              </a:rPr>
              <a:t>，恢复</a:t>
            </a:r>
            <a:r>
              <a:rPr dirty="0" sz="1400" spc="-10">
                <a:latin typeface="宋体"/>
                <a:cs typeface="宋体"/>
              </a:rPr>
              <a:t>经</a:t>
            </a:r>
            <a:r>
              <a:rPr dirty="0" sz="1400" spc="-35">
                <a:latin typeface="宋体"/>
                <a:cs typeface="宋体"/>
              </a:rPr>
              <a:t>济</a:t>
            </a:r>
            <a:r>
              <a:rPr dirty="0" sz="1400">
                <a:latin typeface="宋体"/>
                <a:cs typeface="宋体"/>
              </a:rPr>
              <a:t>增长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904" y="954024"/>
            <a:ext cx="8395970" cy="33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4130" rIns="0" bIns="0" rtlCol="0" vert="horz">
            <a:spAutoFit/>
          </a:bodyPr>
          <a:lstStyle/>
          <a:p>
            <a:pPr marL="1551305">
              <a:lnSpc>
                <a:spcPct val="100000"/>
              </a:lnSpc>
              <a:spcBef>
                <a:spcPts val="190"/>
              </a:spcBef>
            </a:pPr>
            <a:r>
              <a:rPr dirty="0" sz="1800" spc="10" b="1">
                <a:latin typeface="明兰"/>
                <a:cs typeface="明兰"/>
              </a:rPr>
              <a:t>新政府任期内政治风险有效平缓，稳定发展窗口可期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904" y="5615940"/>
            <a:ext cx="4323715" cy="7391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algn="just" marL="90805" marR="128905">
              <a:lnSpc>
                <a:spcPct val="100099"/>
              </a:lnSpc>
              <a:spcBef>
                <a:spcPts val="345"/>
              </a:spcBef>
            </a:pPr>
            <a:r>
              <a:rPr dirty="0" sz="1400" spc="15">
                <a:latin typeface="宋体"/>
                <a:cs typeface="宋体"/>
              </a:rPr>
              <a:t>阿根</a:t>
            </a:r>
            <a:r>
              <a:rPr dirty="0" sz="1400" spc="5">
                <a:latin typeface="宋体"/>
                <a:cs typeface="宋体"/>
              </a:rPr>
              <a:t>廷新</a:t>
            </a:r>
            <a:r>
              <a:rPr dirty="0" sz="1400" spc="-10">
                <a:latin typeface="宋体"/>
                <a:cs typeface="宋体"/>
              </a:rPr>
              <a:t>政</a:t>
            </a:r>
            <a:r>
              <a:rPr dirty="0" sz="1400" spc="5">
                <a:latin typeface="宋体"/>
                <a:cs typeface="宋体"/>
              </a:rPr>
              <a:t>府于</a:t>
            </a:r>
            <a:r>
              <a:rPr dirty="0" sz="1400" spc="-380">
                <a:latin typeface="宋体"/>
                <a:cs typeface="宋体"/>
              </a:rPr>
              <a:t> </a:t>
            </a:r>
            <a:r>
              <a:rPr dirty="0" sz="1400" spc="-5">
                <a:latin typeface="Arial"/>
                <a:cs typeface="Arial"/>
              </a:rPr>
              <a:t>2016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5">
                <a:latin typeface="宋体"/>
                <a:cs typeface="宋体"/>
              </a:rPr>
              <a:t>年</a:t>
            </a:r>
            <a:r>
              <a:rPr dirty="0" sz="1400" spc="-330">
                <a:latin typeface="宋体"/>
                <a:cs typeface="宋体"/>
              </a:rPr>
              <a:t> </a:t>
            </a:r>
            <a:r>
              <a:rPr dirty="0" sz="1400">
                <a:latin typeface="Arial"/>
                <a:cs typeface="Arial"/>
              </a:rPr>
              <a:t>3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月顺</a:t>
            </a:r>
            <a:r>
              <a:rPr dirty="0" sz="1400" spc="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解</a:t>
            </a:r>
            <a:r>
              <a:rPr dirty="0" sz="1400" spc="5">
                <a:latin typeface="宋体"/>
                <a:cs typeface="宋体"/>
              </a:rPr>
              <a:t>决</a:t>
            </a:r>
            <a:r>
              <a:rPr dirty="0" sz="1400" spc="-15">
                <a:latin typeface="宋体"/>
                <a:cs typeface="宋体"/>
              </a:rPr>
              <a:t>主</a:t>
            </a:r>
            <a:r>
              <a:rPr dirty="0" sz="1400" spc="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债</a:t>
            </a:r>
            <a:r>
              <a:rPr dirty="0" sz="1400" spc="-10">
                <a:latin typeface="宋体"/>
                <a:cs typeface="宋体"/>
              </a:rPr>
              <a:t>务</a:t>
            </a:r>
            <a:r>
              <a:rPr dirty="0" sz="1400" spc="5">
                <a:latin typeface="宋体"/>
                <a:cs typeface="宋体"/>
              </a:rPr>
              <a:t>违约 </a:t>
            </a:r>
            <a:r>
              <a:rPr dirty="0" sz="1400">
                <a:latin typeface="宋体"/>
                <a:cs typeface="宋体"/>
              </a:rPr>
              <a:t>问题，</a:t>
            </a:r>
            <a:r>
              <a:rPr dirty="0" sz="1400" spc="-10">
                <a:latin typeface="宋体"/>
                <a:cs typeface="宋体"/>
              </a:rPr>
              <a:t>并</a:t>
            </a:r>
            <a:r>
              <a:rPr dirty="0" sz="1400">
                <a:latin typeface="宋体"/>
                <a:cs typeface="宋体"/>
              </a:rPr>
              <a:t>随后</a:t>
            </a:r>
            <a:r>
              <a:rPr dirty="0" sz="1400" spc="-10">
                <a:latin typeface="宋体"/>
                <a:cs typeface="宋体"/>
              </a:rPr>
              <a:t>于国</a:t>
            </a:r>
            <a:r>
              <a:rPr dirty="0" sz="1400">
                <a:latin typeface="宋体"/>
                <a:cs typeface="宋体"/>
              </a:rPr>
              <a:t>际市场</a:t>
            </a:r>
            <a:r>
              <a:rPr dirty="0" sz="1400" spc="-10">
                <a:latin typeface="宋体"/>
                <a:cs typeface="宋体"/>
              </a:rPr>
              <a:t>上</a:t>
            </a:r>
            <a:r>
              <a:rPr dirty="0" sz="1400">
                <a:latin typeface="宋体"/>
                <a:cs typeface="宋体"/>
              </a:rPr>
              <a:t>成功</a:t>
            </a:r>
            <a:r>
              <a:rPr dirty="0" sz="1400" spc="-10">
                <a:latin typeface="宋体"/>
                <a:cs typeface="宋体"/>
              </a:rPr>
              <a:t>发行</a:t>
            </a:r>
            <a:r>
              <a:rPr dirty="0" sz="1400">
                <a:latin typeface="宋体"/>
                <a:cs typeface="宋体"/>
              </a:rPr>
              <a:t>美债券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打开了 境外融</a:t>
            </a:r>
            <a:r>
              <a:rPr dirty="0" sz="1400" spc="-10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渠道</a:t>
            </a:r>
            <a:r>
              <a:rPr dirty="0" sz="1400" spc="-10">
                <a:latin typeface="宋体"/>
                <a:cs typeface="宋体"/>
              </a:rPr>
              <a:t>，政</a:t>
            </a:r>
            <a:r>
              <a:rPr dirty="0" sz="1400">
                <a:latin typeface="宋体"/>
                <a:cs typeface="宋体"/>
              </a:rPr>
              <a:t>府主权</a:t>
            </a:r>
            <a:r>
              <a:rPr dirty="0" sz="1400" spc="-10">
                <a:latin typeface="宋体"/>
                <a:cs typeface="宋体"/>
              </a:rPr>
              <a:t>风</a:t>
            </a:r>
            <a:r>
              <a:rPr dirty="0" sz="1400">
                <a:latin typeface="宋体"/>
                <a:cs typeface="宋体"/>
              </a:rPr>
              <a:t>险大</a:t>
            </a:r>
            <a:r>
              <a:rPr dirty="0" sz="1400" spc="-10">
                <a:latin typeface="宋体"/>
                <a:cs typeface="宋体"/>
              </a:rPr>
              <a:t>幅下</a:t>
            </a:r>
            <a:r>
              <a:rPr dirty="0" sz="1400">
                <a:latin typeface="宋体"/>
                <a:cs typeface="宋体"/>
              </a:rPr>
              <a:t>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904" y="2484120"/>
            <a:ext cx="4323715" cy="2794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明兰"/>
                <a:cs typeface="明兰"/>
              </a:rPr>
              <a:t>阿根廷国家风险指数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5547" y="3105911"/>
            <a:ext cx="0" cy="1641475"/>
          </a:xfrm>
          <a:custGeom>
            <a:avLst/>
            <a:gdLst/>
            <a:ahLst/>
            <a:cxnLst/>
            <a:rect l="l" t="t" r="r" b="b"/>
            <a:pathLst>
              <a:path w="0" h="1641475">
                <a:moveTo>
                  <a:pt x="0" y="1641348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5547" y="4747259"/>
            <a:ext cx="3511550" cy="0"/>
          </a:xfrm>
          <a:custGeom>
            <a:avLst/>
            <a:gdLst/>
            <a:ahLst/>
            <a:cxnLst/>
            <a:rect l="l" t="t" r="r" b="b"/>
            <a:pathLst>
              <a:path w="3511550" h="0">
                <a:moveTo>
                  <a:pt x="0" y="0"/>
                </a:moveTo>
                <a:lnTo>
                  <a:pt x="3511296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4742" y="3253359"/>
            <a:ext cx="3492957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2912" y="2953156"/>
            <a:ext cx="167005" cy="187325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000" spc="-10">
                <a:latin typeface="Arial"/>
                <a:cs typeface="Arial"/>
              </a:rPr>
              <a:t>80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000" spc="-10">
                <a:latin typeface="Arial"/>
                <a:cs typeface="Arial"/>
              </a:rPr>
              <a:t>70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60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000" spc="-10"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000" spc="-10">
                <a:latin typeface="Arial"/>
                <a:cs typeface="Arial"/>
              </a:rPr>
              <a:t>40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30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000" spc="-10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  <a:p>
            <a:pPr algn="ctr" marL="70485">
              <a:lnSpc>
                <a:spcPct val="100000"/>
              </a:lnSpc>
              <a:spcBef>
                <a:spcPts val="415"/>
              </a:spcBef>
            </a:pP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4136" y="4845939"/>
            <a:ext cx="3889654" cy="4940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72811" y="2484120"/>
            <a:ext cx="3797935" cy="2794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200" spc="-5" b="1">
                <a:latin typeface="明兰"/>
                <a:cs typeface="明兰"/>
              </a:rPr>
              <a:t>马克里任期阿根廷重要政策</a:t>
            </a:r>
            <a:endParaRPr sz="1200">
              <a:latin typeface="明兰"/>
              <a:cs typeface="明兰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972939" y="2895092"/>
          <a:ext cx="3797300" cy="2750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635"/>
                <a:gridCol w="2526665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b="1">
                          <a:latin typeface="明兰"/>
                          <a:cs typeface="明兰"/>
                        </a:rPr>
                        <a:t>政策方面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43815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b="1">
                          <a:latin typeface="明兰"/>
                          <a:cs typeface="明兰"/>
                        </a:rPr>
                        <a:t>具体内容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43815"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64414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外汇政策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T w="12700">
                      <a:solidFill>
                        <a:srgbClr val="A4A4A4"/>
                      </a:solidFill>
                      <a:prstDash val="solid"/>
                    </a:lnT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8290" marR="95250">
                        <a:lnSpc>
                          <a:spcPts val="1620"/>
                        </a:lnSpc>
                        <a:spcBef>
                          <a:spcPts val="509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结束外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汇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管制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，美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元可自由 进出（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仍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带一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定限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制条件）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64769">
                    <a:lnT w="12700">
                      <a:solidFill>
                        <a:srgbClr val="A4A4A4"/>
                      </a:solidFill>
                      <a:prstDash val="solid"/>
                    </a:lnT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  <a:tr h="3048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对外政策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重新融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入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国际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金融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市场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/>
                </a:tc>
              </a:tr>
              <a:tr h="3562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财政政策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削减政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府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赤字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  <a:tr h="51817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进出口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政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 marL="288290" marR="95250">
                        <a:lnSpc>
                          <a:spcPts val="1620"/>
                        </a:lnSpc>
                        <a:spcBef>
                          <a:spcPts val="509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取消出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口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配额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和进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口预申报 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许可证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64769"/>
                </a:tc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外汇政策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43815"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1650"/>
                        </a:lnSpc>
                        <a:spcBef>
                          <a:spcPts val="405"/>
                        </a:spcBef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实现由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市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场供</a:t>
                      </a:r>
                      <a:r>
                        <a:rPr dirty="0" sz="1400" spc="-15">
                          <a:latin typeface="宋体"/>
                          <a:cs typeface="宋体"/>
                        </a:rPr>
                        <a:t>求决</a:t>
                      </a:r>
                      <a:r>
                        <a:rPr dirty="0" sz="1400">
                          <a:latin typeface="宋体"/>
                          <a:cs typeface="宋体"/>
                        </a:rPr>
                        <a:t>定的浮动</a:t>
                      </a:r>
                      <a:endParaRPr sz="1400">
                        <a:latin typeface="宋体"/>
                        <a:cs typeface="宋体"/>
                      </a:endParaRPr>
                    </a:p>
                    <a:p>
                      <a:pPr marL="288290">
                        <a:lnSpc>
                          <a:spcPts val="1650"/>
                        </a:lnSpc>
                      </a:pPr>
                      <a:r>
                        <a:rPr dirty="0" sz="1400">
                          <a:latin typeface="宋体"/>
                          <a:cs typeface="宋体"/>
                        </a:rPr>
                        <a:t>汇率制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972811" y="5830823"/>
            <a:ext cx="3797935" cy="52451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52704" rIns="0" bIns="0" rtlCol="0" vert="horz">
            <a:spAutoFit/>
          </a:bodyPr>
          <a:lstStyle/>
          <a:p>
            <a:pPr marL="92075">
              <a:lnSpc>
                <a:spcPts val="1650"/>
              </a:lnSpc>
              <a:spcBef>
                <a:spcPts val="414"/>
              </a:spcBef>
            </a:pPr>
            <a:r>
              <a:rPr dirty="0" sz="1400" spc="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</a:t>
            </a:r>
            <a:r>
              <a:rPr dirty="0" sz="1400" spc="5">
                <a:latin typeface="宋体"/>
                <a:cs typeface="宋体"/>
              </a:rPr>
              <a:t>廷</a:t>
            </a:r>
            <a:r>
              <a:rPr dirty="0" sz="1400" spc="-15">
                <a:latin typeface="宋体"/>
                <a:cs typeface="宋体"/>
              </a:rPr>
              <a:t>新</a:t>
            </a:r>
            <a:r>
              <a:rPr dirty="0" sz="1400" spc="5">
                <a:latin typeface="宋体"/>
                <a:cs typeface="宋体"/>
              </a:rPr>
              <a:t>政</a:t>
            </a:r>
            <a:r>
              <a:rPr dirty="0" sz="1400">
                <a:latin typeface="宋体"/>
                <a:cs typeface="宋体"/>
              </a:rPr>
              <a:t>府</a:t>
            </a:r>
            <a:r>
              <a:rPr dirty="0" sz="1400" spc="-10">
                <a:latin typeface="宋体"/>
                <a:cs typeface="宋体"/>
              </a:rPr>
              <a:t>坚持</a:t>
            </a:r>
            <a:r>
              <a:rPr dirty="0" sz="1400" spc="5">
                <a:latin typeface="宋体"/>
                <a:cs typeface="宋体"/>
              </a:rPr>
              <a:t>开</a:t>
            </a:r>
            <a:r>
              <a:rPr dirty="0" sz="1400">
                <a:latin typeface="宋体"/>
                <a:cs typeface="宋体"/>
              </a:rPr>
              <a:t>放</a:t>
            </a:r>
            <a:r>
              <a:rPr dirty="0" sz="1400" spc="5">
                <a:latin typeface="宋体"/>
                <a:cs typeface="宋体"/>
              </a:rPr>
              <a:t>型</a:t>
            </a:r>
            <a:r>
              <a:rPr dirty="0" sz="1400" spc="-15">
                <a:latin typeface="宋体"/>
                <a:cs typeface="宋体"/>
              </a:rPr>
              <a:t>政</a:t>
            </a:r>
            <a:r>
              <a:rPr dirty="0" sz="1400" spc="5">
                <a:latin typeface="宋体"/>
                <a:cs typeface="宋体"/>
              </a:rPr>
              <a:t>策</a:t>
            </a:r>
            <a:r>
              <a:rPr dirty="0" sz="1400">
                <a:latin typeface="宋体"/>
                <a:cs typeface="宋体"/>
              </a:rPr>
              <a:t>导</a:t>
            </a:r>
            <a:r>
              <a:rPr dirty="0" sz="1400" spc="-10">
                <a:latin typeface="宋体"/>
                <a:cs typeface="宋体"/>
              </a:rPr>
              <a:t>向，</a:t>
            </a:r>
            <a:r>
              <a:rPr dirty="0" sz="1400" spc="5">
                <a:latin typeface="宋体"/>
                <a:cs typeface="宋体"/>
              </a:rPr>
              <a:t>各</a:t>
            </a:r>
            <a:r>
              <a:rPr dirty="0" sz="1400">
                <a:latin typeface="宋体"/>
                <a:cs typeface="宋体"/>
              </a:rPr>
              <a:t>方</a:t>
            </a:r>
            <a:r>
              <a:rPr dirty="0" sz="1400" spc="5">
                <a:latin typeface="宋体"/>
                <a:cs typeface="宋体"/>
              </a:rPr>
              <a:t>面政</a:t>
            </a:r>
            <a:endParaRPr sz="1400">
              <a:latin typeface="宋体"/>
              <a:cs typeface="宋体"/>
            </a:endParaRPr>
          </a:p>
          <a:p>
            <a:pPr marL="92075">
              <a:lnSpc>
                <a:spcPts val="1650"/>
              </a:lnSpc>
            </a:pPr>
            <a:r>
              <a:rPr dirty="0" sz="1400">
                <a:latin typeface="宋体"/>
                <a:cs typeface="宋体"/>
              </a:rPr>
              <a:t>策均推</a:t>
            </a:r>
            <a:r>
              <a:rPr dirty="0" sz="1400" spc="-15">
                <a:latin typeface="宋体"/>
                <a:cs typeface="宋体"/>
              </a:rPr>
              <a:t>动</a:t>
            </a:r>
            <a:r>
              <a:rPr dirty="0" sz="1400">
                <a:latin typeface="宋体"/>
                <a:cs typeface="宋体"/>
              </a:rPr>
              <a:t>稳定</a:t>
            </a:r>
            <a:r>
              <a:rPr dirty="0" sz="1400" spc="-15">
                <a:latin typeface="宋体"/>
                <a:cs typeface="宋体"/>
              </a:rPr>
              <a:t>发展</a:t>
            </a:r>
            <a:r>
              <a:rPr dirty="0" sz="1400">
                <a:latin typeface="宋体"/>
                <a:cs typeface="宋体"/>
              </a:rPr>
              <a:t>窗口期</a:t>
            </a:r>
            <a:r>
              <a:rPr dirty="0" sz="1400" spc="-15">
                <a:latin typeface="宋体"/>
                <a:cs typeface="宋体"/>
              </a:rPr>
              <a:t>到</a:t>
            </a:r>
            <a:r>
              <a:rPr dirty="0" sz="1400">
                <a:latin typeface="宋体"/>
                <a:cs typeface="宋体"/>
              </a:rPr>
              <a:t>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9798" y="5402326"/>
            <a:ext cx="1613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r>
              <a:rPr dirty="0" sz="1000" spc="-5">
                <a:latin typeface="宋体"/>
                <a:cs typeface="宋体"/>
              </a:rPr>
              <a:t>，</a:t>
            </a:r>
            <a:r>
              <a:rPr dirty="0" sz="1000" spc="-5">
                <a:latin typeface="Arial"/>
                <a:cs typeface="Arial"/>
              </a:rPr>
              <a:t>EUI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8130" y="301497"/>
            <a:ext cx="692721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660000"/>
                </a:solidFill>
                <a:latin typeface="明兰"/>
                <a:cs typeface="明兰"/>
              </a:rPr>
              <a:t>全资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自建工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优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势分析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：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杠杆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因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素作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用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背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景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政治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风险</a:t>
            </a:r>
            <a:endParaRPr sz="20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904" y="2008632"/>
            <a:ext cx="409956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dirty="0" sz="1200" b="1">
                <a:latin typeface="明兰"/>
                <a:cs typeface="明兰"/>
              </a:rPr>
              <a:t>阿根廷国家经济风险指数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7051" y="2602992"/>
            <a:ext cx="0" cy="1484630"/>
          </a:xfrm>
          <a:custGeom>
            <a:avLst/>
            <a:gdLst/>
            <a:ahLst/>
            <a:cxnLst/>
            <a:rect l="l" t="t" r="r" b="b"/>
            <a:pathLst>
              <a:path w="0" h="1484629">
                <a:moveTo>
                  <a:pt x="0" y="1484376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7051" y="4087367"/>
            <a:ext cx="3435350" cy="0"/>
          </a:xfrm>
          <a:custGeom>
            <a:avLst/>
            <a:gdLst/>
            <a:ahLst/>
            <a:cxnLst/>
            <a:rect l="l" t="t" r="r" b="b"/>
            <a:pathLst>
              <a:path w="3435350" h="0">
                <a:moveTo>
                  <a:pt x="0" y="0"/>
                </a:moveTo>
                <a:lnTo>
                  <a:pt x="3435096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3879" y="2660904"/>
            <a:ext cx="3421316" cy="1292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3501" y="2490368"/>
            <a:ext cx="167005" cy="16764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000" spc="-10">
                <a:latin typeface="Arial"/>
                <a:cs typeface="Arial"/>
              </a:rPr>
              <a:t>90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80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70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60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40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30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  <a:p>
            <a:pPr algn="ctr" marL="70485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0753" y="4188333"/>
            <a:ext cx="3703548" cy="491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4904" y="1312163"/>
            <a:ext cx="8395970" cy="5232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90805" marR="253365">
              <a:lnSpc>
                <a:spcPct val="100000"/>
              </a:lnSpc>
              <a:spcBef>
                <a:spcPts val="340"/>
              </a:spcBef>
            </a:pPr>
            <a:r>
              <a:rPr dirty="0" sz="1400" spc="-5">
                <a:latin typeface="Arial"/>
                <a:cs typeface="Arial"/>
              </a:rPr>
              <a:t>2016</a:t>
            </a:r>
            <a:r>
              <a:rPr dirty="0" sz="1400" spc="10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马</a:t>
            </a:r>
            <a:r>
              <a:rPr dirty="0" sz="1400" spc="-15">
                <a:latin typeface="宋体"/>
                <a:cs typeface="宋体"/>
              </a:rPr>
              <a:t>克</a:t>
            </a:r>
            <a:r>
              <a:rPr dirty="0" sz="1400">
                <a:latin typeface="宋体"/>
                <a:cs typeface="宋体"/>
              </a:rPr>
              <a:t>里政</a:t>
            </a:r>
            <a:r>
              <a:rPr dirty="0" sz="1400" spc="-15">
                <a:latin typeface="宋体"/>
                <a:cs typeface="宋体"/>
              </a:rPr>
              <a:t>府</a:t>
            </a:r>
            <a:r>
              <a:rPr dirty="0" sz="1400">
                <a:latin typeface="宋体"/>
                <a:cs typeface="宋体"/>
              </a:rPr>
              <a:t>以来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外汇</a:t>
            </a:r>
            <a:r>
              <a:rPr dirty="0" sz="1400" spc="-15">
                <a:latin typeface="宋体"/>
                <a:cs typeface="宋体"/>
              </a:rPr>
              <a:t>储</a:t>
            </a:r>
            <a:r>
              <a:rPr dirty="0" sz="1400">
                <a:latin typeface="宋体"/>
                <a:cs typeface="宋体"/>
              </a:rPr>
              <a:t>备的</a:t>
            </a:r>
            <a:r>
              <a:rPr dirty="0" sz="1400" spc="-1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幅回</a:t>
            </a:r>
            <a:r>
              <a:rPr dirty="0" sz="1400" spc="-15">
                <a:latin typeface="宋体"/>
                <a:cs typeface="宋体"/>
              </a:rPr>
              <a:t>升</a:t>
            </a:r>
            <a:r>
              <a:rPr dirty="0" sz="1400">
                <a:latin typeface="宋体"/>
                <a:cs typeface="宋体"/>
              </a:rPr>
              <a:t>，通</a:t>
            </a:r>
            <a:r>
              <a:rPr dirty="0" sz="1400" spc="-15">
                <a:latin typeface="宋体"/>
                <a:cs typeface="宋体"/>
              </a:rPr>
              <a:t>胀</a:t>
            </a:r>
            <a:r>
              <a:rPr dirty="0" sz="1400">
                <a:latin typeface="宋体"/>
                <a:cs typeface="宋体"/>
              </a:rPr>
              <a:t>得到</a:t>
            </a:r>
            <a:r>
              <a:rPr dirty="0" sz="1400" spc="-15">
                <a:latin typeface="宋体"/>
                <a:cs typeface="宋体"/>
              </a:rPr>
              <a:t>有</a:t>
            </a:r>
            <a:r>
              <a:rPr dirty="0" sz="1400">
                <a:latin typeface="宋体"/>
                <a:cs typeface="宋体"/>
              </a:rPr>
              <a:t>效抑</a:t>
            </a:r>
            <a:r>
              <a:rPr dirty="0" sz="1400" spc="-15">
                <a:latin typeface="宋体"/>
                <a:cs typeface="宋体"/>
              </a:rPr>
              <a:t>制</a:t>
            </a:r>
            <a:r>
              <a:rPr dirty="0" sz="1400">
                <a:latin typeface="宋体"/>
                <a:cs typeface="宋体"/>
              </a:rPr>
              <a:t>，阿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廷金</a:t>
            </a:r>
            <a:r>
              <a:rPr dirty="0" sz="1400" spc="-15">
                <a:latin typeface="宋体"/>
                <a:cs typeface="宋体"/>
              </a:rPr>
              <a:t>融</a:t>
            </a:r>
            <a:r>
              <a:rPr dirty="0" sz="1400">
                <a:latin typeface="宋体"/>
                <a:cs typeface="宋体"/>
              </a:rPr>
              <a:t>市场</a:t>
            </a:r>
            <a:r>
              <a:rPr dirty="0" sz="1400" spc="-15">
                <a:latin typeface="宋体"/>
                <a:cs typeface="宋体"/>
              </a:rPr>
              <a:t>较</a:t>
            </a:r>
            <a:r>
              <a:rPr dirty="0" sz="1400">
                <a:latin typeface="宋体"/>
                <a:cs typeface="宋体"/>
              </a:rPr>
              <a:t>为稳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，市</a:t>
            </a:r>
            <a:r>
              <a:rPr dirty="0" sz="1400" spc="-15">
                <a:latin typeface="宋体"/>
                <a:cs typeface="宋体"/>
              </a:rPr>
              <a:t>场</a:t>
            </a:r>
            <a:r>
              <a:rPr dirty="0" sz="1400">
                <a:latin typeface="宋体"/>
                <a:cs typeface="宋体"/>
              </a:rPr>
              <a:t>波 动率大</a:t>
            </a:r>
            <a:r>
              <a:rPr dirty="0" sz="1400" spc="-10">
                <a:latin typeface="宋体"/>
                <a:cs typeface="宋体"/>
              </a:rPr>
              <a:t>幅</a:t>
            </a:r>
            <a:r>
              <a:rPr dirty="0" sz="1400">
                <a:latin typeface="宋体"/>
                <a:cs typeface="宋体"/>
              </a:rPr>
              <a:t>下降</a:t>
            </a:r>
            <a:r>
              <a:rPr dirty="0" sz="1400" spc="-10">
                <a:latin typeface="宋体"/>
                <a:cs typeface="宋体"/>
              </a:rPr>
              <a:t>。同</a:t>
            </a:r>
            <a:r>
              <a:rPr dirty="0" sz="1400">
                <a:latin typeface="宋体"/>
                <a:cs typeface="宋体"/>
              </a:rPr>
              <a:t>时，从</a:t>
            </a:r>
            <a:r>
              <a:rPr dirty="0" sz="1400" spc="-10">
                <a:latin typeface="宋体"/>
                <a:cs typeface="宋体"/>
              </a:rPr>
              <a:t>贸</a:t>
            </a:r>
            <a:r>
              <a:rPr dirty="0" sz="1400">
                <a:latin typeface="宋体"/>
                <a:cs typeface="宋体"/>
              </a:rPr>
              <a:t>易、</a:t>
            </a:r>
            <a:r>
              <a:rPr dirty="0" sz="1400" spc="-10">
                <a:latin typeface="宋体"/>
                <a:cs typeface="宋体"/>
              </a:rPr>
              <a:t>投资</a:t>
            </a:r>
            <a:r>
              <a:rPr dirty="0" sz="1400">
                <a:latin typeface="宋体"/>
                <a:cs typeface="宋体"/>
              </a:rPr>
              <a:t>、金融</a:t>
            </a:r>
            <a:r>
              <a:rPr dirty="0" sz="1400" spc="-10">
                <a:latin typeface="宋体"/>
                <a:cs typeface="宋体"/>
              </a:rPr>
              <a:t>等</a:t>
            </a:r>
            <a:r>
              <a:rPr dirty="0" sz="1400">
                <a:latin typeface="宋体"/>
                <a:cs typeface="宋体"/>
              </a:rPr>
              <a:t>角度</a:t>
            </a:r>
            <a:r>
              <a:rPr dirty="0" sz="1400" spc="-10">
                <a:latin typeface="宋体"/>
                <a:cs typeface="宋体"/>
              </a:rPr>
              <a:t>来看</a:t>
            </a:r>
            <a:r>
              <a:rPr dirty="0" sz="1400">
                <a:latin typeface="宋体"/>
                <a:cs typeface="宋体"/>
              </a:rPr>
              <a:t>，经济</a:t>
            </a:r>
            <a:r>
              <a:rPr dirty="0" sz="1400" spc="-10">
                <a:latin typeface="宋体"/>
                <a:cs typeface="宋体"/>
              </a:rPr>
              <a:t>自</a:t>
            </a:r>
            <a:r>
              <a:rPr dirty="0" sz="1400">
                <a:latin typeface="宋体"/>
                <a:cs typeface="宋体"/>
              </a:rPr>
              <a:t>由度</a:t>
            </a:r>
            <a:r>
              <a:rPr dirty="0" sz="1400" spc="-10">
                <a:latin typeface="宋体"/>
                <a:cs typeface="宋体"/>
              </a:rPr>
              <a:t>均不</a:t>
            </a:r>
            <a:r>
              <a:rPr dirty="0" sz="1400">
                <a:latin typeface="宋体"/>
                <a:cs typeface="宋体"/>
              </a:rPr>
              <a:t>断提升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904" y="915924"/>
            <a:ext cx="8395970" cy="33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3495" rIns="0" bIns="0" rtlCol="0" vert="horz">
            <a:spAutoFit/>
          </a:bodyPr>
          <a:lstStyle/>
          <a:p>
            <a:pPr marL="1665605">
              <a:lnSpc>
                <a:spcPct val="100000"/>
              </a:lnSpc>
              <a:spcBef>
                <a:spcPts val="185"/>
              </a:spcBef>
            </a:pPr>
            <a:r>
              <a:rPr dirty="0" sz="1800" spc="10" b="1">
                <a:latin typeface="明兰"/>
                <a:cs typeface="明兰"/>
              </a:rPr>
              <a:t>经济预期向好，通胀有效抑制，但仍存在一定风险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904" y="5337047"/>
            <a:ext cx="4099560" cy="9544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90805" marR="83185">
              <a:lnSpc>
                <a:spcPct val="100000"/>
              </a:lnSpc>
              <a:spcBef>
                <a:spcPts val="350"/>
              </a:spcBef>
            </a:pPr>
            <a:r>
              <a:rPr dirty="0" sz="1400" spc="10">
                <a:latin typeface="宋体"/>
                <a:cs typeface="宋体"/>
              </a:rPr>
              <a:t>从国</a:t>
            </a:r>
            <a:r>
              <a:rPr dirty="0" sz="1400">
                <a:latin typeface="宋体"/>
                <a:cs typeface="宋体"/>
              </a:rPr>
              <a:t>家经</a:t>
            </a:r>
            <a:r>
              <a:rPr dirty="0" sz="1400" spc="-10">
                <a:latin typeface="宋体"/>
                <a:cs typeface="宋体"/>
              </a:rPr>
              <a:t>济</a:t>
            </a:r>
            <a:r>
              <a:rPr dirty="0" sz="1400">
                <a:latin typeface="宋体"/>
                <a:cs typeface="宋体"/>
              </a:rPr>
              <a:t>风险</a:t>
            </a:r>
            <a:r>
              <a:rPr dirty="0" sz="1400" spc="-10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数来</a:t>
            </a:r>
            <a:r>
              <a:rPr dirty="0" sz="1400" spc="-10">
                <a:latin typeface="宋体"/>
                <a:cs typeface="宋体"/>
              </a:rPr>
              <a:t>看，</a:t>
            </a:r>
            <a:r>
              <a:rPr dirty="0" sz="1400" spc="-10">
                <a:latin typeface="Arial"/>
                <a:cs typeface="Arial"/>
              </a:rPr>
              <a:t>2016</a:t>
            </a:r>
            <a:r>
              <a:rPr dirty="0" sz="1400">
                <a:latin typeface="宋体"/>
                <a:cs typeface="宋体"/>
              </a:rPr>
              <a:t>年以</a:t>
            </a:r>
            <a:r>
              <a:rPr dirty="0" sz="1400" spc="-15">
                <a:latin typeface="宋体"/>
                <a:cs typeface="宋体"/>
              </a:rPr>
              <a:t>来</a:t>
            </a:r>
            <a:r>
              <a:rPr dirty="0" sz="1400">
                <a:latin typeface="宋体"/>
                <a:cs typeface="宋体"/>
              </a:rPr>
              <a:t>呈现</a:t>
            </a:r>
            <a:r>
              <a:rPr dirty="0" sz="1400" spc="-15">
                <a:latin typeface="宋体"/>
                <a:cs typeface="宋体"/>
              </a:rPr>
              <a:t>波</a:t>
            </a:r>
            <a:r>
              <a:rPr dirty="0" sz="1400">
                <a:latin typeface="宋体"/>
                <a:cs typeface="宋体"/>
              </a:rPr>
              <a:t>动 下降趋</a:t>
            </a:r>
            <a:r>
              <a:rPr dirty="0" sz="1400" spc="-10">
                <a:latin typeface="宋体"/>
                <a:cs typeface="宋体"/>
              </a:rPr>
              <a:t>势</a:t>
            </a:r>
            <a:r>
              <a:rPr dirty="0" sz="1400">
                <a:latin typeface="宋体"/>
                <a:cs typeface="宋体"/>
              </a:rPr>
              <a:t>，风</a:t>
            </a:r>
            <a:r>
              <a:rPr dirty="0" sz="1400" spc="-10">
                <a:latin typeface="宋体"/>
                <a:cs typeface="宋体"/>
              </a:rPr>
              <a:t>险性</a:t>
            </a:r>
            <a:r>
              <a:rPr dirty="0" sz="1400">
                <a:latin typeface="宋体"/>
                <a:cs typeface="宋体"/>
              </a:rPr>
              <a:t>得到有</a:t>
            </a:r>
            <a:r>
              <a:rPr dirty="0" sz="1400" spc="-10">
                <a:latin typeface="宋体"/>
                <a:cs typeface="宋体"/>
              </a:rPr>
              <a:t>效</a:t>
            </a:r>
            <a:r>
              <a:rPr dirty="0" sz="1400">
                <a:latin typeface="宋体"/>
                <a:cs typeface="宋体"/>
              </a:rPr>
              <a:t>抑制</a:t>
            </a:r>
            <a:r>
              <a:rPr dirty="0" sz="1400" spc="-10">
                <a:latin typeface="宋体"/>
                <a:cs typeface="宋体"/>
              </a:rPr>
              <a:t>。原</a:t>
            </a:r>
            <a:r>
              <a:rPr dirty="0" sz="1400">
                <a:latin typeface="宋体"/>
                <a:cs typeface="宋体"/>
              </a:rPr>
              <a:t>因主要</a:t>
            </a:r>
            <a:r>
              <a:rPr dirty="0" sz="1400" spc="-10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于，  一方面</a:t>
            </a:r>
            <a:r>
              <a:rPr dirty="0" sz="1400" spc="-10">
                <a:latin typeface="宋体"/>
                <a:cs typeface="宋体"/>
              </a:rPr>
              <a:t>通</a:t>
            </a:r>
            <a:r>
              <a:rPr dirty="0" sz="1400">
                <a:latin typeface="宋体"/>
                <a:cs typeface="宋体"/>
              </a:rPr>
              <a:t>胀得</a:t>
            </a:r>
            <a:r>
              <a:rPr dirty="0" sz="1400" spc="-10">
                <a:latin typeface="宋体"/>
                <a:cs typeface="宋体"/>
              </a:rPr>
              <a:t>到有</a:t>
            </a:r>
            <a:r>
              <a:rPr dirty="0" sz="1400">
                <a:latin typeface="宋体"/>
                <a:cs typeface="宋体"/>
              </a:rPr>
              <a:t>效控制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另一</a:t>
            </a:r>
            <a:r>
              <a:rPr dirty="0" sz="1400" spc="-10">
                <a:latin typeface="宋体"/>
                <a:cs typeface="宋体"/>
              </a:rPr>
              <a:t>方面</a:t>
            </a:r>
            <a:r>
              <a:rPr dirty="0" sz="1400">
                <a:latin typeface="宋体"/>
                <a:cs typeface="宋体"/>
              </a:rPr>
              <a:t>外汇储</a:t>
            </a:r>
            <a:r>
              <a:rPr dirty="0" sz="1400" spc="-10">
                <a:latin typeface="宋体"/>
                <a:cs typeface="宋体"/>
              </a:rPr>
              <a:t>备</a:t>
            </a:r>
            <a:r>
              <a:rPr dirty="0" sz="1400">
                <a:latin typeface="宋体"/>
                <a:cs typeface="宋体"/>
              </a:rPr>
              <a:t>逐渐 提升，</a:t>
            </a:r>
            <a:r>
              <a:rPr dirty="0" sz="1400" spc="-10">
                <a:latin typeface="宋体"/>
                <a:cs typeface="宋体"/>
              </a:rPr>
              <a:t>国</a:t>
            </a:r>
            <a:r>
              <a:rPr dirty="0" sz="1400">
                <a:latin typeface="宋体"/>
                <a:cs typeface="宋体"/>
              </a:rPr>
              <a:t>家潜</a:t>
            </a:r>
            <a:r>
              <a:rPr dirty="0" sz="1400" spc="-10">
                <a:latin typeface="宋体"/>
                <a:cs typeface="宋体"/>
              </a:rPr>
              <a:t>在控</a:t>
            </a:r>
            <a:r>
              <a:rPr dirty="0" sz="1400">
                <a:latin typeface="宋体"/>
                <a:cs typeface="宋体"/>
              </a:rPr>
              <a:t>制风险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能力</a:t>
            </a:r>
            <a:r>
              <a:rPr dirty="0" sz="1400" spc="-10">
                <a:latin typeface="宋体"/>
                <a:cs typeface="宋体"/>
              </a:rPr>
              <a:t>增</a:t>
            </a:r>
            <a:r>
              <a:rPr dirty="0" sz="1400">
                <a:latin typeface="宋体"/>
                <a:cs typeface="宋体"/>
              </a:rPr>
              <a:t>强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2000" y="2008632"/>
            <a:ext cx="421132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40"/>
              </a:spcBef>
            </a:pPr>
            <a:r>
              <a:rPr dirty="0" sz="1200" b="1">
                <a:latin typeface="明兰"/>
                <a:cs typeface="明兰"/>
              </a:rPr>
              <a:t>阿根廷国家国际储备（十亿美元）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96410" y="2656332"/>
            <a:ext cx="3967921" cy="11611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02123" y="3806952"/>
            <a:ext cx="3952240" cy="0"/>
          </a:xfrm>
          <a:custGeom>
            <a:avLst/>
            <a:gdLst/>
            <a:ahLst/>
            <a:cxnLst/>
            <a:rect l="l" t="t" r="r" b="b"/>
            <a:pathLst>
              <a:path w="3952240" h="0">
                <a:moveTo>
                  <a:pt x="0" y="0"/>
                </a:moveTo>
                <a:lnTo>
                  <a:pt x="3951731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532757" y="2531465"/>
            <a:ext cx="194945" cy="13423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800" spc="-5">
                <a:latin typeface="Arial"/>
                <a:cs typeface="Arial"/>
              </a:rPr>
              <a:t>700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800" spc="-5">
                <a:latin typeface="Arial"/>
                <a:cs typeface="Arial"/>
              </a:rPr>
              <a:t>600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800" spc="-5">
                <a:latin typeface="Arial"/>
                <a:cs typeface="Arial"/>
              </a:rPr>
              <a:t>500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800" spc="-5">
                <a:latin typeface="Arial"/>
                <a:cs typeface="Arial"/>
              </a:rPr>
              <a:t>400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800" spc="-5">
                <a:latin typeface="Arial"/>
                <a:cs typeface="Arial"/>
              </a:rPr>
              <a:t>300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800" spc="-5">
                <a:latin typeface="Arial"/>
                <a:cs typeface="Arial"/>
              </a:rPr>
              <a:t>200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dirty="0" sz="800" spc="-5">
                <a:latin typeface="Arial"/>
                <a:cs typeface="Arial"/>
              </a:rPr>
              <a:t>100</a:t>
            </a:r>
            <a:endParaRPr sz="800">
              <a:latin typeface="Arial"/>
              <a:cs typeface="Arial"/>
            </a:endParaRPr>
          </a:p>
          <a:p>
            <a:pPr algn="ctr" marL="112395">
              <a:lnSpc>
                <a:spcPct val="100000"/>
              </a:lnSpc>
              <a:spcBef>
                <a:spcPts val="335"/>
              </a:spcBef>
            </a:pPr>
            <a:r>
              <a:rPr dirty="0" sz="80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42708" y="3856735"/>
            <a:ext cx="4042410" cy="542290"/>
          </a:xfrm>
          <a:prstGeom prst="rect">
            <a:avLst/>
          </a:prstGeom>
        </p:spPr>
        <p:txBody>
          <a:bodyPr wrap="square" lIns="0" tIns="3175" rIns="0" bIns="0" rtlCol="0" vert="vert270">
            <a:spAutoFit/>
          </a:bodyPr>
          <a:lstStyle/>
          <a:p>
            <a:pPr marL="67945">
              <a:lnSpc>
                <a:spcPts val="944"/>
              </a:lnSpc>
              <a:spcBef>
                <a:spcPts val="25"/>
              </a:spcBef>
            </a:pPr>
            <a:r>
              <a:rPr dirty="0" sz="800" spc="-5">
                <a:latin typeface="Arial"/>
                <a:cs typeface="Arial"/>
              </a:rPr>
              <a:t>16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3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30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4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6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8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08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10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30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'12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31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3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5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08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7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02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9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23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10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16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12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'13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2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'14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4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'14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02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6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'14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23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7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'14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9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'14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'14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02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3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23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4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6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8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30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9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23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'15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15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3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09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5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30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6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  <a:p>
            <a:pPr marL="67945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23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8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0"/>
              </a:lnSpc>
            </a:pPr>
            <a:r>
              <a:rPr dirty="0" sz="800" spc="-5">
                <a:latin typeface="Arial"/>
                <a:cs typeface="Arial"/>
              </a:rPr>
              <a:t>17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10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dirty="0" sz="800" spc="-5">
                <a:latin typeface="Arial"/>
                <a:cs typeface="Arial"/>
              </a:rPr>
              <a:t>07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5">
                <a:latin typeface="Arial"/>
                <a:cs typeface="Arial"/>
              </a:rPr>
              <a:t>12</a:t>
            </a:r>
            <a:r>
              <a:rPr dirty="0" sz="800">
                <a:latin typeface="宋体"/>
                <a:cs typeface="宋体"/>
              </a:rPr>
              <a:t>月</a:t>
            </a:r>
            <a:r>
              <a:rPr dirty="0" sz="800" spc="-225">
                <a:latin typeface="宋体"/>
                <a:cs typeface="宋体"/>
              </a:rPr>
              <a:t> </a:t>
            </a:r>
            <a:r>
              <a:rPr dirty="0" sz="800">
                <a:latin typeface="Arial"/>
                <a:cs typeface="Arial"/>
              </a:rPr>
              <a:t>'16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4464" y="4468367"/>
            <a:ext cx="429641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81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dirty="0" sz="1200" spc="10" b="1">
                <a:latin typeface="明兰"/>
                <a:cs typeface="明兰"/>
              </a:rPr>
              <a:t>阿根廷</a:t>
            </a:r>
            <a:r>
              <a:rPr dirty="0" sz="1200" b="1">
                <a:latin typeface="明兰"/>
                <a:cs typeface="明兰"/>
              </a:rPr>
              <a:t>国</a:t>
            </a:r>
            <a:r>
              <a:rPr dirty="0" sz="1200" spc="5" b="1">
                <a:latin typeface="明兰"/>
                <a:cs typeface="明兰"/>
              </a:rPr>
              <a:t>家</a:t>
            </a:r>
            <a:r>
              <a:rPr dirty="0" sz="1200" spc="-5" b="1">
                <a:latin typeface="Arial"/>
                <a:cs typeface="Arial"/>
              </a:rPr>
              <a:t>CPI</a:t>
            </a:r>
            <a:r>
              <a:rPr dirty="0" sz="1200" b="1">
                <a:latin typeface="明兰"/>
                <a:cs typeface="明兰"/>
              </a:rPr>
              <a:t>指数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24984" y="4920996"/>
            <a:ext cx="0" cy="1351915"/>
          </a:xfrm>
          <a:custGeom>
            <a:avLst/>
            <a:gdLst/>
            <a:ahLst/>
            <a:cxnLst/>
            <a:rect l="l" t="t" r="r" b="b"/>
            <a:pathLst>
              <a:path w="0" h="1351914">
                <a:moveTo>
                  <a:pt x="0" y="1351787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24984" y="6272784"/>
            <a:ext cx="3942715" cy="0"/>
          </a:xfrm>
          <a:custGeom>
            <a:avLst/>
            <a:gdLst/>
            <a:ahLst/>
            <a:cxnLst/>
            <a:rect l="l" t="t" r="r" b="b"/>
            <a:pathLst>
              <a:path w="3942715" h="0">
                <a:moveTo>
                  <a:pt x="0" y="0"/>
                </a:moveTo>
                <a:lnTo>
                  <a:pt x="3942588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02378" y="5011420"/>
            <a:ext cx="3971290" cy="9098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492497" y="4780686"/>
            <a:ext cx="237490" cy="157162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  <a:p>
            <a:pPr algn="ctr" marL="69215">
              <a:lnSpc>
                <a:spcPct val="100000"/>
              </a:lnSpc>
              <a:spcBef>
                <a:spcPts val="320"/>
              </a:spcBef>
            </a:pPr>
            <a:r>
              <a:rPr dirty="0" sz="1000" spc="-10">
                <a:latin typeface="Arial"/>
                <a:cs typeface="Arial"/>
              </a:rPr>
              <a:t>80</a:t>
            </a:r>
            <a:endParaRPr sz="1000">
              <a:latin typeface="Arial"/>
              <a:cs typeface="Arial"/>
            </a:endParaRPr>
          </a:p>
          <a:p>
            <a:pPr algn="ctr" marL="69215">
              <a:lnSpc>
                <a:spcPct val="100000"/>
              </a:lnSpc>
              <a:spcBef>
                <a:spcPts val="320"/>
              </a:spcBef>
            </a:pPr>
            <a:r>
              <a:rPr dirty="0" sz="1000" spc="-10">
                <a:latin typeface="Arial"/>
                <a:cs typeface="Arial"/>
              </a:rPr>
              <a:t>60</a:t>
            </a:r>
            <a:endParaRPr sz="1000">
              <a:latin typeface="Arial"/>
              <a:cs typeface="Arial"/>
            </a:endParaRPr>
          </a:p>
          <a:p>
            <a:pPr algn="ctr" marL="69215">
              <a:lnSpc>
                <a:spcPct val="100000"/>
              </a:lnSpc>
              <a:spcBef>
                <a:spcPts val="325"/>
              </a:spcBef>
            </a:pPr>
            <a:r>
              <a:rPr dirty="0" sz="1000" spc="-10">
                <a:latin typeface="Arial"/>
                <a:cs typeface="Arial"/>
              </a:rPr>
              <a:t>40</a:t>
            </a:r>
            <a:endParaRPr sz="1000">
              <a:latin typeface="Arial"/>
              <a:cs typeface="Arial"/>
            </a:endParaRPr>
          </a:p>
          <a:p>
            <a:pPr algn="ctr" marL="69215">
              <a:lnSpc>
                <a:spcPct val="100000"/>
              </a:lnSpc>
              <a:spcBef>
                <a:spcPts val="320"/>
              </a:spcBef>
            </a:pPr>
            <a:r>
              <a:rPr dirty="0" sz="1000" spc="-10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  <a:p>
            <a:pPr algn="ctr" marL="140970">
              <a:lnSpc>
                <a:spcPct val="100000"/>
              </a:lnSpc>
              <a:spcBef>
                <a:spcPts val="325"/>
              </a:spcBef>
            </a:pP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4352" y="6326225"/>
            <a:ext cx="490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Arial"/>
                <a:cs typeface="Arial"/>
              </a:rPr>
              <a:t>2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-5">
                <a:latin typeface="Arial"/>
                <a:cs typeface="Arial"/>
              </a:rPr>
              <a:t>0</a:t>
            </a:r>
            <a:r>
              <a:rPr dirty="0" sz="1000" spc="-10">
                <a:latin typeface="Arial"/>
                <a:cs typeface="Arial"/>
              </a:rPr>
              <a:t>5</a:t>
            </a:r>
            <a:r>
              <a:rPr dirty="0" sz="1000" spc="-5">
                <a:latin typeface="Arial"/>
                <a:cs typeface="Arial"/>
              </a:rPr>
              <a:t>-</a:t>
            </a:r>
            <a:r>
              <a:rPr dirty="0" sz="1000" spc="-5">
                <a:latin typeface="Arial"/>
                <a:cs typeface="Arial"/>
              </a:rPr>
              <a:t>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69153" y="6326225"/>
            <a:ext cx="2215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Arial"/>
                <a:cs typeface="Arial"/>
              </a:rPr>
              <a:t>2006-10 2008-07 2010-04</a:t>
            </a:r>
            <a:r>
              <a:rPr dirty="0" sz="1000" spc="105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2012-01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68616" y="6326225"/>
            <a:ext cx="1065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Arial"/>
                <a:cs typeface="Arial"/>
              </a:rPr>
              <a:t>2013-10</a:t>
            </a:r>
            <a:r>
              <a:rPr dirty="0" sz="1000" spc="254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2015-07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39288" y="4778502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95515" y="6530746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78739" y="319786"/>
            <a:ext cx="69265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660000"/>
                </a:solidFill>
                <a:latin typeface="明兰"/>
                <a:cs typeface="明兰"/>
              </a:rPr>
              <a:t>全资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自建工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优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势分析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：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杠杆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因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素作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用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背</a:t>
            </a:r>
            <a:r>
              <a:rPr dirty="0" sz="2000" spc="45" b="1">
                <a:solidFill>
                  <a:srgbClr val="660000"/>
                </a:solidFill>
                <a:latin typeface="明兰"/>
                <a:cs typeface="明兰"/>
              </a:rPr>
              <a:t>景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经济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预期</a:t>
            </a:r>
            <a:endParaRPr sz="20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904" y="915924"/>
            <a:ext cx="8395970" cy="33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3495" rIns="0" bIns="0" rtlCol="0" vert="horz">
            <a:spAutoFit/>
          </a:bodyPr>
          <a:lstStyle/>
          <a:p>
            <a:pPr marL="2586355">
              <a:lnSpc>
                <a:spcPct val="100000"/>
              </a:lnSpc>
              <a:spcBef>
                <a:spcPts val="185"/>
              </a:spcBef>
            </a:pPr>
            <a:r>
              <a:rPr dirty="0" sz="1800" spc="10" b="1">
                <a:latin typeface="明兰"/>
                <a:cs typeface="明兰"/>
              </a:rPr>
              <a:t>经济预期向好，自由度持续提升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904" y="1303019"/>
            <a:ext cx="495808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dirty="0" sz="1200" b="1">
                <a:latin typeface="明兰"/>
                <a:cs typeface="明兰"/>
              </a:rPr>
              <a:t>阿根廷经济自由度指数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3231" y="1709927"/>
            <a:ext cx="0" cy="1644650"/>
          </a:xfrm>
          <a:custGeom>
            <a:avLst/>
            <a:gdLst/>
            <a:ahLst/>
            <a:cxnLst/>
            <a:rect l="l" t="t" r="r" b="b"/>
            <a:pathLst>
              <a:path w="0" h="1644650">
                <a:moveTo>
                  <a:pt x="0" y="1644396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3231" y="3354323"/>
            <a:ext cx="4447540" cy="0"/>
          </a:xfrm>
          <a:custGeom>
            <a:avLst/>
            <a:gdLst/>
            <a:ahLst/>
            <a:cxnLst/>
            <a:rect l="l" t="t" r="r" b="b"/>
            <a:pathLst>
              <a:path w="4447540" h="0">
                <a:moveTo>
                  <a:pt x="0" y="0"/>
                </a:moveTo>
                <a:lnTo>
                  <a:pt x="4447032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1341" y="1943861"/>
            <a:ext cx="4212590" cy="510540"/>
          </a:xfrm>
          <a:custGeom>
            <a:avLst/>
            <a:gdLst/>
            <a:ahLst/>
            <a:cxnLst/>
            <a:rect l="l" t="t" r="r" b="b"/>
            <a:pathLst>
              <a:path w="4212590" h="510539">
                <a:moveTo>
                  <a:pt x="0" y="0"/>
                </a:moveTo>
                <a:lnTo>
                  <a:pt x="233172" y="59436"/>
                </a:lnTo>
                <a:lnTo>
                  <a:pt x="467868" y="252984"/>
                </a:lnTo>
                <a:lnTo>
                  <a:pt x="701040" y="301751"/>
                </a:lnTo>
                <a:lnTo>
                  <a:pt x="935735" y="347472"/>
                </a:lnTo>
                <a:lnTo>
                  <a:pt x="1168908" y="312420"/>
                </a:lnTo>
                <a:lnTo>
                  <a:pt x="1403604" y="300227"/>
                </a:lnTo>
                <a:lnTo>
                  <a:pt x="1636776" y="295655"/>
                </a:lnTo>
                <a:lnTo>
                  <a:pt x="1871472" y="335279"/>
                </a:lnTo>
                <a:lnTo>
                  <a:pt x="2106168" y="358139"/>
                </a:lnTo>
                <a:lnTo>
                  <a:pt x="2339340" y="347472"/>
                </a:lnTo>
                <a:lnTo>
                  <a:pt x="2574036" y="423672"/>
                </a:lnTo>
                <a:lnTo>
                  <a:pt x="2807208" y="451103"/>
                </a:lnTo>
                <a:lnTo>
                  <a:pt x="3041904" y="451103"/>
                </a:lnTo>
                <a:lnTo>
                  <a:pt x="3275076" y="493775"/>
                </a:lnTo>
                <a:lnTo>
                  <a:pt x="3509772" y="504443"/>
                </a:lnTo>
                <a:lnTo>
                  <a:pt x="3742944" y="510539"/>
                </a:lnTo>
                <a:lnTo>
                  <a:pt x="3977640" y="374903"/>
                </a:lnTo>
                <a:lnTo>
                  <a:pt x="4212336" y="335279"/>
                </a:lnTo>
              </a:path>
            </a:pathLst>
          </a:custGeom>
          <a:ln w="28956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6701" y="1900301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6701" y="1900301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1397" y="1959736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21397" y="1959736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54569" y="215328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54569" y="215328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89202" y="220205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89202" y="220205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22373" y="2247773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22373" y="2247773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57070" y="221272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57070" y="221272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0242" y="220052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90242" y="220052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24938" y="219595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24938" y="219595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58110" y="223405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58110" y="223405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92805" y="22569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92805" y="22569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27501" y="2247773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27501" y="2247773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2" y="88391"/>
                </a:lnTo>
                <a:lnTo>
                  <a:pt x="88392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360673" y="2322448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60673" y="2322448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95370" y="234988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95370" y="234988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28541" y="234988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28541" y="234988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63238" y="239255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63238" y="239255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96409" y="240322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96409" y="240322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31105" y="24093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31105" y="24093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764278" y="227368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64278" y="227368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98973" y="223405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98973" y="223405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50595" y="1556664"/>
            <a:ext cx="166370" cy="1875789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000" spc="-10">
                <a:latin typeface="Arial"/>
                <a:cs typeface="Arial"/>
              </a:rPr>
              <a:t>80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70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000" spc="-10">
                <a:latin typeface="Arial"/>
                <a:cs typeface="Arial"/>
              </a:rPr>
              <a:t>60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40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000" spc="-10">
                <a:latin typeface="Arial"/>
                <a:cs typeface="Arial"/>
              </a:rPr>
              <a:t>30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000" spc="-10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  <a:p>
            <a:pPr algn="ctr" marL="69850">
              <a:lnSpc>
                <a:spcPct val="100000"/>
              </a:lnSpc>
              <a:spcBef>
                <a:spcPts val="415"/>
              </a:spcBef>
            </a:pPr>
            <a:r>
              <a:rPr dirty="0" sz="1000" spc="-5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12025" y="3452367"/>
            <a:ext cx="4447245" cy="256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74904" y="3800855"/>
            <a:ext cx="495808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8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dirty="0" sz="1200" b="1">
                <a:latin typeface="明兰"/>
                <a:cs typeface="明兰"/>
              </a:rPr>
              <a:t>阿根廷贸易自由、投资、金融自由指数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71144" y="4207764"/>
            <a:ext cx="0" cy="1882139"/>
          </a:xfrm>
          <a:custGeom>
            <a:avLst/>
            <a:gdLst/>
            <a:ahLst/>
            <a:cxnLst/>
            <a:rect l="l" t="t" r="r" b="b"/>
            <a:pathLst>
              <a:path w="0" h="1882139">
                <a:moveTo>
                  <a:pt x="0" y="1882140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71144" y="6089903"/>
            <a:ext cx="4395470" cy="0"/>
          </a:xfrm>
          <a:custGeom>
            <a:avLst/>
            <a:gdLst/>
            <a:ahLst/>
            <a:cxnLst/>
            <a:rect l="l" t="t" r="r" b="b"/>
            <a:pathLst>
              <a:path w="4395470" h="0">
                <a:moveTo>
                  <a:pt x="0" y="0"/>
                </a:moveTo>
                <a:lnTo>
                  <a:pt x="4395216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87730" y="4435602"/>
            <a:ext cx="4163695" cy="407034"/>
          </a:xfrm>
          <a:custGeom>
            <a:avLst/>
            <a:gdLst/>
            <a:ahLst/>
            <a:cxnLst/>
            <a:rect l="l" t="t" r="r" b="b"/>
            <a:pathLst>
              <a:path w="4163695" h="407035">
                <a:moveTo>
                  <a:pt x="0" y="195072"/>
                </a:moveTo>
                <a:lnTo>
                  <a:pt x="230123" y="124968"/>
                </a:lnTo>
                <a:lnTo>
                  <a:pt x="461772" y="406908"/>
                </a:lnTo>
                <a:lnTo>
                  <a:pt x="693419" y="384048"/>
                </a:lnTo>
                <a:lnTo>
                  <a:pt x="925068" y="204216"/>
                </a:lnTo>
                <a:lnTo>
                  <a:pt x="1156715" y="332231"/>
                </a:lnTo>
                <a:lnTo>
                  <a:pt x="1386839" y="68580"/>
                </a:lnTo>
                <a:lnTo>
                  <a:pt x="1618488" y="210312"/>
                </a:lnTo>
                <a:lnTo>
                  <a:pt x="1850136" y="16764"/>
                </a:lnTo>
                <a:lnTo>
                  <a:pt x="2081783" y="7620"/>
                </a:lnTo>
                <a:lnTo>
                  <a:pt x="2313432" y="19812"/>
                </a:lnTo>
                <a:lnTo>
                  <a:pt x="2543556" y="19812"/>
                </a:lnTo>
                <a:lnTo>
                  <a:pt x="2775204" y="64008"/>
                </a:lnTo>
                <a:lnTo>
                  <a:pt x="3006852" y="64008"/>
                </a:lnTo>
                <a:lnTo>
                  <a:pt x="3238499" y="33528"/>
                </a:lnTo>
                <a:lnTo>
                  <a:pt x="3470148" y="35052"/>
                </a:lnTo>
                <a:lnTo>
                  <a:pt x="3700272" y="68580"/>
                </a:lnTo>
                <a:lnTo>
                  <a:pt x="3931920" y="85343"/>
                </a:lnTo>
                <a:lnTo>
                  <a:pt x="4163568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50442" y="4595114"/>
            <a:ext cx="73152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82090" y="4523485"/>
            <a:ext cx="73152" cy="73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13688" y="4806950"/>
            <a:ext cx="73152" cy="731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545336" y="4782565"/>
            <a:ext cx="73151" cy="731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775460" y="4604258"/>
            <a:ext cx="73152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07107" y="4730750"/>
            <a:ext cx="73152" cy="731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38755" y="4467097"/>
            <a:ext cx="73152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70404" y="4608829"/>
            <a:ext cx="73152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702051" y="4415282"/>
            <a:ext cx="73152" cy="731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932176" y="4406138"/>
            <a:ext cx="73152" cy="731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163823" y="4418329"/>
            <a:ext cx="73152" cy="731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395471" y="4418329"/>
            <a:ext cx="73151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627120" y="4462526"/>
            <a:ext cx="73152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858767" y="4462526"/>
            <a:ext cx="73152" cy="731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088891" y="4432046"/>
            <a:ext cx="73152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320540" y="4435094"/>
            <a:ext cx="73152" cy="731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52188" y="4467097"/>
            <a:ext cx="73151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783835" y="4483861"/>
            <a:ext cx="73151" cy="731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015484" y="4400041"/>
            <a:ext cx="73152" cy="731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87730" y="4443221"/>
            <a:ext cx="4163695" cy="940435"/>
          </a:xfrm>
          <a:custGeom>
            <a:avLst/>
            <a:gdLst/>
            <a:ahLst/>
            <a:cxnLst/>
            <a:rect l="l" t="t" r="r" b="b"/>
            <a:pathLst>
              <a:path w="4163695" h="940435">
                <a:moveTo>
                  <a:pt x="0" y="0"/>
                </a:moveTo>
                <a:lnTo>
                  <a:pt x="230123" y="0"/>
                </a:lnTo>
                <a:lnTo>
                  <a:pt x="461772" y="0"/>
                </a:lnTo>
                <a:lnTo>
                  <a:pt x="693419" y="469391"/>
                </a:lnTo>
                <a:lnTo>
                  <a:pt x="2081783" y="469391"/>
                </a:lnTo>
                <a:lnTo>
                  <a:pt x="2313432" y="588263"/>
                </a:lnTo>
                <a:lnTo>
                  <a:pt x="2543556" y="588263"/>
                </a:lnTo>
                <a:lnTo>
                  <a:pt x="2775204" y="705611"/>
                </a:lnTo>
                <a:lnTo>
                  <a:pt x="3006852" y="705611"/>
                </a:lnTo>
                <a:lnTo>
                  <a:pt x="3238499" y="940307"/>
                </a:lnTo>
                <a:lnTo>
                  <a:pt x="3470148" y="940307"/>
                </a:lnTo>
                <a:lnTo>
                  <a:pt x="3700272" y="940307"/>
                </a:lnTo>
                <a:lnTo>
                  <a:pt x="3931920" y="469391"/>
                </a:lnTo>
                <a:lnTo>
                  <a:pt x="4163568" y="352044"/>
                </a:lnTo>
              </a:path>
            </a:pathLst>
          </a:custGeom>
          <a:ln w="28956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42822" y="43985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42822" y="43985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074470" y="43985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074470" y="43985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306067" y="43985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306067" y="439851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537716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537716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767839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767839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999488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999488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31135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231135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462783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462783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694432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694432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924555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924555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156204" y="498678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156204" y="498678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2" y="88392"/>
                </a:lnTo>
                <a:lnTo>
                  <a:pt x="88392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387852" y="498678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387852" y="498678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19500" y="510412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619500" y="510412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851147" y="510412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851147" y="510412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081271" y="53403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081271" y="53403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312920" y="53403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312920" y="53403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544567" y="53403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544567" y="534035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1"/>
                </a:moveTo>
                <a:lnTo>
                  <a:pt x="88391" y="88391"/>
                </a:lnTo>
                <a:lnTo>
                  <a:pt x="88391" y="0"/>
                </a:lnTo>
                <a:lnTo>
                  <a:pt x="0" y="0"/>
                </a:lnTo>
                <a:lnTo>
                  <a:pt x="0" y="88391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776215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776215" y="486943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007864" y="475208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007864" y="4752085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0" y="88392"/>
                </a:moveTo>
                <a:lnTo>
                  <a:pt x="88391" y="88392"/>
                </a:lnTo>
                <a:lnTo>
                  <a:pt x="88391" y="0"/>
                </a:lnTo>
                <a:lnTo>
                  <a:pt x="0" y="0"/>
                </a:lnTo>
                <a:lnTo>
                  <a:pt x="0" y="88392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87730" y="4443221"/>
            <a:ext cx="4163695" cy="940435"/>
          </a:xfrm>
          <a:custGeom>
            <a:avLst/>
            <a:gdLst/>
            <a:ahLst/>
            <a:cxnLst/>
            <a:rect l="l" t="t" r="r" b="b"/>
            <a:pathLst>
              <a:path w="4163695" h="940435">
                <a:moveTo>
                  <a:pt x="0" y="0"/>
                </a:moveTo>
                <a:lnTo>
                  <a:pt x="230123" y="0"/>
                </a:lnTo>
                <a:lnTo>
                  <a:pt x="461772" y="0"/>
                </a:lnTo>
                <a:lnTo>
                  <a:pt x="693419" y="940307"/>
                </a:lnTo>
                <a:lnTo>
                  <a:pt x="925068" y="940307"/>
                </a:lnTo>
                <a:lnTo>
                  <a:pt x="1156715" y="940307"/>
                </a:lnTo>
                <a:lnTo>
                  <a:pt x="1386839" y="940307"/>
                </a:lnTo>
                <a:lnTo>
                  <a:pt x="1618488" y="705611"/>
                </a:lnTo>
                <a:lnTo>
                  <a:pt x="1850136" y="705611"/>
                </a:lnTo>
                <a:lnTo>
                  <a:pt x="2081783" y="705611"/>
                </a:lnTo>
                <a:lnTo>
                  <a:pt x="2313432" y="940307"/>
                </a:lnTo>
                <a:lnTo>
                  <a:pt x="3700272" y="940307"/>
                </a:lnTo>
                <a:lnTo>
                  <a:pt x="3931920" y="469391"/>
                </a:lnTo>
                <a:lnTo>
                  <a:pt x="4163568" y="234695"/>
                </a:lnTo>
              </a:path>
            </a:pathLst>
          </a:custGeom>
          <a:ln w="28956">
            <a:solidFill>
              <a:srgbClr val="7670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38250" y="4393946"/>
            <a:ext cx="97535" cy="97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069898" y="4393946"/>
            <a:ext cx="97535" cy="97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301496" y="4393946"/>
            <a:ext cx="97535" cy="975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533144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763267" y="5335778"/>
            <a:ext cx="97536" cy="975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994916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226564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458211" y="5099558"/>
            <a:ext cx="97536" cy="975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689860" y="5099558"/>
            <a:ext cx="97536" cy="975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919983" y="5099558"/>
            <a:ext cx="97536" cy="975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151632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383279" y="5335778"/>
            <a:ext cx="97536" cy="975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614928" y="5335778"/>
            <a:ext cx="97536" cy="975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3846576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076700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308347" y="5335778"/>
            <a:ext cx="97536" cy="975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539996" y="5335778"/>
            <a:ext cx="97536" cy="975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771644" y="4864861"/>
            <a:ext cx="97536" cy="975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003291" y="4630165"/>
            <a:ext cx="97536" cy="975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532282" y="4020718"/>
            <a:ext cx="144780" cy="214312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 spc="-5">
                <a:latin typeface="华文仿宋"/>
                <a:cs typeface="华文仿宋"/>
              </a:rPr>
              <a:t>80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spc="-5">
                <a:latin typeface="华文仿宋"/>
                <a:cs typeface="华文仿宋"/>
              </a:rPr>
              <a:t>70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000" spc="-5">
                <a:latin typeface="华文仿宋"/>
                <a:cs typeface="华文仿宋"/>
              </a:rPr>
              <a:t>60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spc="-5">
                <a:latin typeface="华文仿宋"/>
                <a:cs typeface="华文仿宋"/>
              </a:rPr>
              <a:t>50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spc="-5">
                <a:latin typeface="华文仿宋"/>
                <a:cs typeface="华文仿宋"/>
              </a:rPr>
              <a:t>40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000" spc="-10">
                <a:latin typeface="华文仿宋"/>
                <a:cs typeface="华文仿宋"/>
              </a:rPr>
              <a:t>30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000" spc="-5">
                <a:latin typeface="华文仿宋"/>
                <a:cs typeface="华文仿宋"/>
              </a:rPr>
              <a:t>20</a:t>
            </a:r>
            <a:endParaRPr sz="1000">
              <a:latin typeface="华文仿宋"/>
              <a:cs typeface="华文仿宋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 spc="-5">
                <a:latin typeface="华文仿宋"/>
                <a:cs typeface="华文仿宋"/>
              </a:rPr>
              <a:t>10</a:t>
            </a:r>
            <a:endParaRPr sz="1000">
              <a:latin typeface="华文仿宋"/>
              <a:cs typeface="华文仿宋"/>
            </a:endParaRPr>
          </a:p>
          <a:p>
            <a:pPr marL="72390">
              <a:lnSpc>
                <a:spcPct val="100000"/>
              </a:lnSpc>
              <a:spcBef>
                <a:spcPts val="650"/>
              </a:spcBef>
            </a:pPr>
            <a:r>
              <a:rPr dirty="0" sz="1000" spc="-5">
                <a:latin typeface="华文仿宋"/>
                <a:cs typeface="华文仿宋"/>
              </a:rPr>
              <a:t>0</a:t>
            </a:r>
            <a:endParaRPr sz="1000">
              <a:latin typeface="华文仿宋"/>
              <a:cs typeface="华文仿宋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02437" y="6155537"/>
            <a:ext cx="2992755" cy="556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华文仿宋"/>
                <a:cs typeface="华文仿宋"/>
              </a:rPr>
              <a:t>2000年</a:t>
            </a:r>
            <a:r>
              <a:rPr dirty="0" sz="1000" spc="3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2002年</a:t>
            </a:r>
            <a:r>
              <a:rPr dirty="0" sz="1000" spc="3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2004年</a:t>
            </a:r>
            <a:r>
              <a:rPr dirty="0" sz="1000" spc="3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2006年</a:t>
            </a:r>
            <a:r>
              <a:rPr dirty="0" sz="1000" spc="35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2008年</a:t>
            </a:r>
            <a:r>
              <a:rPr dirty="0" sz="1000" spc="3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2010年</a:t>
            </a:r>
            <a:endParaRPr sz="10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Index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of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economic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freedom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467861" y="6155537"/>
            <a:ext cx="17780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华文仿宋"/>
                <a:cs typeface="华文仿宋"/>
              </a:rPr>
              <a:t>2012年</a:t>
            </a:r>
            <a:r>
              <a:rPr dirty="0" sz="1000" spc="2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2014年</a:t>
            </a:r>
            <a:r>
              <a:rPr dirty="0" sz="1000" spc="2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2016年</a:t>
            </a:r>
            <a:r>
              <a:rPr dirty="0" sz="1000" spc="20">
                <a:latin typeface="华文仿宋"/>
                <a:cs typeface="华文仿宋"/>
              </a:rPr>
              <a:t> </a:t>
            </a:r>
            <a:r>
              <a:rPr dirty="0" sz="1000" spc="-5">
                <a:latin typeface="华文仿宋"/>
                <a:cs typeface="华文仿宋"/>
              </a:rPr>
              <a:t>2018年</a:t>
            </a:r>
            <a:endParaRPr sz="1000">
              <a:latin typeface="华文仿宋"/>
              <a:cs typeface="华文仿宋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1165097" y="4180332"/>
            <a:ext cx="243840" cy="7315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548127" y="4217670"/>
            <a:ext cx="85090" cy="0"/>
          </a:xfrm>
          <a:custGeom>
            <a:avLst/>
            <a:gdLst/>
            <a:ahLst/>
            <a:cxnLst/>
            <a:rect l="l" t="t" r="r" b="b"/>
            <a:pathLst>
              <a:path w="85089" h="0">
                <a:moveTo>
                  <a:pt x="0" y="0"/>
                </a:moveTo>
                <a:lnTo>
                  <a:pt x="84582" y="0"/>
                </a:lnTo>
              </a:path>
            </a:pathLst>
          </a:custGeom>
          <a:ln w="28955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2388870" y="4217670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 h="0">
                <a:moveTo>
                  <a:pt x="0" y="0"/>
                </a:moveTo>
                <a:lnTo>
                  <a:pt x="83057" y="0"/>
                </a:lnTo>
              </a:path>
            </a:pathLst>
          </a:custGeom>
          <a:ln w="28955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2471927" y="41788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471927" y="41788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ln w="9144">
            <a:solidFill>
              <a:srgbClr val="BD4A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611117" y="4174235"/>
            <a:ext cx="243840" cy="8534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1422653" y="4113657"/>
            <a:ext cx="2977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35075" algn="l"/>
                <a:tab pos="2458085" algn="l"/>
              </a:tabLst>
            </a:pPr>
            <a:r>
              <a:rPr dirty="0" sz="1000" spc="-5">
                <a:latin typeface="华文仿宋"/>
                <a:cs typeface="华文仿宋"/>
              </a:rPr>
              <a:t>贸易自由</a:t>
            </a:r>
            <a:r>
              <a:rPr dirty="0" sz="1000" spc="-5">
                <a:latin typeface="华文仿宋"/>
                <a:cs typeface="华文仿宋"/>
              </a:rPr>
              <a:t>	</a:t>
            </a:r>
            <a:r>
              <a:rPr dirty="0" sz="1000" spc="-5">
                <a:latin typeface="华文仿宋"/>
                <a:cs typeface="华文仿宋"/>
              </a:rPr>
              <a:t>投资自由</a:t>
            </a:r>
            <a:r>
              <a:rPr dirty="0" sz="1000" spc="-5">
                <a:latin typeface="华文仿宋"/>
                <a:cs typeface="华文仿宋"/>
              </a:rPr>
              <a:t>	</a:t>
            </a:r>
            <a:r>
              <a:rPr dirty="0" sz="1000" spc="-5">
                <a:latin typeface="华文仿宋"/>
                <a:cs typeface="华文仿宋"/>
              </a:rPr>
              <a:t>金融自由</a:t>
            </a:r>
            <a:endParaRPr sz="1000">
              <a:latin typeface="华文仿宋"/>
              <a:cs typeface="华文仿宋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5430011" y="1377696"/>
            <a:ext cx="3340735" cy="51695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306070" marR="123825" indent="-214629">
              <a:lnSpc>
                <a:spcPct val="107100"/>
              </a:lnSpc>
              <a:spcBef>
                <a:spcPts val="195"/>
              </a:spcBef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Arial"/>
                <a:cs typeface="Arial"/>
              </a:rPr>
              <a:t>Index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economic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freedom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于每</a:t>
            </a:r>
            <a:r>
              <a:rPr dirty="0" sz="1400">
                <a:latin typeface="宋体"/>
                <a:cs typeface="宋体"/>
              </a:rPr>
              <a:t>年年 初将根</a:t>
            </a:r>
            <a:r>
              <a:rPr dirty="0" sz="1400" spc="-15">
                <a:latin typeface="宋体"/>
                <a:cs typeface="宋体"/>
              </a:rPr>
              <a:t>据</a:t>
            </a:r>
            <a:r>
              <a:rPr dirty="0" sz="1400">
                <a:latin typeface="宋体"/>
                <a:cs typeface="宋体"/>
              </a:rPr>
              <a:t>国家</a:t>
            </a:r>
            <a:r>
              <a:rPr dirty="0" sz="1400" spc="-15">
                <a:latin typeface="宋体"/>
                <a:cs typeface="宋体"/>
              </a:rPr>
              <a:t>上一</a:t>
            </a:r>
            <a:r>
              <a:rPr dirty="0" sz="1400">
                <a:latin typeface="宋体"/>
                <a:cs typeface="宋体"/>
              </a:rPr>
              <a:t>年经济</a:t>
            </a:r>
            <a:r>
              <a:rPr dirty="0" sz="1400" spc="-15">
                <a:latin typeface="宋体"/>
                <a:cs typeface="宋体"/>
              </a:rPr>
              <a:t>整</a:t>
            </a:r>
            <a:r>
              <a:rPr dirty="0" sz="1400">
                <a:latin typeface="宋体"/>
                <a:cs typeface="宋体"/>
              </a:rPr>
              <a:t>体情</a:t>
            </a:r>
            <a:r>
              <a:rPr dirty="0" sz="1400" spc="-15">
                <a:latin typeface="宋体"/>
                <a:cs typeface="宋体"/>
              </a:rPr>
              <a:t>况</a:t>
            </a:r>
            <a:r>
              <a:rPr dirty="0" sz="1400">
                <a:latin typeface="宋体"/>
                <a:cs typeface="宋体"/>
              </a:rPr>
              <a:t>对 自由度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行评估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algn="just" marL="306070" marR="134620" indent="-214629">
              <a:lnSpc>
                <a:spcPct val="107200"/>
              </a:lnSpc>
              <a:buFont typeface="Arial"/>
              <a:buChar char="•"/>
              <a:tabLst>
                <a:tab pos="306705" algn="l"/>
              </a:tabLst>
            </a:pPr>
            <a:r>
              <a:rPr dirty="0" sz="1400" spc="10">
                <a:latin typeface="宋体"/>
                <a:cs typeface="宋体"/>
              </a:rPr>
              <a:t>根</a:t>
            </a:r>
            <a:r>
              <a:rPr dirty="0" sz="1400" spc="15">
                <a:latin typeface="宋体"/>
                <a:cs typeface="宋体"/>
              </a:rPr>
              <a:t>据</a:t>
            </a:r>
            <a:r>
              <a:rPr dirty="0" sz="1400" spc="-5">
                <a:latin typeface="Arial"/>
                <a:cs typeface="Arial"/>
              </a:rPr>
              <a:t>index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economic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freedom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阿根 </a:t>
            </a:r>
            <a:r>
              <a:rPr dirty="0" sz="1400" spc="10">
                <a:latin typeface="宋体"/>
                <a:cs typeface="宋体"/>
              </a:rPr>
              <a:t>廷的</a:t>
            </a:r>
            <a:r>
              <a:rPr dirty="0" sz="1400" spc="5">
                <a:latin typeface="宋体"/>
                <a:cs typeface="宋体"/>
              </a:rPr>
              <a:t>经</a:t>
            </a:r>
            <a:r>
              <a:rPr dirty="0" sz="1400">
                <a:latin typeface="宋体"/>
                <a:cs typeface="宋体"/>
              </a:rPr>
              <a:t>济</a:t>
            </a:r>
            <a:r>
              <a:rPr dirty="0" sz="1400" spc="-10">
                <a:latin typeface="宋体"/>
                <a:cs typeface="宋体"/>
              </a:rPr>
              <a:t>整</a:t>
            </a:r>
            <a:r>
              <a:rPr dirty="0" sz="1400" spc="5">
                <a:latin typeface="宋体"/>
                <a:cs typeface="宋体"/>
              </a:rPr>
              <a:t>体</a:t>
            </a:r>
            <a:r>
              <a:rPr dirty="0" sz="1400">
                <a:latin typeface="宋体"/>
                <a:cs typeface="宋体"/>
              </a:rPr>
              <a:t>自</a:t>
            </a:r>
            <a:r>
              <a:rPr dirty="0" sz="1400" spc="-10">
                <a:latin typeface="宋体"/>
                <a:cs typeface="宋体"/>
              </a:rPr>
              <a:t>由</a:t>
            </a:r>
            <a:r>
              <a:rPr dirty="0" sz="1400" spc="5">
                <a:latin typeface="宋体"/>
                <a:cs typeface="宋体"/>
              </a:rPr>
              <a:t>度</a:t>
            </a:r>
            <a:r>
              <a:rPr dirty="0" sz="1400">
                <a:latin typeface="宋体"/>
                <a:cs typeface="宋体"/>
              </a:rPr>
              <a:t>在</a:t>
            </a:r>
            <a:r>
              <a:rPr dirty="0" sz="1400" spc="-15">
                <a:latin typeface="Arial"/>
                <a:cs typeface="Arial"/>
              </a:rPr>
              <a:t>2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 spc="-20">
                <a:latin typeface="Arial"/>
                <a:cs typeface="Arial"/>
              </a:rPr>
              <a:t>1</a:t>
            </a:r>
            <a:r>
              <a:rPr dirty="0" sz="1400" spc="-5">
                <a:latin typeface="Arial"/>
                <a:cs typeface="Arial"/>
              </a:rPr>
              <a:t>6</a:t>
            </a:r>
            <a:r>
              <a:rPr dirty="0" sz="1400" spc="5">
                <a:latin typeface="宋体"/>
                <a:cs typeface="宋体"/>
              </a:rPr>
              <a:t>年</a:t>
            </a:r>
            <a:r>
              <a:rPr dirty="0" sz="1400" spc="-15">
                <a:latin typeface="宋体"/>
                <a:cs typeface="宋体"/>
              </a:rPr>
              <a:t>逐</a:t>
            </a:r>
            <a:r>
              <a:rPr dirty="0" sz="1400" spc="5">
                <a:latin typeface="宋体"/>
                <a:cs typeface="宋体"/>
              </a:rPr>
              <a:t>步提 </a:t>
            </a:r>
            <a:r>
              <a:rPr dirty="0" sz="1400">
                <a:latin typeface="宋体"/>
                <a:cs typeface="宋体"/>
              </a:rPr>
              <a:t>升，贸</a:t>
            </a:r>
            <a:r>
              <a:rPr dirty="0" sz="1400" spc="-15">
                <a:latin typeface="宋体"/>
                <a:cs typeface="宋体"/>
              </a:rPr>
              <a:t>易</a:t>
            </a:r>
            <a:r>
              <a:rPr dirty="0" sz="1400">
                <a:latin typeface="宋体"/>
                <a:cs typeface="宋体"/>
              </a:rPr>
              <a:t>自由</a:t>
            </a:r>
            <a:r>
              <a:rPr dirty="0" sz="1400" spc="-15">
                <a:latin typeface="宋体"/>
                <a:cs typeface="宋体"/>
              </a:rPr>
              <a:t>、投</a:t>
            </a:r>
            <a:r>
              <a:rPr dirty="0" sz="1400">
                <a:latin typeface="宋体"/>
                <a:cs typeface="宋体"/>
              </a:rPr>
              <a:t>资自由</a:t>
            </a:r>
            <a:r>
              <a:rPr dirty="0" sz="1400" spc="-15">
                <a:latin typeface="宋体"/>
                <a:cs typeface="宋体"/>
              </a:rPr>
              <a:t>、</a:t>
            </a:r>
            <a:r>
              <a:rPr dirty="0" sz="1400">
                <a:latin typeface="宋体"/>
                <a:cs typeface="宋体"/>
              </a:rPr>
              <a:t>金融</a:t>
            </a:r>
            <a:r>
              <a:rPr dirty="0" sz="1400" spc="-15">
                <a:latin typeface="宋体"/>
                <a:cs typeface="宋体"/>
              </a:rPr>
              <a:t>自</a:t>
            </a:r>
            <a:r>
              <a:rPr dirty="0" sz="1400">
                <a:latin typeface="宋体"/>
                <a:cs typeface="宋体"/>
              </a:rPr>
              <a:t>由 程度均</a:t>
            </a:r>
            <a:r>
              <a:rPr dirty="0" sz="1400" spc="-15">
                <a:latin typeface="宋体"/>
                <a:cs typeface="宋体"/>
              </a:rPr>
              <a:t>有</a:t>
            </a:r>
            <a:r>
              <a:rPr dirty="0" sz="1400">
                <a:latin typeface="宋体"/>
                <a:cs typeface="宋体"/>
              </a:rPr>
              <a:t>不同</a:t>
            </a:r>
            <a:r>
              <a:rPr dirty="0" sz="1400" spc="-15">
                <a:latin typeface="宋体"/>
                <a:cs typeface="宋体"/>
              </a:rPr>
              <a:t>程度</a:t>
            </a:r>
            <a:r>
              <a:rPr dirty="0" sz="1400">
                <a:latin typeface="宋体"/>
                <a:cs typeface="宋体"/>
              </a:rPr>
              <a:t>的复苏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306070" marR="180975" indent="-214629">
              <a:lnSpc>
                <a:spcPct val="107100"/>
              </a:lnSpc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从贸易</a:t>
            </a:r>
            <a:r>
              <a:rPr dirty="0" sz="1400" spc="-15">
                <a:latin typeface="宋体"/>
                <a:cs typeface="宋体"/>
              </a:rPr>
              <a:t>自</a:t>
            </a:r>
            <a:r>
              <a:rPr dirty="0" sz="1400">
                <a:latin typeface="宋体"/>
                <a:cs typeface="宋体"/>
              </a:rPr>
              <a:t>由角</a:t>
            </a:r>
            <a:r>
              <a:rPr dirty="0" sz="1400" spc="-15">
                <a:latin typeface="宋体"/>
                <a:cs typeface="宋体"/>
              </a:rPr>
              <a:t>度来</a:t>
            </a:r>
            <a:r>
              <a:rPr dirty="0" sz="1400">
                <a:latin typeface="宋体"/>
                <a:cs typeface="宋体"/>
              </a:rPr>
              <a:t>看，阿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廷政</a:t>
            </a:r>
            <a:r>
              <a:rPr dirty="0" sz="1400" spc="-15">
                <a:latin typeface="宋体"/>
                <a:cs typeface="宋体"/>
              </a:rPr>
              <a:t>府</a:t>
            </a:r>
            <a:r>
              <a:rPr dirty="0" sz="1400">
                <a:latin typeface="宋体"/>
                <a:cs typeface="宋体"/>
              </a:rPr>
              <a:t>取 </a:t>
            </a:r>
            <a:r>
              <a:rPr dirty="0" sz="1400">
                <a:latin typeface="宋体"/>
                <a:cs typeface="宋体"/>
              </a:rPr>
              <a:t>消出口</a:t>
            </a:r>
            <a:r>
              <a:rPr dirty="0" sz="1400" spc="-15">
                <a:latin typeface="宋体"/>
                <a:cs typeface="宋体"/>
              </a:rPr>
              <a:t>关</a:t>
            </a:r>
            <a:r>
              <a:rPr dirty="0" sz="1400">
                <a:latin typeface="宋体"/>
                <a:cs typeface="宋体"/>
              </a:rPr>
              <a:t>税，</a:t>
            </a:r>
            <a:r>
              <a:rPr dirty="0" sz="1400" spc="-15">
                <a:latin typeface="宋体"/>
                <a:cs typeface="宋体"/>
              </a:rPr>
              <a:t>但为</a:t>
            </a:r>
            <a:r>
              <a:rPr dirty="0" sz="1400">
                <a:latin typeface="宋体"/>
                <a:cs typeface="宋体"/>
              </a:rPr>
              <a:t>保护本</a:t>
            </a:r>
            <a:r>
              <a:rPr dirty="0" sz="1400" spc="-15">
                <a:latin typeface="宋体"/>
                <a:cs typeface="宋体"/>
              </a:rPr>
              <a:t>国</a:t>
            </a:r>
            <a:r>
              <a:rPr dirty="0" sz="1400">
                <a:latin typeface="宋体"/>
                <a:cs typeface="宋体"/>
              </a:rPr>
              <a:t>实体经 </a:t>
            </a:r>
            <a:r>
              <a:rPr dirty="0" sz="1400" spc="5">
                <a:latin typeface="宋体"/>
                <a:cs typeface="宋体"/>
              </a:rPr>
              <a:t>济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提</a:t>
            </a:r>
            <a:r>
              <a:rPr dirty="0" sz="1400" spc="-15">
                <a:latin typeface="宋体"/>
                <a:cs typeface="宋体"/>
              </a:rPr>
              <a:t>高</a:t>
            </a:r>
            <a:r>
              <a:rPr dirty="0" sz="1400" spc="5">
                <a:latin typeface="宋体"/>
                <a:cs typeface="宋体"/>
              </a:rPr>
              <a:t>部</a:t>
            </a:r>
            <a:r>
              <a:rPr dirty="0" sz="1400">
                <a:latin typeface="宋体"/>
                <a:cs typeface="宋体"/>
              </a:rPr>
              <a:t>分</a:t>
            </a:r>
            <a:r>
              <a:rPr dirty="0" sz="1400" spc="-10">
                <a:latin typeface="宋体"/>
                <a:cs typeface="宋体"/>
              </a:rPr>
              <a:t>产品</a:t>
            </a:r>
            <a:r>
              <a:rPr dirty="0" sz="1400" spc="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口</a:t>
            </a:r>
            <a:r>
              <a:rPr dirty="0" sz="1400" spc="5">
                <a:latin typeface="宋体"/>
                <a:cs typeface="宋体"/>
              </a:rPr>
              <a:t>关税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algn="just" marL="306070" marR="180975" indent="-214629">
              <a:lnSpc>
                <a:spcPct val="107100"/>
              </a:lnSpc>
              <a:buFont typeface="Arial"/>
              <a:buChar char="•"/>
              <a:tabLst>
                <a:tab pos="306705" algn="l"/>
              </a:tabLst>
            </a:pPr>
            <a:r>
              <a:rPr dirty="0" sz="1400">
                <a:latin typeface="宋体"/>
                <a:cs typeface="宋体"/>
              </a:rPr>
              <a:t>从投资</a:t>
            </a:r>
            <a:r>
              <a:rPr dirty="0" sz="1400" spc="-15">
                <a:latin typeface="宋体"/>
                <a:cs typeface="宋体"/>
              </a:rPr>
              <a:t>自</a:t>
            </a:r>
            <a:r>
              <a:rPr dirty="0" sz="1400">
                <a:latin typeface="宋体"/>
                <a:cs typeface="宋体"/>
              </a:rPr>
              <a:t>由角</a:t>
            </a:r>
            <a:r>
              <a:rPr dirty="0" sz="1400" spc="-15">
                <a:latin typeface="宋体"/>
                <a:cs typeface="宋体"/>
              </a:rPr>
              <a:t>度看</a:t>
            </a:r>
            <a:r>
              <a:rPr dirty="0" sz="1400">
                <a:latin typeface="宋体"/>
                <a:cs typeface="宋体"/>
              </a:rPr>
              <a:t>，阿根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政府</a:t>
            </a:r>
            <a:r>
              <a:rPr dirty="0" sz="1400" spc="-15">
                <a:latin typeface="宋体"/>
                <a:cs typeface="宋体"/>
              </a:rPr>
              <a:t>采</a:t>
            </a:r>
            <a:r>
              <a:rPr dirty="0" sz="1400">
                <a:latin typeface="宋体"/>
                <a:cs typeface="宋体"/>
              </a:rPr>
              <a:t>取 一系列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好外</a:t>
            </a:r>
            <a:r>
              <a:rPr dirty="0" sz="1400" spc="-15">
                <a:latin typeface="宋体"/>
                <a:cs typeface="宋体"/>
              </a:rPr>
              <a:t>商投</a:t>
            </a:r>
            <a:r>
              <a:rPr dirty="0" sz="1400">
                <a:latin typeface="宋体"/>
                <a:cs typeface="宋体"/>
              </a:rPr>
              <a:t>资政策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鼓励</a:t>
            </a:r>
            <a:r>
              <a:rPr dirty="0" sz="1400" spc="-15">
                <a:latin typeface="宋体"/>
                <a:cs typeface="宋体"/>
              </a:rPr>
              <a:t>外</a:t>
            </a:r>
            <a:r>
              <a:rPr dirty="0" sz="1400">
                <a:latin typeface="宋体"/>
                <a:cs typeface="宋体"/>
              </a:rPr>
              <a:t>国 </a:t>
            </a:r>
            <a:r>
              <a:rPr dirty="0" sz="1400">
                <a:latin typeface="宋体"/>
                <a:cs typeface="宋体"/>
              </a:rPr>
              <a:t>投资者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入阿</a:t>
            </a:r>
            <a:r>
              <a:rPr dirty="0" sz="1400" spc="-15">
                <a:latin typeface="宋体"/>
                <a:cs typeface="宋体"/>
              </a:rPr>
              <a:t>根廷</a:t>
            </a:r>
            <a:r>
              <a:rPr dirty="0" sz="1400">
                <a:latin typeface="宋体"/>
                <a:cs typeface="宋体"/>
              </a:rPr>
              <a:t>市场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306070" marR="180340" indent="-214629">
              <a:lnSpc>
                <a:spcPct val="107200"/>
              </a:lnSpc>
              <a:spcBef>
                <a:spcPts val="5"/>
              </a:spcBef>
              <a:buFont typeface="Arial"/>
              <a:buChar char="•"/>
              <a:tabLst>
                <a:tab pos="306070" algn="l"/>
                <a:tab pos="306705" algn="l"/>
              </a:tabLst>
            </a:pPr>
            <a:r>
              <a:rPr dirty="0" sz="1400" spc="5">
                <a:latin typeface="宋体"/>
                <a:cs typeface="宋体"/>
              </a:rPr>
              <a:t>从</a:t>
            </a:r>
            <a:r>
              <a:rPr dirty="0" sz="1400">
                <a:latin typeface="宋体"/>
                <a:cs typeface="宋体"/>
              </a:rPr>
              <a:t>金</a:t>
            </a:r>
            <a:r>
              <a:rPr dirty="0" sz="1400" spc="5">
                <a:latin typeface="宋体"/>
                <a:cs typeface="宋体"/>
              </a:rPr>
              <a:t>融</a:t>
            </a:r>
            <a:r>
              <a:rPr dirty="0" sz="1400" spc="-15">
                <a:latin typeface="宋体"/>
                <a:cs typeface="宋体"/>
              </a:rPr>
              <a:t>自</a:t>
            </a:r>
            <a:r>
              <a:rPr dirty="0" sz="1400" spc="5">
                <a:latin typeface="宋体"/>
                <a:cs typeface="宋体"/>
              </a:rPr>
              <a:t>由</a:t>
            </a:r>
            <a:r>
              <a:rPr dirty="0" sz="1400">
                <a:latin typeface="宋体"/>
                <a:cs typeface="宋体"/>
              </a:rPr>
              <a:t>角</a:t>
            </a:r>
            <a:r>
              <a:rPr dirty="0" sz="1400" spc="-10">
                <a:latin typeface="宋体"/>
                <a:cs typeface="宋体"/>
              </a:rPr>
              <a:t>度来</a:t>
            </a:r>
            <a:r>
              <a:rPr dirty="0" sz="1400" spc="5">
                <a:latin typeface="宋体"/>
                <a:cs typeface="宋体"/>
              </a:rPr>
              <a:t>看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 spc="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政</a:t>
            </a:r>
            <a:r>
              <a:rPr dirty="0" sz="1400" spc="-10">
                <a:latin typeface="宋体"/>
                <a:cs typeface="宋体"/>
              </a:rPr>
              <a:t>府</a:t>
            </a:r>
            <a:r>
              <a:rPr dirty="0" sz="1400">
                <a:latin typeface="宋体"/>
                <a:cs typeface="宋体"/>
              </a:rPr>
              <a:t>取 </a:t>
            </a:r>
            <a:r>
              <a:rPr dirty="0" sz="1400">
                <a:latin typeface="宋体"/>
                <a:cs typeface="宋体"/>
              </a:rPr>
              <a:t>消外汇</a:t>
            </a:r>
            <a:r>
              <a:rPr dirty="0" sz="1400" spc="-15">
                <a:latin typeface="宋体"/>
                <a:cs typeface="宋体"/>
              </a:rPr>
              <a:t>管</a:t>
            </a:r>
            <a:r>
              <a:rPr dirty="0" sz="1400">
                <a:latin typeface="宋体"/>
                <a:cs typeface="宋体"/>
              </a:rPr>
              <a:t>制，</a:t>
            </a:r>
            <a:r>
              <a:rPr dirty="0" sz="1400" spc="-15">
                <a:latin typeface="宋体"/>
                <a:cs typeface="宋体"/>
              </a:rPr>
              <a:t>加上</a:t>
            </a:r>
            <a:r>
              <a:rPr dirty="0" sz="1400">
                <a:latin typeface="宋体"/>
                <a:cs typeface="宋体"/>
              </a:rPr>
              <a:t>市场对</a:t>
            </a:r>
            <a:r>
              <a:rPr dirty="0" sz="1400" spc="-1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根廷</a:t>
            </a:r>
            <a:r>
              <a:rPr dirty="0" sz="1400" spc="-15">
                <a:latin typeface="宋体"/>
                <a:cs typeface="宋体"/>
              </a:rPr>
              <a:t>总</a:t>
            </a:r>
            <a:r>
              <a:rPr dirty="0" sz="1400">
                <a:latin typeface="宋体"/>
                <a:cs typeface="宋体"/>
              </a:rPr>
              <a:t>统 </a:t>
            </a:r>
            <a:r>
              <a:rPr dirty="0" sz="1400">
                <a:latin typeface="宋体"/>
                <a:cs typeface="宋体"/>
              </a:rPr>
              <a:t>大选以</a:t>
            </a:r>
            <a:r>
              <a:rPr dirty="0" sz="1400" spc="-15">
                <a:latin typeface="宋体"/>
                <a:cs typeface="宋体"/>
              </a:rPr>
              <a:t>后</a:t>
            </a:r>
            <a:r>
              <a:rPr dirty="0" sz="1400">
                <a:latin typeface="宋体"/>
                <a:cs typeface="宋体"/>
              </a:rPr>
              <a:t>的经</a:t>
            </a:r>
            <a:r>
              <a:rPr dirty="0" sz="1400" spc="-15">
                <a:latin typeface="宋体"/>
                <a:cs typeface="宋体"/>
              </a:rPr>
              <a:t>济形</a:t>
            </a:r>
            <a:r>
              <a:rPr dirty="0" sz="1400">
                <a:latin typeface="宋体"/>
                <a:cs typeface="宋体"/>
              </a:rPr>
              <a:t>势普遍</a:t>
            </a:r>
            <a:r>
              <a:rPr dirty="0" sz="1400" spc="-15">
                <a:latin typeface="宋体"/>
                <a:cs typeface="宋体"/>
              </a:rPr>
              <a:t>持</a:t>
            </a:r>
            <a:r>
              <a:rPr dirty="0" sz="1400">
                <a:latin typeface="宋体"/>
                <a:cs typeface="宋体"/>
              </a:rPr>
              <a:t>乐观态 </a:t>
            </a:r>
            <a:r>
              <a:rPr dirty="0" sz="1400">
                <a:latin typeface="宋体"/>
                <a:cs typeface="宋体"/>
              </a:rPr>
              <a:t>度，今</a:t>
            </a:r>
            <a:r>
              <a:rPr dirty="0" sz="1400" spc="-15">
                <a:latin typeface="宋体"/>
                <a:cs typeface="宋体"/>
              </a:rPr>
              <a:t>年</a:t>
            </a:r>
            <a:r>
              <a:rPr dirty="0" sz="1400">
                <a:latin typeface="宋体"/>
                <a:cs typeface="宋体"/>
              </a:rPr>
              <a:t>以来</a:t>
            </a:r>
            <a:r>
              <a:rPr dirty="0" sz="1400" spc="-15">
                <a:latin typeface="宋体"/>
                <a:cs typeface="宋体"/>
              </a:rPr>
              <a:t>，阿</a:t>
            </a:r>
            <a:r>
              <a:rPr dirty="0" sz="1400">
                <a:latin typeface="宋体"/>
                <a:cs typeface="宋体"/>
              </a:rPr>
              <a:t>根廷金</a:t>
            </a:r>
            <a:r>
              <a:rPr dirty="0" sz="1400" spc="-15">
                <a:latin typeface="宋体"/>
                <a:cs typeface="宋体"/>
              </a:rPr>
              <a:t>融</a:t>
            </a:r>
            <a:r>
              <a:rPr dirty="0" sz="1400">
                <a:latin typeface="宋体"/>
                <a:cs typeface="宋体"/>
              </a:rPr>
              <a:t>市场</a:t>
            </a:r>
            <a:r>
              <a:rPr dirty="0" sz="1400" spc="-15">
                <a:latin typeface="宋体"/>
                <a:cs typeface="宋体"/>
              </a:rPr>
              <a:t>较</a:t>
            </a:r>
            <a:r>
              <a:rPr dirty="0" sz="1400">
                <a:latin typeface="宋体"/>
                <a:cs typeface="宋体"/>
              </a:rPr>
              <a:t>为 </a:t>
            </a:r>
            <a:r>
              <a:rPr dirty="0" sz="1400">
                <a:latin typeface="宋体"/>
                <a:cs typeface="宋体"/>
              </a:rPr>
              <a:t>稳定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0" name="object 140"/>
          <p:cNvSpPr txBox="1">
            <a:spLocks noGrp="1"/>
          </p:cNvSpPr>
          <p:nvPr>
            <p:ph type="title"/>
          </p:nvPr>
        </p:nvSpPr>
        <p:spPr>
          <a:xfrm>
            <a:off x="78739" y="325374"/>
            <a:ext cx="69265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660000"/>
                </a:solidFill>
                <a:latin typeface="明兰"/>
                <a:cs typeface="明兰"/>
              </a:rPr>
              <a:t>全资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自建工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优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势分析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：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杠杆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因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素作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用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背</a:t>
            </a:r>
            <a:r>
              <a:rPr dirty="0" sz="2000" spc="45" b="1">
                <a:solidFill>
                  <a:srgbClr val="660000"/>
                </a:solidFill>
                <a:latin typeface="明兰"/>
                <a:cs typeface="明兰"/>
              </a:rPr>
              <a:t>景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经济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预期</a:t>
            </a:r>
            <a:endParaRPr sz="20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904" y="1091183"/>
            <a:ext cx="8395970" cy="33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2860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180"/>
              </a:spcBef>
            </a:pPr>
            <a:r>
              <a:rPr dirty="0" sz="1800" spc="10" b="1">
                <a:latin typeface="明兰"/>
                <a:cs typeface="明兰"/>
              </a:rPr>
              <a:t>外商投资及贸易政策框架日趋完善，外商投资激励保障优势凸显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4904" y="2072639"/>
            <a:ext cx="4274820" cy="2801620"/>
          </a:xfrm>
          <a:custGeom>
            <a:avLst/>
            <a:gdLst/>
            <a:ahLst/>
            <a:cxnLst/>
            <a:rect l="l" t="t" r="r" b="b"/>
            <a:pathLst>
              <a:path w="4274820" h="2801620">
                <a:moveTo>
                  <a:pt x="0" y="2801112"/>
                </a:moveTo>
                <a:lnTo>
                  <a:pt x="4274820" y="2801112"/>
                </a:lnTo>
                <a:lnTo>
                  <a:pt x="4274820" y="0"/>
                </a:lnTo>
                <a:lnTo>
                  <a:pt x="0" y="0"/>
                </a:lnTo>
                <a:lnTo>
                  <a:pt x="0" y="2801112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3644" y="2113533"/>
            <a:ext cx="3968115" cy="7442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99085" marR="5080" indent="-286385">
              <a:lnSpc>
                <a:spcPts val="1839"/>
              </a:lnSpc>
              <a:spcBef>
                <a:spcPts val="22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投</a:t>
            </a:r>
            <a:r>
              <a:rPr dirty="0" sz="1600" spc="-5">
                <a:latin typeface="宋体"/>
                <a:cs typeface="宋体"/>
              </a:rPr>
              <a:t>资项</a:t>
            </a:r>
            <a:r>
              <a:rPr dirty="0" sz="1600" spc="5">
                <a:latin typeface="宋体"/>
                <a:cs typeface="宋体"/>
              </a:rPr>
              <a:t>目</a:t>
            </a:r>
            <a:r>
              <a:rPr dirty="0" sz="1600" spc="-5">
                <a:latin typeface="宋体"/>
                <a:cs typeface="宋体"/>
              </a:rPr>
              <a:t>进口资</a:t>
            </a:r>
            <a:r>
              <a:rPr dirty="0" sz="1600" spc="5">
                <a:latin typeface="宋体"/>
                <a:cs typeface="宋体"/>
              </a:rPr>
              <a:t>本</a:t>
            </a:r>
            <a:r>
              <a:rPr dirty="0" sz="1600" spc="-5">
                <a:latin typeface="宋体"/>
                <a:cs typeface="宋体"/>
              </a:rPr>
              <a:t>品税</a:t>
            </a:r>
            <a:r>
              <a:rPr dirty="0" sz="1600" spc="5">
                <a:latin typeface="宋体"/>
                <a:cs typeface="宋体"/>
              </a:rPr>
              <a:t>收</a:t>
            </a:r>
            <a:r>
              <a:rPr dirty="0" sz="1600" spc="-5">
                <a:latin typeface="宋体"/>
                <a:cs typeface="宋体"/>
              </a:rPr>
              <a:t>减免政</a:t>
            </a:r>
            <a:r>
              <a:rPr dirty="0" sz="1600" spc="5">
                <a:latin typeface="宋体"/>
                <a:cs typeface="宋体"/>
              </a:rPr>
              <a:t>策</a:t>
            </a:r>
            <a:r>
              <a:rPr dirty="0" sz="1600" spc="-5">
                <a:latin typeface="宋体"/>
                <a:cs typeface="宋体"/>
              </a:rPr>
              <a:t>及协议 </a:t>
            </a:r>
            <a:r>
              <a:rPr dirty="0" sz="1600" spc="5">
                <a:latin typeface="宋体"/>
                <a:cs typeface="宋体"/>
              </a:rPr>
              <a:t>框</a:t>
            </a:r>
            <a:r>
              <a:rPr dirty="0" sz="1600" spc="-5">
                <a:latin typeface="宋体"/>
                <a:cs typeface="宋体"/>
              </a:rPr>
              <a:t>架</a:t>
            </a:r>
            <a:r>
              <a:rPr dirty="0" sz="1600" spc="90">
                <a:latin typeface="宋体"/>
                <a:cs typeface="宋体"/>
              </a:rPr>
              <a:t> </a:t>
            </a:r>
            <a:r>
              <a:rPr dirty="0" sz="1600" spc="-5">
                <a:latin typeface="Arial"/>
                <a:cs typeface="Arial"/>
              </a:rPr>
              <a:t>Ministry</a:t>
            </a:r>
            <a:r>
              <a:rPr dirty="0" sz="160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Economy</a:t>
            </a:r>
            <a:endParaRPr sz="1600">
              <a:latin typeface="Arial"/>
              <a:cs typeface="Arial"/>
            </a:endParaRPr>
          </a:p>
          <a:p>
            <a:pPr marL="297815">
              <a:lnSpc>
                <a:spcPts val="1855"/>
              </a:lnSpc>
            </a:pPr>
            <a:r>
              <a:rPr dirty="0" sz="1600" spc="-5">
                <a:latin typeface="Arial"/>
                <a:cs typeface="Arial"/>
              </a:rPr>
              <a:t>Resolution N 8/2001, Decree</a:t>
            </a:r>
            <a:r>
              <a:rPr dirty="0" sz="1600" spc="3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509/2007,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644" y="2833242"/>
            <a:ext cx="3968115" cy="12446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156845">
              <a:lnSpc>
                <a:spcPct val="100600"/>
              </a:lnSpc>
              <a:spcBef>
                <a:spcPts val="85"/>
              </a:spcBef>
            </a:pPr>
            <a:r>
              <a:rPr dirty="0" sz="1600" spc="-5">
                <a:latin typeface="Arial"/>
                <a:cs typeface="Arial"/>
              </a:rPr>
              <a:t>Resolution 15/2007, Decree No.256/2000,  Decree 379/2001</a:t>
            </a:r>
            <a:r>
              <a:rPr dirty="0" sz="1600" spc="-5">
                <a:latin typeface="宋体"/>
                <a:cs typeface="宋体"/>
              </a:rPr>
              <a:t>，</a:t>
            </a:r>
            <a:r>
              <a:rPr dirty="0" sz="1600" spc="-5">
                <a:latin typeface="Arial"/>
                <a:cs typeface="Arial"/>
              </a:rPr>
              <a:t>Decree</a:t>
            </a:r>
            <a:r>
              <a:rPr dirty="0" sz="160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2316/2008</a:t>
            </a:r>
            <a:endParaRPr sz="1600">
              <a:latin typeface="Arial"/>
              <a:cs typeface="Arial"/>
            </a:endParaRPr>
          </a:p>
          <a:p>
            <a:pPr marL="299085" marR="5080" indent="-286385">
              <a:lnSpc>
                <a:spcPts val="1839"/>
              </a:lnSpc>
              <a:spcBef>
                <a:spcPts val="21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火</a:t>
            </a:r>
            <a:r>
              <a:rPr dirty="0" sz="1600" spc="-5">
                <a:latin typeface="宋体"/>
                <a:cs typeface="宋体"/>
              </a:rPr>
              <a:t>地岛</a:t>
            </a:r>
            <a:r>
              <a:rPr dirty="0" sz="1600" spc="5">
                <a:latin typeface="宋体"/>
                <a:cs typeface="宋体"/>
              </a:rPr>
              <a:t>地</a:t>
            </a:r>
            <a:r>
              <a:rPr dirty="0" sz="1600" spc="-5">
                <a:latin typeface="宋体"/>
                <a:cs typeface="宋体"/>
              </a:rPr>
              <a:t>区进口</a:t>
            </a:r>
            <a:r>
              <a:rPr dirty="0" sz="1600" spc="5">
                <a:latin typeface="宋体"/>
                <a:cs typeface="宋体"/>
              </a:rPr>
              <a:t>电</a:t>
            </a:r>
            <a:r>
              <a:rPr dirty="0" sz="1600" spc="-5">
                <a:latin typeface="宋体"/>
                <a:cs typeface="宋体"/>
              </a:rPr>
              <a:t>子通</a:t>
            </a:r>
            <a:r>
              <a:rPr dirty="0" sz="1600" spc="5">
                <a:latin typeface="宋体"/>
                <a:cs typeface="宋体"/>
              </a:rPr>
              <a:t>信</a:t>
            </a:r>
            <a:r>
              <a:rPr dirty="0" sz="1600" spc="-5">
                <a:latin typeface="宋体"/>
                <a:cs typeface="宋体"/>
              </a:rPr>
              <a:t>散件进</a:t>
            </a:r>
            <a:r>
              <a:rPr dirty="0" sz="1600" spc="5">
                <a:latin typeface="宋体"/>
                <a:cs typeface="宋体"/>
              </a:rPr>
              <a:t>口</a:t>
            </a:r>
            <a:r>
              <a:rPr dirty="0" sz="1600" spc="-5">
                <a:latin typeface="宋体"/>
                <a:cs typeface="宋体"/>
              </a:rPr>
              <a:t>税收优 </a:t>
            </a:r>
            <a:r>
              <a:rPr dirty="0" sz="1600" spc="-5">
                <a:latin typeface="宋体"/>
                <a:cs typeface="宋体"/>
              </a:rPr>
              <a:t>惠</a:t>
            </a:r>
            <a:endParaRPr sz="1600">
              <a:latin typeface="宋体"/>
              <a:cs typeface="宋体"/>
            </a:endParaRPr>
          </a:p>
          <a:p>
            <a:pPr marL="297815">
              <a:lnSpc>
                <a:spcPts val="1855"/>
              </a:lnSpc>
            </a:pPr>
            <a:r>
              <a:rPr dirty="0" sz="1600" spc="-5">
                <a:latin typeface="Arial"/>
                <a:cs typeface="Arial"/>
              </a:rPr>
              <a:t>Decree No.493/2001,</a:t>
            </a:r>
            <a:r>
              <a:rPr dirty="0" sz="1600" spc="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Decree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644" y="4052697"/>
            <a:ext cx="394398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No.496/2001, Decree No.615/2001, Decree  No.733/2001, Decree No.959/2001 Decree  No.256/2000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904" y="1516380"/>
            <a:ext cx="4274820" cy="405765"/>
          </a:xfrm>
          <a:custGeom>
            <a:avLst/>
            <a:gdLst/>
            <a:ahLst/>
            <a:cxnLst/>
            <a:rect l="l" t="t" r="r" b="b"/>
            <a:pathLst>
              <a:path w="4274820" h="405764">
                <a:moveTo>
                  <a:pt x="4207256" y="0"/>
                </a:moveTo>
                <a:lnTo>
                  <a:pt x="67564" y="0"/>
                </a:lnTo>
                <a:lnTo>
                  <a:pt x="41265" y="5306"/>
                </a:lnTo>
                <a:lnTo>
                  <a:pt x="19789" y="19780"/>
                </a:lnTo>
                <a:lnTo>
                  <a:pt x="5309" y="41255"/>
                </a:lnTo>
                <a:lnTo>
                  <a:pt x="0" y="67564"/>
                </a:lnTo>
                <a:lnTo>
                  <a:pt x="0" y="337820"/>
                </a:lnTo>
                <a:lnTo>
                  <a:pt x="5309" y="364128"/>
                </a:lnTo>
                <a:lnTo>
                  <a:pt x="19789" y="385603"/>
                </a:lnTo>
                <a:lnTo>
                  <a:pt x="41265" y="400077"/>
                </a:lnTo>
                <a:lnTo>
                  <a:pt x="67564" y="405384"/>
                </a:lnTo>
                <a:lnTo>
                  <a:pt x="4207256" y="405384"/>
                </a:lnTo>
                <a:lnTo>
                  <a:pt x="4233564" y="400077"/>
                </a:lnTo>
                <a:lnTo>
                  <a:pt x="4255039" y="385603"/>
                </a:lnTo>
                <a:lnTo>
                  <a:pt x="4269513" y="364128"/>
                </a:lnTo>
                <a:lnTo>
                  <a:pt x="4274820" y="337820"/>
                </a:lnTo>
                <a:lnTo>
                  <a:pt x="4274820" y="67564"/>
                </a:lnTo>
                <a:lnTo>
                  <a:pt x="4269513" y="41255"/>
                </a:lnTo>
                <a:lnTo>
                  <a:pt x="4255039" y="19780"/>
                </a:lnTo>
                <a:lnTo>
                  <a:pt x="4233564" y="5306"/>
                </a:lnTo>
                <a:lnTo>
                  <a:pt x="4207256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20411" y="1516380"/>
            <a:ext cx="3950335" cy="405765"/>
          </a:xfrm>
          <a:custGeom>
            <a:avLst/>
            <a:gdLst/>
            <a:ahLst/>
            <a:cxnLst/>
            <a:rect l="l" t="t" r="r" b="b"/>
            <a:pathLst>
              <a:path w="3950334" h="405764">
                <a:moveTo>
                  <a:pt x="3882643" y="0"/>
                </a:moveTo>
                <a:lnTo>
                  <a:pt x="67563" y="0"/>
                </a:lnTo>
                <a:lnTo>
                  <a:pt x="41255" y="5306"/>
                </a:lnTo>
                <a:lnTo>
                  <a:pt x="19780" y="19780"/>
                </a:lnTo>
                <a:lnTo>
                  <a:pt x="5306" y="41255"/>
                </a:lnTo>
                <a:lnTo>
                  <a:pt x="0" y="67564"/>
                </a:lnTo>
                <a:lnTo>
                  <a:pt x="0" y="337820"/>
                </a:lnTo>
                <a:lnTo>
                  <a:pt x="5306" y="364128"/>
                </a:lnTo>
                <a:lnTo>
                  <a:pt x="19780" y="385603"/>
                </a:lnTo>
                <a:lnTo>
                  <a:pt x="41255" y="400077"/>
                </a:lnTo>
                <a:lnTo>
                  <a:pt x="67563" y="405384"/>
                </a:lnTo>
                <a:lnTo>
                  <a:pt x="3882643" y="405384"/>
                </a:lnTo>
                <a:lnTo>
                  <a:pt x="3908952" y="400077"/>
                </a:lnTo>
                <a:lnTo>
                  <a:pt x="3930427" y="385603"/>
                </a:lnTo>
                <a:lnTo>
                  <a:pt x="3944901" y="364128"/>
                </a:lnTo>
                <a:lnTo>
                  <a:pt x="3950208" y="337820"/>
                </a:lnTo>
                <a:lnTo>
                  <a:pt x="3950208" y="67564"/>
                </a:lnTo>
                <a:lnTo>
                  <a:pt x="3944901" y="41255"/>
                </a:lnTo>
                <a:lnTo>
                  <a:pt x="3930427" y="19780"/>
                </a:lnTo>
                <a:lnTo>
                  <a:pt x="3908952" y="5306"/>
                </a:lnTo>
                <a:lnTo>
                  <a:pt x="3882643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89785" y="1580845"/>
            <a:ext cx="5126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97045" algn="l"/>
              </a:tabLst>
            </a:pPr>
            <a:r>
              <a:rPr dirty="0" sz="1600" spc="15" b="1">
                <a:latin typeface="明兰"/>
                <a:cs typeface="明兰"/>
              </a:rPr>
              <a:t>税</a:t>
            </a:r>
            <a:r>
              <a:rPr dirty="0" sz="1600" b="1">
                <a:latin typeface="明兰"/>
                <a:cs typeface="明兰"/>
              </a:rPr>
              <a:t>收方</a:t>
            </a:r>
            <a:r>
              <a:rPr dirty="0" sz="1600" spc="-5" b="1">
                <a:latin typeface="明兰"/>
                <a:cs typeface="明兰"/>
              </a:rPr>
              <a:t>面</a:t>
            </a:r>
            <a:r>
              <a:rPr dirty="0" sz="1600" b="1">
                <a:latin typeface="明兰"/>
                <a:cs typeface="明兰"/>
              </a:rPr>
              <a:t>	</a:t>
            </a:r>
            <a:r>
              <a:rPr dirty="0" sz="1600" spc="15" b="1">
                <a:latin typeface="明兰"/>
                <a:cs typeface="明兰"/>
              </a:rPr>
              <a:t>投</a:t>
            </a:r>
            <a:r>
              <a:rPr dirty="0" sz="1600" b="1">
                <a:latin typeface="明兰"/>
                <a:cs typeface="明兰"/>
              </a:rPr>
              <a:t>资方</a:t>
            </a:r>
            <a:r>
              <a:rPr dirty="0" sz="1600" spc="-5" b="1">
                <a:latin typeface="明兰"/>
                <a:cs typeface="明兰"/>
              </a:rPr>
              <a:t>面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0411" y="2065020"/>
            <a:ext cx="3950335" cy="25558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600" spc="15" b="1">
                <a:latin typeface="明兰"/>
                <a:cs typeface="明兰"/>
              </a:rPr>
              <a:t>通</a:t>
            </a:r>
            <a:r>
              <a:rPr dirty="0" sz="1600" b="1">
                <a:latin typeface="明兰"/>
                <a:cs typeface="明兰"/>
              </a:rPr>
              <a:t>用投</a:t>
            </a:r>
            <a:r>
              <a:rPr dirty="0" sz="1600" spc="15" b="1">
                <a:latin typeface="明兰"/>
                <a:cs typeface="明兰"/>
              </a:rPr>
              <a:t>资</a:t>
            </a:r>
            <a:r>
              <a:rPr dirty="0" sz="1600" b="1">
                <a:latin typeface="明兰"/>
                <a:cs typeface="明兰"/>
              </a:rPr>
              <a:t>法</a:t>
            </a:r>
            <a:r>
              <a:rPr dirty="0" sz="1600" spc="-5" b="1">
                <a:latin typeface="明兰"/>
                <a:cs typeface="明兰"/>
              </a:rPr>
              <a:t>案</a:t>
            </a:r>
            <a:endParaRPr sz="1600">
              <a:latin typeface="明兰"/>
              <a:cs typeface="明兰"/>
            </a:endParaRPr>
          </a:p>
          <a:p>
            <a:pPr marL="378460" indent="-286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dirty="0" sz="1600" spc="5">
                <a:latin typeface="宋体"/>
                <a:cs typeface="宋体"/>
              </a:rPr>
              <a:t>外国投资者</a:t>
            </a:r>
            <a:r>
              <a:rPr dirty="0" sz="1600" spc="-5">
                <a:latin typeface="宋体"/>
                <a:cs typeface="宋体"/>
              </a:rPr>
              <a:t>投资</a:t>
            </a:r>
            <a:r>
              <a:rPr dirty="0" sz="1600" spc="5">
                <a:latin typeface="宋体"/>
                <a:cs typeface="宋体"/>
              </a:rPr>
              <a:t>法</a:t>
            </a:r>
            <a:r>
              <a:rPr dirty="0" sz="1600" spc="-5">
                <a:latin typeface="宋体"/>
                <a:cs typeface="宋体"/>
              </a:rPr>
              <a:t>案</a:t>
            </a:r>
            <a:r>
              <a:rPr dirty="0" sz="1600" spc="-10">
                <a:latin typeface="宋体"/>
                <a:cs typeface="宋体"/>
              </a:rPr>
              <a:t>（</a:t>
            </a:r>
            <a:r>
              <a:rPr dirty="0" sz="1600" spc="-10">
                <a:latin typeface="Arial"/>
                <a:cs typeface="Arial"/>
              </a:rPr>
              <a:t>No.21382</a:t>
            </a:r>
            <a:r>
              <a:rPr dirty="0" sz="1600" spc="-10">
                <a:latin typeface="宋体"/>
                <a:cs typeface="宋体"/>
              </a:rPr>
              <a:t>）</a:t>
            </a:r>
            <a:endParaRPr sz="1600">
              <a:latin typeface="宋体"/>
              <a:cs typeface="宋体"/>
            </a:endParaRPr>
          </a:p>
          <a:p>
            <a:pPr algn="just" marL="378460" marR="110489" indent="-286385">
              <a:lnSpc>
                <a:spcPct val="98500"/>
              </a:lnSpc>
              <a:spcBef>
                <a:spcPts val="115"/>
              </a:spcBef>
              <a:buFont typeface="Arial"/>
              <a:buChar char="•"/>
              <a:tabLst>
                <a:tab pos="379095" algn="l"/>
              </a:tabLst>
            </a:pPr>
            <a:r>
              <a:rPr dirty="0" sz="1600" spc="5">
                <a:latin typeface="宋体"/>
                <a:cs typeface="宋体"/>
              </a:rPr>
              <a:t>外</a:t>
            </a:r>
            <a:r>
              <a:rPr dirty="0" sz="1600" spc="-5">
                <a:latin typeface="宋体"/>
                <a:cs typeface="宋体"/>
              </a:rPr>
              <a:t>国投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者与阿</a:t>
            </a:r>
            <a:r>
              <a:rPr dirty="0" sz="1600" spc="5">
                <a:latin typeface="宋体"/>
                <a:cs typeface="宋体"/>
              </a:rPr>
              <a:t>根</a:t>
            </a:r>
            <a:r>
              <a:rPr dirty="0" sz="1600" spc="-5">
                <a:latin typeface="宋体"/>
                <a:cs typeface="宋体"/>
              </a:rPr>
              <a:t>廷本</a:t>
            </a:r>
            <a:r>
              <a:rPr dirty="0" sz="1600" spc="5">
                <a:latin typeface="宋体"/>
                <a:cs typeface="宋体"/>
              </a:rPr>
              <a:t>地</a:t>
            </a:r>
            <a:r>
              <a:rPr dirty="0" sz="1600" spc="-5">
                <a:latin typeface="宋体"/>
                <a:cs typeface="宋体"/>
              </a:rPr>
              <a:t>投资者</a:t>
            </a:r>
            <a:r>
              <a:rPr dirty="0" sz="1600" spc="5">
                <a:latin typeface="宋体"/>
                <a:cs typeface="宋体"/>
              </a:rPr>
              <a:t>享</a:t>
            </a:r>
            <a:r>
              <a:rPr dirty="0" sz="1600" spc="-5">
                <a:latin typeface="宋体"/>
                <a:cs typeface="宋体"/>
              </a:rPr>
              <a:t>有相 </a:t>
            </a:r>
            <a:r>
              <a:rPr dirty="0" sz="1600" spc="5">
                <a:latin typeface="宋体"/>
                <a:cs typeface="宋体"/>
              </a:rPr>
              <a:t>同</a:t>
            </a:r>
            <a:r>
              <a:rPr dirty="0" sz="1600" spc="-5">
                <a:latin typeface="宋体"/>
                <a:cs typeface="宋体"/>
              </a:rPr>
              <a:t>的权</a:t>
            </a:r>
            <a:r>
              <a:rPr dirty="0" sz="1600" spc="5">
                <a:latin typeface="宋体"/>
                <a:cs typeface="宋体"/>
              </a:rPr>
              <a:t>益</a:t>
            </a:r>
            <a:r>
              <a:rPr dirty="0" sz="1600" spc="-5">
                <a:latin typeface="宋体"/>
                <a:cs typeface="宋体"/>
              </a:rPr>
              <a:t>，投资</a:t>
            </a:r>
            <a:r>
              <a:rPr dirty="0" sz="1600" spc="5">
                <a:latin typeface="宋体"/>
                <a:cs typeface="宋体"/>
              </a:rPr>
              <a:t>者</a:t>
            </a:r>
            <a:r>
              <a:rPr dirty="0" sz="1600" spc="-5">
                <a:latin typeface="宋体"/>
                <a:cs typeface="宋体"/>
              </a:rPr>
              <a:t>目前</a:t>
            </a:r>
            <a:r>
              <a:rPr dirty="0" sz="1600" spc="5">
                <a:latin typeface="宋体"/>
                <a:cs typeface="宋体"/>
              </a:rPr>
              <a:t>在</a:t>
            </a:r>
            <a:r>
              <a:rPr dirty="0" sz="1600" spc="-5">
                <a:latin typeface="宋体"/>
                <a:cs typeface="宋体"/>
              </a:rPr>
              <a:t>阿根廷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投资 </a:t>
            </a:r>
            <a:r>
              <a:rPr dirty="0" sz="1600" spc="5">
                <a:latin typeface="宋体"/>
                <a:cs typeface="宋体"/>
              </a:rPr>
              <a:t>无</a:t>
            </a:r>
            <a:r>
              <a:rPr dirty="0" sz="1600" spc="-5">
                <a:latin typeface="宋体"/>
                <a:cs typeface="宋体"/>
              </a:rPr>
              <a:t>需审</a:t>
            </a:r>
            <a:r>
              <a:rPr dirty="0" sz="1600" spc="5">
                <a:latin typeface="宋体"/>
                <a:cs typeface="宋体"/>
              </a:rPr>
              <a:t>批</a:t>
            </a:r>
            <a:r>
              <a:rPr dirty="0" sz="1600" spc="-5">
                <a:latin typeface="宋体"/>
                <a:cs typeface="宋体"/>
              </a:rPr>
              <a:t>，但在</a:t>
            </a:r>
            <a:r>
              <a:rPr dirty="0" sz="1600" spc="5">
                <a:latin typeface="宋体"/>
                <a:cs typeface="宋体"/>
              </a:rPr>
              <a:t>电</a:t>
            </a:r>
            <a:r>
              <a:rPr dirty="0" sz="1600" spc="-5">
                <a:latin typeface="宋体"/>
                <a:cs typeface="宋体"/>
              </a:rPr>
              <a:t>子通</a:t>
            </a:r>
            <a:r>
              <a:rPr dirty="0" sz="1600" spc="5">
                <a:latin typeface="宋体"/>
                <a:cs typeface="宋体"/>
              </a:rPr>
              <a:t>信</a:t>
            </a:r>
            <a:r>
              <a:rPr dirty="0" sz="1600" spc="-5">
                <a:latin typeface="宋体"/>
                <a:cs typeface="宋体"/>
              </a:rPr>
              <a:t>行业的</a:t>
            </a:r>
            <a:r>
              <a:rPr dirty="0" sz="1600" spc="5">
                <a:latin typeface="宋体"/>
                <a:cs typeface="宋体"/>
              </a:rPr>
              <a:t>外</a:t>
            </a:r>
            <a:r>
              <a:rPr dirty="0" sz="1600" spc="-5">
                <a:latin typeface="宋体"/>
                <a:cs typeface="宋体"/>
              </a:rPr>
              <a:t>商投 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需要</a:t>
            </a:r>
            <a:r>
              <a:rPr dirty="0" sz="1600" spc="5">
                <a:latin typeface="宋体"/>
                <a:cs typeface="宋体"/>
              </a:rPr>
              <a:t>审</a:t>
            </a:r>
            <a:r>
              <a:rPr dirty="0" sz="1600" spc="-5">
                <a:latin typeface="宋体"/>
                <a:cs typeface="宋体"/>
              </a:rPr>
              <a:t>批</a:t>
            </a:r>
            <a:endParaRPr sz="16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</a:pPr>
            <a:r>
              <a:rPr dirty="0" sz="1600" spc="15" b="1">
                <a:latin typeface="明兰"/>
                <a:cs typeface="明兰"/>
              </a:rPr>
              <a:t>产</a:t>
            </a:r>
            <a:r>
              <a:rPr dirty="0" sz="1600" b="1">
                <a:latin typeface="明兰"/>
                <a:cs typeface="明兰"/>
              </a:rPr>
              <a:t>业投</a:t>
            </a:r>
            <a:r>
              <a:rPr dirty="0" sz="1600" spc="15" b="1">
                <a:latin typeface="明兰"/>
                <a:cs typeface="明兰"/>
              </a:rPr>
              <a:t>资</a:t>
            </a:r>
            <a:r>
              <a:rPr dirty="0" sz="1600" b="1">
                <a:latin typeface="明兰"/>
                <a:cs typeface="明兰"/>
              </a:rPr>
              <a:t>激</a:t>
            </a:r>
            <a:r>
              <a:rPr dirty="0" sz="1600" spc="-5" b="1">
                <a:latin typeface="明兰"/>
                <a:cs typeface="明兰"/>
              </a:rPr>
              <a:t>励</a:t>
            </a:r>
            <a:endParaRPr sz="1600">
              <a:latin typeface="明兰"/>
              <a:cs typeface="明兰"/>
            </a:endParaRPr>
          </a:p>
          <a:p>
            <a:pPr marL="378460" marR="163830" indent="-286385">
              <a:lnSpc>
                <a:spcPts val="1910"/>
              </a:lnSpc>
              <a:spcBef>
                <a:spcPts val="70"/>
              </a:spcBef>
              <a:buChar char="•"/>
              <a:tabLst>
                <a:tab pos="378460" algn="l"/>
                <a:tab pos="379095" algn="l"/>
              </a:tabLst>
            </a:pPr>
            <a:r>
              <a:rPr dirty="0" sz="1600" spc="-5">
                <a:latin typeface="Arial"/>
                <a:cs typeface="Arial"/>
              </a:rPr>
              <a:t>IT</a:t>
            </a:r>
            <a:r>
              <a:rPr dirty="0" sz="1600" spc="5">
                <a:latin typeface="宋体"/>
                <a:cs typeface="宋体"/>
              </a:rPr>
              <a:t>及电信产业投</a:t>
            </a:r>
            <a:r>
              <a:rPr dirty="0" sz="1600" spc="-5">
                <a:latin typeface="宋体"/>
                <a:cs typeface="宋体"/>
              </a:rPr>
              <a:t>资激</a:t>
            </a:r>
            <a:r>
              <a:rPr dirty="0" sz="1600" spc="5">
                <a:latin typeface="宋体"/>
                <a:cs typeface="宋体"/>
              </a:rPr>
              <a:t>励</a:t>
            </a:r>
            <a:r>
              <a:rPr dirty="0" sz="1600" spc="-5">
                <a:latin typeface="宋体"/>
                <a:cs typeface="宋体"/>
              </a:rPr>
              <a:t>措施</a:t>
            </a:r>
            <a:r>
              <a:rPr dirty="0" sz="1600" spc="-380">
                <a:latin typeface="宋体"/>
                <a:cs typeface="宋体"/>
              </a:rPr>
              <a:t> </a:t>
            </a:r>
            <a:r>
              <a:rPr dirty="0" sz="1600" spc="-5">
                <a:latin typeface="Arial"/>
                <a:cs typeface="Arial"/>
              </a:rPr>
              <a:t>Ministry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Industry</a:t>
            </a:r>
            <a:endParaRPr sz="1600">
              <a:latin typeface="Arial"/>
              <a:cs typeface="Arial"/>
            </a:endParaRPr>
          </a:p>
          <a:p>
            <a:pPr marL="377190">
              <a:lnSpc>
                <a:spcPts val="1855"/>
              </a:lnSpc>
            </a:pPr>
            <a:r>
              <a:rPr dirty="0" sz="1600" spc="-5">
                <a:latin typeface="Arial"/>
                <a:cs typeface="Arial"/>
              </a:rPr>
              <a:t>Decree 379/2001 Decree</a:t>
            </a:r>
            <a:r>
              <a:rPr dirty="0" sz="1600" spc="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917/2010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4904" y="5277611"/>
            <a:ext cx="8395970" cy="83248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dirty="0" sz="1600" spc="5">
                <a:latin typeface="宋体"/>
                <a:cs typeface="宋体"/>
              </a:rPr>
              <a:t>中</a:t>
            </a:r>
            <a:r>
              <a:rPr dirty="0" sz="1600" spc="-5">
                <a:latin typeface="宋体"/>
                <a:cs typeface="宋体"/>
              </a:rPr>
              <a:t>国是</a:t>
            </a:r>
            <a:r>
              <a:rPr dirty="0" sz="1600" spc="5">
                <a:latin typeface="宋体"/>
                <a:cs typeface="宋体"/>
              </a:rPr>
              <a:t>阿</a:t>
            </a:r>
            <a:r>
              <a:rPr dirty="0" sz="1600" spc="-5">
                <a:latin typeface="宋体"/>
                <a:cs typeface="宋体"/>
              </a:rPr>
              <a:t>根廷贸</a:t>
            </a:r>
            <a:r>
              <a:rPr dirty="0" sz="1600" spc="5">
                <a:latin typeface="宋体"/>
                <a:cs typeface="宋体"/>
              </a:rPr>
              <a:t>易</a:t>
            </a:r>
            <a:r>
              <a:rPr dirty="0" sz="1600" spc="-5">
                <a:latin typeface="宋体"/>
                <a:cs typeface="宋体"/>
              </a:rPr>
              <a:t>促进</a:t>
            </a:r>
            <a:r>
              <a:rPr dirty="0" sz="1600" spc="5">
                <a:latin typeface="宋体"/>
                <a:cs typeface="宋体"/>
              </a:rPr>
              <a:t>与</a:t>
            </a:r>
            <a:r>
              <a:rPr dirty="0" sz="1600" spc="-5">
                <a:latin typeface="宋体"/>
                <a:cs typeface="宋体"/>
              </a:rPr>
              <a:t>保护协</a:t>
            </a:r>
            <a:r>
              <a:rPr dirty="0" sz="1600" spc="5">
                <a:latin typeface="宋体"/>
                <a:cs typeface="宋体"/>
              </a:rPr>
              <a:t>议</a:t>
            </a:r>
            <a:r>
              <a:rPr dirty="0" sz="1600" spc="-5">
                <a:latin typeface="宋体"/>
                <a:cs typeface="宋体"/>
              </a:rPr>
              <a:t>国</a:t>
            </a:r>
            <a:endParaRPr sz="1600">
              <a:latin typeface="宋体"/>
              <a:cs typeface="宋体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  <a:tab pos="378460" algn="l"/>
              </a:tabLst>
            </a:pPr>
            <a:r>
              <a:rPr dirty="0" sz="1600" spc="-5">
                <a:latin typeface="Arial"/>
                <a:cs typeface="Arial"/>
              </a:rPr>
              <a:t>2018</a:t>
            </a:r>
            <a:r>
              <a:rPr dirty="0" sz="1600" spc="5">
                <a:latin typeface="宋体"/>
                <a:cs typeface="宋体"/>
              </a:rPr>
              <a:t>年</a:t>
            </a:r>
            <a:r>
              <a:rPr dirty="0" sz="1600" spc="-5">
                <a:latin typeface="Arial"/>
                <a:cs typeface="Arial"/>
              </a:rPr>
              <a:t>1</a:t>
            </a:r>
            <a:r>
              <a:rPr dirty="0" sz="1600" spc="5">
                <a:latin typeface="宋体"/>
                <a:cs typeface="宋体"/>
              </a:rPr>
              <a:t>月，阿</a:t>
            </a:r>
            <a:r>
              <a:rPr dirty="0" sz="1600" spc="-5">
                <a:latin typeface="宋体"/>
                <a:cs typeface="宋体"/>
              </a:rPr>
              <a:t>根</a:t>
            </a:r>
            <a:r>
              <a:rPr dirty="0" sz="1600" spc="5">
                <a:latin typeface="宋体"/>
                <a:cs typeface="宋体"/>
              </a:rPr>
              <a:t>廷</a:t>
            </a:r>
            <a:r>
              <a:rPr dirty="0" sz="1600" spc="-5">
                <a:latin typeface="宋体"/>
                <a:cs typeface="宋体"/>
              </a:rPr>
              <a:t>完成</a:t>
            </a:r>
            <a:r>
              <a:rPr dirty="0" sz="1600" spc="10">
                <a:latin typeface="宋体"/>
                <a:cs typeface="宋体"/>
              </a:rPr>
              <a:t>对</a:t>
            </a:r>
            <a:r>
              <a:rPr dirty="0" sz="1600" spc="-10">
                <a:latin typeface="Arial"/>
                <a:cs typeface="Arial"/>
              </a:rPr>
              <a:t>“</a:t>
            </a:r>
            <a:r>
              <a:rPr dirty="0" sz="1600" spc="5">
                <a:latin typeface="宋体"/>
                <a:cs typeface="宋体"/>
              </a:rPr>
              <a:t>贸</a:t>
            </a:r>
            <a:r>
              <a:rPr dirty="0" sz="1600" spc="-5">
                <a:latin typeface="宋体"/>
                <a:cs typeface="宋体"/>
              </a:rPr>
              <a:t>易</a:t>
            </a:r>
            <a:r>
              <a:rPr dirty="0" sz="1600" spc="5">
                <a:latin typeface="宋体"/>
                <a:cs typeface="宋体"/>
              </a:rPr>
              <a:t>便</a:t>
            </a:r>
            <a:r>
              <a:rPr dirty="0" sz="1600" spc="-5">
                <a:latin typeface="宋体"/>
                <a:cs typeface="宋体"/>
              </a:rPr>
              <a:t>利化</a:t>
            </a:r>
            <a:r>
              <a:rPr dirty="0" sz="1600" spc="5">
                <a:latin typeface="宋体"/>
                <a:cs typeface="宋体"/>
              </a:rPr>
              <a:t>协</a:t>
            </a:r>
            <a:r>
              <a:rPr dirty="0" sz="1600" spc="-5">
                <a:latin typeface="宋体"/>
                <a:cs typeface="宋体"/>
              </a:rPr>
              <a:t>定</a:t>
            </a:r>
            <a:r>
              <a:rPr dirty="0" sz="1600" spc="-20">
                <a:latin typeface="Arial"/>
                <a:cs typeface="Arial"/>
              </a:rPr>
              <a:t>”</a:t>
            </a:r>
            <a:r>
              <a:rPr dirty="0" sz="1600" spc="-20">
                <a:latin typeface="宋体"/>
                <a:cs typeface="宋体"/>
              </a:rPr>
              <a:t>（</a:t>
            </a:r>
            <a:r>
              <a:rPr dirty="0" sz="1600" spc="-20">
                <a:latin typeface="Arial"/>
                <a:cs typeface="Arial"/>
              </a:rPr>
              <a:t>TFA</a:t>
            </a:r>
            <a:r>
              <a:rPr dirty="0" sz="1600" spc="-20">
                <a:latin typeface="宋体"/>
                <a:cs typeface="宋体"/>
              </a:rPr>
              <a:t>）</a:t>
            </a:r>
            <a:r>
              <a:rPr dirty="0" sz="1600" spc="-5">
                <a:latin typeface="宋体"/>
                <a:cs typeface="宋体"/>
              </a:rPr>
              <a:t>的</a:t>
            </a:r>
            <a:r>
              <a:rPr dirty="0" sz="1600" spc="5">
                <a:latin typeface="宋体"/>
                <a:cs typeface="宋体"/>
              </a:rPr>
              <a:t>审</a:t>
            </a:r>
            <a:r>
              <a:rPr dirty="0" sz="1600" spc="-5">
                <a:latin typeface="宋体"/>
                <a:cs typeface="宋体"/>
              </a:rPr>
              <a:t>批</a:t>
            </a:r>
            <a:endParaRPr sz="1600">
              <a:latin typeface="宋体"/>
              <a:cs typeface="宋体"/>
            </a:endParaRPr>
          </a:p>
          <a:p>
            <a:pPr marL="377825" indent="-286385">
              <a:lnSpc>
                <a:spcPct val="100000"/>
              </a:lnSpc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dirty="0" sz="1600">
                <a:latin typeface="宋体"/>
                <a:cs typeface="宋体"/>
              </a:rPr>
              <a:t>对</a:t>
            </a:r>
            <a:r>
              <a:rPr dirty="0" sz="1600" spc="-5">
                <a:latin typeface="宋体"/>
                <a:cs typeface="宋体"/>
              </a:rPr>
              <a:t>于</a:t>
            </a:r>
            <a:r>
              <a:rPr dirty="0" sz="1600" spc="-10">
                <a:latin typeface="宋体"/>
                <a:cs typeface="宋体"/>
              </a:rPr>
              <a:t>外</a:t>
            </a:r>
            <a:r>
              <a:rPr dirty="0" sz="1600">
                <a:latin typeface="宋体"/>
                <a:cs typeface="宋体"/>
              </a:rPr>
              <a:t>国</a:t>
            </a:r>
            <a:r>
              <a:rPr dirty="0" sz="1600" spc="-5">
                <a:latin typeface="宋体"/>
                <a:cs typeface="宋体"/>
              </a:rPr>
              <a:t>投</a:t>
            </a:r>
            <a:r>
              <a:rPr dirty="0" sz="1600" spc="-10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者</a:t>
            </a:r>
            <a:r>
              <a:rPr dirty="0" sz="1600">
                <a:latin typeface="宋体"/>
                <a:cs typeface="宋体"/>
              </a:rPr>
              <a:t>，</a:t>
            </a:r>
            <a:r>
              <a:rPr dirty="0" sz="1600" spc="-5">
                <a:latin typeface="宋体"/>
                <a:cs typeface="宋体"/>
              </a:rPr>
              <a:t>资</a:t>
            </a:r>
            <a:r>
              <a:rPr dirty="0" sz="1600" spc="-10">
                <a:latin typeface="宋体"/>
                <a:cs typeface="宋体"/>
              </a:rPr>
              <a:t>本</a:t>
            </a:r>
            <a:r>
              <a:rPr dirty="0" sz="1600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出</a:t>
            </a:r>
            <a:r>
              <a:rPr dirty="0" sz="1600" spc="-10">
                <a:latin typeface="宋体"/>
                <a:cs typeface="宋体"/>
              </a:rPr>
              <a:t>入</a:t>
            </a:r>
            <a:r>
              <a:rPr dirty="0" sz="1600" spc="-5">
                <a:latin typeface="宋体"/>
                <a:cs typeface="宋体"/>
              </a:rPr>
              <a:t>境</a:t>
            </a:r>
            <a:r>
              <a:rPr dirty="0" sz="1600">
                <a:latin typeface="宋体"/>
                <a:cs typeface="宋体"/>
              </a:rPr>
              <a:t>取</a:t>
            </a:r>
            <a:r>
              <a:rPr dirty="0" sz="1600" spc="-5">
                <a:latin typeface="宋体"/>
                <a:cs typeface="宋体"/>
              </a:rPr>
              <a:t>消</a:t>
            </a:r>
            <a:r>
              <a:rPr dirty="0" sz="1600" spc="-10">
                <a:latin typeface="宋体"/>
                <a:cs typeface="宋体"/>
              </a:rPr>
              <a:t>限</a:t>
            </a:r>
            <a:r>
              <a:rPr dirty="0" sz="1600">
                <a:latin typeface="宋体"/>
                <a:cs typeface="宋体"/>
              </a:rPr>
              <a:t>制</a:t>
            </a:r>
            <a:r>
              <a:rPr dirty="0" sz="1600" spc="-5">
                <a:latin typeface="宋体"/>
                <a:cs typeface="宋体"/>
              </a:rPr>
              <a:t>，</a:t>
            </a:r>
            <a:r>
              <a:rPr dirty="0" sz="1600" spc="-10">
                <a:latin typeface="宋体"/>
                <a:cs typeface="宋体"/>
              </a:rPr>
              <a:t>阿</a:t>
            </a:r>
            <a:r>
              <a:rPr dirty="0" sz="1600" spc="-5">
                <a:latin typeface="宋体"/>
                <a:cs typeface="宋体"/>
              </a:rPr>
              <a:t>根</a:t>
            </a:r>
            <a:r>
              <a:rPr dirty="0" sz="1600">
                <a:latin typeface="宋体"/>
                <a:cs typeface="宋体"/>
              </a:rPr>
              <a:t>廷</a:t>
            </a:r>
            <a:r>
              <a:rPr dirty="0" sz="1600" spc="-5">
                <a:latin typeface="宋体"/>
                <a:cs typeface="宋体"/>
              </a:rPr>
              <a:t>境</a:t>
            </a:r>
            <a:r>
              <a:rPr dirty="0" sz="1600" spc="-10">
                <a:latin typeface="宋体"/>
                <a:cs typeface="宋体"/>
              </a:rPr>
              <a:t>内</a:t>
            </a:r>
            <a:r>
              <a:rPr dirty="0" sz="1600">
                <a:latin typeface="宋体"/>
                <a:cs typeface="宋体"/>
              </a:rPr>
              <a:t>实</a:t>
            </a:r>
            <a:r>
              <a:rPr dirty="0" sz="1600" spc="-5">
                <a:latin typeface="宋体"/>
                <a:cs typeface="宋体"/>
              </a:rPr>
              <a:t>现</a:t>
            </a:r>
            <a:r>
              <a:rPr dirty="0" sz="1600" spc="-10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利</a:t>
            </a:r>
            <a:r>
              <a:rPr dirty="0" sz="1600">
                <a:latin typeface="宋体"/>
                <a:cs typeface="宋体"/>
              </a:rPr>
              <a:t>润</a:t>
            </a:r>
            <a:r>
              <a:rPr dirty="0" sz="1600" spc="-5">
                <a:latin typeface="宋体"/>
                <a:cs typeface="宋体"/>
              </a:rPr>
              <a:t>可</a:t>
            </a:r>
            <a:r>
              <a:rPr dirty="0" sz="1600" spc="-10">
                <a:latin typeface="宋体"/>
                <a:cs typeface="宋体"/>
              </a:rPr>
              <a:t>以</a:t>
            </a:r>
            <a:r>
              <a:rPr dirty="0" sz="1600">
                <a:latin typeface="宋体"/>
                <a:cs typeface="宋体"/>
              </a:rPr>
              <a:t>自</a:t>
            </a:r>
            <a:r>
              <a:rPr dirty="0" sz="1600" spc="-5">
                <a:latin typeface="宋体"/>
                <a:cs typeface="宋体"/>
              </a:rPr>
              <a:t>由</a:t>
            </a:r>
            <a:r>
              <a:rPr dirty="0" sz="1600" spc="-10">
                <a:latin typeface="宋体"/>
                <a:cs typeface="宋体"/>
              </a:rPr>
              <a:t>转</a:t>
            </a:r>
            <a:r>
              <a:rPr dirty="0" sz="1600" spc="-5">
                <a:latin typeface="宋体"/>
                <a:cs typeface="宋体"/>
              </a:rPr>
              <a:t>移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4904" y="4777740"/>
            <a:ext cx="8395970" cy="405765"/>
          </a:xfrm>
          <a:custGeom>
            <a:avLst/>
            <a:gdLst/>
            <a:ahLst/>
            <a:cxnLst/>
            <a:rect l="l" t="t" r="r" b="b"/>
            <a:pathLst>
              <a:path w="8395970" h="405764">
                <a:moveTo>
                  <a:pt x="8328152" y="0"/>
                </a:moveTo>
                <a:lnTo>
                  <a:pt x="67564" y="0"/>
                </a:lnTo>
                <a:lnTo>
                  <a:pt x="41265" y="5306"/>
                </a:lnTo>
                <a:lnTo>
                  <a:pt x="19789" y="19780"/>
                </a:lnTo>
                <a:lnTo>
                  <a:pt x="5309" y="41255"/>
                </a:lnTo>
                <a:lnTo>
                  <a:pt x="0" y="67564"/>
                </a:lnTo>
                <a:lnTo>
                  <a:pt x="0" y="337820"/>
                </a:lnTo>
                <a:lnTo>
                  <a:pt x="5309" y="364128"/>
                </a:lnTo>
                <a:lnTo>
                  <a:pt x="19789" y="385603"/>
                </a:lnTo>
                <a:lnTo>
                  <a:pt x="41265" y="400077"/>
                </a:lnTo>
                <a:lnTo>
                  <a:pt x="67564" y="405384"/>
                </a:lnTo>
                <a:lnTo>
                  <a:pt x="8328152" y="405384"/>
                </a:lnTo>
                <a:lnTo>
                  <a:pt x="8354460" y="400077"/>
                </a:lnTo>
                <a:lnTo>
                  <a:pt x="8375935" y="385603"/>
                </a:lnTo>
                <a:lnTo>
                  <a:pt x="8390409" y="364128"/>
                </a:lnTo>
                <a:lnTo>
                  <a:pt x="8395716" y="337820"/>
                </a:lnTo>
                <a:lnTo>
                  <a:pt x="8395716" y="67564"/>
                </a:lnTo>
                <a:lnTo>
                  <a:pt x="8390409" y="41255"/>
                </a:lnTo>
                <a:lnTo>
                  <a:pt x="8375935" y="19780"/>
                </a:lnTo>
                <a:lnTo>
                  <a:pt x="8354460" y="5306"/>
                </a:lnTo>
                <a:lnTo>
                  <a:pt x="8328152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51757" y="4843983"/>
            <a:ext cx="84264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贸</a:t>
            </a:r>
            <a:r>
              <a:rPr dirty="0" sz="1600" b="1">
                <a:latin typeface="明兰"/>
                <a:cs typeface="明兰"/>
              </a:rPr>
              <a:t>易方</a:t>
            </a:r>
            <a:r>
              <a:rPr dirty="0" sz="1600" spc="-5" b="1">
                <a:latin typeface="明兰"/>
                <a:cs typeface="明兰"/>
              </a:rPr>
              <a:t>面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9349" y="320751"/>
            <a:ext cx="692721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5" b="1">
                <a:solidFill>
                  <a:srgbClr val="660000"/>
                </a:solidFill>
                <a:latin typeface="明兰"/>
                <a:cs typeface="明兰"/>
              </a:rPr>
              <a:t>全资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自建工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厂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模式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优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势分析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：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杠杆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因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素作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用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背</a:t>
            </a:r>
            <a:r>
              <a:rPr dirty="0" sz="2000" spc="40" b="1">
                <a:solidFill>
                  <a:srgbClr val="660000"/>
                </a:solidFill>
                <a:latin typeface="明兰"/>
                <a:cs typeface="明兰"/>
              </a:rPr>
              <a:t>景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外商</a:t>
            </a:r>
            <a:r>
              <a:rPr dirty="0" sz="2000" spc="5" b="1">
                <a:solidFill>
                  <a:srgbClr val="660000"/>
                </a:solidFill>
                <a:latin typeface="明兰"/>
                <a:cs typeface="明兰"/>
              </a:rPr>
              <a:t>投资</a:t>
            </a:r>
            <a:endParaRPr sz="20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29400" y="1269491"/>
            <a:ext cx="2039620" cy="2893060"/>
          </a:xfrm>
          <a:custGeom>
            <a:avLst/>
            <a:gdLst/>
            <a:ahLst/>
            <a:cxnLst/>
            <a:rect l="l" t="t" r="r" b="b"/>
            <a:pathLst>
              <a:path w="2039620" h="2893060">
                <a:moveTo>
                  <a:pt x="0" y="2892551"/>
                </a:moveTo>
                <a:lnTo>
                  <a:pt x="2039111" y="2892551"/>
                </a:lnTo>
                <a:lnTo>
                  <a:pt x="2039111" y="0"/>
                </a:lnTo>
                <a:lnTo>
                  <a:pt x="0" y="0"/>
                </a:lnTo>
                <a:lnTo>
                  <a:pt x="0" y="2892551"/>
                </a:lnTo>
                <a:close/>
              </a:path>
            </a:pathLst>
          </a:custGeom>
          <a:solidFill>
            <a:srgbClr val="66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0227" y="746759"/>
            <a:ext cx="8368665" cy="487680"/>
          </a:xfrm>
          <a:custGeom>
            <a:avLst/>
            <a:gdLst/>
            <a:ahLst/>
            <a:cxnLst/>
            <a:rect l="l" t="t" r="r" b="b"/>
            <a:pathLst>
              <a:path w="8368665" h="487680">
                <a:moveTo>
                  <a:pt x="8287004" y="0"/>
                </a:moveTo>
                <a:lnTo>
                  <a:pt x="81279" y="0"/>
                </a:lnTo>
                <a:lnTo>
                  <a:pt x="49645" y="6395"/>
                </a:lnTo>
                <a:lnTo>
                  <a:pt x="23809" y="23828"/>
                </a:lnTo>
                <a:lnTo>
                  <a:pt x="6388" y="49666"/>
                </a:lnTo>
                <a:lnTo>
                  <a:pt x="0" y="81279"/>
                </a:lnTo>
                <a:lnTo>
                  <a:pt x="0" y="406400"/>
                </a:lnTo>
                <a:lnTo>
                  <a:pt x="6388" y="438013"/>
                </a:lnTo>
                <a:lnTo>
                  <a:pt x="23809" y="463851"/>
                </a:lnTo>
                <a:lnTo>
                  <a:pt x="49645" y="481284"/>
                </a:lnTo>
                <a:lnTo>
                  <a:pt x="81279" y="487679"/>
                </a:lnTo>
                <a:lnTo>
                  <a:pt x="8287004" y="487679"/>
                </a:lnTo>
                <a:lnTo>
                  <a:pt x="8318617" y="481284"/>
                </a:lnTo>
                <a:lnTo>
                  <a:pt x="8344455" y="463851"/>
                </a:lnTo>
                <a:lnTo>
                  <a:pt x="8361888" y="438013"/>
                </a:lnTo>
                <a:lnTo>
                  <a:pt x="8368283" y="406400"/>
                </a:lnTo>
                <a:lnTo>
                  <a:pt x="8368283" y="81279"/>
                </a:lnTo>
                <a:lnTo>
                  <a:pt x="8361888" y="49666"/>
                </a:lnTo>
                <a:lnTo>
                  <a:pt x="8344455" y="23828"/>
                </a:lnTo>
                <a:lnTo>
                  <a:pt x="8318617" y="6395"/>
                </a:lnTo>
                <a:lnTo>
                  <a:pt x="8287004" y="0"/>
                </a:lnTo>
                <a:close/>
              </a:path>
            </a:pathLst>
          </a:custGeom>
          <a:solidFill>
            <a:srgbClr val="E7DA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0227" y="1269491"/>
            <a:ext cx="6288405" cy="2893060"/>
          </a:xfrm>
          <a:custGeom>
            <a:avLst/>
            <a:gdLst/>
            <a:ahLst/>
            <a:cxnLst/>
            <a:rect l="l" t="t" r="r" b="b"/>
            <a:pathLst>
              <a:path w="6288405" h="2893060">
                <a:moveTo>
                  <a:pt x="0" y="2892551"/>
                </a:moveTo>
                <a:lnTo>
                  <a:pt x="6288024" y="2892551"/>
                </a:lnTo>
                <a:lnTo>
                  <a:pt x="6288024" y="0"/>
                </a:lnTo>
                <a:lnTo>
                  <a:pt x="0" y="0"/>
                </a:lnTo>
                <a:lnTo>
                  <a:pt x="0" y="2892551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968" y="852042"/>
            <a:ext cx="6367780" cy="153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52295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最</a:t>
            </a:r>
            <a:r>
              <a:rPr dirty="0" sz="1600" spc="5" b="1">
                <a:latin typeface="明兰"/>
                <a:cs typeface="明兰"/>
              </a:rPr>
              <a:t>终方</a:t>
            </a:r>
            <a:r>
              <a:rPr dirty="0" sz="1600" spc="15" b="1">
                <a:latin typeface="明兰"/>
                <a:cs typeface="明兰"/>
              </a:rPr>
              <a:t>案</a:t>
            </a:r>
            <a:r>
              <a:rPr dirty="0" sz="1600" spc="5" b="1">
                <a:latin typeface="明兰"/>
                <a:cs typeface="明兰"/>
              </a:rPr>
              <a:t>建</a:t>
            </a:r>
            <a:r>
              <a:rPr dirty="0" sz="1600" spc="15" b="1">
                <a:latin typeface="明兰"/>
                <a:cs typeface="明兰"/>
              </a:rPr>
              <a:t>议</a:t>
            </a:r>
            <a:r>
              <a:rPr dirty="0" sz="1600" spc="5" b="1">
                <a:latin typeface="明兰"/>
                <a:cs typeface="明兰"/>
              </a:rPr>
              <a:t>：</a:t>
            </a:r>
            <a:r>
              <a:rPr dirty="0" sz="1600" spc="15" b="1">
                <a:latin typeface="明兰"/>
                <a:cs typeface="明兰"/>
              </a:rPr>
              <a:t>建</a:t>
            </a:r>
            <a:r>
              <a:rPr dirty="0" sz="1600" spc="5" b="1">
                <a:latin typeface="明兰"/>
                <a:cs typeface="明兰"/>
              </a:rPr>
              <a:t>议华</a:t>
            </a:r>
            <a:r>
              <a:rPr dirty="0" sz="1600" spc="15" b="1">
                <a:latin typeface="明兰"/>
                <a:cs typeface="明兰"/>
              </a:rPr>
              <a:t>为</a:t>
            </a:r>
            <a:r>
              <a:rPr dirty="0" sz="1600" spc="5" b="1">
                <a:latin typeface="明兰"/>
                <a:cs typeface="明兰"/>
              </a:rPr>
              <a:t>与</a:t>
            </a:r>
            <a:r>
              <a:rPr dirty="0" sz="1600" spc="15" b="1">
                <a:latin typeface="明兰"/>
                <a:cs typeface="明兰"/>
              </a:rPr>
              <a:t>当</a:t>
            </a:r>
            <a:r>
              <a:rPr dirty="0" sz="1600" spc="5" b="1">
                <a:latin typeface="明兰"/>
                <a:cs typeface="明兰"/>
              </a:rPr>
              <a:t>地</a:t>
            </a:r>
            <a:r>
              <a:rPr dirty="0" sz="1600" spc="15" b="1">
                <a:latin typeface="明兰"/>
                <a:cs typeface="明兰"/>
              </a:rPr>
              <a:t>代</a:t>
            </a:r>
            <a:r>
              <a:rPr dirty="0" sz="1600" spc="5" b="1">
                <a:latin typeface="明兰"/>
                <a:cs typeface="明兰"/>
              </a:rPr>
              <a:t>工厂</a:t>
            </a:r>
            <a:r>
              <a:rPr dirty="0" sz="1600" spc="15" b="1">
                <a:latin typeface="明兰"/>
                <a:cs typeface="明兰"/>
              </a:rPr>
              <a:t>建</a:t>
            </a:r>
            <a:r>
              <a:rPr dirty="0" sz="1600" spc="5" b="1">
                <a:latin typeface="明兰"/>
                <a:cs typeface="明兰"/>
              </a:rPr>
              <a:t>立</a:t>
            </a:r>
            <a:r>
              <a:rPr dirty="0" sz="1600" spc="15" b="1">
                <a:latin typeface="明兰"/>
                <a:cs typeface="明兰"/>
              </a:rPr>
              <a:t>合</a:t>
            </a:r>
            <a:r>
              <a:rPr dirty="0" sz="1600" spc="5" b="1">
                <a:latin typeface="明兰"/>
                <a:cs typeface="明兰"/>
              </a:rPr>
              <a:t>资</a:t>
            </a:r>
            <a:r>
              <a:rPr dirty="0" sz="1600" spc="-5" b="1">
                <a:latin typeface="明兰"/>
                <a:cs typeface="明兰"/>
              </a:rPr>
              <a:t>厂</a:t>
            </a:r>
            <a:endParaRPr sz="1600">
              <a:latin typeface="明兰"/>
              <a:cs typeface="明兰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2708910">
              <a:lnSpc>
                <a:spcPct val="100000"/>
              </a:lnSpc>
            </a:pPr>
            <a:r>
              <a:rPr dirty="0" sz="1400" b="1">
                <a:latin typeface="明兰"/>
                <a:cs typeface="明兰"/>
              </a:rPr>
              <a:t>方案描述</a:t>
            </a:r>
            <a:endParaRPr sz="1400">
              <a:latin typeface="明兰"/>
              <a:cs typeface="明兰"/>
            </a:endParaRPr>
          </a:p>
          <a:p>
            <a:pPr algn="just" marL="12700" marR="290195" indent="354965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与当地</a:t>
            </a:r>
            <a:r>
              <a:rPr dirty="0" sz="1400" spc="-10">
                <a:latin typeface="宋体"/>
                <a:cs typeface="宋体"/>
              </a:rPr>
              <a:t>较</a:t>
            </a:r>
            <a:r>
              <a:rPr dirty="0" sz="1400">
                <a:latin typeface="宋体"/>
                <a:cs typeface="宋体"/>
              </a:rPr>
              <a:t>有实</a:t>
            </a:r>
            <a:r>
              <a:rPr dirty="0" sz="1400" spc="-10">
                <a:latin typeface="宋体"/>
                <a:cs typeface="宋体"/>
              </a:rPr>
              <a:t>力</a:t>
            </a:r>
            <a:r>
              <a:rPr dirty="0" sz="1400">
                <a:latin typeface="宋体"/>
                <a:cs typeface="宋体"/>
              </a:rPr>
              <a:t>的代</a:t>
            </a:r>
            <a:r>
              <a:rPr dirty="0" sz="1400" spc="-10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供应</a:t>
            </a:r>
            <a:r>
              <a:rPr dirty="0" sz="1400" spc="-10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合资</a:t>
            </a:r>
            <a:r>
              <a:rPr dirty="0" sz="1400" spc="-10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立独</a:t>
            </a:r>
            <a:r>
              <a:rPr dirty="0" sz="1400" spc="-10">
                <a:latin typeface="宋体"/>
                <a:cs typeface="宋体"/>
              </a:rPr>
              <a:t>立</a:t>
            </a:r>
            <a:r>
              <a:rPr dirty="0" sz="1400">
                <a:latin typeface="宋体"/>
                <a:cs typeface="宋体"/>
              </a:rPr>
              <a:t>主体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在火</a:t>
            </a:r>
            <a:r>
              <a:rPr dirty="0" sz="1400" spc="-10">
                <a:latin typeface="宋体"/>
                <a:cs typeface="宋体"/>
              </a:rPr>
              <a:t>地</a:t>
            </a:r>
            <a:r>
              <a:rPr dirty="0" sz="1400">
                <a:latin typeface="宋体"/>
                <a:cs typeface="宋体"/>
              </a:rPr>
              <a:t>岛建</a:t>
            </a:r>
            <a:r>
              <a:rPr dirty="0" sz="1400" spc="-10">
                <a:latin typeface="宋体"/>
                <a:cs typeface="宋体"/>
              </a:rPr>
              <a:t>立</a:t>
            </a:r>
            <a:r>
              <a:rPr dirty="0" sz="1400">
                <a:latin typeface="宋体"/>
                <a:cs typeface="宋体"/>
              </a:rPr>
              <a:t>满足 华为中</a:t>
            </a:r>
            <a:r>
              <a:rPr dirty="0" sz="1400" spc="-10">
                <a:latin typeface="宋体"/>
                <a:cs typeface="宋体"/>
              </a:rPr>
              <a:t>低</a:t>
            </a:r>
            <a:r>
              <a:rPr dirty="0" sz="1400" spc="-5">
                <a:latin typeface="宋体"/>
                <a:cs typeface="宋体"/>
              </a:rPr>
              <a:t>端</a:t>
            </a:r>
            <a:r>
              <a:rPr dirty="0" sz="1400">
                <a:latin typeface="宋体"/>
                <a:cs typeface="宋体"/>
              </a:rPr>
              <a:t>机</a:t>
            </a:r>
            <a:r>
              <a:rPr dirty="0" sz="1400" spc="-15">
                <a:latin typeface="宋体"/>
                <a:cs typeface="宋体"/>
              </a:rPr>
              <a:t>型生</a:t>
            </a:r>
            <a:r>
              <a:rPr dirty="0" sz="1400">
                <a:latin typeface="宋体"/>
                <a:cs typeface="宋体"/>
              </a:rPr>
              <a:t>产、装</a:t>
            </a:r>
            <a:r>
              <a:rPr dirty="0" sz="1400" spc="-15">
                <a:latin typeface="宋体"/>
                <a:cs typeface="宋体"/>
              </a:rPr>
              <a:t>配</a:t>
            </a:r>
            <a:r>
              <a:rPr dirty="0" sz="1400">
                <a:latin typeface="宋体"/>
                <a:cs typeface="宋体"/>
              </a:rPr>
              <a:t>要求</a:t>
            </a:r>
            <a:r>
              <a:rPr dirty="0" sz="1400" spc="-15">
                <a:latin typeface="宋体"/>
                <a:cs typeface="宋体"/>
              </a:rPr>
              <a:t>的工</a:t>
            </a:r>
            <a:r>
              <a:rPr dirty="0" sz="1400">
                <a:latin typeface="宋体"/>
                <a:cs typeface="宋体"/>
              </a:rPr>
              <a:t>厂及生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线，</a:t>
            </a:r>
            <a:r>
              <a:rPr dirty="0" sz="1400" spc="-15">
                <a:latin typeface="宋体"/>
                <a:cs typeface="宋体"/>
              </a:rPr>
              <a:t>重点</a:t>
            </a:r>
            <a:r>
              <a:rPr dirty="0" sz="1400">
                <a:latin typeface="宋体"/>
                <a:cs typeface="宋体"/>
              </a:rPr>
              <a:t>进行阿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廷市</a:t>
            </a:r>
            <a:r>
              <a:rPr dirty="0" sz="1400" spc="-15">
                <a:latin typeface="宋体"/>
                <a:cs typeface="宋体"/>
              </a:rPr>
              <a:t>场华</a:t>
            </a:r>
            <a:r>
              <a:rPr dirty="0" sz="1400">
                <a:latin typeface="宋体"/>
                <a:cs typeface="宋体"/>
              </a:rPr>
              <a:t>为智 能机中</a:t>
            </a:r>
            <a:r>
              <a:rPr dirty="0" sz="1400" spc="-10">
                <a:latin typeface="宋体"/>
                <a:cs typeface="宋体"/>
              </a:rPr>
              <a:t>低</a:t>
            </a:r>
            <a:r>
              <a:rPr dirty="0" sz="1400" spc="-5">
                <a:latin typeface="宋体"/>
                <a:cs typeface="宋体"/>
              </a:rPr>
              <a:t>端</a:t>
            </a:r>
            <a:r>
              <a:rPr dirty="0" sz="1400">
                <a:latin typeface="宋体"/>
                <a:cs typeface="宋体"/>
              </a:rPr>
              <a:t>智</a:t>
            </a:r>
            <a:r>
              <a:rPr dirty="0" sz="1400" spc="-15">
                <a:latin typeface="宋体"/>
                <a:cs typeface="宋体"/>
              </a:rPr>
              <a:t>能机</a:t>
            </a:r>
            <a:r>
              <a:rPr dirty="0" sz="1400">
                <a:latin typeface="宋体"/>
                <a:cs typeface="宋体"/>
              </a:rPr>
              <a:t>型的生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明兰"/>
                <a:cs typeface="明兰"/>
              </a:rPr>
              <a:t>合作代</a:t>
            </a:r>
            <a:r>
              <a:rPr dirty="0" sz="1400" spc="-15" b="1">
                <a:latin typeface="明兰"/>
                <a:cs typeface="明兰"/>
              </a:rPr>
              <a:t>工</a:t>
            </a:r>
            <a:r>
              <a:rPr dirty="0" sz="1400" b="1">
                <a:latin typeface="明兰"/>
                <a:cs typeface="明兰"/>
              </a:rPr>
              <a:t>供应</a:t>
            </a:r>
            <a:r>
              <a:rPr dirty="0" sz="1400" spc="-10" b="1">
                <a:latin typeface="明兰"/>
                <a:cs typeface="明兰"/>
              </a:rPr>
              <a:t>商</a:t>
            </a:r>
            <a:r>
              <a:rPr dirty="0" sz="1400" spc="-15" b="1">
                <a:latin typeface="明兰"/>
                <a:cs typeface="明兰"/>
              </a:rPr>
              <a:t>要</a:t>
            </a:r>
            <a:r>
              <a:rPr dirty="0" sz="1400" b="1">
                <a:latin typeface="明兰"/>
                <a:cs typeface="明兰"/>
              </a:rPr>
              <a:t>求：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968" y="2373883"/>
            <a:ext cx="6003925" cy="17240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99085" marR="6985" indent="-286385">
              <a:lnSpc>
                <a:spcPts val="1610"/>
              </a:lnSpc>
              <a:spcBef>
                <a:spcPts val="21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 b="1">
                <a:latin typeface="明兰"/>
                <a:cs typeface="明兰"/>
              </a:rPr>
              <a:t>拥有拆</a:t>
            </a:r>
            <a:r>
              <a:rPr dirty="0" sz="1400" spc="-15" b="1">
                <a:latin typeface="明兰"/>
                <a:cs typeface="明兰"/>
              </a:rPr>
              <a:t>机</a:t>
            </a:r>
            <a:r>
              <a:rPr dirty="0" sz="1400" b="1">
                <a:latin typeface="明兰"/>
                <a:cs typeface="明兰"/>
              </a:rPr>
              <a:t>方案</a:t>
            </a:r>
            <a:r>
              <a:rPr dirty="0" sz="1400" spc="-15" b="1">
                <a:latin typeface="明兰"/>
                <a:cs typeface="明兰"/>
              </a:rPr>
              <a:t>审批</a:t>
            </a:r>
            <a:r>
              <a:rPr dirty="0" sz="1400" b="1">
                <a:latin typeface="明兰"/>
                <a:cs typeface="明兰"/>
              </a:rPr>
              <a:t>资质</a:t>
            </a:r>
            <a:r>
              <a:rPr dirty="0" sz="1400">
                <a:latin typeface="宋体"/>
                <a:cs typeface="宋体"/>
              </a:rPr>
              <a:t>：</a:t>
            </a:r>
            <a:r>
              <a:rPr dirty="0" sz="1400" spc="-15">
                <a:latin typeface="宋体"/>
                <a:cs typeface="宋体"/>
              </a:rPr>
              <a:t>当</a:t>
            </a:r>
            <a:r>
              <a:rPr dirty="0" sz="1400">
                <a:latin typeface="宋体"/>
                <a:cs typeface="宋体"/>
              </a:rPr>
              <a:t>地代</a:t>
            </a:r>
            <a:r>
              <a:rPr dirty="0" sz="1400" spc="-15">
                <a:latin typeface="宋体"/>
                <a:cs typeface="宋体"/>
              </a:rPr>
              <a:t>工厂</a:t>
            </a:r>
            <a:r>
              <a:rPr dirty="0" sz="1400">
                <a:latin typeface="宋体"/>
                <a:cs typeface="宋体"/>
              </a:rPr>
              <a:t>的拆机</a:t>
            </a:r>
            <a:r>
              <a:rPr dirty="0" sz="1400" spc="-15">
                <a:latin typeface="宋体"/>
                <a:cs typeface="宋体"/>
              </a:rPr>
              <a:t>方</a:t>
            </a:r>
            <a:r>
              <a:rPr dirty="0" sz="1400">
                <a:latin typeface="宋体"/>
                <a:cs typeface="宋体"/>
              </a:rPr>
              <a:t>案审</a:t>
            </a:r>
            <a:r>
              <a:rPr dirty="0" sz="1400" spc="-10">
                <a:latin typeface="宋体"/>
                <a:cs typeface="宋体"/>
              </a:rPr>
              <a:t>批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质可以</a:t>
            </a:r>
            <a:r>
              <a:rPr dirty="0" sz="1400" spc="-15">
                <a:latin typeface="宋体"/>
                <a:cs typeface="宋体"/>
              </a:rPr>
              <a:t>降</a:t>
            </a:r>
            <a:r>
              <a:rPr dirty="0" sz="1400">
                <a:latin typeface="宋体"/>
                <a:cs typeface="宋体"/>
              </a:rPr>
              <a:t>低散</a:t>
            </a:r>
            <a:r>
              <a:rPr dirty="0" sz="1400" spc="-15">
                <a:latin typeface="宋体"/>
                <a:cs typeface="宋体"/>
              </a:rPr>
              <a:t>件</a:t>
            </a:r>
            <a:r>
              <a:rPr dirty="0" sz="1400">
                <a:latin typeface="宋体"/>
                <a:cs typeface="宋体"/>
              </a:rPr>
              <a:t>、 半成品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口的</a:t>
            </a:r>
            <a:r>
              <a:rPr dirty="0" sz="1400" spc="-15">
                <a:latin typeface="宋体"/>
                <a:cs typeface="宋体"/>
              </a:rPr>
              <a:t>税</a:t>
            </a:r>
            <a:r>
              <a:rPr dirty="0" sz="1400">
                <a:latin typeface="宋体"/>
                <a:cs typeface="宋体"/>
              </a:rPr>
              <a:t>收</a:t>
            </a:r>
            <a:endParaRPr sz="1400">
              <a:latin typeface="宋体"/>
              <a:cs typeface="宋体"/>
            </a:endParaRPr>
          </a:p>
          <a:p>
            <a:pPr marL="299085" marR="6985" indent="-286385">
              <a:lnSpc>
                <a:spcPts val="1610"/>
              </a:lnSpc>
              <a:spcBef>
                <a:spcPts val="1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 b="1">
                <a:latin typeface="明兰"/>
                <a:cs typeface="明兰"/>
              </a:rPr>
              <a:t>拥有散</a:t>
            </a:r>
            <a:r>
              <a:rPr dirty="0" sz="1400" spc="-15" b="1">
                <a:latin typeface="明兰"/>
                <a:cs typeface="明兰"/>
              </a:rPr>
              <a:t>件</a:t>
            </a:r>
            <a:r>
              <a:rPr dirty="0" sz="1400" b="1">
                <a:latin typeface="明兰"/>
                <a:cs typeface="明兰"/>
              </a:rPr>
              <a:t>进口</a:t>
            </a:r>
            <a:r>
              <a:rPr dirty="0" sz="1400" spc="-15" b="1">
                <a:latin typeface="明兰"/>
                <a:cs typeface="明兰"/>
              </a:rPr>
              <a:t>配额</a:t>
            </a:r>
            <a:r>
              <a:rPr dirty="0" sz="1400" b="1">
                <a:latin typeface="明兰"/>
                <a:cs typeface="明兰"/>
              </a:rPr>
              <a:t>资源</a:t>
            </a:r>
            <a:r>
              <a:rPr dirty="0" sz="1400">
                <a:latin typeface="宋体"/>
                <a:cs typeface="宋体"/>
              </a:rPr>
              <a:t>：</a:t>
            </a:r>
            <a:r>
              <a:rPr dirty="0" sz="1400" spc="-15">
                <a:latin typeface="宋体"/>
                <a:cs typeface="宋体"/>
              </a:rPr>
              <a:t>对</a:t>
            </a:r>
            <a:r>
              <a:rPr dirty="0" sz="1400">
                <a:latin typeface="宋体"/>
                <a:cs typeface="宋体"/>
              </a:rPr>
              <a:t>于华</a:t>
            </a:r>
            <a:r>
              <a:rPr dirty="0" sz="1400" spc="-15">
                <a:latin typeface="宋体"/>
                <a:cs typeface="宋体"/>
              </a:rPr>
              <a:t>为高</a:t>
            </a:r>
            <a:r>
              <a:rPr dirty="0" sz="1400">
                <a:latin typeface="宋体"/>
                <a:cs typeface="宋体"/>
              </a:rPr>
              <a:t>度关注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中端</a:t>
            </a:r>
            <a:r>
              <a:rPr dirty="0" sz="1400" spc="-10">
                <a:latin typeface="宋体"/>
                <a:cs typeface="宋体"/>
              </a:rPr>
              <a:t>机</a:t>
            </a:r>
            <a:r>
              <a:rPr dirty="0" sz="1400" spc="-15">
                <a:latin typeface="宋体"/>
                <a:cs typeface="宋体"/>
              </a:rPr>
              <a:t>型</a:t>
            </a:r>
            <a:r>
              <a:rPr dirty="0" sz="1400">
                <a:latin typeface="宋体"/>
                <a:cs typeface="宋体"/>
              </a:rPr>
              <a:t>，合资</a:t>
            </a:r>
            <a:r>
              <a:rPr dirty="0" sz="1400" spc="-1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工供</a:t>
            </a:r>
            <a:r>
              <a:rPr dirty="0" sz="1400" spc="-15">
                <a:latin typeface="宋体"/>
                <a:cs typeface="宋体"/>
              </a:rPr>
              <a:t>应</a:t>
            </a:r>
            <a:r>
              <a:rPr dirty="0" sz="1400">
                <a:latin typeface="宋体"/>
                <a:cs typeface="宋体"/>
              </a:rPr>
              <a:t>商 的进口</a:t>
            </a:r>
            <a:r>
              <a:rPr dirty="0" sz="1400" spc="-15">
                <a:latin typeface="宋体"/>
                <a:cs typeface="宋体"/>
              </a:rPr>
              <a:t>配</a:t>
            </a:r>
            <a:r>
              <a:rPr dirty="0" sz="1400">
                <a:latin typeface="宋体"/>
                <a:cs typeface="宋体"/>
              </a:rPr>
              <a:t>额资</a:t>
            </a:r>
            <a:r>
              <a:rPr dirty="0" sz="1400" spc="-15">
                <a:latin typeface="宋体"/>
                <a:cs typeface="宋体"/>
              </a:rPr>
              <a:t>质可</a:t>
            </a:r>
            <a:r>
              <a:rPr dirty="0" sz="1400">
                <a:latin typeface="宋体"/>
                <a:cs typeface="宋体"/>
              </a:rPr>
              <a:t>以满足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为从</a:t>
            </a:r>
            <a:r>
              <a:rPr dirty="0" sz="1400" spc="-15">
                <a:latin typeface="宋体"/>
                <a:cs typeface="宋体"/>
              </a:rPr>
              <a:t>国内</a:t>
            </a:r>
            <a:r>
              <a:rPr dirty="0" sz="1400">
                <a:latin typeface="宋体"/>
                <a:cs typeface="宋体"/>
              </a:rPr>
              <a:t>进口零</a:t>
            </a:r>
            <a:r>
              <a:rPr dirty="0" sz="1400" spc="-15">
                <a:latin typeface="宋体"/>
                <a:cs typeface="宋体"/>
              </a:rPr>
              <a:t>部</a:t>
            </a:r>
            <a:r>
              <a:rPr dirty="0" sz="1400">
                <a:latin typeface="宋体"/>
                <a:cs typeface="宋体"/>
              </a:rPr>
              <a:t>件的</a:t>
            </a:r>
            <a:r>
              <a:rPr dirty="0" sz="1400" spc="-15">
                <a:latin typeface="宋体"/>
                <a:cs typeface="宋体"/>
              </a:rPr>
              <a:t>需</a:t>
            </a:r>
            <a:r>
              <a:rPr dirty="0" sz="1400">
                <a:latin typeface="宋体"/>
                <a:cs typeface="宋体"/>
              </a:rPr>
              <a:t>求</a:t>
            </a:r>
            <a:endParaRPr sz="1400">
              <a:latin typeface="宋体"/>
              <a:cs typeface="宋体"/>
            </a:endParaRPr>
          </a:p>
          <a:p>
            <a:pPr marL="299085" marR="5080" indent="-286385">
              <a:lnSpc>
                <a:spcPts val="1610"/>
              </a:lnSpc>
              <a:spcBef>
                <a:spcPts val="1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 b="1">
                <a:latin typeface="明兰"/>
                <a:cs typeface="明兰"/>
              </a:rPr>
              <a:t>拥有较</a:t>
            </a:r>
            <a:r>
              <a:rPr dirty="0" sz="1400" spc="-15" b="1">
                <a:latin typeface="明兰"/>
                <a:cs typeface="明兰"/>
              </a:rPr>
              <a:t>好</a:t>
            </a:r>
            <a:r>
              <a:rPr dirty="0" sz="1400" b="1">
                <a:latin typeface="明兰"/>
                <a:cs typeface="明兰"/>
              </a:rPr>
              <a:t>的下</a:t>
            </a:r>
            <a:r>
              <a:rPr dirty="0" sz="1400" spc="-15" b="1">
                <a:latin typeface="明兰"/>
                <a:cs typeface="明兰"/>
              </a:rPr>
              <a:t>游渠</a:t>
            </a:r>
            <a:r>
              <a:rPr dirty="0" sz="1400" b="1">
                <a:latin typeface="明兰"/>
                <a:cs typeface="明兰"/>
              </a:rPr>
              <a:t>道资源</a:t>
            </a:r>
            <a:r>
              <a:rPr dirty="0" sz="1400" spc="-15" b="1">
                <a:latin typeface="明兰"/>
                <a:cs typeface="明兰"/>
              </a:rPr>
              <a:t>（</a:t>
            </a:r>
            <a:r>
              <a:rPr dirty="0" sz="1400" b="1">
                <a:latin typeface="明兰"/>
                <a:cs typeface="明兰"/>
              </a:rPr>
              <a:t>自有</a:t>
            </a:r>
            <a:r>
              <a:rPr dirty="0" sz="1400" spc="-15" b="1">
                <a:latin typeface="明兰"/>
                <a:cs typeface="明兰"/>
              </a:rPr>
              <a:t>或战</a:t>
            </a:r>
            <a:r>
              <a:rPr dirty="0" sz="1400" b="1">
                <a:latin typeface="明兰"/>
                <a:cs typeface="明兰"/>
              </a:rPr>
              <a:t>略伙伴</a:t>
            </a:r>
            <a:r>
              <a:rPr dirty="0" sz="1400" spc="-15" b="1">
                <a:latin typeface="明兰"/>
                <a:cs typeface="明兰"/>
              </a:rPr>
              <a:t>关</a:t>
            </a:r>
            <a:r>
              <a:rPr dirty="0" sz="1400" b="1">
                <a:latin typeface="明兰"/>
                <a:cs typeface="明兰"/>
              </a:rPr>
              <a:t>系）</a:t>
            </a:r>
            <a:r>
              <a:rPr dirty="0" sz="1400">
                <a:latin typeface="宋体"/>
                <a:cs typeface="宋体"/>
              </a:rPr>
              <a:t>：</a:t>
            </a:r>
            <a:r>
              <a:rPr dirty="0" sz="1400" spc="-10">
                <a:latin typeface="宋体"/>
                <a:cs typeface="宋体"/>
              </a:rPr>
              <a:t>帮</a:t>
            </a:r>
            <a:r>
              <a:rPr dirty="0" sz="1400">
                <a:latin typeface="宋体"/>
                <a:cs typeface="宋体"/>
              </a:rPr>
              <a:t>助华为</a:t>
            </a:r>
            <a:r>
              <a:rPr dirty="0" sz="1400" spc="-10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产品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零 售渠道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销阶</a:t>
            </a:r>
            <a:r>
              <a:rPr dirty="0" sz="1400" spc="-15">
                <a:latin typeface="宋体"/>
                <a:cs typeface="宋体"/>
              </a:rPr>
              <a:t>段有</a:t>
            </a:r>
            <a:r>
              <a:rPr dirty="0" sz="1400">
                <a:latin typeface="宋体"/>
                <a:cs typeface="宋体"/>
              </a:rPr>
              <a:t>效、快</a:t>
            </a:r>
            <a:r>
              <a:rPr dirty="0" sz="1400" spc="-15">
                <a:latin typeface="宋体"/>
                <a:cs typeface="宋体"/>
              </a:rPr>
              <a:t>速</a:t>
            </a:r>
            <a:r>
              <a:rPr dirty="0" sz="1400">
                <a:latin typeface="宋体"/>
                <a:cs typeface="宋体"/>
              </a:rPr>
              <a:t>铺货</a:t>
            </a:r>
            <a:endParaRPr sz="1400">
              <a:latin typeface="宋体"/>
              <a:cs typeface="宋体"/>
            </a:endParaRPr>
          </a:p>
          <a:p>
            <a:pPr marL="299085" indent="-286385">
              <a:lnSpc>
                <a:spcPts val="1645"/>
              </a:lnSpc>
              <a:spcBef>
                <a:spcPts val="3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 spc="5" b="1">
                <a:latin typeface="明兰"/>
                <a:cs typeface="明兰"/>
              </a:rPr>
              <a:t>自</a:t>
            </a:r>
            <a:r>
              <a:rPr dirty="0" sz="1400" b="1">
                <a:latin typeface="明兰"/>
                <a:cs typeface="明兰"/>
              </a:rPr>
              <a:t>身</a:t>
            </a:r>
            <a:r>
              <a:rPr dirty="0" sz="1400" spc="5" b="1">
                <a:latin typeface="明兰"/>
                <a:cs typeface="明兰"/>
              </a:rPr>
              <a:t>拥</a:t>
            </a:r>
            <a:r>
              <a:rPr dirty="0" sz="1400" spc="-15" b="1">
                <a:latin typeface="明兰"/>
                <a:cs typeface="明兰"/>
              </a:rPr>
              <a:t>有</a:t>
            </a:r>
            <a:r>
              <a:rPr dirty="0" sz="1400" spc="5" b="1">
                <a:latin typeface="明兰"/>
                <a:cs typeface="明兰"/>
              </a:rPr>
              <a:t>一</a:t>
            </a:r>
            <a:r>
              <a:rPr dirty="0" sz="1400" b="1">
                <a:latin typeface="明兰"/>
                <a:cs typeface="明兰"/>
              </a:rPr>
              <a:t>定</a:t>
            </a:r>
            <a:r>
              <a:rPr dirty="0" sz="1400" spc="-10" b="1">
                <a:latin typeface="明兰"/>
                <a:cs typeface="明兰"/>
              </a:rPr>
              <a:t>产能</a:t>
            </a:r>
            <a:r>
              <a:rPr dirty="0" sz="1400" spc="5">
                <a:latin typeface="宋体"/>
                <a:cs typeface="宋体"/>
              </a:rPr>
              <a:t>：</a:t>
            </a:r>
            <a:r>
              <a:rPr dirty="0" sz="1400">
                <a:latin typeface="宋体"/>
                <a:cs typeface="宋体"/>
              </a:rPr>
              <a:t>可</a:t>
            </a:r>
            <a:r>
              <a:rPr dirty="0" sz="1400" spc="5">
                <a:latin typeface="宋体"/>
                <a:cs typeface="宋体"/>
              </a:rPr>
              <a:t>以</a:t>
            </a:r>
            <a:r>
              <a:rPr dirty="0" sz="1400" spc="-15">
                <a:latin typeface="宋体"/>
                <a:cs typeface="宋体"/>
              </a:rPr>
              <a:t>满</a:t>
            </a:r>
            <a:r>
              <a:rPr dirty="0" sz="1400" spc="5">
                <a:latin typeface="宋体"/>
                <a:cs typeface="宋体"/>
              </a:rPr>
              <a:t>足</a:t>
            </a:r>
            <a:r>
              <a:rPr dirty="0" sz="1400">
                <a:latin typeface="宋体"/>
                <a:cs typeface="宋体"/>
              </a:rPr>
              <a:t>华</a:t>
            </a:r>
            <a:r>
              <a:rPr dirty="0" sz="1400" spc="-10">
                <a:latin typeface="宋体"/>
                <a:cs typeface="宋体"/>
              </a:rPr>
              <a:t>为在</a:t>
            </a:r>
            <a:r>
              <a:rPr dirty="0" sz="1400" spc="5">
                <a:latin typeface="宋体"/>
                <a:cs typeface="宋体"/>
              </a:rPr>
              <a:t>需</a:t>
            </a:r>
            <a:r>
              <a:rPr dirty="0" sz="1400">
                <a:latin typeface="宋体"/>
                <a:cs typeface="宋体"/>
              </a:rPr>
              <a:t>求</a:t>
            </a:r>
            <a:r>
              <a:rPr dirty="0" sz="1400" spc="5">
                <a:latin typeface="宋体"/>
                <a:cs typeface="宋体"/>
              </a:rPr>
              <a:t>旺</a:t>
            </a:r>
            <a:r>
              <a:rPr dirty="0" sz="1400" spc="-15">
                <a:latin typeface="宋体"/>
                <a:cs typeface="宋体"/>
              </a:rPr>
              <a:t>季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生</a:t>
            </a:r>
            <a:r>
              <a:rPr dirty="0" sz="1400" spc="-10">
                <a:latin typeface="宋体"/>
                <a:cs typeface="宋体"/>
              </a:rPr>
              <a:t>产能</a:t>
            </a:r>
            <a:r>
              <a:rPr dirty="0" sz="1400" spc="5">
                <a:latin typeface="宋体"/>
                <a:cs typeface="宋体"/>
              </a:rPr>
              <a:t>够</a:t>
            </a:r>
            <a:r>
              <a:rPr dirty="0" sz="1400">
                <a:latin typeface="宋体"/>
                <a:cs typeface="宋体"/>
              </a:rPr>
              <a:t>具</a:t>
            </a:r>
            <a:r>
              <a:rPr dirty="0" sz="1400" spc="5">
                <a:latin typeface="宋体"/>
                <a:cs typeface="宋体"/>
              </a:rPr>
              <a:t>有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 spc="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0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能</a:t>
            </a:r>
            <a:endParaRPr sz="1400">
              <a:latin typeface="宋体"/>
              <a:cs typeface="宋体"/>
            </a:endParaRPr>
          </a:p>
          <a:p>
            <a:pPr marL="299085">
              <a:lnSpc>
                <a:spcPts val="1645"/>
              </a:lnSpc>
            </a:pPr>
            <a:r>
              <a:rPr dirty="0" sz="1400">
                <a:latin typeface="宋体"/>
                <a:cs typeface="宋体"/>
              </a:rPr>
              <a:t>扩张弹性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2235" y="1548383"/>
            <a:ext cx="896112" cy="839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72883" y="2955035"/>
            <a:ext cx="1195070" cy="841375"/>
          </a:xfrm>
          <a:custGeom>
            <a:avLst/>
            <a:gdLst/>
            <a:ahLst/>
            <a:cxnLst/>
            <a:rect l="l" t="t" r="r" b="b"/>
            <a:pathLst>
              <a:path w="1195070" h="841375">
                <a:moveTo>
                  <a:pt x="0" y="140208"/>
                </a:moveTo>
                <a:lnTo>
                  <a:pt x="7144" y="95877"/>
                </a:lnTo>
                <a:lnTo>
                  <a:pt x="27041" y="57387"/>
                </a:lnTo>
                <a:lnTo>
                  <a:pt x="57387" y="27041"/>
                </a:lnTo>
                <a:lnTo>
                  <a:pt x="95877" y="7144"/>
                </a:lnTo>
                <a:lnTo>
                  <a:pt x="140208" y="0"/>
                </a:lnTo>
                <a:lnTo>
                  <a:pt x="1054608" y="0"/>
                </a:lnTo>
                <a:lnTo>
                  <a:pt x="1098938" y="7144"/>
                </a:lnTo>
                <a:lnTo>
                  <a:pt x="1137428" y="27041"/>
                </a:lnTo>
                <a:lnTo>
                  <a:pt x="1167774" y="57387"/>
                </a:lnTo>
                <a:lnTo>
                  <a:pt x="1187671" y="95877"/>
                </a:lnTo>
                <a:lnTo>
                  <a:pt x="1194816" y="140208"/>
                </a:lnTo>
                <a:lnTo>
                  <a:pt x="1194816" y="701039"/>
                </a:lnTo>
                <a:lnTo>
                  <a:pt x="1187671" y="745370"/>
                </a:lnTo>
                <a:lnTo>
                  <a:pt x="1167774" y="783860"/>
                </a:lnTo>
                <a:lnTo>
                  <a:pt x="1137428" y="814206"/>
                </a:lnTo>
                <a:lnTo>
                  <a:pt x="1098938" y="834103"/>
                </a:lnTo>
                <a:lnTo>
                  <a:pt x="1054608" y="841247"/>
                </a:lnTo>
                <a:lnTo>
                  <a:pt x="140208" y="841247"/>
                </a:lnTo>
                <a:lnTo>
                  <a:pt x="95877" y="834103"/>
                </a:lnTo>
                <a:lnTo>
                  <a:pt x="57387" y="814206"/>
                </a:lnTo>
                <a:lnTo>
                  <a:pt x="27041" y="783860"/>
                </a:lnTo>
                <a:lnTo>
                  <a:pt x="7144" y="745370"/>
                </a:lnTo>
                <a:lnTo>
                  <a:pt x="0" y="701039"/>
                </a:lnTo>
                <a:lnTo>
                  <a:pt x="0" y="140208"/>
                </a:lnTo>
                <a:close/>
              </a:path>
            </a:pathLst>
          </a:custGeom>
          <a:ln w="1219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51268" y="2992958"/>
            <a:ext cx="63817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latin typeface="明兰"/>
                <a:cs typeface="明兰"/>
              </a:rPr>
              <a:t>阿</a:t>
            </a:r>
            <a:r>
              <a:rPr dirty="0" sz="1600" b="1">
                <a:latin typeface="明兰"/>
                <a:cs typeface="明兰"/>
              </a:rPr>
              <a:t>根</a:t>
            </a:r>
            <a:r>
              <a:rPr dirty="0" sz="1600" spc="-5" b="1">
                <a:latin typeface="明兰"/>
                <a:cs typeface="明兰"/>
              </a:rPr>
              <a:t>廷 </a:t>
            </a:r>
            <a:r>
              <a:rPr dirty="0" sz="1600" spc="15" b="1">
                <a:latin typeface="明兰"/>
                <a:cs typeface="明兰"/>
              </a:rPr>
              <a:t>火</a:t>
            </a:r>
            <a:r>
              <a:rPr dirty="0" sz="1600" spc="5" b="1">
                <a:latin typeface="明兰"/>
                <a:cs typeface="明兰"/>
              </a:rPr>
              <a:t>地</a:t>
            </a:r>
            <a:r>
              <a:rPr dirty="0" sz="1600" spc="-5" b="1">
                <a:latin typeface="明兰"/>
                <a:cs typeface="明兰"/>
              </a:rPr>
              <a:t>岛 </a:t>
            </a:r>
            <a:r>
              <a:rPr dirty="0" sz="1600" spc="15" b="1">
                <a:latin typeface="明兰"/>
                <a:cs typeface="明兰"/>
              </a:rPr>
              <a:t>供</a:t>
            </a:r>
            <a:r>
              <a:rPr dirty="0" sz="1600" spc="5" b="1">
                <a:latin typeface="明兰"/>
                <a:cs typeface="明兰"/>
              </a:rPr>
              <a:t>应</a:t>
            </a:r>
            <a:r>
              <a:rPr dirty="0" sz="1600" spc="-5" b="1">
                <a:latin typeface="明兰"/>
                <a:cs typeface="明兰"/>
              </a:rPr>
              <a:t>商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7881" y="2474213"/>
            <a:ext cx="18929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0" b="1">
                <a:solidFill>
                  <a:srgbClr val="FFFFFF"/>
                </a:solidFill>
                <a:latin typeface="明兰"/>
                <a:cs typeface="明兰"/>
              </a:rPr>
              <a:t>合资厂</a:t>
            </a:r>
            <a:r>
              <a:rPr dirty="0" sz="1700" spc="5" b="1">
                <a:solidFill>
                  <a:srgbClr val="FFFFFF"/>
                </a:solidFill>
                <a:latin typeface="明兰"/>
                <a:cs typeface="明兰"/>
              </a:rPr>
              <a:t>商</a:t>
            </a:r>
            <a:r>
              <a:rPr dirty="0" sz="170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700" spc="10" b="1">
                <a:solidFill>
                  <a:srgbClr val="FFFFFF"/>
                </a:solidFill>
                <a:latin typeface="明兰"/>
                <a:cs typeface="明兰"/>
              </a:rPr>
              <a:t>战略协同</a:t>
            </a:r>
            <a:endParaRPr sz="1700">
              <a:latin typeface="明兰"/>
              <a:cs typeface="明兰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8739" y="304038"/>
            <a:ext cx="615442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最终方案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建议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：建议华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为与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当地代工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厂合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作建立合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资厂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0227" y="4218432"/>
            <a:ext cx="8368665" cy="2463165"/>
          </a:xfrm>
          <a:custGeom>
            <a:avLst/>
            <a:gdLst/>
            <a:ahLst/>
            <a:cxnLst/>
            <a:rect l="l" t="t" r="r" b="b"/>
            <a:pathLst>
              <a:path w="8368665" h="2463165">
                <a:moveTo>
                  <a:pt x="0" y="2462784"/>
                </a:moveTo>
                <a:lnTo>
                  <a:pt x="8368283" y="2462784"/>
                </a:lnTo>
                <a:lnTo>
                  <a:pt x="8368283" y="0"/>
                </a:lnTo>
                <a:lnTo>
                  <a:pt x="0" y="0"/>
                </a:lnTo>
                <a:lnTo>
                  <a:pt x="0" y="2462784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8968" y="4247769"/>
            <a:ext cx="8210550" cy="2373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5496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在阿根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当地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资建</a:t>
            </a:r>
            <a:r>
              <a:rPr dirty="0" sz="1400" spc="-10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模式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可以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行融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。一</a:t>
            </a:r>
            <a:r>
              <a:rPr dirty="0" sz="1400" spc="-15">
                <a:latin typeface="宋体"/>
                <a:cs typeface="宋体"/>
              </a:rPr>
              <a:t>方</a:t>
            </a:r>
            <a:r>
              <a:rPr dirty="0" sz="1400">
                <a:latin typeface="宋体"/>
                <a:cs typeface="宋体"/>
              </a:rPr>
              <a:t>面，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判断</a:t>
            </a:r>
            <a:r>
              <a:rPr dirty="0" sz="1400" spc="-15">
                <a:latin typeface="宋体"/>
                <a:cs typeface="宋体"/>
              </a:rPr>
              <a:t>项</a:t>
            </a:r>
            <a:r>
              <a:rPr dirty="0" sz="1400">
                <a:latin typeface="宋体"/>
                <a:cs typeface="宋体"/>
              </a:rPr>
              <a:t>目可</a:t>
            </a:r>
            <a:r>
              <a:rPr dirty="0" sz="1400" spc="-15">
                <a:latin typeface="宋体"/>
                <a:cs typeface="宋体"/>
              </a:rPr>
              <a:t>盈</a:t>
            </a:r>
            <a:r>
              <a:rPr dirty="0" sz="1400">
                <a:latin typeface="宋体"/>
                <a:cs typeface="宋体"/>
              </a:rPr>
              <a:t>利的</a:t>
            </a:r>
            <a:r>
              <a:rPr dirty="0" sz="1400" spc="-15">
                <a:latin typeface="宋体"/>
                <a:cs typeface="宋体"/>
              </a:rPr>
              <a:t>情</a:t>
            </a:r>
            <a:r>
              <a:rPr dirty="0" sz="1400">
                <a:latin typeface="宋体"/>
                <a:cs typeface="宋体"/>
              </a:rPr>
              <a:t>况下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融资</a:t>
            </a:r>
            <a:r>
              <a:rPr dirty="0" sz="1400" spc="-15">
                <a:latin typeface="宋体"/>
                <a:cs typeface="宋体"/>
              </a:rPr>
              <a:t>可</a:t>
            </a:r>
            <a:r>
              <a:rPr dirty="0" sz="1400" spc="10">
                <a:latin typeface="宋体"/>
                <a:cs typeface="宋体"/>
              </a:rPr>
              <a:t>以</a:t>
            </a:r>
            <a:r>
              <a:rPr dirty="0" sz="1400">
                <a:latin typeface="宋体"/>
                <a:cs typeface="宋体"/>
              </a:rPr>
              <a:t>解 决前期</a:t>
            </a:r>
            <a:r>
              <a:rPr dirty="0" sz="1400" spc="-15">
                <a:latin typeface="宋体"/>
                <a:cs typeface="宋体"/>
              </a:rPr>
              <a:t>投</a:t>
            </a:r>
            <a:r>
              <a:rPr dirty="0" sz="1400">
                <a:latin typeface="宋体"/>
                <a:cs typeface="宋体"/>
              </a:rPr>
              <a:t>入的</a:t>
            </a:r>
            <a:r>
              <a:rPr dirty="0" sz="1400" spc="-15">
                <a:latin typeface="宋体"/>
                <a:cs typeface="宋体"/>
              </a:rPr>
              <a:t>资金</a:t>
            </a:r>
            <a:r>
              <a:rPr dirty="0" sz="1400">
                <a:latin typeface="宋体"/>
                <a:cs typeface="宋体"/>
              </a:rPr>
              <a:t>需求较</a:t>
            </a:r>
            <a:r>
              <a:rPr dirty="0" sz="1400" spc="-10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的问</a:t>
            </a:r>
            <a:r>
              <a:rPr dirty="0" sz="1400" spc="-10">
                <a:latin typeface="宋体"/>
                <a:cs typeface="宋体"/>
              </a:rPr>
              <a:t>题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不影响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为主</a:t>
            </a:r>
            <a:r>
              <a:rPr dirty="0" sz="1400" spc="-15">
                <a:latin typeface="宋体"/>
                <a:cs typeface="宋体"/>
              </a:rPr>
              <a:t>体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经营；</a:t>
            </a:r>
            <a:r>
              <a:rPr dirty="0" sz="1400" spc="-15">
                <a:latin typeface="宋体"/>
                <a:cs typeface="宋体"/>
              </a:rPr>
              <a:t>另</a:t>
            </a:r>
            <a:r>
              <a:rPr dirty="0" sz="1400">
                <a:latin typeface="宋体"/>
                <a:cs typeface="宋体"/>
              </a:rPr>
              <a:t>一方</a:t>
            </a:r>
            <a:r>
              <a:rPr dirty="0" sz="1400" spc="-15">
                <a:latin typeface="宋体"/>
                <a:cs typeface="宋体"/>
              </a:rPr>
              <a:t>面，</a:t>
            </a:r>
            <a:r>
              <a:rPr dirty="0" sz="1400">
                <a:latin typeface="宋体"/>
                <a:cs typeface="宋体"/>
              </a:rPr>
              <a:t>在华为</a:t>
            </a:r>
            <a:r>
              <a:rPr dirty="0" sz="1400" spc="-15">
                <a:latin typeface="宋体"/>
                <a:cs typeface="宋体"/>
              </a:rPr>
              <a:t>对</a:t>
            </a:r>
            <a:r>
              <a:rPr dirty="0" sz="1400">
                <a:latin typeface="宋体"/>
                <a:cs typeface="宋体"/>
              </a:rPr>
              <a:t>于阿</a:t>
            </a:r>
            <a:r>
              <a:rPr dirty="0" sz="1400" spc="-15">
                <a:latin typeface="宋体"/>
                <a:cs typeface="宋体"/>
              </a:rPr>
              <a:t>根廷</a:t>
            </a:r>
            <a:r>
              <a:rPr dirty="0" sz="1400">
                <a:latin typeface="宋体"/>
                <a:cs typeface="宋体"/>
              </a:rPr>
              <a:t>整体环</a:t>
            </a:r>
            <a:r>
              <a:rPr dirty="0" sz="1400" spc="-15">
                <a:latin typeface="宋体"/>
                <a:cs typeface="宋体"/>
              </a:rPr>
              <a:t>境</a:t>
            </a:r>
            <a:r>
              <a:rPr dirty="0" sz="1400">
                <a:latin typeface="宋体"/>
                <a:cs typeface="宋体"/>
              </a:rPr>
              <a:t>乐观 预期的</a:t>
            </a:r>
            <a:r>
              <a:rPr dirty="0" sz="1400" spc="-15">
                <a:latin typeface="宋体"/>
                <a:cs typeface="宋体"/>
              </a:rPr>
              <a:t>情</a:t>
            </a:r>
            <a:r>
              <a:rPr dirty="0" sz="1400">
                <a:latin typeface="宋体"/>
                <a:cs typeface="宋体"/>
              </a:rPr>
              <a:t>况下</a:t>
            </a:r>
            <a:r>
              <a:rPr dirty="0" sz="1400" spc="-15">
                <a:latin typeface="宋体"/>
                <a:cs typeface="宋体"/>
              </a:rPr>
              <a:t>，融</a:t>
            </a:r>
            <a:r>
              <a:rPr dirty="0" sz="1400">
                <a:latin typeface="宋体"/>
                <a:cs typeface="宋体"/>
              </a:rPr>
              <a:t>资可以</a:t>
            </a:r>
            <a:r>
              <a:rPr dirty="0" sz="1400" spc="-15">
                <a:latin typeface="宋体"/>
                <a:cs typeface="宋体"/>
              </a:rPr>
              <a:t>提</a:t>
            </a:r>
            <a:r>
              <a:rPr dirty="0" sz="1400">
                <a:latin typeface="宋体"/>
                <a:cs typeface="宋体"/>
              </a:rPr>
              <a:t>升华</a:t>
            </a:r>
            <a:r>
              <a:rPr dirty="0" sz="1400" spc="-15">
                <a:latin typeface="宋体"/>
                <a:cs typeface="宋体"/>
              </a:rPr>
              <a:t>为的</a:t>
            </a:r>
            <a:r>
              <a:rPr dirty="0" sz="1400">
                <a:latin typeface="宋体"/>
                <a:cs typeface="宋体"/>
              </a:rPr>
              <a:t>整体盈</a:t>
            </a:r>
            <a:r>
              <a:rPr dirty="0" sz="1400" spc="-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性。</a:t>
            </a:r>
            <a:endParaRPr sz="1400">
              <a:latin typeface="宋体"/>
              <a:cs typeface="宋体"/>
            </a:endParaRPr>
          </a:p>
          <a:p>
            <a:pPr marL="3481704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明兰"/>
                <a:cs typeface="明兰"/>
              </a:rPr>
              <a:t>可行的</a:t>
            </a:r>
            <a:r>
              <a:rPr dirty="0" sz="1400" spc="-15" b="1">
                <a:latin typeface="明兰"/>
                <a:cs typeface="明兰"/>
              </a:rPr>
              <a:t>融</a:t>
            </a:r>
            <a:r>
              <a:rPr dirty="0" sz="1400" b="1">
                <a:latin typeface="明兰"/>
                <a:cs typeface="明兰"/>
              </a:rPr>
              <a:t>资方案</a:t>
            </a:r>
            <a:endParaRPr sz="1400">
              <a:latin typeface="明兰"/>
              <a:cs typeface="明兰"/>
            </a:endParaRPr>
          </a:p>
          <a:p>
            <a:pPr marL="299085" marR="78740" indent="-286385">
              <a:lnSpc>
                <a:spcPct val="986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 spc="5">
                <a:latin typeface="宋体"/>
                <a:cs typeface="宋体"/>
              </a:rPr>
              <a:t>若</a:t>
            </a:r>
            <a:r>
              <a:rPr dirty="0" sz="1400">
                <a:latin typeface="宋体"/>
                <a:cs typeface="宋体"/>
              </a:rPr>
              <a:t>合</a:t>
            </a:r>
            <a:r>
              <a:rPr dirty="0" sz="1400" spc="5">
                <a:latin typeface="宋体"/>
                <a:cs typeface="宋体"/>
              </a:rPr>
              <a:t>资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 spc="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与</a:t>
            </a:r>
            <a:r>
              <a:rPr dirty="0" sz="1400" spc="-10">
                <a:latin typeface="宋体"/>
                <a:cs typeface="宋体"/>
              </a:rPr>
              <a:t>渠道</a:t>
            </a:r>
            <a:r>
              <a:rPr dirty="0" sz="1400" spc="5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5">
                <a:latin typeface="宋体"/>
                <a:cs typeface="宋体"/>
              </a:rPr>
              <a:t>代</a:t>
            </a:r>
            <a:r>
              <a:rPr dirty="0" sz="1400" spc="-15">
                <a:latin typeface="宋体"/>
                <a:cs typeface="宋体"/>
              </a:rPr>
              <a:t>理</a:t>
            </a:r>
            <a:r>
              <a:rPr dirty="0" sz="1400" spc="5">
                <a:latin typeface="宋体"/>
                <a:cs typeface="宋体"/>
              </a:rPr>
              <a:t>商</a:t>
            </a:r>
            <a:r>
              <a:rPr dirty="0" sz="1400">
                <a:latin typeface="宋体"/>
                <a:cs typeface="宋体"/>
              </a:rPr>
              <a:t>之</a:t>
            </a:r>
            <a:r>
              <a:rPr dirty="0" sz="1400" spc="-10">
                <a:latin typeface="宋体"/>
                <a:cs typeface="宋体"/>
              </a:rPr>
              <a:t>间的</a:t>
            </a:r>
            <a:r>
              <a:rPr dirty="0" sz="1400" spc="5">
                <a:latin typeface="宋体"/>
                <a:cs typeface="宋体"/>
              </a:rPr>
              <a:t>交</a:t>
            </a:r>
            <a:r>
              <a:rPr dirty="0" sz="1400">
                <a:latin typeface="宋体"/>
                <a:cs typeface="宋体"/>
              </a:rPr>
              <a:t>易</a:t>
            </a:r>
            <a:r>
              <a:rPr dirty="0" sz="1400" spc="5">
                <a:latin typeface="宋体"/>
                <a:cs typeface="宋体"/>
              </a:rPr>
              <a:t>为</a:t>
            </a:r>
            <a:r>
              <a:rPr dirty="0" sz="1400" spc="-15">
                <a:latin typeface="宋体"/>
                <a:cs typeface="宋体"/>
              </a:rPr>
              <a:t>美</a:t>
            </a:r>
            <a:r>
              <a:rPr dirty="0" sz="1400" spc="5">
                <a:latin typeface="宋体"/>
                <a:cs typeface="宋体"/>
              </a:rPr>
              <a:t>元</a:t>
            </a:r>
            <a:r>
              <a:rPr dirty="0" sz="1400">
                <a:latin typeface="宋体"/>
                <a:cs typeface="宋体"/>
              </a:rPr>
              <a:t>计</a:t>
            </a:r>
            <a:r>
              <a:rPr dirty="0" sz="1400" spc="-10">
                <a:latin typeface="宋体"/>
                <a:cs typeface="宋体"/>
              </a:rPr>
              <a:t>价，</a:t>
            </a:r>
            <a:r>
              <a:rPr dirty="0" sz="1400" spc="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5">
                <a:latin typeface="宋体"/>
                <a:cs typeface="宋体"/>
              </a:rPr>
              <a:t>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</a:t>
            </a:r>
            <a:r>
              <a:rPr dirty="0" sz="1400" spc="5">
                <a:latin typeface="宋体"/>
                <a:cs typeface="宋体"/>
              </a:rPr>
              <a:t>法</a:t>
            </a:r>
            <a:r>
              <a:rPr dirty="0" sz="1400" spc="-15">
                <a:latin typeface="宋体"/>
                <a:cs typeface="宋体"/>
              </a:rPr>
              <a:t>人</a:t>
            </a:r>
            <a:r>
              <a:rPr dirty="0" sz="1400" spc="-10">
                <a:latin typeface="宋体"/>
                <a:cs typeface="宋体"/>
              </a:rPr>
              <a:t>可</a:t>
            </a:r>
            <a:r>
              <a:rPr dirty="0" sz="1400" spc="5">
                <a:latin typeface="宋体"/>
                <a:cs typeface="宋体"/>
              </a:rPr>
              <a:t>以</a:t>
            </a:r>
            <a:r>
              <a:rPr dirty="0" sz="1400">
                <a:latin typeface="宋体"/>
                <a:cs typeface="宋体"/>
              </a:rPr>
              <a:t>选</a:t>
            </a:r>
            <a:r>
              <a:rPr dirty="0" sz="1400" spc="5">
                <a:latin typeface="宋体"/>
                <a:cs typeface="宋体"/>
              </a:rPr>
              <a:t>择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 spc="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</a:t>
            </a:r>
            <a:r>
              <a:rPr dirty="0" sz="1400" spc="-10">
                <a:latin typeface="宋体"/>
                <a:cs typeface="宋体"/>
              </a:rPr>
              <a:t>廷进</a:t>
            </a:r>
            <a:r>
              <a:rPr dirty="0" sz="1400" spc="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美</a:t>
            </a:r>
            <a:r>
              <a:rPr dirty="0" sz="1400" spc="5">
                <a:latin typeface="宋体"/>
                <a:cs typeface="宋体"/>
              </a:rPr>
              <a:t>元融 </a:t>
            </a:r>
            <a:r>
              <a:rPr dirty="0" sz="1400">
                <a:latin typeface="宋体"/>
                <a:cs typeface="宋体"/>
              </a:rPr>
              <a:t>资，兑</a:t>
            </a:r>
            <a:r>
              <a:rPr dirty="0" sz="1400" spc="-15">
                <a:latin typeface="宋体"/>
                <a:cs typeface="宋体"/>
              </a:rPr>
              <a:t>换</a:t>
            </a:r>
            <a:r>
              <a:rPr dirty="0" sz="1400">
                <a:latin typeface="宋体"/>
                <a:cs typeface="宋体"/>
              </a:rPr>
              <a:t>成比</a:t>
            </a:r>
            <a:r>
              <a:rPr dirty="0" sz="1400" spc="-15">
                <a:latin typeface="宋体"/>
                <a:cs typeface="宋体"/>
              </a:rPr>
              <a:t>索在</a:t>
            </a:r>
            <a:r>
              <a:rPr dirty="0" sz="1400">
                <a:latin typeface="宋体"/>
                <a:cs typeface="宋体"/>
              </a:rPr>
              <a:t>当地投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建厂</a:t>
            </a:r>
            <a:r>
              <a:rPr dirty="0" sz="1400" spc="-15">
                <a:latin typeface="宋体"/>
                <a:cs typeface="宋体"/>
              </a:rPr>
              <a:t>，未</a:t>
            </a:r>
            <a:r>
              <a:rPr dirty="0" sz="1400">
                <a:latin typeface="宋体"/>
                <a:cs typeface="宋体"/>
              </a:rPr>
              <a:t>来收</a:t>
            </a:r>
            <a:r>
              <a:rPr dirty="0" sz="1400" spc="5">
                <a:latin typeface="宋体"/>
                <a:cs typeface="宋体"/>
              </a:rPr>
              <a:t>入</a:t>
            </a:r>
            <a:r>
              <a:rPr dirty="0" sz="1400" spc="-15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美元</a:t>
            </a:r>
            <a:r>
              <a:rPr dirty="0" sz="1400" spc="-15">
                <a:latin typeface="宋体"/>
                <a:cs typeface="宋体"/>
              </a:rPr>
              <a:t>进行</a:t>
            </a:r>
            <a:r>
              <a:rPr dirty="0" sz="1400">
                <a:latin typeface="宋体"/>
                <a:cs typeface="宋体"/>
              </a:rPr>
              <a:t>偿债。</a:t>
            </a:r>
            <a:r>
              <a:rPr dirty="0" sz="1400" spc="-15">
                <a:latin typeface="宋体"/>
                <a:cs typeface="宋体"/>
              </a:rPr>
              <a:t>也</a:t>
            </a:r>
            <a:r>
              <a:rPr dirty="0" sz="1400">
                <a:latin typeface="宋体"/>
                <a:cs typeface="宋体"/>
              </a:rPr>
              <a:t>可以</a:t>
            </a:r>
            <a:r>
              <a:rPr dirty="0" sz="1400" spc="-15">
                <a:latin typeface="宋体"/>
                <a:cs typeface="宋体"/>
              </a:rPr>
              <a:t>通过</a:t>
            </a:r>
            <a:r>
              <a:rPr dirty="0" sz="1400">
                <a:latin typeface="宋体"/>
                <a:cs typeface="宋体"/>
              </a:rPr>
              <a:t>华为香</a:t>
            </a:r>
            <a:r>
              <a:rPr dirty="0" sz="1400" spc="-15">
                <a:latin typeface="宋体"/>
                <a:cs typeface="宋体"/>
              </a:rPr>
              <a:t>港</a:t>
            </a:r>
            <a:r>
              <a:rPr dirty="0" sz="1400">
                <a:latin typeface="宋体"/>
                <a:cs typeface="宋体"/>
              </a:rPr>
              <a:t>法人</a:t>
            </a:r>
            <a:r>
              <a:rPr dirty="0" sz="1400" spc="-15">
                <a:latin typeface="宋体"/>
                <a:cs typeface="宋体"/>
              </a:rPr>
              <a:t>进行</a:t>
            </a:r>
            <a:r>
              <a:rPr dirty="0" sz="1400">
                <a:latin typeface="宋体"/>
                <a:cs typeface="宋体"/>
              </a:rPr>
              <a:t>美元融 资。鉴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没有</a:t>
            </a:r>
            <a:r>
              <a:rPr dirty="0" sz="1400">
                <a:latin typeface="宋体"/>
                <a:cs typeface="宋体"/>
              </a:rPr>
              <a:t>权威机</a:t>
            </a:r>
            <a:r>
              <a:rPr dirty="0" sz="1400" spc="-15">
                <a:latin typeface="宋体"/>
                <a:cs typeface="宋体"/>
              </a:rPr>
              <a:t>构</a:t>
            </a:r>
            <a:r>
              <a:rPr dirty="0" sz="1400">
                <a:latin typeface="宋体"/>
                <a:cs typeface="宋体"/>
              </a:rPr>
              <a:t>给出</a:t>
            </a:r>
            <a:r>
              <a:rPr dirty="0" sz="1400" spc="-15">
                <a:latin typeface="宋体"/>
                <a:cs typeface="宋体"/>
              </a:rPr>
              <a:t>的信</a:t>
            </a:r>
            <a:r>
              <a:rPr dirty="0" sz="1400">
                <a:latin typeface="宋体"/>
                <a:cs typeface="宋体"/>
              </a:rPr>
              <a:t>用评级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且未</a:t>
            </a:r>
            <a:r>
              <a:rPr dirty="0" sz="1400" spc="-15">
                <a:latin typeface="宋体"/>
                <a:cs typeface="宋体"/>
              </a:rPr>
              <a:t>上市</a:t>
            </a:r>
            <a:r>
              <a:rPr dirty="0" sz="1400">
                <a:latin typeface="宋体"/>
                <a:cs typeface="宋体"/>
              </a:rPr>
              <a:t>财务数</a:t>
            </a:r>
            <a:r>
              <a:rPr dirty="0" sz="1400" spc="-15">
                <a:latin typeface="宋体"/>
                <a:cs typeface="宋体"/>
              </a:rPr>
              <a:t>据</a:t>
            </a:r>
            <a:r>
              <a:rPr dirty="0" sz="1400">
                <a:latin typeface="宋体"/>
                <a:cs typeface="宋体"/>
              </a:rPr>
              <a:t>不公</a:t>
            </a:r>
            <a:r>
              <a:rPr dirty="0" sz="1400" spc="-15">
                <a:latin typeface="宋体"/>
                <a:cs typeface="宋体"/>
              </a:rPr>
              <a:t>开，</a:t>
            </a:r>
            <a:r>
              <a:rPr dirty="0" sz="1400">
                <a:latin typeface="宋体"/>
                <a:cs typeface="宋体"/>
              </a:rPr>
              <a:t>香港融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可能</a:t>
            </a:r>
            <a:r>
              <a:rPr dirty="0" sz="1400" spc="-15">
                <a:latin typeface="宋体"/>
                <a:cs typeface="宋体"/>
              </a:rPr>
              <a:t>会由</a:t>
            </a:r>
            <a:r>
              <a:rPr dirty="0" sz="1400">
                <a:latin typeface="宋体"/>
                <a:cs typeface="宋体"/>
              </a:rPr>
              <a:t>于华为在 本土的</a:t>
            </a:r>
            <a:r>
              <a:rPr dirty="0" sz="1400" spc="-15">
                <a:latin typeface="宋体"/>
                <a:cs typeface="宋体"/>
              </a:rPr>
              <a:t>声</a:t>
            </a:r>
            <a:r>
              <a:rPr dirty="0" sz="1400">
                <a:latin typeface="宋体"/>
                <a:cs typeface="宋体"/>
              </a:rPr>
              <a:t>誉而</a:t>
            </a:r>
            <a:r>
              <a:rPr dirty="0" sz="1400" spc="-15">
                <a:latin typeface="宋体"/>
                <a:cs typeface="宋体"/>
              </a:rPr>
              <a:t>享有</a:t>
            </a:r>
            <a:r>
              <a:rPr dirty="0" sz="1400">
                <a:latin typeface="宋体"/>
                <a:cs typeface="宋体"/>
              </a:rPr>
              <a:t>较低的</a:t>
            </a:r>
            <a:r>
              <a:rPr dirty="0" sz="1400" spc="-15">
                <a:latin typeface="宋体"/>
                <a:cs typeface="宋体"/>
              </a:rPr>
              <a:t>信</a:t>
            </a:r>
            <a:r>
              <a:rPr dirty="0" sz="1400">
                <a:latin typeface="宋体"/>
                <a:cs typeface="宋体"/>
              </a:rPr>
              <a:t>用溢</a:t>
            </a:r>
            <a:r>
              <a:rPr dirty="0" sz="1400" spc="-1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algn="just" marL="299085" marR="80010" indent="-286385">
              <a:lnSpc>
                <a:spcPct val="97900"/>
              </a:lnSpc>
              <a:spcBef>
                <a:spcPts val="105"/>
              </a:spcBef>
              <a:buFont typeface="Arial"/>
              <a:buChar char="•"/>
              <a:tabLst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若合资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厂与</a:t>
            </a:r>
            <a:r>
              <a:rPr dirty="0" sz="1400" spc="-15">
                <a:latin typeface="宋体"/>
                <a:cs typeface="宋体"/>
              </a:rPr>
              <a:t>渠道</a:t>
            </a:r>
            <a:r>
              <a:rPr dirty="0" sz="1400">
                <a:latin typeface="宋体"/>
                <a:cs typeface="宋体"/>
              </a:rPr>
              <a:t>商、代</a:t>
            </a:r>
            <a:r>
              <a:rPr dirty="0" sz="1400" spc="-15">
                <a:latin typeface="宋体"/>
                <a:cs typeface="宋体"/>
              </a:rPr>
              <a:t>理</a:t>
            </a:r>
            <a:r>
              <a:rPr dirty="0" sz="1400">
                <a:latin typeface="宋体"/>
                <a:cs typeface="宋体"/>
              </a:rPr>
              <a:t>商之</a:t>
            </a:r>
            <a:r>
              <a:rPr dirty="0" sz="1400" spc="-15">
                <a:latin typeface="宋体"/>
                <a:cs typeface="宋体"/>
              </a:rPr>
              <a:t>间的</a:t>
            </a:r>
            <a:r>
              <a:rPr dirty="0" sz="1400">
                <a:latin typeface="宋体"/>
                <a:cs typeface="宋体"/>
              </a:rPr>
              <a:t>交易为</a:t>
            </a:r>
            <a:r>
              <a:rPr dirty="0" sz="1400" spc="-15">
                <a:latin typeface="宋体"/>
                <a:cs typeface="宋体"/>
              </a:rPr>
              <a:t>比</a:t>
            </a:r>
            <a:r>
              <a:rPr dirty="0" sz="1400">
                <a:latin typeface="宋体"/>
                <a:cs typeface="宋体"/>
              </a:rPr>
              <a:t>索计</a:t>
            </a:r>
            <a:r>
              <a:rPr dirty="0" sz="1400" spc="-15">
                <a:latin typeface="宋体"/>
                <a:cs typeface="宋体"/>
              </a:rPr>
              <a:t>价，</a:t>
            </a:r>
            <a:r>
              <a:rPr dirty="0" sz="1400">
                <a:latin typeface="宋体"/>
                <a:cs typeface="宋体"/>
              </a:rPr>
              <a:t>华</a:t>
            </a:r>
            <a:r>
              <a:rPr dirty="0" sz="1400" spc="10">
                <a:latin typeface="宋体"/>
                <a:cs typeface="宋体"/>
              </a:rPr>
              <a:t>为</a:t>
            </a:r>
            <a:r>
              <a:rPr dirty="0" sz="1400">
                <a:latin typeface="宋体"/>
                <a:cs typeface="宋体"/>
              </a:rPr>
              <a:t>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廷法</a:t>
            </a:r>
            <a:r>
              <a:rPr dirty="0" sz="1400" spc="-15">
                <a:latin typeface="宋体"/>
                <a:cs typeface="宋体"/>
              </a:rPr>
              <a:t>人在</a:t>
            </a:r>
            <a:r>
              <a:rPr dirty="0" sz="1400">
                <a:latin typeface="宋体"/>
                <a:cs typeface="宋体"/>
              </a:rPr>
              <a:t>阿根廷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行比</a:t>
            </a:r>
            <a:r>
              <a:rPr dirty="0" sz="1400" spc="-15">
                <a:latin typeface="宋体"/>
                <a:cs typeface="宋体"/>
              </a:rPr>
              <a:t>索融</a:t>
            </a:r>
            <a:r>
              <a:rPr dirty="0" sz="1400">
                <a:latin typeface="宋体"/>
                <a:cs typeface="宋体"/>
              </a:rPr>
              <a:t>资，在当 地投建</a:t>
            </a:r>
            <a:r>
              <a:rPr dirty="0" sz="1400" spc="-10">
                <a:latin typeface="宋体"/>
                <a:cs typeface="宋体"/>
              </a:rPr>
              <a:t>建</a:t>
            </a:r>
            <a:r>
              <a:rPr dirty="0" sz="1400">
                <a:latin typeface="宋体"/>
                <a:cs typeface="宋体"/>
              </a:rPr>
              <a:t>厂。</a:t>
            </a:r>
            <a:r>
              <a:rPr dirty="0" sz="1400" spc="-15">
                <a:latin typeface="宋体"/>
                <a:cs typeface="宋体"/>
              </a:rPr>
              <a:t>该方</a:t>
            </a:r>
            <a:r>
              <a:rPr dirty="0" sz="1400">
                <a:latin typeface="宋体"/>
                <a:cs typeface="宋体"/>
              </a:rPr>
              <a:t>案的优</a:t>
            </a:r>
            <a:r>
              <a:rPr dirty="0" sz="1400" spc="-15">
                <a:latin typeface="宋体"/>
                <a:cs typeface="宋体"/>
              </a:rPr>
              <a:t>势</a:t>
            </a:r>
            <a:r>
              <a:rPr dirty="0" sz="1400">
                <a:latin typeface="宋体"/>
                <a:cs typeface="宋体"/>
              </a:rPr>
              <a:t>在于</a:t>
            </a:r>
            <a:r>
              <a:rPr dirty="0" sz="1400" spc="-15">
                <a:latin typeface="宋体"/>
                <a:cs typeface="宋体"/>
              </a:rPr>
              <a:t>，合</a:t>
            </a:r>
            <a:r>
              <a:rPr dirty="0" sz="1400">
                <a:latin typeface="宋体"/>
                <a:cs typeface="宋体"/>
              </a:rPr>
              <a:t>资厂商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未来</a:t>
            </a:r>
            <a:r>
              <a:rPr dirty="0" sz="1400" spc="-15">
                <a:latin typeface="宋体"/>
                <a:cs typeface="宋体"/>
              </a:rPr>
              <a:t>收</a:t>
            </a:r>
            <a:r>
              <a:rPr dirty="0" sz="1400" spc="-5">
                <a:latin typeface="宋体"/>
                <a:cs typeface="宋体"/>
              </a:rPr>
              <a:t>入</a:t>
            </a:r>
            <a:r>
              <a:rPr dirty="0" sz="1400">
                <a:latin typeface="宋体"/>
                <a:cs typeface="宋体"/>
              </a:rPr>
              <a:t>为比索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可以</a:t>
            </a:r>
            <a:r>
              <a:rPr dirty="0" sz="1400" spc="-15">
                <a:latin typeface="宋体"/>
                <a:cs typeface="宋体"/>
              </a:rPr>
              <a:t>直接</a:t>
            </a:r>
            <a:r>
              <a:rPr dirty="0" sz="1400">
                <a:latin typeface="宋体"/>
                <a:cs typeface="宋体"/>
              </a:rPr>
              <a:t>用于偿</a:t>
            </a:r>
            <a:r>
              <a:rPr dirty="0" sz="1400" spc="-15">
                <a:latin typeface="宋体"/>
                <a:cs typeface="宋体"/>
              </a:rPr>
              <a:t>债</a:t>
            </a:r>
            <a:r>
              <a:rPr dirty="0" sz="1400">
                <a:latin typeface="宋体"/>
                <a:cs typeface="宋体"/>
              </a:rPr>
              <a:t>，避</a:t>
            </a:r>
            <a:r>
              <a:rPr dirty="0" sz="1400" spc="-15">
                <a:latin typeface="宋体"/>
                <a:cs typeface="宋体"/>
              </a:rPr>
              <a:t>免汇</a:t>
            </a:r>
            <a:r>
              <a:rPr dirty="0" sz="1400">
                <a:latin typeface="宋体"/>
                <a:cs typeface="宋体"/>
              </a:rPr>
              <a:t>率风险。 </a:t>
            </a:r>
            <a:r>
              <a:rPr dirty="0" sz="1400" spc="5">
                <a:latin typeface="宋体"/>
                <a:cs typeface="宋体"/>
              </a:rPr>
              <a:t>且</a:t>
            </a:r>
            <a:r>
              <a:rPr dirty="0" sz="1400">
                <a:latin typeface="宋体"/>
                <a:cs typeface="宋体"/>
              </a:rPr>
              <a:t>比</a:t>
            </a:r>
            <a:r>
              <a:rPr dirty="0" sz="1400" spc="5">
                <a:latin typeface="宋体"/>
                <a:cs typeface="宋体"/>
              </a:rPr>
              <a:t>索</a:t>
            </a:r>
            <a:r>
              <a:rPr dirty="0" sz="1400" spc="-15">
                <a:latin typeface="宋体"/>
                <a:cs typeface="宋体"/>
              </a:rPr>
              <a:t>处</a:t>
            </a:r>
            <a:r>
              <a:rPr dirty="0" sz="1400" spc="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持</a:t>
            </a:r>
            <a:r>
              <a:rPr dirty="0" sz="1400" spc="-10">
                <a:latin typeface="宋体"/>
                <a:cs typeface="宋体"/>
              </a:rPr>
              <a:t>续贬</a:t>
            </a:r>
            <a:r>
              <a:rPr dirty="0" sz="1400" spc="5">
                <a:latin typeface="宋体"/>
                <a:cs typeface="宋体"/>
              </a:rPr>
              <a:t>值</a:t>
            </a:r>
            <a:r>
              <a:rPr dirty="0" sz="1400">
                <a:latin typeface="宋体"/>
                <a:cs typeface="宋体"/>
              </a:rPr>
              <a:t>通</a:t>
            </a:r>
            <a:r>
              <a:rPr dirty="0" sz="1400" spc="5">
                <a:latin typeface="宋体"/>
                <a:cs typeface="宋体"/>
              </a:rPr>
              <a:t>道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会</a:t>
            </a:r>
            <a:r>
              <a:rPr dirty="0" sz="1400">
                <a:latin typeface="宋体"/>
                <a:cs typeface="宋体"/>
              </a:rPr>
              <a:t>减</a:t>
            </a:r>
            <a:r>
              <a:rPr dirty="0" sz="1400" spc="-10">
                <a:latin typeface="宋体"/>
                <a:cs typeface="宋体"/>
              </a:rPr>
              <a:t>轻债</a:t>
            </a:r>
            <a:r>
              <a:rPr dirty="0" sz="1400" spc="5">
                <a:latin typeface="宋体"/>
                <a:cs typeface="宋体"/>
              </a:rPr>
              <a:t>务</a:t>
            </a:r>
            <a:r>
              <a:rPr dirty="0" sz="1400">
                <a:latin typeface="宋体"/>
                <a:cs typeface="宋体"/>
              </a:rPr>
              <a:t>负</a:t>
            </a:r>
            <a:r>
              <a:rPr dirty="0" sz="1400" spc="5">
                <a:latin typeface="宋体"/>
                <a:cs typeface="宋体"/>
              </a:rPr>
              <a:t>担。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1488947"/>
            <a:ext cx="4468495" cy="5047615"/>
          </a:xfrm>
          <a:custGeom>
            <a:avLst/>
            <a:gdLst/>
            <a:ahLst/>
            <a:cxnLst/>
            <a:rect l="l" t="t" r="r" b="b"/>
            <a:pathLst>
              <a:path w="4468495" h="5047615">
                <a:moveTo>
                  <a:pt x="0" y="5047488"/>
                </a:moveTo>
                <a:lnTo>
                  <a:pt x="4468368" y="5047488"/>
                </a:lnTo>
                <a:lnTo>
                  <a:pt x="4468368" y="0"/>
                </a:lnTo>
                <a:lnTo>
                  <a:pt x="0" y="0"/>
                </a:lnTo>
                <a:lnTo>
                  <a:pt x="0" y="5047488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8968" y="1519174"/>
            <a:ext cx="4293870" cy="4934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华为品</a:t>
            </a:r>
            <a:r>
              <a:rPr dirty="0" sz="1400" spc="-15" b="1">
                <a:latin typeface="明兰"/>
                <a:cs typeface="明兰"/>
              </a:rPr>
              <a:t>牌</a:t>
            </a:r>
            <a:r>
              <a:rPr dirty="0" sz="1400" b="1">
                <a:latin typeface="明兰"/>
                <a:cs typeface="明兰"/>
              </a:rPr>
              <a:t>及技</a:t>
            </a:r>
            <a:r>
              <a:rPr dirty="0" sz="1400" spc="-15" b="1">
                <a:latin typeface="明兰"/>
                <a:cs typeface="明兰"/>
              </a:rPr>
              <a:t>术资</a:t>
            </a:r>
            <a:r>
              <a:rPr dirty="0" sz="1400" b="1">
                <a:latin typeface="明兰"/>
                <a:cs typeface="明兰"/>
              </a:rPr>
              <a:t>源优势</a:t>
            </a:r>
            <a:endParaRPr sz="1400">
              <a:latin typeface="明兰"/>
              <a:cs typeface="明兰"/>
            </a:endParaRPr>
          </a:p>
          <a:p>
            <a:pPr marL="307975" marR="239395" indent="-29527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 b="1">
                <a:latin typeface="明兰"/>
                <a:cs typeface="明兰"/>
              </a:rPr>
              <a:t>华为在</a:t>
            </a:r>
            <a:r>
              <a:rPr dirty="0" sz="1400" spc="-15" b="1">
                <a:latin typeface="明兰"/>
                <a:cs typeface="明兰"/>
              </a:rPr>
              <a:t>手</a:t>
            </a:r>
            <a:r>
              <a:rPr dirty="0" sz="1400" b="1">
                <a:latin typeface="明兰"/>
                <a:cs typeface="明兰"/>
              </a:rPr>
              <a:t>机研</a:t>
            </a:r>
            <a:r>
              <a:rPr dirty="0" sz="1400" spc="-15" b="1">
                <a:latin typeface="明兰"/>
                <a:cs typeface="明兰"/>
              </a:rPr>
              <a:t>发、</a:t>
            </a:r>
            <a:r>
              <a:rPr dirty="0" sz="1400" b="1">
                <a:latin typeface="明兰"/>
                <a:cs typeface="明兰"/>
              </a:rPr>
              <a:t>制造领</a:t>
            </a:r>
            <a:r>
              <a:rPr dirty="0" sz="1400" spc="-15" b="1">
                <a:latin typeface="明兰"/>
                <a:cs typeface="明兰"/>
              </a:rPr>
              <a:t>域</a:t>
            </a:r>
            <a:r>
              <a:rPr dirty="0" sz="1400" b="1">
                <a:latin typeface="明兰"/>
                <a:cs typeface="明兰"/>
              </a:rPr>
              <a:t>拥有</a:t>
            </a:r>
            <a:r>
              <a:rPr dirty="0" sz="1400" spc="-15" b="1">
                <a:latin typeface="明兰"/>
                <a:cs typeface="明兰"/>
              </a:rPr>
              <a:t>较强</a:t>
            </a:r>
            <a:r>
              <a:rPr dirty="0" sz="1400" b="1">
                <a:latin typeface="明兰"/>
                <a:cs typeface="明兰"/>
              </a:rPr>
              <a:t>的技术</a:t>
            </a:r>
            <a:r>
              <a:rPr dirty="0" sz="1400" spc="-15" b="1">
                <a:latin typeface="明兰"/>
                <a:cs typeface="明兰"/>
              </a:rPr>
              <a:t>优</a:t>
            </a:r>
            <a:r>
              <a:rPr dirty="0" sz="1400" b="1">
                <a:latin typeface="明兰"/>
                <a:cs typeface="明兰"/>
              </a:rPr>
              <a:t>势 </a:t>
            </a:r>
            <a:r>
              <a:rPr dirty="0" sz="1400" spc="10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拥</a:t>
            </a:r>
            <a:r>
              <a:rPr dirty="0" sz="1400" spc="-15">
                <a:latin typeface="宋体"/>
                <a:cs typeface="宋体"/>
              </a:rPr>
              <a:t>有</a:t>
            </a:r>
            <a:r>
              <a:rPr dirty="0" sz="1400">
                <a:latin typeface="宋体"/>
                <a:cs typeface="宋体"/>
              </a:rPr>
              <a:t>麒麟</a:t>
            </a:r>
            <a:r>
              <a:rPr dirty="0" sz="1400" spc="-15">
                <a:latin typeface="宋体"/>
                <a:cs typeface="宋体"/>
              </a:rPr>
              <a:t>芯</a:t>
            </a:r>
            <a:r>
              <a:rPr dirty="0" sz="1400">
                <a:latin typeface="宋体"/>
                <a:cs typeface="宋体"/>
              </a:rPr>
              <a:t>片解</a:t>
            </a:r>
            <a:r>
              <a:rPr dirty="0" sz="1400" spc="-15">
                <a:latin typeface="宋体"/>
                <a:cs typeface="宋体"/>
              </a:rPr>
              <a:t>决</a:t>
            </a:r>
            <a:r>
              <a:rPr dirty="0" sz="1400">
                <a:latin typeface="宋体"/>
                <a:cs typeface="宋体"/>
              </a:rPr>
              <a:t>方案</a:t>
            </a:r>
            <a:r>
              <a:rPr dirty="0" sz="1400" spc="-15">
                <a:latin typeface="宋体"/>
                <a:cs typeface="宋体"/>
              </a:rPr>
              <a:t>包</a:t>
            </a:r>
            <a:r>
              <a:rPr dirty="0" sz="1400">
                <a:latin typeface="宋体"/>
                <a:cs typeface="宋体"/>
              </a:rPr>
              <a:t>括高</a:t>
            </a:r>
            <a:r>
              <a:rPr dirty="0" sz="1400" spc="-15">
                <a:latin typeface="宋体"/>
                <a:cs typeface="宋体"/>
              </a:rPr>
              <a:t>、</a:t>
            </a:r>
            <a:r>
              <a:rPr dirty="0" sz="1400">
                <a:latin typeface="宋体"/>
                <a:cs typeface="宋体"/>
              </a:rPr>
              <a:t>中、</a:t>
            </a:r>
            <a:r>
              <a:rPr dirty="0" sz="1400" spc="-15">
                <a:latin typeface="宋体"/>
                <a:cs typeface="宋体"/>
              </a:rPr>
              <a:t>低</a:t>
            </a:r>
            <a:r>
              <a:rPr dirty="0" sz="1400">
                <a:latin typeface="宋体"/>
                <a:cs typeface="宋体"/>
              </a:rPr>
              <a:t>档芯</a:t>
            </a:r>
            <a:endParaRPr sz="1400">
              <a:latin typeface="宋体"/>
              <a:cs typeface="宋体"/>
            </a:endParaRPr>
          </a:p>
          <a:p>
            <a:pPr marL="12700" marR="6350">
              <a:lnSpc>
                <a:spcPct val="98200"/>
              </a:lnSpc>
              <a:spcBef>
                <a:spcPts val="90"/>
              </a:spcBef>
            </a:pPr>
            <a:r>
              <a:rPr dirty="0" sz="1400">
                <a:latin typeface="宋体"/>
                <a:cs typeface="宋体"/>
              </a:rPr>
              <a:t>片，技</a:t>
            </a:r>
            <a:r>
              <a:rPr dirty="0" sz="1400" spc="-15">
                <a:latin typeface="宋体"/>
                <a:cs typeface="宋体"/>
              </a:rPr>
              <a:t>术</a:t>
            </a:r>
            <a:r>
              <a:rPr dirty="0" sz="1400">
                <a:latin typeface="宋体"/>
                <a:cs typeface="宋体"/>
              </a:rPr>
              <a:t>上较</a:t>
            </a:r>
            <a:r>
              <a:rPr dirty="0" sz="1400" spc="-15">
                <a:latin typeface="宋体"/>
                <a:cs typeface="宋体"/>
              </a:rPr>
              <a:t>为先</a:t>
            </a:r>
            <a:r>
              <a:rPr dirty="0" sz="1400">
                <a:latin typeface="宋体"/>
                <a:cs typeface="宋体"/>
              </a:rPr>
              <a:t>进；在</a:t>
            </a:r>
            <a:r>
              <a:rPr dirty="0" sz="1400" spc="-15">
                <a:latin typeface="宋体"/>
                <a:cs typeface="宋体"/>
              </a:rPr>
              <a:t>手</a:t>
            </a:r>
            <a:r>
              <a:rPr dirty="0" sz="1400">
                <a:latin typeface="宋体"/>
                <a:cs typeface="宋体"/>
              </a:rPr>
              <a:t>机研</a:t>
            </a:r>
            <a:r>
              <a:rPr dirty="0" sz="1400" spc="-15">
                <a:latin typeface="宋体"/>
                <a:cs typeface="宋体"/>
              </a:rPr>
              <a:t>发方</a:t>
            </a:r>
            <a:r>
              <a:rPr dirty="0" sz="1400">
                <a:latin typeface="宋体"/>
                <a:cs typeface="宋体"/>
              </a:rPr>
              <a:t>面的能</a:t>
            </a:r>
            <a:r>
              <a:rPr dirty="0" sz="1400" spc="-15">
                <a:latin typeface="宋体"/>
                <a:cs typeface="宋体"/>
              </a:rPr>
              <a:t>力</a:t>
            </a:r>
            <a:r>
              <a:rPr dirty="0" sz="1400">
                <a:latin typeface="宋体"/>
                <a:cs typeface="宋体"/>
              </a:rPr>
              <a:t>较强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建 立合资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提升</a:t>
            </a:r>
            <a:r>
              <a:rPr dirty="0" sz="1400" spc="-15">
                <a:latin typeface="宋体"/>
                <a:cs typeface="宋体"/>
              </a:rPr>
              <a:t>公司</a:t>
            </a:r>
            <a:r>
              <a:rPr dirty="0" sz="1400">
                <a:latin typeface="宋体"/>
                <a:cs typeface="宋体"/>
              </a:rPr>
              <a:t>的参与</a:t>
            </a:r>
            <a:r>
              <a:rPr dirty="0" sz="1400" spc="-15">
                <a:latin typeface="宋体"/>
                <a:cs typeface="宋体"/>
              </a:rPr>
              <a:t>程</a:t>
            </a:r>
            <a:r>
              <a:rPr dirty="0" sz="1400">
                <a:latin typeface="宋体"/>
                <a:cs typeface="宋体"/>
              </a:rPr>
              <a:t>度，</a:t>
            </a:r>
            <a:r>
              <a:rPr dirty="0" sz="1400" spc="-15">
                <a:latin typeface="宋体"/>
                <a:cs typeface="宋体"/>
              </a:rPr>
              <a:t>相较</a:t>
            </a:r>
            <a:r>
              <a:rPr dirty="0" sz="1400">
                <a:latin typeface="宋体"/>
                <a:cs typeface="宋体"/>
              </a:rPr>
              <a:t>于简单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代工生 产，更</a:t>
            </a:r>
            <a:r>
              <a:rPr dirty="0" sz="1400" spc="-15">
                <a:latin typeface="宋体"/>
                <a:cs typeface="宋体"/>
              </a:rPr>
              <a:t>有</a:t>
            </a:r>
            <a:r>
              <a:rPr dirty="0" sz="1400">
                <a:latin typeface="宋体"/>
                <a:cs typeface="宋体"/>
              </a:rPr>
              <a:t>利于</a:t>
            </a:r>
            <a:r>
              <a:rPr dirty="0" sz="1400" spc="-15">
                <a:latin typeface="宋体"/>
                <a:cs typeface="宋体"/>
              </a:rPr>
              <a:t>华为</a:t>
            </a:r>
            <a:r>
              <a:rPr dirty="0" sz="1400">
                <a:latin typeface="宋体"/>
                <a:cs typeface="宋体"/>
              </a:rPr>
              <a:t>加快自</a:t>
            </a:r>
            <a:r>
              <a:rPr dirty="0" sz="1400" spc="-15">
                <a:latin typeface="宋体"/>
                <a:cs typeface="宋体"/>
              </a:rPr>
              <a:t>身</a:t>
            </a:r>
            <a:r>
              <a:rPr dirty="0" sz="1400">
                <a:latin typeface="宋体"/>
                <a:cs typeface="宋体"/>
              </a:rPr>
              <a:t>技术</a:t>
            </a:r>
            <a:r>
              <a:rPr dirty="0" sz="1400" spc="-15">
                <a:latin typeface="宋体"/>
                <a:cs typeface="宋体"/>
              </a:rPr>
              <a:t>转换</a:t>
            </a:r>
            <a:r>
              <a:rPr dirty="0" sz="1400">
                <a:latin typeface="宋体"/>
                <a:cs typeface="宋体"/>
              </a:rPr>
              <a:t>及新品</a:t>
            </a:r>
            <a:r>
              <a:rPr dirty="0" sz="1400" spc="-15">
                <a:latin typeface="宋体"/>
                <a:cs typeface="宋体"/>
              </a:rPr>
              <a:t>上</a:t>
            </a:r>
            <a:r>
              <a:rPr dirty="0" sz="1400">
                <a:latin typeface="宋体"/>
                <a:cs typeface="宋体"/>
              </a:rPr>
              <a:t>市流程</a:t>
            </a:r>
            <a:endParaRPr sz="1400">
              <a:latin typeface="宋体"/>
              <a:cs typeface="宋体"/>
            </a:endParaRPr>
          </a:p>
          <a:p>
            <a:pPr algn="just" marL="299085" marR="73025" indent="-286385">
              <a:lnSpc>
                <a:spcPct val="98300"/>
              </a:lnSpc>
              <a:spcBef>
                <a:spcPts val="90"/>
              </a:spcBef>
              <a:buFont typeface="Arial"/>
              <a:buChar char="•"/>
              <a:tabLst>
                <a:tab pos="299720" algn="l"/>
              </a:tabLst>
            </a:pPr>
            <a:r>
              <a:rPr dirty="0" sz="1400" b="1">
                <a:latin typeface="明兰"/>
                <a:cs typeface="明兰"/>
              </a:rPr>
              <a:t>华为作</a:t>
            </a:r>
            <a:r>
              <a:rPr dirty="0" sz="1400" spc="-15" b="1">
                <a:latin typeface="明兰"/>
                <a:cs typeface="明兰"/>
              </a:rPr>
              <a:t>为</a:t>
            </a:r>
            <a:r>
              <a:rPr dirty="0" sz="1400" b="1">
                <a:latin typeface="明兰"/>
                <a:cs typeface="明兰"/>
              </a:rPr>
              <a:t>全球</a:t>
            </a:r>
            <a:r>
              <a:rPr dirty="0" sz="1400" spc="-15" b="1">
                <a:latin typeface="明兰"/>
                <a:cs typeface="明兰"/>
              </a:rPr>
              <a:t>第二</a:t>
            </a:r>
            <a:r>
              <a:rPr dirty="0" sz="1400" b="1">
                <a:latin typeface="明兰"/>
                <a:cs typeface="明兰"/>
              </a:rPr>
              <a:t>大通信</a:t>
            </a:r>
            <a:r>
              <a:rPr dirty="0" sz="1400" spc="-15" b="1">
                <a:latin typeface="明兰"/>
                <a:cs typeface="明兰"/>
              </a:rPr>
              <a:t>设</a:t>
            </a:r>
            <a:r>
              <a:rPr dirty="0" sz="1400" b="1">
                <a:latin typeface="明兰"/>
                <a:cs typeface="明兰"/>
              </a:rPr>
              <a:t>备制</a:t>
            </a:r>
            <a:r>
              <a:rPr dirty="0" sz="1400" spc="-15" b="1">
                <a:latin typeface="明兰"/>
                <a:cs typeface="明兰"/>
              </a:rPr>
              <a:t>造商</a:t>
            </a:r>
            <a:r>
              <a:rPr dirty="0" sz="1400" b="1">
                <a:latin typeface="明兰"/>
                <a:cs typeface="明兰"/>
              </a:rPr>
              <a:t>，与国</a:t>
            </a:r>
            <a:r>
              <a:rPr dirty="0" sz="1400" spc="-15" b="1">
                <a:latin typeface="明兰"/>
                <a:cs typeface="明兰"/>
              </a:rPr>
              <a:t>际</a:t>
            </a:r>
            <a:r>
              <a:rPr dirty="0" sz="1400" b="1">
                <a:latin typeface="明兰"/>
                <a:cs typeface="明兰"/>
              </a:rPr>
              <a:t>电信 </a:t>
            </a:r>
            <a:r>
              <a:rPr dirty="0" sz="1400" spc="5" b="1">
                <a:latin typeface="明兰"/>
                <a:cs typeface="明兰"/>
              </a:rPr>
              <a:t>运</a:t>
            </a:r>
            <a:r>
              <a:rPr dirty="0" sz="1400" b="1">
                <a:latin typeface="明兰"/>
                <a:cs typeface="明兰"/>
              </a:rPr>
              <a:t>营</a:t>
            </a:r>
            <a:r>
              <a:rPr dirty="0" sz="1400" spc="5" b="1">
                <a:latin typeface="明兰"/>
                <a:cs typeface="明兰"/>
              </a:rPr>
              <a:t>商</a:t>
            </a:r>
            <a:r>
              <a:rPr dirty="0" sz="1400" spc="-15" b="1">
                <a:latin typeface="明兰"/>
                <a:cs typeface="明兰"/>
              </a:rPr>
              <a:t>拥</a:t>
            </a:r>
            <a:r>
              <a:rPr dirty="0" sz="1400" spc="5" b="1">
                <a:latin typeface="明兰"/>
                <a:cs typeface="明兰"/>
              </a:rPr>
              <a:t>有</a:t>
            </a:r>
            <a:r>
              <a:rPr dirty="0" sz="1400" b="1">
                <a:latin typeface="明兰"/>
                <a:cs typeface="明兰"/>
              </a:rPr>
              <a:t>较</a:t>
            </a:r>
            <a:r>
              <a:rPr dirty="0" sz="1400" spc="-10" b="1">
                <a:latin typeface="明兰"/>
                <a:cs typeface="明兰"/>
              </a:rPr>
              <a:t>为密</a:t>
            </a:r>
            <a:r>
              <a:rPr dirty="0" sz="1400" spc="5" b="1">
                <a:latin typeface="明兰"/>
                <a:cs typeface="明兰"/>
              </a:rPr>
              <a:t>切</a:t>
            </a:r>
            <a:r>
              <a:rPr dirty="0" sz="1400" b="1">
                <a:latin typeface="明兰"/>
                <a:cs typeface="明兰"/>
              </a:rPr>
              <a:t>的</a:t>
            </a:r>
            <a:r>
              <a:rPr dirty="0" sz="1400" spc="5" b="1">
                <a:latin typeface="明兰"/>
                <a:cs typeface="明兰"/>
              </a:rPr>
              <a:t>合</a:t>
            </a:r>
            <a:r>
              <a:rPr dirty="0" sz="1400" spc="-15" b="1">
                <a:latin typeface="明兰"/>
                <a:cs typeface="明兰"/>
              </a:rPr>
              <a:t>作</a:t>
            </a:r>
            <a:r>
              <a:rPr dirty="0" sz="1400" spc="5" b="1">
                <a:latin typeface="明兰"/>
                <a:cs typeface="明兰"/>
              </a:rPr>
              <a:t>关</a:t>
            </a:r>
            <a:r>
              <a:rPr dirty="0" sz="1400" b="1">
                <a:latin typeface="明兰"/>
                <a:cs typeface="明兰"/>
              </a:rPr>
              <a:t>系</a:t>
            </a:r>
            <a:r>
              <a:rPr dirty="0" sz="1400" spc="-10" b="1">
                <a:latin typeface="明兰"/>
                <a:cs typeface="明兰"/>
              </a:rPr>
              <a:t>，有</a:t>
            </a:r>
            <a:r>
              <a:rPr dirty="0" sz="1400" spc="5" b="1">
                <a:latin typeface="明兰"/>
                <a:cs typeface="明兰"/>
              </a:rPr>
              <a:t>利</a:t>
            </a:r>
            <a:r>
              <a:rPr dirty="0" sz="1400" b="1">
                <a:latin typeface="明兰"/>
                <a:cs typeface="明兰"/>
              </a:rPr>
              <a:t>于</a:t>
            </a:r>
            <a:r>
              <a:rPr dirty="0" sz="1400" spc="5" b="1">
                <a:latin typeface="明兰"/>
                <a:cs typeface="明兰"/>
              </a:rPr>
              <a:t>通</a:t>
            </a:r>
            <a:r>
              <a:rPr dirty="0" sz="1400" spc="-15" b="1">
                <a:latin typeface="明兰"/>
                <a:cs typeface="明兰"/>
              </a:rPr>
              <a:t>过</a:t>
            </a:r>
            <a:r>
              <a:rPr dirty="0" sz="1400" b="1">
                <a:latin typeface="明兰"/>
                <a:cs typeface="明兰"/>
              </a:rPr>
              <a:t>合资 </a:t>
            </a:r>
            <a:r>
              <a:rPr dirty="0" sz="1400" b="1">
                <a:latin typeface="明兰"/>
                <a:cs typeface="明兰"/>
              </a:rPr>
              <a:t>厂推动</a:t>
            </a:r>
            <a:r>
              <a:rPr dirty="0" sz="1400" spc="-15" b="1">
                <a:latin typeface="明兰"/>
                <a:cs typeface="明兰"/>
              </a:rPr>
              <a:t>运</a:t>
            </a:r>
            <a:r>
              <a:rPr dirty="0" sz="1400" b="1">
                <a:latin typeface="明兰"/>
                <a:cs typeface="明兰"/>
              </a:rPr>
              <a:t>营商</a:t>
            </a:r>
            <a:r>
              <a:rPr dirty="0" sz="1400" spc="-15" b="1">
                <a:latin typeface="明兰"/>
                <a:cs typeface="明兰"/>
              </a:rPr>
              <a:t>渠道</a:t>
            </a:r>
            <a:r>
              <a:rPr dirty="0" sz="1400" b="1">
                <a:latin typeface="明兰"/>
                <a:cs typeface="明兰"/>
              </a:rPr>
              <a:t>销售</a:t>
            </a:r>
            <a:endParaRPr sz="1400">
              <a:latin typeface="明兰"/>
              <a:cs typeface="明兰"/>
            </a:endParaRPr>
          </a:p>
          <a:p>
            <a:pPr marL="12700" marR="108585" indent="245110">
              <a:lnSpc>
                <a:spcPct val="100000"/>
              </a:lnSpc>
            </a:pPr>
            <a:r>
              <a:rPr dirty="0" sz="1400" spc="10">
                <a:latin typeface="宋体"/>
                <a:cs typeface="宋体"/>
              </a:rPr>
              <a:t>截至</a:t>
            </a:r>
            <a:r>
              <a:rPr dirty="0" sz="1400" spc="-10">
                <a:latin typeface="Arial"/>
                <a:cs typeface="Arial"/>
              </a:rPr>
              <a:t>2017</a:t>
            </a:r>
            <a:r>
              <a:rPr dirty="0" sz="1400">
                <a:latin typeface="宋体"/>
                <a:cs typeface="宋体"/>
              </a:rPr>
              <a:t>年</a:t>
            </a:r>
            <a:r>
              <a:rPr dirty="0" sz="1400" spc="-15">
                <a:latin typeface="Arial"/>
                <a:cs typeface="Arial"/>
              </a:rPr>
              <a:t>1</a:t>
            </a:r>
            <a:r>
              <a:rPr dirty="0" sz="1400">
                <a:latin typeface="宋体"/>
                <a:cs typeface="宋体"/>
              </a:rPr>
              <a:t>月，</a:t>
            </a:r>
            <a:r>
              <a:rPr dirty="0" sz="1400" spc="-1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为累</a:t>
            </a:r>
            <a:r>
              <a:rPr dirty="0" sz="1400" spc="-15">
                <a:latin typeface="宋体"/>
                <a:cs typeface="宋体"/>
              </a:rPr>
              <a:t>计</a:t>
            </a:r>
            <a:r>
              <a:rPr dirty="0" sz="1400">
                <a:latin typeface="宋体"/>
                <a:cs typeface="宋体"/>
              </a:rPr>
              <a:t>在全</a:t>
            </a:r>
            <a:r>
              <a:rPr dirty="0" sz="1400" spc="-15">
                <a:latin typeface="宋体"/>
                <a:cs typeface="宋体"/>
              </a:rPr>
              <a:t>球</a:t>
            </a:r>
            <a:r>
              <a:rPr dirty="0" sz="1400">
                <a:latin typeface="宋体"/>
                <a:cs typeface="宋体"/>
              </a:rPr>
              <a:t>获得</a:t>
            </a:r>
            <a:r>
              <a:rPr dirty="0" sz="1400" spc="-10">
                <a:latin typeface="Arial"/>
                <a:cs typeface="Arial"/>
              </a:rPr>
              <a:t>170+NFV</a:t>
            </a:r>
            <a:r>
              <a:rPr dirty="0" sz="1400">
                <a:latin typeface="宋体"/>
                <a:cs typeface="宋体"/>
              </a:rPr>
              <a:t>商 用网络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同，</a:t>
            </a:r>
            <a:r>
              <a:rPr dirty="0" sz="1400" spc="-15">
                <a:latin typeface="宋体"/>
                <a:cs typeface="宋体"/>
              </a:rPr>
              <a:t>成为</a:t>
            </a:r>
            <a:r>
              <a:rPr dirty="0" sz="1400">
                <a:latin typeface="宋体"/>
                <a:cs typeface="宋体"/>
              </a:rPr>
              <a:t>全球运</a:t>
            </a:r>
            <a:r>
              <a:rPr dirty="0" sz="1400" spc="-15">
                <a:latin typeface="宋体"/>
                <a:cs typeface="宋体"/>
              </a:rPr>
              <a:t>营</a:t>
            </a:r>
            <a:r>
              <a:rPr dirty="0" sz="1400">
                <a:latin typeface="宋体"/>
                <a:cs typeface="宋体"/>
              </a:rPr>
              <a:t>商云</a:t>
            </a:r>
            <a:r>
              <a:rPr dirty="0" sz="1400" spc="-15">
                <a:latin typeface="宋体"/>
                <a:cs typeface="宋体"/>
              </a:rPr>
              <a:t>化转</a:t>
            </a:r>
            <a:r>
              <a:rPr dirty="0" sz="1400">
                <a:latin typeface="宋体"/>
                <a:cs typeface="宋体"/>
              </a:rPr>
              <a:t>型的首</a:t>
            </a:r>
            <a:r>
              <a:rPr dirty="0" sz="1400" spc="-15">
                <a:latin typeface="宋体"/>
                <a:cs typeface="宋体"/>
              </a:rPr>
              <a:t>选</a:t>
            </a:r>
            <a:r>
              <a:rPr dirty="0" sz="1400">
                <a:latin typeface="宋体"/>
                <a:cs typeface="宋体"/>
              </a:rPr>
              <a:t>合作伙 </a:t>
            </a:r>
            <a:r>
              <a:rPr dirty="0" sz="1400" spc="10">
                <a:latin typeface="宋体"/>
                <a:cs typeface="宋体"/>
              </a:rPr>
              <a:t>伴。</a:t>
            </a:r>
            <a:r>
              <a:rPr dirty="0" sz="1400">
                <a:latin typeface="宋体"/>
                <a:cs typeface="宋体"/>
              </a:rPr>
              <a:t>华为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阿根</a:t>
            </a:r>
            <a:r>
              <a:rPr dirty="0" sz="1400" spc="-15">
                <a:latin typeface="宋体"/>
                <a:cs typeface="宋体"/>
              </a:rPr>
              <a:t>廷</a:t>
            </a:r>
            <a:r>
              <a:rPr dirty="0" sz="1400">
                <a:latin typeface="宋体"/>
                <a:cs typeface="宋体"/>
              </a:rPr>
              <a:t>发展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 spc="-10">
                <a:latin typeface="Arial"/>
                <a:cs typeface="Arial"/>
              </a:rPr>
              <a:t>13</a:t>
            </a:r>
            <a:r>
              <a:rPr dirty="0" sz="1400">
                <a:latin typeface="宋体"/>
                <a:cs typeface="宋体"/>
              </a:rPr>
              <a:t>年间，</a:t>
            </a:r>
            <a:r>
              <a:rPr dirty="0" sz="1400" spc="-15">
                <a:latin typeface="宋体"/>
                <a:cs typeface="宋体"/>
              </a:rPr>
              <a:t>提</a:t>
            </a:r>
            <a:r>
              <a:rPr dirty="0" sz="1400">
                <a:latin typeface="宋体"/>
                <a:cs typeface="宋体"/>
              </a:rPr>
              <a:t>供了</a:t>
            </a:r>
            <a:r>
              <a:rPr dirty="0" sz="1400" spc="-15">
                <a:latin typeface="宋体"/>
                <a:cs typeface="宋体"/>
              </a:rPr>
              <a:t>先</a:t>
            </a:r>
            <a:r>
              <a:rPr dirty="0" sz="1400">
                <a:latin typeface="宋体"/>
                <a:cs typeface="宋体"/>
              </a:rPr>
              <a:t>进的</a:t>
            </a:r>
            <a:r>
              <a:rPr dirty="0" sz="1400" spc="-15">
                <a:latin typeface="宋体"/>
                <a:cs typeface="宋体"/>
              </a:rPr>
              <a:t>技</a:t>
            </a:r>
            <a:r>
              <a:rPr dirty="0" sz="1400">
                <a:latin typeface="宋体"/>
                <a:cs typeface="宋体"/>
              </a:rPr>
              <a:t>术</a:t>
            </a:r>
            <a:endParaRPr sz="1400">
              <a:latin typeface="宋体"/>
              <a:cs typeface="宋体"/>
            </a:endParaRPr>
          </a:p>
          <a:p>
            <a:pPr marL="12700" marR="5080">
              <a:lnSpc>
                <a:spcPct val="99200"/>
              </a:lnSpc>
              <a:spcBef>
                <a:spcPts val="75"/>
              </a:spcBef>
            </a:pPr>
            <a:r>
              <a:rPr dirty="0" sz="1400">
                <a:latin typeface="宋体"/>
                <a:cs typeface="宋体"/>
              </a:rPr>
              <a:t>和解决</a:t>
            </a:r>
            <a:r>
              <a:rPr dirty="0" sz="1400" spc="-15">
                <a:latin typeface="宋体"/>
                <a:cs typeface="宋体"/>
              </a:rPr>
              <a:t>方</a:t>
            </a:r>
            <a:r>
              <a:rPr dirty="0" sz="1400">
                <a:latin typeface="宋体"/>
                <a:cs typeface="宋体"/>
              </a:rPr>
              <a:t>案，</a:t>
            </a:r>
            <a:r>
              <a:rPr dirty="0" sz="1400" spc="-15">
                <a:latin typeface="宋体"/>
                <a:cs typeface="宋体"/>
              </a:rPr>
              <a:t>与阿</a:t>
            </a:r>
            <a:r>
              <a:rPr dirty="0" sz="1400">
                <a:latin typeface="宋体"/>
                <a:cs typeface="宋体"/>
              </a:rPr>
              <a:t>根廷通</a:t>
            </a:r>
            <a:r>
              <a:rPr dirty="0" sz="1400" spc="-15">
                <a:latin typeface="宋体"/>
                <a:cs typeface="宋体"/>
              </a:rPr>
              <a:t>信</a:t>
            </a:r>
            <a:r>
              <a:rPr dirty="0" sz="1400">
                <a:latin typeface="宋体"/>
                <a:cs typeface="宋体"/>
              </a:rPr>
              <a:t>业共</a:t>
            </a:r>
            <a:r>
              <a:rPr dirty="0" sz="1400" spc="-15">
                <a:latin typeface="宋体"/>
                <a:cs typeface="宋体"/>
              </a:rPr>
              <a:t>同发</a:t>
            </a:r>
            <a:r>
              <a:rPr dirty="0" sz="1400">
                <a:latin typeface="宋体"/>
                <a:cs typeface="宋体"/>
              </a:rPr>
              <a:t>展；同</a:t>
            </a:r>
            <a:r>
              <a:rPr dirty="0" sz="1400" spc="-15">
                <a:latin typeface="宋体"/>
                <a:cs typeface="宋体"/>
              </a:rPr>
              <a:t>时</a:t>
            </a:r>
            <a:r>
              <a:rPr dirty="0" sz="1400">
                <a:latin typeface="宋体"/>
                <a:cs typeface="宋体"/>
              </a:rPr>
              <a:t>积极</a:t>
            </a:r>
            <a:r>
              <a:rPr dirty="0" sz="1400" spc="-15">
                <a:latin typeface="宋体"/>
                <a:cs typeface="宋体"/>
              </a:rPr>
              <a:t>推</a:t>
            </a:r>
            <a:r>
              <a:rPr dirty="0" sz="1400">
                <a:latin typeface="宋体"/>
                <a:cs typeface="宋体"/>
              </a:rPr>
              <a:t>动 </a:t>
            </a:r>
            <a:r>
              <a:rPr dirty="0" sz="1400" spc="5">
                <a:latin typeface="宋体"/>
                <a:cs typeface="宋体"/>
              </a:rPr>
              <a:t>了</a:t>
            </a:r>
            <a:r>
              <a:rPr dirty="0" sz="1400">
                <a:latin typeface="宋体"/>
                <a:cs typeface="宋体"/>
              </a:rPr>
              <a:t>电</a:t>
            </a:r>
            <a:r>
              <a:rPr dirty="0" sz="1400" spc="5">
                <a:latin typeface="宋体"/>
                <a:cs typeface="宋体"/>
              </a:rPr>
              <a:t>信</a:t>
            </a:r>
            <a:r>
              <a:rPr dirty="0" sz="1400" spc="-15">
                <a:latin typeface="宋体"/>
                <a:cs typeface="宋体"/>
              </a:rPr>
              <a:t>普</a:t>
            </a:r>
            <a:r>
              <a:rPr dirty="0" sz="1400" spc="5">
                <a:latin typeface="宋体"/>
                <a:cs typeface="宋体"/>
              </a:rPr>
              <a:t>及</a:t>
            </a:r>
            <a:r>
              <a:rPr dirty="0" sz="1400">
                <a:latin typeface="宋体"/>
                <a:cs typeface="宋体"/>
              </a:rPr>
              <a:t>及</a:t>
            </a:r>
            <a:r>
              <a:rPr dirty="0" sz="1400" spc="-10">
                <a:latin typeface="宋体"/>
                <a:cs typeface="宋体"/>
              </a:rPr>
              <a:t>边远</a:t>
            </a:r>
            <a:r>
              <a:rPr dirty="0" sz="1400" spc="5">
                <a:latin typeface="宋体"/>
                <a:cs typeface="宋体"/>
              </a:rPr>
              <a:t>地</a:t>
            </a:r>
            <a:r>
              <a:rPr dirty="0" sz="1400">
                <a:latin typeface="宋体"/>
                <a:cs typeface="宋体"/>
              </a:rPr>
              <a:t>区</a:t>
            </a:r>
            <a:r>
              <a:rPr dirty="0" sz="1400" spc="5">
                <a:latin typeface="宋体"/>
                <a:cs typeface="宋体"/>
              </a:rPr>
              <a:t>覆</a:t>
            </a:r>
            <a:r>
              <a:rPr dirty="0" sz="1400" spc="-15">
                <a:latin typeface="宋体"/>
                <a:cs typeface="宋体"/>
              </a:rPr>
              <a:t>盖</a:t>
            </a:r>
            <a:r>
              <a:rPr dirty="0" sz="1400" spc="5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目</a:t>
            </a:r>
            <a:r>
              <a:rPr dirty="0" sz="1400" spc="-10">
                <a:latin typeface="宋体"/>
                <a:cs typeface="宋体"/>
              </a:rPr>
              <a:t>前，</a:t>
            </a:r>
            <a:r>
              <a:rPr dirty="0" sz="1400" spc="5">
                <a:latin typeface="宋体"/>
                <a:cs typeface="宋体"/>
              </a:rPr>
              <a:t>华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 spc="-15">
                <a:latin typeface="宋体"/>
                <a:cs typeface="宋体"/>
              </a:rPr>
              <a:t>解</a:t>
            </a:r>
            <a:r>
              <a:rPr dirty="0" sz="1400" spc="5">
                <a:latin typeface="宋体"/>
                <a:cs typeface="宋体"/>
              </a:rPr>
              <a:t>决</a:t>
            </a:r>
            <a:r>
              <a:rPr dirty="0" sz="1400">
                <a:latin typeface="宋体"/>
                <a:cs typeface="宋体"/>
              </a:rPr>
              <a:t>方</a:t>
            </a:r>
            <a:r>
              <a:rPr dirty="0" sz="1400" spc="-10">
                <a:latin typeface="宋体"/>
                <a:cs typeface="宋体"/>
              </a:rPr>
              <a:t>案</a:t>
            </a:r>
            <a:r>
              <a:rPr dirty="0" sz="1400">
                <a:latin typeface="宋体"/>
                <a:cs typeface="宋体"/>
              </a:rPr>
              <a:t>目 </a:t>
            </a:r>
            <a:r>
              <a:rPr dirty="0" sz="1400" spc="10">
                <a:latin typeface="宋体"/>
                <a:cs typeface="宋体"/>
              </a:rPr>
              <a:t>前已</a:t>
            </a:r>
            <a:r>
              <a:rPr dirty="0" sz="1400">
                <a:latin typeface="宋体"/>
                <a:cs typeface="宋体"/>
              </a:rPr>
              <a:t>经服</a:t>
            </a:r>
            <a:r>
              <a:rPr dirty="0" sz="1400" spc="-15">
                <a:latin typeface="宋体"/>
                <a:cs typeface="宋体"/>
              </a:rPr>
              <a:t>务</a:t>
            </a:r>
            <a:r>
              <a:rPr dirty="0" sz="1400">
                <a:latin typeface="宋体"/>
                <a:cs typeface="宋体"/>
              </a:rPr>
              <a:t>于约</a:t>
            </a:r>
            <a:r>
              <a:rPr dirty="0" sz="1400" spc="-15">
                <a:latin typeface="宋体"/>
                <a:cs typeface="宋体"/>
              </a:rPr>
              <a:t>阿</a:t>
            </a:r>
            <a:r>
              <a:rPr dirty="0" sz="1400">
                <a:latin typeface="宋体"/>
                <a:cs typeface="宋体"/>
              </a:rPr>
              <a:t>根廷</a:t>
            </a:r>
            <a:r>
              <a:rPr dirty="0" sz="1400" spc="-15">
                <a:latin typeface="宋体"/>
                <a:cs typeface="宋体"/>
              </a:rPr>
              <a:t>四</a:t>
            </a:r>
            <a:r>
              <a:rPr dirty="0" sz="1400">
                <a:latin typeface="宋体"/>
                <a:cs typeface="宋体"/>
              </a:rPr>
              <a:t>分之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人口</a:t>
            </a:r>
            <a:r>
              <a:rPr dirty="0" sz="1400" spc="-5">
                <a:latin typeface="宋体"/>
                <a:cs typeface="宋体"/>
              </a:rPr>
              <a:t>。</a:t>
            </a:r>
            <a:r>
              <a:rPr dirty="0" sz="1400" spc="-10">
                <a:latin typeface="Arial"/>
                <a:cs typeface="Arial"/>
              </a:rPr>
              <a:t>2017</a:t>
            </a:r>
            <a:r>
              <a:rPr dirty="0" sz="1400">
                <a:latin typeface="宋体"/>
                <a:cs typeface="宋体"/>
              </a:rPr>
              <a:t>年，华为 </a:t>
            </a:r>
            <a:r>
              <a:rPr dirty="0" sz="1400" spc="10">
                <a:latin typeface="宋体"/>
                <a:cs typeface="宋体"/>
              </a:rPr>
              <a:t>联手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10">
                <a:latin typeface="Arial"/>
                <a:cs typeface="Arial"/>
              </a:rPr>
              <a:t>2200</a:t>
            </a:r>
            <a:r>
              <a:rPr dirty="0" sz="1400">
                <a:latin typeface="宋体"/>
                <a:cs typeface="宋体"/>
              </a:rPr>
              <a:t>万移</a:t>
            </a:r>
            <a:r>
              <a:rPr dirty="0" sz="1400" spc="-15">
                <a:latin typeface="宋体"/>
                <a:cs typeface="宋体"/>
              </a:rPr>
              <a:t>动</a:t>
            </a:r>
            <a:r>
              <a:rPr dirty="0" sz="1400">
                <a:latin typeface="宋体"/>
                <a:cs typeface="宋体"/>
              </a:rPr>
              <a:t>用户</a:t>
            </a:r>
            <a:r>
              <a:rPr dirty="0" sz="1400" spc="-15">
                <a:latin typeface="宋体"/>
                <a:cs typeface="宋体"/>
              </a:rPr>
              <a:t>提</a:t>
            </a:r>
            <a:r>
              <a:rPr dirty="0" sz="1400">
                <a:latin typeface="宋体"/>
                <a:cs typeface="宋体"/>
              </a:rPr>
              <a:t>供电</a:t>
            </a:r>
            <a:r>
              <a:rPr dirty="0" sz="1400" spc="-15">
                <a:latin typeface="宋体"/>
                <a:cs typeface="宋体"/>
              </a:rPr>
              <a:t>信</a:t>
            </a:r>
            <a:r>
              <a:rPr dirty="0" sz="1400">
                <a:latin typeface="宋体"/>
                <a:cs typeface="宋体"/>
              </a:rPr>
              <a:t>服务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领先</a:t>
            </a:r>
            <a:r>
              <a:rPr dirty="0" sz="1400" spc="-15">
                <a:latin typeface="宋体"/>
                <a:cs typeface="宋体"/>
              </a:rPr>
              <a:t>运</a:t>
            </a:r>
            <a:r>
              <a:rPr dirty="0" sz="1400">
                <a:latin typeface="宋体"/>
                <a:cs typeface="宋体"/>
              </a:rPr>
              <a:t>营商阿 根廷电</a:t>
            </a:r>
            <a:r>
              <a:rPr dirty="0" sz="1400" spc="-15">
                <a:latin typeface="宋体"/>
                <a:cs typeface="宋体"/>
              </a:rPr>
              <a:t>信</a:t>
            </a:r>
            <a:r>
              <a:rPr dirty="0" sz="1400">
                <a:latin typeface="宋体"/>
                <a:cs typeface="宋体"/>
              </a:rPr>
              <a:t>，率</a:t>
            </a:r>
            <a:r>
              <a:rPr dirty="0" sz="1400" spc="-15">
                <a:latin typeface="宋体"/>
                <a:cs typeface="宋体"/>
              </a:rPr>
              <a:t>先在</a:t>
            </a:r>
            <a:r>
              <a:rPr dirty="0" sz="1400">
                <a:latin typeface="宋体"/>
                <a:cs typeface="宋体"/>
              </a:rPr>
              <a:t>拉丁美</a:t>
            </a:r>
            <a:r>
              <a:rPr dirty="0" sz="1400" spc="-15">
                <a:latin typeface="宋体"/>
                <a:cs typeface="宋体"/>
              </a:rPr>
              <a:t>洲</a:t>
            </a:r>
            <a:r>
              <a:rPr dirty="0" sz="1400">
                <a:latin typeface="宋体"/>
                <a:cs typeface="宋体"/>
              </a:rPr>
              <a:t>发布</a:t>
            </a:r>
            <a:r>
              <a:rPr dirty="0" sz="1400" spc="-15">
                <a:latin typeface="宋体"/>
                <a:cs typeface="宋体"/>
              </a:rPr>
              <a:t>首个</a:t>
            </a:r>
            <a:r>
              <a:rPr dirty="0" sz="1400">
                <a:latin typeface="宋体"/>
                <a:cs typeface="宋体"/>
              </a:rPr>
              <a:t>全云化</a:t>
            </a:r>
            <a:r>
              <a:rPr dirty="0" sz="1400" spc="-15">
                <a:latin typeface="宋体"/>
                <a:cs typeface="宋体"/>
              </a:rPr>
              <a:t>核</a:t>
            </a:r>
            <a:r>
              <a:rPr dirty="0" sz="1400">
                <a:latin typeface="宋体"/>
                <a:cs typeface="宋体"/>
              </a:rPr>
              <a:t>心网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明兰"/>
                <a:cs typeface="明兰"/>
              </a:rPr>
              <a:t>供应商</a:t>
            </a:r>
            <a:r>
              <a:rPr dirty="0" sz="1400" spc="-15" b="1">
                <a:latin typeface="明兰"/>
                <a:cs typeface="明兰"/>
              </a:rPr>
              <a:t>当</a:t>
            </a:r>
            <a:r>
              <a:rPr dirty="0" sz="1400" b="1">
                <a:latin typeface="明兰"/>
                <a:cs typeface="明兰"/>
              </a:rPr>
              <a:t>地资</a:t>
            </a:r>
            <a:r>
              <a:rPr dirty="0" sz="1400" spc="-15" b="1">
                <a:latin typeface="明兰"/>
                <a:cs typeface="明兰"/>
              </a:rPr>
              <a:t>源优</a:t>
            </a:r>
            <a:r>
              <a:rPr dirty="0" sz="1400" b="1">
                <a:latin typeface="明兰"/>
                <a:cs typeface="明兰"/>
              </a:rPr>
              <a:t>势</a:t>
            </a:r>
            <a:endParaRPr sz="1400">
              <a:latin typeface="明兰"/>
              <a:cs typeface="明兰"/>
            </a:endParaRPr>
          </a:p>
          <a:p>
            <a:pPr marL="299085" marR="74930" indent="-286385">
              <a:lnSpc>
                <a:spcPts val="1620"/>
              </a:lnSpc>
              <a:spcBef>
                <a:spcPts val="16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突出体</a:t>
            </a:r>
            <a:r>
              <a:rPr dirty="0" sz="1400" spc="-15">
                <a:latin typeface="宋体"/>
                <a:cs typeface="宋体"/>
              </a:rPr>
              <a:t>现</a:t>
            </a:r>
            <a:r>
              <a:rPr dirty="0" sz="1400">
                <a:latin typeface="宋体"/>
                <a:cs typeface="宋体"/>
              </a:rPr>
              <a:t>在：</a:t>
            </a:r>
            <a:r>
              <a:rPr dirty="0" sz="1400" spc="-15">
                <a:latin typeface="宋体"/>
                <a:cs typeface="宋体"/>
              </a:rPr>
              <a:t>拆机</a:t>
            </a:r>
            <a:r>
              <a:rPr dirty="0" sz="1400">
                <a:latin typeface="宋体"/>
                <a:cs typeface="宋体"/>
              </a:rPr>
              <a:t>方案审</a:t>
            </a:r>
            <a:r>
              <a:rPr dirty="0" sz="1400" spc="-15">
                <a:latin typeface="宋体"/>
                <a:cs typeface="宋体"/>
              </a:rPr>
              <a:t>批</a:t>
            </a:r>
            <a:r>
              <a:rPr dirty="0" sz="1400">
                <a:latin typeface="宋体"/>
                <a:cs typeface="宋体"/>
              </a:rPr>
              <a:t>资质</a:t>
            </a:r>
            <a:r>
              <a:rPr dirty="0" sz="1400" spc="-15">
                <a:latin typeface="宋体"/>
                <a:cs typeface="宋体"/>
              </a:rPr>
              <a:t>、进</a:t>
            </a:r>
            <a:r>
              <a:rPr dirty="0" sz="1400">
                <a:latin typeface="宋体"/>
                <a:cs typeface="宋体"/>
              </a:rPr>
              <a:t>口配额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源、 下游渠</a:t>
            </a:r>
            <a:r>
              <a:rPr dirty="0" sz="1400" spc="-15">
                <a:latin typeface="宋体"/>
                <a:cs typeface="宋体"/>
              </a:rPr>
              <a:t>道</a:t>
            </a:r>
            <a:r>
              <a:rPr dirty="0" sz="1400">
                <a:latin typeface="宋体"/>
                <a:cs typeface="宋体"/>
              </a:rPr>
              <a:t>资源</a:t>
            </a:r>
            <a:r>
              <a:rPr dirty="0" sz="1400" spc="-15">
                <a:latin typeface="宋体"/>
                <a:cs typeface="宋体"/>
              </a:rPr>
              <a:t>、外</a:t>
            </a:r>
            <a:r>
              <a:rPr dirty="0" sz="1400">
                <a:latin typeface="宋体"/>
                <a:cs typeface="宋体"/>
              </a:rPr>
              <a:t>汇兑换</a:t>
            </a:r>
            <a:r>
              <a:rPr dirty="0" sz="1400" spc="-15">
                <a:latin typeface="宋体"/>
                <a:cs typeface="宋体"/>
              </a:rPr>
              <a:t>资</a:t>
            </a:r>
            <a:r>
              <a:rPr dirty="0" sz="1400">
                <a:latin typeface="宋体"/>
                <a:cs typeface="宋体"/>
              </a:rPr>
              <a:t>源、</a:t>
            </a:r>
            <a:r>
              <a:rPr dirty="0" sz="1400" spc="-15">
                <a:latin typeface="宋体"/>
                <a:cs typeface="宋体"/>
              </a:rPr>
              <a:t>自身</a:t>
            </a:r>
            <a:r>
              <a:rPr dirty="0" sz="1400">
                <a:latin typeface="宋体"/>
                <a:cs typeface="宋体"/>
              </a:rPr>
              <a:t>品牌背</a:t>
            </a:r>
            <a:r>
              <a:rPr dirty="0" sz="1400" spc="-15">
                <a:latin typeface="宋体"/>
                <a:cs typeface="宋体"/>
              </a:rPr>
              <a:t>书</a:t>
            </a:r>
            <a:r>
              <a:rPr dirty="0" sz="1400">
                <a:latin typeface="宋体"/>
                <a:cs typeface="宋体"/>
              </a:rPr>
              <a:t>等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ts val="1639"/>
              </a:lnSpc>
            </a:pPr>
            <a:r>
              <a:rPr dirty="0" sz="1400" b="1">
                <a:latin typeface="明兰"/>
                <a:cs typeface="明兰"/>
              </a:rPr>
              <a:t>合资机</a:t>
            </a:r>
            <a:r>
              <a:rPr dirty="0" sz="1400" spc="-15" b="1">
                <a:latin typeface="明兰"/>
                <a:cs typeface="明兰"/>
              </a:rPr>
              <a:t>制</a:t>
            </a:r>
            <a:r>
              <a:rPr dirty="0" sz="1400" b="1">
                <a:latin typeface="明兰"/>
                <a:cs typeface="明兰"/>
              </a:rPr>
              <a:t>促进</a:t>
            </a:r>
            <a:r>
              <a:rPr dirty="0" sz="1400" spc="-15" b="1">
                <a:latin typeface="明兰"/>
                <a:cs typeface="明兰"/>
              </a:rPr>
              <a:t>责任</a:t>
            </a:r>
            <a:r>
              <a:rPr dirty="0" sz="1400" b="1">
                <a:latin typeface="明兰"/>
                <a:cs typeface="明兰"/>
              </a:rPr>
              <a:t>分担</a:t>
            </a:r>
            <a:endParaRPr sz="1400">
              <a:latin typeface="明兰"/>
              <a:cs typeface="明兰"/>
            </a:endParaRPr>
          </a:p>
          <a:p>
            <a:pPr marL="299085" marR="74930" indent="-286385">
              <a:lnSpc>
                <a:spcPts val="1620"/>
              </a:lnSpc>
              <a:spcBef>
                <a:spcPts val="16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华为对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产品</a:t>
            </a:r>
            <a:r>
              <a:rPr dirty="0" sz="1400" spc="-15">
                <a:latin typeface="宋体"/>
                <a:cs typeface="宋体"/>
              </a:rPr>
              <a:t>质量</a:t>
            </a:r>
            <a:r>
              <a:rPr dirty="0" sz="1400">
                <a:latin typeface="宋体"/>
                <a:cs typeface="宋体"/>
              </a:rPr>
              <a:t>的掌控</a:t>
            </a:r>
            <a:r>
              <a:rPr dirty="0" sz="1400" spc="-15">
                <a:latin typeface="宋体"/>
                <a:cs typeface="宋体"/>
              </a:rPr>
              <a:t>力</a:t>
            </a:r>
            <a:r>
              <a:rPr dirty="0" sz="1400">
                <a:latin typeface="宋体"/>
                <a:cs typeface="宋体"/>
              </a:rPr>
              <a:t>得以</a:t>
            </a:r>
            <a:r>
              <a:rPr dirty="0" sz="1400" spc="-15">
                <a:latin typeface="宋体"/>
                <a:cs typeface="宋体"/>
              </a:rPr>
              <a:t>提升</a:t>
            </a:r>
            <a:r>
              <a:rPr dirty="0" sz="1400">
                <a:latin typeface="宋体"/>
                <a:cs typeface="宋体"/>
              </a:rPr>
              <a:t>，代工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供应 商合资</a:t>
            </a:r>
            <a:r>
              <a:rPr dirty="0" sz="1400" spc="-15">
                <a:latin typeface="宋体"/>
                <a:cs typeface="宋体"/>
              </a:rPr>
              <a:t>模</a:t>
            </a:r>
            <a:r>
              <a:rPr dirty="0" sz="1400">
                <a:latin typeface="宋体"/>
                <a:cs typeface="宋体"/>
              </a:rPr>
              <a:t>式促</a:t>
            </a:r>
            <a:r>
              <a:rPr dirty="0" sz="1400" spc="-15">
                <a:latin typeface="宋体"/>
                <a:cs typeface="宋体"/>
              </a:rPr>
              <a:t>进自</a:t>
            </a:r>
            <a:r>
              <a:rPr dirty="0" sz="1400">
                <a:latin typeface="宋体"/>
                <a:cs typeface="宋体"/>
              </a:rPr>
              <a:t>有自愿</a:t>
            </a:r>
            <a:r>
              <a:rPr dirty="0" sz="1400" spc="-15">
                <a:latin typeface="宋体"/>
                <a:cs typeface="宋体"/>
              </a:rPr>
              <a:t>倾</a:t>
            </a:r>
            <a:r>
              <a:rPr dirty="0" sz="1400">
                <a:latin typeface="宋体"/>
                <a:cs typeface="宋体"/>
              </a:rPr>
              <a:t>斜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5296" y="5215128"/>
            <a:ext cx="3857625" cy="1324610"/>
          </a:xfrm>
          <a:custGeom>
            <a:avLst/>
            <a:gdLst/>
            <a:ahLst/>
            <a:cxnLst/>
            <a:rect l="l" t="t" r="r" b="b"/>
            <a:pathLst>
              <a:path w="3857625" h="1324609">
                <a:moveTo>
                  <a:pt x="0" y="1324356"/>
                </a:moveTo>
                <a:lnTo>
                  <a:pt x="3857244" y="1324356"/>
                </a:lnTo>
                <a:lnTo>
                  <a:pt x="3857244" y="0"/>
                </a:lnTo>
                <a:lnTo>
                  <a:pt x="0" y="0"/>
                </a:lnTo>
                <a:lnTo>
                  <a:pt x="0" y="1324356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14671" y="5246623"/>
            <a:ext cx="3678554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从行业来看</a:t>
            </a:r>
            <a:r>
              <a:rPr dirty="0" sz="1600" spc="-10">
                <a:latin typeface="Arial"/>
                <a:cs typeface="Arial"/>
              </a:rPr>
              <a:t>Nokia,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Samsung,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LG,</a:t>
            </a:r>
            <a:endParaRPr sz="16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dirty="0" sz="1600" spc="-5">
                <a:latin typeface="Arial"/>
                <a:cs typeface="Arial"/>
              </a:rPr>
              <a:t>Moto</a:t>
            </a:r>
            <a:r>
              <a:rPr dirty="0" sz="1600" spc="-1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ol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>
                <a:latin typeface="宋体"/>
                <a:cs typeface="宋体"/>
              </a:rPr>
              <a:t>均在阿根廷投</a:t>
            </a:r>
            <a:r>
              <a:rPr dirty="0" sz="1600" spc="-5">
                <a:latin typeface="宋体"/>
                <a:cs typeface="宋体"/>
              </a:rPr>
              <a:t>资</a:t>
            </a:r>
            <a:r>
              <a:rPr dirty="0" sz="1600" spc="-10">
                <a:latin typeface="宋体"/>
                <a:cs typeface="宋体"/>
              </a:rPr>
              <a:t>建</a:t>
            </a:r>
            <a:r>
              <a:rPr dirty="0" sz="1600">
                <a:latin typeface="宋体"/>
                <a:cs typeface="宋体"/>
              </a:rPr>
              <a:t>厂</a:t>
            </a:r>
            <a:r>
              <a:rPr dirty="0" sz="1600" spc="-5">
                <a:latin typeface="宋体"/>
                <a:cs typeface="宋体"/>
              </a:rPr>
              <a:t>，</a:t>
            </a:r>
            <a:r>
              <a:rPr dirty="0" sz="1600" spc="-10">
                <a:latin typeface="宋体"/>
                <a:cs typeface="宋体"/>
              </a:rPr>
              <a:t>以</a:t>
            </a:r>
            <a:r>
              <a:rPr dirty="0" sz="1600" spc="-5">
                <a:latin typeface="宋体"/>
                <a:cs typeface="宋体"/>
              </a:rPr>
              <a:t>规</a:t>
            </a:r>
            <a:endParaRPr sz="1600">
              <a:latin typeface="宋体"/>
              <a:cs typeface="宋体"/>
            </a:endParaRPr>
          </a:p>
          <a:p>
            <a:pPr marL="299085">
              <a:lnSpc>
                <a:spcPct val="100000"/>
              </a:lnSpc>
            </a:pPr>
            <a:r>
              <a:rPr dirty="0" sz="1600" spc="5">
                <a:latin typeface="宋体"/>
                <a:cs typeface="宋体"/>
              </a:rPr>
              <a:t>避</a:t>
            </a:r>
            <a:r>
              <a:rPr dirty="0" sz="1600" spc="-5">
                <a:latin typeface="宋体"/>
                <a:cs typeface="宋体"/>
              </a:rPr>
              <a:t>政府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政策风险</a:t>
            </a:r>
            <a:endParaRPr sz="1600">
              <a:latin typeface="宋体"/>
              <a:cs typeface="宋体"/>
            </a:endParaRPr>
          </a:p>
          <a:p>
            <a:pPr marL="299085" marR="5080" indent="-286385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dirty="0" sz="1600" spc="-5">
                <a:latin typeface="Arial"/>
                <a:cs typeface="Arial"/>
              </a:rPr>
              <a:t>App</a:t>
            </a:r>
            <a:r>
              <a:rPr dirty="0" sz="1600">
                <a:latin typeface="Arial"/>
                <a:cs typeface="Arial"/>
              </a:rPr>
              <a:t>l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 spc="5">
                <a:latin typeface="宋体"/>
                <a:cs typeface="宋体"/>
              </a:rPr>
              <a:t>曾因为</a:t>
            </a:r>
            <a:r>
              <a:rPr dirty="0" sz="1600" spc="-5">
                <a:latin typeface="宋体"/>
                <a:cs typeface="宋体"/>
              </a:rPr>
              <a:t>未在</a:t>
            </a:r>
            <a:r>
              <a:rPr dirty="0" sz="1600" spc="5">
                <a:latin typeface="宋体"/>
                <a:cs typeface="宋体"/>
              </a:rPr>
              <a:t>阿</a:t>
            </a:r>
            <a:r>
              <a:rPr dirty="0" sz="1600" spc="-5">
                <a:latin typeface="宋体"/>
                <a:cs typeface="宋体"/>
              </a:rPr>
              <a:t>根廷</a:t>
            </a:r>
            <a:r>
              <a:rPr dirty="0" sz="1600" spc="5">
                <a:latin typeface="宋体"/>
                <a:cs typeface="宋体"/>
              </a:rPr>
              <a:t>地</a:t>
            </a:r>
            <a:r>
              <a:rPr dirty="0" sz="1600" spc="-5">
                <a:latin typeface="宋体"/>
                <a:cs typeface="宋体"/>
              </a:rPr>
              <a:t>区建</a:t>
            </a:r>
            <a:r>
              <a:rPr dirty="0" sz="1600" spc="5">
                <a:latin typeface="宋体"/>
                <a:cs typeface="宋体"/>
              </a:rPr>
              <a:t>厂</a:t>
            </a:r>
            <a:r>
              <a:rPr dirty="0" sz="1600" spc="-5">
                <a:latin typeface="宋体"/>
                <a:cs typeface="宋体"/>
              </a:rPr>
              <a:t>，而 </a:t>
            </a:r>
            <a:r>
              <a:rPr dirty="0" sz="1600" spc="5">
                <a:latin typeface="宋体"/>
                <a:cs typeface="宋体"/>
              </a:rPr>
              <a:t>受</a:t>
            </a:r>
            <a:r>
              <a:rPr dirty="0" sz="1600" spc="-5">
                <a:latin typeface="宋体"/>
                <a:cs typeface="宋体"/>
              </a:rPr>
              <a:t>到政</a:t>
            </a:r>
            <a:r>
              <a:rPr dirty="0" sz="1600" spc="5">
                <a:latin typeface="宋体"/>
                <a:cs typeface="宋体"/>
              </a:rPr>
              <a:t>府</a:t>
            </a:r>
            <a:r>
              <a:rPr dirty="0" sz="1600" spc="-5">
                <a:latin typeface="宋体"/>
                <a:cs typeface="宋体"/>
              </a:rPr>
              <a:t>禁运政</a:t>
            </a:r>
            <a:r>
              <a:rPr dirty="0" sz="1600" spc="5">
                <a:latin typeface="宋体"/>
                <a:cs typeface="宋体"/>
              </a:rPr>
              <a:t>策</a:t>
            </a:r>
            <a:r>
              <a:rPr dirty="0" sz="1600" spc="-5">
                <a:latin typeface="宋体"/>
                <a:cs typeface="宋体"/>
              </a:rPr>
              <a:t>的影响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1451" y="1196339"/>
            <a:ext cx="2978150" cy="292735"/>
          </a:xfrm>
          <a:prstGeom prst="rect">
            <a:avLst/>
          </a:prstGeom>
          <a:solidFill>
            <a:srgbClr val="660000"/>
          </a:solidFill>
        </p:spPr>
        <p:txBody>
          <a:bodyPr wrap="square" lIns="0" tIns="20955" rIns="0" bIns="0" rtlCol="0" vert="horz">
            <a:spAutoFit/>
          </a:bodyPr>
          <a:lstStyle/>
          <a:p>
            <a:pPr marL="444500">
              <a:lnSpc>
                <a:spcPct val="100000"/>
              </a:lnSpc>
              <a:spcBef>
                <a:spcPts val="16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华为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供应商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1600" b="1">
                <a:solidFill>
                  <a:srgbClr val="FFFFFF"/>
                </a:solidFill>
                <a:latin typeface="明兰"/>
                <a:cs typeface="明兰"/>
              </a:rPr>
              <a:t>资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源</a:t>
            </a:r>
            <a:r>
              <a:rPr dirty="0" sz="1600" b="1">
                <a:solidFill>
                  <a:srgbClr val="FFFFFF"/>
                </a:solidFill>
                <a:latin typeface="明兰"/>
                <a:cs typeface="明兰"/>
              </a:rPr>
              <a:t>协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同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779" y="922019"/>
            <a:ext cx="614680" cy="623570"/>
          </a:xfrm>
          <a:custGeom>
            <a:avLst/>
            <a:gdLst/>
            <a:ahLst/>
            <a:cxnLst/>
            <a:rect l="l" t="t" r="r" b="b"/>
            <a:pathLst>
              <a:path w="614680" h="623569">
                <a:moveTo>
                  <a:pt x="307086" y="0"/>
                </a:moveTo>
                <a:lnTo>
                  <a:pt x="261707" y="3380"/>
                </a:lnTo>
                <a:lnTo>
                  <a:pt x="218396" y="13198"/>
                </a:lnTo>
                <a:lnTo>
                  <a:pt x="177627" y="28972"/>
                </a:lnTo>
                <a:lnTo>
                  <a:pt x="139875" y="50219"/>
                </a:lnTo>
                <a:lnTo>
                  <a:pt x="105616" y="76457"/>
                </a:lnTo>
                <a:lnTo>
                  <a:pt x="75324" y="107203"/>
                </a:lnTo>
                <a:lnTo>
                  <a:pt x="49474" y="141974"/>
                </a:lnTo>
                <a:lnTo>
                  <a:pt x="28541" y="180287"/>
                </a:lnTo>
                <a:lnTo>
                  <a:pt x="13001" y="221661"/>
                </a:lnTo>
                <a:lnTo>
                  <a:pt x="3329" y="265612"/>
                </a:lnTo>
                <a:lnTo>
                  <a:pt x="0" y="311657"/>
                </a:lnTo>
                <a:lnTo>
                  <a:pt x="3329" y="357703"/>
                </a:lnTo>
                <a:lnTo>
                  <a:pt x="13001" y="401654"/>
                </a:lnTo>
                <a:lnTo>
                  <a:pt x="28541" y="443028"/>
                </a:lnTo>
                <a:lnTo>
                  <a:pt x="49474" y="481341"/>
                </a:lnTo>
                <a:lnTo>
                  <a:pt x="75324" y="516112"/>
                </a:lnTo>
                <a:lnTo>
                  <a:pt x="105616" y="546858"/>
                </a:lnTo>
                <a:lnTo>
                  <a:pt x="139875" y="573096"/>
                </a:lnTo>
                <a:lnTo>
                  <a:pt x="177627" y="594343"/>
                </a:lnTo>
                <a:lnTo>
                  <a:pt x="218396" y="610117"/>
                </a:lnTo>
                <a:lnTo>
                  <a:pt x="261707" y="619935"/>
                </a:lnTo>
                <a:lnTo>
                  <a:pt x="307086" y="623315"/>
                </a:lnTo>
                <a:lnTo>
                  <a:pt x="352464" y="619935"/>
                </a:lnTo>
                <a:lnTo>
                  <a:pt x="395775" y="610117"/>
                </a:lnTo>
                <a:lnTo>
                  <a:pt x="436544" y="594343"/>
                </a:lnTo>
                <a:lnTo>
                  <a:pt x="474296" y="573096"/>
                </a:lnTo>
                <a:lnTo>
                  <a:pt x="508555" y="546858"/>
                </a:lnTo>
                <a:lnTo>
                  <a:pt x="538847" y="516112"/>
                </a:lnTo>
                <a:lnTo>
                  <a:pt x="564697" y="481341"/>
                </a:lnTo>
                <a:lnTo>
                  <a:pt x="585630" y="443028"/>
                </a:lnTo>
                <a:lnTo>
                  <a:pt x="601170" y="401654"/>
                </a:lnTo>
                <a:lnTo>
                  <a:pt x="610842" y="357703"/>
                </a:lnTo>
                <a:lnTo>
                  <a:pt x="614172" y="311657"/>
                </a:lnTo>
                <a:lnTo>
                  <a:pt x="610842" y="265612"/>
                </a:lnTo>
                <a:lnTo>
                  <a:pt x="601170" y="221661"/>
                </a:lnTo>
                <a:lnTo>
                  <a:pt x="585630" y="180287"/>
                </a:lnTo>
                <a:lnTo>
                  <a:pt x="564697" y="141974"/>
                </a:lnTo>
                <a:lnTo>
                  <a:pt x="538847" y="107203"/>
                </a:lnTo>
                <a:lnTo>
                  <a:pt x="508555" y="76457"/>
                </a:lnTo>
                <a:lnTo>
                  <a:pt x="474296" y="50219"/>
                </a:lnTo>
                <a:lnTo>
                  <a:pt x="436544" y="28972"/>
                </a:lnTo>
                <a:lnTo>
                  <a:pt x="395775" y="13198"/>
                </a:lnTo>
                <a:lnTo>
                  <a:pt x="352464" y="3380"/>
                </a:lnTo>
                <a:lnTo>
                  <a:pt x="3070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60035" y="4672584"/>
            <a:ext cx="614680" cy="622300"/>
          </a:xfrm>
          <a:custGeom>
            <a:avLst/>
            <a:gdLst/>
            <a:ahLst/>
            <a:cxnLst/>
            <a:rect l="l" t="t" r="r" b="b"/>
            <a:pathLst>
              <a:path w="614679" h="622300">
                <a:moveTo>
                  <a:pt x="307086" y="0"/>
                </a:moveTo>
                <a:lnTo>
                  <a:pt x="261719" y="3370"/>
                </a:lnTo>
                <a:lnTo>
                  <a:pt x="218415" y="13162"/>
                </a:lnTo>
                <a:lnTo>
                  <a:pt x="177649" y="28895"/>
                </a:lnTo>
                <a:lnTo>
                  <a:pt x="139898" y="50087"/>
                </a:lnTo>
                <a:lnTo>
                  <a:pt x="105636" y="76257"/>
                </a:lnTo>
                <a:lnTo>
                  <a:pt x="75341" y="106925"/>
                </a:lnTo>
                <a:lnTo>
                  <a:pt x="49487" y="141609"/>
                </a:lnTo>
                <a:lnTo>
                  <a:pt x="28550" y="179829"/>
                </a:lnTo>
                <a:lnTo>
                  <a:pt x="13006" y="221104"/>
                </a:lnTo>
                <a:lnTo>
                  <a:pt x="3330" y="264953"/>
                </a:lnTo>
                <a:lnTo>
                  <a:pt x="0" y="310896"/>
                </a:lnTo>
                <a:lnTo>
                  <a:pt x="3330" y="356838"/>
                </a:lnTo>
                <a:lnTo>
                  <a:pt x="13006" y="400687"/>
                </a:lnTo>
                <a:lnTo>
                  <a:pt x="28550" y="441962"/>
                </a:lnTo>
                <a:lnTo>
                  <a:pt x="49487" y="480182"/>
                </a:lnTo>
                <a:lnTo>
                  <a:pt x="75341" y="514866"/>
                </a:lnTo>
                <a:lnTo>
                  <a:pt x="105636" y="545534"/>
                </a:lnTo>
                <a:lnTo>
                  <a:pt x="139898" y="571704"/>
                </a:lnTo>
                <a:lnTo>
                  <a:pt x="177649" y="592896"/>
                </a:lnTo>
                <a:lnTo>
                  <a:pt x="218415" y="608629"/>
                </a:lnTo>
                <a:lnTo>
                  <a:pt x="261719" y="618421"/>
                </a:lnTo>
                <a:lnTo>
                  <a:pt x="307086" y="621792"/>
                </a:lnTo>
                <a:lnTo>
                  <a:pt x="352452" y="618421"/>
                </a:lnTo>
                <a:lnTo>
                  <a:pt x="395756" y="608629"/>
                </a:lnTo>
                <a:lnTo>
                  <a:pt x="436522" y="592896"/>
                </a:lnTo>
                <a:lnTo>
                  <a:pt x="474273" y="571704"/>
                </a:lnTo>
                <a:lnTo>
                  <a:pt x="508535" y="545534"/>
                </a:lnTo>
                <a:lnTo>
                  <a:pt x="538830" y="514866"/>
                </a:lnTo>
                <a:lnTo>
                  <a:pt x="564684" y="480182"/>
                </a:lnTo>
                <a:lnTo>
                  <a:pt x="585621" y="441962"/>
                </a:lnTo>
                <a:lnTo>
                  <a:pt x="601165" y="400687"/>
                </a:lnTo>
                <a:lnTo>
                  <a:pt x="610841" y="356838"/>
                </a:lnTo>
                <a:lnTo>
                  <a:pt x="614172" y="310896"/>
                </a:lnTo>
                <a:lnTo>
                  <a:pt x="610841" y="264953"/>
                </a:lnTo>
                <a:lnTo>
                  <a:pt x="601165" y="221104"/>
                </a:lnTo>
                <a:lnTo>
                  <a:pt x="585621" y="179829"/>
                </a:lnTo>
                <a:lnTo>
                  <a:pt x="564684" y="141609"/>
                </a:lnTo>
                <a:lnTo>
                  <a:pt x="538830" y="106925"/>
                </a:lnTo>
                <a:lnTo>
                  <a:pt x="508535" y="76257"/>
                </a:lnTo>
                <a:lnTo>
                  <a:pt x="474273" y="50087"/>
                </a:lnTo>
                <a:lnTo>
                  <a:pt x="436522" y="28895"/>
                </a:lnTo>
                <a:lnTo>
                  <a:pt x="395756" y="13162"/>
                </a:lnTo>
                <a:lnTo>
                  <a:pt x="352452" y="3370"/>
                </a:lnTo>
                <a:lnTo>
                  <a:pt x="307086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39105" y="4732096"/>
            <a:ext cx="25844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7792" y="4881371"/>
            <a:ext cx="2174875" cy="334010"/>
          </a:xfrm>
          <a:prstGeom prst="rect">
            <a:avLst/>
          </a:prstGeom>
          <a:solidFill>
            <a:srgbClr val="660000"/>
          </a:solidFill>
        </p:spPr>
        <p:txBody>
          <a:bodyPr wrap="square" lIns="0" tIns="42545" rIns="0" bIns="0" rtlCol="0" vert="horz">
            <a:spAutoFit/>
          </a:bodyPr>
          <a:lstStyle/>
          <a:p>
            <a:pPr marL="474345">
              <a:lnSpc>
                <a:spcPct val="100000"/>
              </a:lnSpc>
              <a:spcBef>
                <a:spcPts val="33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对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标竞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争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对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手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60035" y="2889504"/>
            <a:ext cx="614680" cy="622300"/>
          </a:xfrm>
          <a:custGeom>
            <a:avLst/>
            <a:gdLst/>
            <a:ahLst/>
            <a:cxnLst/>
            <a:rect l="l" t="t" r="r" b="b"/>
            <a:pathLst>
              <a:path w="614679" h="622300">
                <a:moveTo>
                  <a:pt x="307086" y="0"/>
                </a:moveTo>
                <a:lnTo>
                  <a:pt x="261719" y="3370"/>
                </a:lnTo>
                <a:lnTo>
                  <a:pt x="218415" y="13162"/>
                </a:lnTo>
                <a:lnTo>
                  <a:pt x="177649" y="28895"/>
                </a:lnTo>
                <a:lnTo>
                  <a:pt x="139898" y="50087"/>
                </a:lnTo>
                <a:lnTo>
                  <a:pt x="105636" y="76257"/>
                </a:lnTo>
                <a:lnTo>
                  <a:pt x="75341" y="106925"/>
                </a:lnTo>
                <a:lnTo>
                  <a:pt x="49487" y="141609"/>
                </a:lnTo>
                <a:lnTo>
                  <a:pt x="28550" y="179829"/>
                </a:lnTo>
                <a:lnTo>
                  <a:pt x="13006" y="221104"/>
                </a:lnTo>
                <a:lnTo>
                  <a:pt x="3330" y="264953"/>
                </a:lnTo>
                <a:lnTo>
                  <a:pt x="0" y="310896"/>
                </a:lnTo>
                <a:lnTo>
                  <a:pt x="3330" y="356838"/>
                </a:lnTo>
                <a:lnTo>
                  <a:pt x="13006" y="400687"/>
                </a:lnTo>
                <a:lnTo>
                  <a:pt x="28550" y="441962"/>
                </a:lnTo>
                <a:lnTo>
                  <a:pt x="49487" y="480182"/>
                </a:lnTo>
                <a:lnTo>
                  <a:pt x="75341" y="514866"/>
                </a:lnTo>
                <a:lnTo>
                  <a:pt x="105636" y="545534"/>
                </a:lnTo>
                <a:lnTo>
                  <a:pt x="139898" y="571704"/>
                </a:lnTo>
                <a:lnTo>
                  <a:pt x="177649" y="592896"/>
                </a:lnTo>
                <a:lnTo>
                  <a:pt x="218415" y="608629"/>
                </a:lnTo>
                <a:lnTo>
                  <a:pt x="261719" y="618421"/>
                </a:lnTo>
                <a:lnTo>
                  <a:pt x="307086" y="621792"/>
                </a:lnTo>
                <a:lnTo>
                  <a:pt x="352452" y="618421"/>
                </a:lnTo>
                <a:lnTo>
                  <a:pt x="395756" y="608629"/>
                </a:lnTo>
                <a:lnTo>
                  <a:pt x="436522" y="592896"/>
                </a:lnTo>
                <a:lnTo>
                  <a:pt x="474273" y="571704"/>
                </a:lnTo>
                <a:lnTo>
                  <a:pt x="508535" y="545534"/>
                </a:lnTo>
                <a:lnTo>
                  <a:pt x="538830" y="514866"/>
                </a:lnTo>
                <a:lnTo>
                  <a:pt x="564684" y="480182"/>
                </a:lnTo>
                <a:lnTo>
                  <a:pt x="585621" y="441962"/>
                </a:lnTo>
                <a:lnTo>
                  <a:pt x="601165" y="400687"/>
                </a:lnTo>
                <a:lnTo>
                  <a:pt x="610841" y="356838"/>
                </a:lnTo>
                <a:lnTo>
                  <a:pt x="614172" y="310896"/>
                </a:lnTo>
                <a:lnTo>
                  <a:pt x="610841" y="264953"/>
                </a:lnTo>
                <a:lnTo>
                  <a:pt x="601165" y="221104"/>
                </a:lnTo>
                <a:lnTo>
                  <a:pt x="585621" y="179829"/>
                </a:lnTo>
                <a:lnTo>
                  <a:pt x="564684" y="141609"/>
                </a:lnTo>
                <a:lnTo>
                  <a:pt x="538830" y="106925"/>
                </a:lnTo>
                <a:lnTo>
                  <a:pt x="508535" y="76257"/>
                </a:lnTo>
                <a:lnTo>
                  <a:pt x="474273" y="50087"/>
                </a:lnTo>
                <a:lnTo>
                  <a:pt x="436522" y="28895"/>
                </a:lnTo>
                <a:lnTo>
                  <a:pt x="395756" y="13162"/>
                </a:lnTo>
                <a:lnTo>
                  <a:pt x="352452" y="3370"/>
                </a:lnTo>
                <a:lnTo>
                  <a:pt x="307086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06721" y="2949066"/>
            <a:ext cx="3219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50408" y="3162300"/>
            <a:ext cx="3342640" cy="349250"/>
          </a:xfrm>
          <a:prstGeom prst="rect">
            <a:avLst/>
          </a:prstGeom>
          <a:solidFill>
            <a:srgbClr val="660000"/>
          </a:solidFill>
        </p:spPr>
        <p:txBody>
          <a:bodyPr wrap="square" lIns="0" tIns="5016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39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潜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在上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行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市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场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环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境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下杠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杆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撬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动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盈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利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5296" y="3511296"/>
            <a:ext cx="3857625" cy="10775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378460" marR="220345" indent="-286385">
              <a:lnSpc>
                <a:spcPct val="98500"/>
              </a:lnSpc>
              <a:spcBef>
                <a:spcPts val="455"/>
              </a:spcBef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dirty="0" sz="1600" spc="5">
                <a:latin typeface="宋体"/>
                <a:cs typeface="宋体"/>
              </a:rPr>
              <a:t>阿</a:t>
            </a:r>
            <a:r>
              <a:rPr dirty="0" sz="1600" spc="-5">
                <a:latin typeface="宋体"/>
                <a:cs typeface="宋体"/>
              </a:rPr>
              <a:t>根廷</a:t>
            </a:r>
            <a:r>
              <a:rPr dirty="0" sz="1600" spc="5">
                <a:latin typeface="宋体"/>
                <a:cs typeface="宋体"/>
              </a:rPr>
              <a:t>市</a:t>
            </a:r>
            <a:r>
              <a:rPr dirty="0" sz="1600" spc="-5">
                <a:latin typeface="宋体"/>
                <a:cs typeface="宋体"/>
              </a:rPr>
              <a:t>场环境</a:t>
            </a:r>
            <a:r>
              <a:rPr dirty="0" sz="1600" spc="5">
                <a:latin typeface="宋体"/>
                <a:cs typeface="宋体"/>
              </a:rPr>
              <a:t>风</a:t>
            </a:r>
            <a:r>
              <a:rPr dirty="0" sz="1600" spc="-5">
                <a:latin typeface="宋体"/>
                <a:cs typeface="宋体"/>
              </a:rPr>
              <a:t>险可</a:t>
            </a:r>
            <a:r>
              <a:rPr dirty="0" sz="1600" spc="5">
                <a:latin typeface="宋体"/>
                <a:cs typeface="宋体"/>
              </a:rPr>
              <a:t>控</a:t>
            </a:r>
            <a:r>
              <a:rPr dirty="0" sz="1600" spc="-5">
                <a:latin typeface="宋体"/>
                <a:cs typeface="宋体"/>
              </a:rPr>
              <a:t>，未来向 </a:t>
            </a:r>
            <a:r>
              <a:rPr dirty="0" sz="1600" spc="5">
                <a:latin typeface="宋体"/>
                <a:cs typeface="宋体"/>
              </a:rPr>
              <a:t>好</a:t>
            </a:r>
            <a:r>
              <a:rPr dirty="0" sz="1600" spc="-5">
                <a:latin typeface="宋体"/>
                <a:cs typeface="宋体"/>
              </a:rPr>
              <a:t>，合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建厂模</a:t>
            </a:r>
            <a:r>
              <a:rPr dirty="0" sz="1600" spc="5">
                <a:latin typeface="宋体"/>
                <a:cs typeface="宋体"/>
              </a:rPr>
              <a:t>式</a:t>
            </a:r>
            <a:r>
              <a:rPr dirty="0" sz="1600" spc="-5">
                <a:latin typeface="宋体"/>
                <a:cs typeface="宋体"/>
              </a:rPr>
              <a:t>可以</a:t>
            </a:r>
            <a:r>
              <a:rPr dirty="0" sz="1600" spc="5">
                <a:latin typeface="宋体"/>
                <a:cs typeface="宋体"/>
              </a:rPr>
              <a:t>利</a:t>
            </a:r>
            <a:r>
              <a:rPr dirty="0" sz="1600" spc="-5">
                <a:latin typeface="宋体"/>
                <a:cs typeface="宋体"/>
              </a:rPr>
              <a:t>用部分</a:t>
            </a:r>
            <a:r>
              <a:rPr dirty="0" sz="1600" spc="5">
                <a:latin typeface="宋体"/>
                <a:cs typeface="宋体"/>
              </a:rPr>
              <a:t>资</a:t>
            </a:r>
            <a:r>
              <a:rPr dirty="0" sz="1600" spc="-5">
                <a:latin typeface="宋体"/>
                <a:cs typeface="宋体"/>
              </a:rPr>
              <a:t>金 </a:t>
            </a:r>
            <a:r>
              <a:rPr dirty="0" sz="1600" spc="5">
                <a:latin typeface="宋体"/>
                <a:cs typeface="宋体"/>
              </a:rPr>
              <a:t>投</a:t>
            </a:r>
            <a:r>
              <a:rPr dirty="0" sz="1600" spc="-5">
                <a:latin typeface="宋体"/>
                <a:cs typeface="宋体"/>
              </a:rPr>
              <a:t>入撬</a:t>
            </a:r>
            <a:r>
              <a:rPr dirty="0" sz="1600" spc="5">
                <a:latin typeface="宋体"/>
                <a:cs typeface="宋体"/>
              </a:rPr>
              <a:t>动</a:t>
            </a:r>
            <a:r>
              <a:rPr dirty="0" sz="1600" spc="-5">
                <a:latin typeface="宋体"/>
                <a:cs typeface="宋体"/>
              </a:rPr>
              <a:t>经营和</a:t>
            </a:r>
            <a:r>
              <a:rPr dirty="0" sz="1600" spc="5">
                <a:latin typeface="宋体"/>
                <a:cs typeface="宋体"/>
              </a:rPr>
              <a:t>财</a:t>
            </a:r>
            <a:r>
              <a:rPr dirty="0" sz="1600" spc="-5">
                <a:latin typeface="宋体"/>
                <a:cs typeface="宋体"/>
              </a:rPr>
              <a:t>务杠</a:t>
            </a:r>
            <a:r>
              <a:rPr dirty="0" sz="1600" spc="5">
                <a:latin typeface="宋体"/>
                <a:cs typeface="宋体"/>
              </a:rPr>
              <a:t>杆</a:t>
            </a:r>
            <a:r>
              <a:rPr dirty="0" sz="1600" spc="-5">
                <a:latin typeface="宋体"/>
                <a:cs typeface="宋体"/>
              </a:rPr>
              <a:t>，提升</a:t>
            </a:r>
            <a:r>
              <a:rPr dirty="0" sz="1600" spc="5">
                <a:latin typeface="宋体"/>
                <a:cs typeface="宋体"/>
              </a:rPr>
              <a:t>未</a:t>
            </a:r>
            <a:r>
              <a:rPr dirty="0" sz="1600" spc="-5">
                <a:latin typeface="宋体"/>
                <a:cs typeface="宋体"/>
              </a:rPr>
              <a:t>来 </a:t>
            </a:r>
            <a:r>
              <a:rPr dirty="0" sz="1600" spc="5">
                <a:latin typeface="宋体"/>
                <a:cs typeface="宋体"/>
              </a:rPr>
              <a:t>上</a:t>
            </a:r>
            <a:r>
              <a:rPr dirty="0" sz="1600" spc="-5">
                <a:latin typeface="宋体"/>
                <a:cs typeface="宋体"/>
              </a:rPr>
              <a:t>行市</a:t>
            </a:r>
            <a:r>
              <a:rPr dirty="0" sz="1600" spc="5">
                <a:latin typeface="宋体"/>
                <a:cs typeface="宋体"/>
              </a:rPr>
              <a:t>场</a:t>
            </a:r>
            <a:r>
              <a:rPr dirty="0" sz="1600" spc="-5">
                <a:latin typeface="宋体"/>
                <a:cs typeface="宋体"/>
              </a:rPr>
              <a:t>背景下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盈利</a:t>
            </a:r>
            <a:r>
              <a:rPr dirty="0" sz="1600" spc="5">
                <a:latin typeface="宋体"/>
                <a:cs typeface="宋体"/>
              </a:rPr>
              <a:t>水</a:t>
            </a:r>
            <a:r>
              <a:rPr dirty="0" sz="1600" spc="-5">
                <a:latin typeface="宋体"/>
                <a:cs typeface="宋体"/>
              </a:rPr>
              <a:t>平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02552" y="1194816"/>
            <a:ext cx="2174875" cy="335280"/>
          </a:xfrm>
          <a:custGeom>
            <a:avLst/>
            <a:gdLst/>
            <a:ahLst/>
            <a:cxnLst/>
            <a:rect l="l" t="t" r="r" b="b"/>
            <a:pathLst>
              <a:path w="2174875" h="335280">
                <a:moveTo>
                  <a:pt x="0" y="335279"/>
                </a:moveTo>
                <a:lnTo>
                  <a:pt x="2174748" y="335279"/>
                </a:lnTo>
                <a:lnTo>
                  <a:pt x="2174748" y="0"/>
                </a:lnTo>
                <a:lnTo>
                  <a:pt x="0" y="0"/>
                </a:lnTo>
                <a:lnTo>
                  <a:pt x="0" y="335279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702552" y="1225042"/>
            <a:ext cx="21748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品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牌在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阿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根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廷</a:t>
            </a:r>
            <a:r>
              <a:rPr dirty="0" sz="1600" spc="5" b="1">
                <a:solidFill>
                  <a:srgbClr val="FFFFFF"/>
                </a:solidFill>
                <a:latin typeface="明兰"/>
                <a:cs typeface="明兰"/>
              </a:rPr>
              <a:t>接</a:t>
            </a: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受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度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20055" y="1485900"/>
            <a:ext cx="3857625" cy="1323340"/>
          </a:xfrm>
          <a:custGeom>
            <a:avLst/>
            <a:gdLst/>
            <a:ahLst/>
            <a:cxnLst/>
            <a:rect l="l" t="t" r="r" b="b"/>
            <a:pathLst>
              <a:path w="3857625" h="1323339">
                <a:moveTo>
                  <a:pt x="0" y="1322832"/>
                </a:moveTo>
                <a:lnTo>
                  <a:pt x="3857244" y="1322832"/>
                </a:lnTo>
                <a:lnTo>
                  <a:pt x="3857244" y="0"/>
                </a:lnTo>
                <a:lnTo>
                  <a:pt x="0" y="0"/>
                </a:lnTo>
                <a:lnTo>
                  <a:pt x="0" y="1322832"/>
                </a:lnTo>
                <a:close/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099050" y="1516125"/>
            <a:ext cx="3656329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华为</a:t>
            </a:r>
            <a:r>
              <a:rPr dirty="0" sz="1600" spc="-5">
                <a:latin typeface="Arial"/>
                <a:cs typeface="Arial"/>
              </a:rPr>
              <a:t>2016</a:t>
            </a:r>
            <a:r>
              <a:rPr dirty="0" sz="1600" spc="5">
                <a:latin typeface="宋体"/>
                <a:cs typeface="宋体"/>
              </a:rPr>
              <a:t>年市</a:t>
            </a:r>
            <a:r>
              <a:rPr dirty="0" sz="1600" spc="-5">
                <a:latin typeface="宋体"/>
                <a:cs typeface="宋体"/>
              </a:rPr>
              <a:t>占</a:t>
            </a:r>
            <a:r>
              <a:rPr dirty="0" sz="1600" spc="5">
                <a:latin typeface="宋体"/>
                <a:cs typeface="宋体"/>
              </a:rPr>
              <a:t>率</a:t>
            </a:r>
            <a:r>
              <a:rPr dirty="0" sz="1600" spc="-5">
                <a:latin typeface="宋体"/>
                <a:cs typeface="宋体"/>
              </a:rPr>
              <a:t>相</a:t>
            </a:r>
            <a:r>
              <a:rPr dirty="0" sz="1600" spc="5">
                <a:latin typeface="宋体"/>
                <a:cs typeface="宋体"/>
              </a:rPr>
              <a:t>较</a:t>
            </a:r>
            <a:r>
              <a:rPr dirty="0" sz="1600">
                <a:latin typeface="宋体"/>
                <a:cs typeface="宋体"/>
              </a:rPr>
              <a:t>于</a:t>
            </a:r>
            <a:r>
              <a:rPr dirty="0" sz="1600" spc="-5">
                <a:latin typeface="Arial"/>
                <a:cs typeface="Arial"/>
              </a:rPr>
              <a:t>Samsung</a:t>
            </a:r>
            <a:r>
              <a:rPr dirty="0" sz="1600" spc="-5">
                <a:latin typeface="宋体"/>
                <a:cs typeface="宋体"/>
              </a:rPr>
              <a:t>、</a:t>
            </a:r>
            <a:endParaRPr sz="1600">
              <a:latin typeface="宋体"/>
              <a:cs typeface="宋体"/>
            </a:endParaRPr>
          </a:p>
          <a:p>
            <a:pPr marL="299085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LG</a:t>
            </a:r>
            <a:r>
              <a:rPr dirty="0" sz="1600">
                <a:latin typeface="宋体"/>
                <a:cs typeface="宋体"/>
              </a:rPr>
              <a:t>等竞争对手，</a:t>
            </a:r>
            <a:r>
              <a:rPr dirty="0" sz="1600" spc="-5">
                <a:latin typeface="宋体"/>
                <a:cs typeface="宋体"/>
              </a:rPr>
              <a:t>仍</a:t>
            </a:r>
            <a:r>
              <a:rPr dirty="0" sz="1600">
                <a:latin typeface="宋体"/>
                <a:cs typeface="宋体"/>
              </a:rPr>
              <a:t>有</a:t>
            </a:r>
            <a:r>
              <a:rPr dirty="0" sz="1600" spc="-5">
                <a:latin typeface="宋体"/>
                <a:cs typeface="宋体"/>
              </a:rPr>
              <a:t>待</a:t>
            </a:r>
            <a:r>
              <a:rPr dirty="0" sz="1600" spc="-10">
                <a:latin typeface="宋体"/>
                <a:cs typeface="宋体"/>
              </a:rPr>
              <a:t>提</a:t>
            </a:r>
            <a:r>
              <a:rPr dirty="0" sz="1600">
                <a:latin typeface="宋体"/>
                <a:cs typeface="宋体"/>
              </a:rPr>
              <a:t>升</a:t>
            </a:r>
            <a:r>
              <a:rPr dirty="0" sz="1600" spc="-5">
                <a:latin typeface="宋体"/>
                <a:cs typeface="宋体"/>
              </a:rPr>
              <a:t>，</a:t>
            </a:r>
            <a:r>
              <a:rPr dirty="0" sz="1600" spc="-10">
                <a:latin typeface="宋体"/>
                <a:cs typeface="宋体"/>
              </a:rPr>
              <a:t>其</a:t>
            </a:r>
            <a:r>
              <a:rPr dirty="0" sz="1600">
                <a:latin typeface="宋体"/>
                <a:cs typeface="宋体"/>
              </a:rPr>
              <a:t>相</a:t>
            </a:r>
            <a:r>
              <a:rPr dirty="0" sz="1600" spc="-5">
                <a:latin typeface="宋体"/>
                <a:cs typeface="宋体"/>
              </a:rPr>
              <a:t>较</a:t>
            </a:r>
            <a:endParaRPr sz="1600">
              <a:latin typeface="宋体"/>
              <a:cs typeface="宋体"/>
            </a:endParaRPr>
          </a:p>
          <a:p>
            <a:pPr marL="299085">
              <a:lnSpc>
                <a:spcPct val="100000"/>
              </a:lnSpc>
            </a:pPr>
            <a:r>
              <a:rPr dirty="0" sz="1600" spc="5">
                <a:latin typeface="宋体"/>
                <a:cs typeface="宋体"/>
              </a:rPr>
              <a:t>于</a:t>
            </a:r>
            <a:r>
              <a:rPr dirty="0" sz="1600" spc="-5">
                <a:latin typeface="宋体"/>
                <a:cs typeface="宋体"/>
              </a:rPr>
              <a:t>竞争</a:t>
            </a:r>
            <a:r>
              <a:rPr dirty="0" sz="1600" spc="5">
                <a:latin typeface="宋体"/>
                <a:cs typeface="宋体"/>
              </a:rPr>
              <a:t>对</a:t>
            </a:r>
            <a:r>
              <a:rPr dirty="0" sz="1600" spc="-5">
                <a:latin typeface="宋体"/>
                <a:cs typeface="宋体"/>
              </a:rPr>
              <a:t>手的接</a:t>
            </a:r>
            <a:r>
              <a:rPr dirty="0" sz="1600" spc="5">
                <a:latin typeface="宋体"/>
                <a:cs typeface="宋体"/>
              </a:rPr>
              <a:t>受</a:t>
            </a:r>
            <a:r>
              <a:rPr dirty="0" sz="1600" spc="-5">
                <a:latin typeface="宋体"/>
                <a:cs typeface="宋体"/>
              </a:rPr>
              <a:t>度较低</a:t>
            </a:r>
            <a:endParaRPr sz="1600">
              <a:latin typeface="宋体"/>
              <a:cs typeface="宋体"/>
            </a:endParaRPr>
          </a:p>
          <a:p>
            <a:pPr marL="299085" marR="99060" indent="-286385">
              <a:lnSpc>
                <a:spcPts val="1839"/>
              </a:lnSpc>
              <a:spcBef>
                <a:spcPts val="21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1600" spc="5">
                <a:latin typeface="宋体"/>
                <a:cs typeface="宋体"/>
              </a:rPr>
              <a:t>华</a:t>
            </a:r>
            <a:r>
              <a:rPr dirty="0" sz="1600" spc="-5">
                <a:latin typeface="宋体"/>
                <a:cs typeface="宋体"/>
              </a:rPr>
              <a:t>为的</a:t>
            </a:r>
            <a:r>
              <a:rPr dirty="0" sz="1600" spc="5">
                <a:latin typeface="宋体"/>
                <a:cs typeface="宋体"/>
              </a:rPr>
              <a:t>外</a:t>
            </a:r>
            <a:r>
              <a:rPr dirty="0" sz="1600" spc="-5">
                <a:latin typeface="宋体"/>
                <a:cs typeface="宋体"/>
              </a:rPr>
              <a:t>观设计</a:t>
            </a:r>
            <a:r>
              <a:rPr dirty="0" sz="1600" spc="5">
                <a:latin typeface="宋体"/>
                <a:cs typeface="宋体"/>
              </a:rPr>
              <a:t>能</a:t>
            </a:r>
            <a:r>
              <a:rPr dirty="0" sz="1600" spc="-5">
                <a:latin typeface="宋体"/>
                <a:cs typeface="宋体"/>
              </a:rPr>
              <a:t>否赢</a:t>
            </a:r>
            <a:r>
              <a:rPr dirty="0" sz="1600" spc="5">
                <a:latin typeface="宋体"/>
                <a:cs typeface="宋体"/>
              </a:rPr>
              <a:t>得</a:t>
            </a:r>
            <a:r>
              <a:rPr dirty="0" sz="1600" spc="-5">
                <a:latin typeface="宋体"/>
                <a:cs typeface="宋体"/>
              </a:rPr>
              <a:t>“重审</a:t>
            </a:r>
            <a:r>
              <a:rPr dirty="0" sz="1600" spc="5">
                <a:latin typeface="宋体"/>
                <a:cs typeface="宋体"/>
              </a:rPr>
              <a:t>美</a:t>
            </a:r>
            <a:r>
              <a:rPr dirty="0" sz="1600" spc="-5">
                <a:latin typeface="宋体"/>
                <a:cs typeface="宋体"/>
              </a:rPr>
              <a:t>” 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阿根</a:t>
            </a:r>
            <a:r>
              <a:rPr dirty="0" sz="1600" spc="5">
                <a:latin typeface="宋体"/>
                <a:cs typeface="宋体"/>
              </a:rPr>
              <a:t>廷</a:t>
            </a:r>
            <a:r>
              <a:rPr dirty="0" sz="1600" spc="-5">
                <a:latin typeface="宋体"/>
                <a:cs typeface="宋体"/>
              </a:rPr>
              <a:t>消费者</a:t>
            </a:r>
            <a:r>
              <a:rPr dirty="0" sz="1600" spc="5">
                <a:latin typeface="宋体"/>
                <a:cs typeface="宋体"/>
              </a:rPr>
              <a:t>的</a:t>
            </a:r>
            <a:r>
              <a:rPr dirty="0" sz="1600" spc="-5">
                <a:latin typeface="宋体"/>
                <a:cs typeface="宋体"/>
              </a:rPr>
              <a:t>喜爱</a:t>
            </a:r>
            <a:r>
              <a:rPr dirty="0" sz="1600" spc="5">
                <a:latin typeface="宋体"/>
                <a:cs typeface="宋体"/>
              </a:rPr>
              <a:t>依</a:t>
            </a:r>
            <a:r>
              <a:rPr dirty="0" sz="1600" spc="-5">
                <a:latin typeface="宋体"/>
                <a:cs typeface="宋体"/>
              </a:rPr>
              <a:t>旧有待</a:t>
            </a:r>
            <a:r>
              <a:rPr dirty="0" sz="1600" spc="5">
                <a:latin typeface="宋体"/>
                <a:cs typeface="宋体"/>
              </a:rPr>
              <a:t>验</a:t>
            </a:r>
            <a:r>
              <a:rPr dirty="0" sz="1600" spc="-5">
                <a:latin typeface="宋体"/>
                <a:cs typeface="宋体"/>
              </a:rPr>
              <a:t>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44796" y="922019"/>
            <a:ext cx="614680" cy="622300"/>
          </a:xfrm>
          <a:custGeom>
            <a:avLst/>
            <a:gdLst/>
            <a:ahLst/>
            <a:cxnLst/>
            <a:rect l="l" t="t" r="r" b="b"/>
            <a:pathLst>
              <a:path w="614679" h="622300">
                <a:moveTo>
                  <a:pt x="307086" y="0"/>
                </a:moveTo>
                <a:lnTo>
                  <a:pt x="261719" y="3370"/>
                </a:lnTo>
                <a:lnTo>
                  <a:pt x="218415" y="13162"/>
                </a:lnTo>
                <a:lnTo>
                  <a:pt x="177649" y="28895"/>
                </a:lnTo>
                <a:lnTo>
                  <a:pt x="139898" y="50087"/>
                </a:lnTo>
                <a:lnTo>
                  <a:pt x="105636" y="76257"/>
                </a:lnTo>
                <a:lnTo>
                  <a:pt x="75341" y="106925"/>
                </a:lnTo>
                <a:lnTo>
                  <a:pt x="49487" y="141609"/>
                </a:lnTo>
                <a:lnTo>
                  <a:pt x="28550" y="179829"/>
                </a:lnTo>
                <a:lnTo>
                  <a:pt x="13006" y="221104"/>
                </a:lnTo>
                <a:lnTo>
                  <a:pt x="3330" y="264953"/>
                </a:lnTo>
                <a:lnTo>
                  <a:pt x="0" y="310895"/>
                </a:lnTo>
                <a:lnTo>
                  <a:pt x="3330" y="356838"/>
                </a:lnTo>
                <a:lnTo>
                  <a:pt x="13006" y="400687"/>
                </a:lnTo>
                <a:lnTo>
                  <a:pt x="28550" y="441962"/>
                </a:lnTo>
                <a:lnTo>
                  <a:pt x="49487" y="480182"/>
                </a:lnTo>
                <a:lnTo>
                  <a:pt x="75341" y="514866"/>
                </a:lnTo>
                <a:lnTo>
                  <a:pt x="105636" y="545534"/>
                </a:lnTo>
                <a:lnTo>
                  <a:pt x="139898" y="571704"/>
                </a:lnTo>
                <a:lnTo>
                  <a:pt x="177649" y="592896"/>
                </a:lnTo>
                <a:lnTo>
                  <a:pt x="218415" y="608629"/>
                </a:lnTo>
                <a:lnTo>
                  <a:pt x="261719" y="618421"/>
                </a:lnTo>
                <a:lnTo>
                  <a:pt x="307086" y="621791"/>
                </a:lnTo>
                <a:lnTo>
                  <a:pt x="352452" y="618421"/>
                </a:lnTo>
                <a:lnTo>
                  <a:pt x="395756" y="608629"/>
                </a:lnTo>
                <a:lnTo>
                  <a:pt x="436522" y="592896"/>
                </a:lnTo>
                <a:lnTo>
                  <a:pt x="474273" y="571704"/>
                </a:lnTo>
                <a:lnTo>
                  <a:pt x="508535" y="545534"/>
                </a:lnTo>
                <a:lnTo>
                  <a:pt x="538830" y="514866"/>
                </a:lnTo>
                <a:lnTo>
                  <a:pt x="564684" y="480182"/>
                </a:lnTo>
                <a:lnTo>
                  <a:pt x="585621" y="441962"/>
                </a:lnTo>
                <a:lnTo>
                  <a:pt x="601165" y="400687"/>
                </a:lnTo>
                <a:lnTo>
                  <a:pt x="610841" y="356838"/>
                </a:lnTo>
                <a:lnTo>
                  <a:pt x="614171" y="310895"/>
                </a:lnTo>
                <a:lnTo>
                  <a:pt x="610841" y="264953"/>
                </a:lnTo>
                <a:lnTo>
                  <a:pt x="601165" y="221104"/>
                </a:lnTo>
                <a:lnTo>
                  <a:pt x="585621" y="179829"/>
                </a:lnTo>
                <a:lnTo>
                  <a:pt x="564684" y="141609"/>
                </a:lnTo>
                <a:lnTo>
                  <a:pt x="538830" y="106925"/>
                </a:lnTo>
                <a:lnTo>
                  <a:pt x="508535" y="76257"/>
                </a:lnTo>
                <a:lnTo>
                  <a:pt x="474273" y="50087"/>
                </a:lnTo>
                <a:lnTo>
                  <a:pt x="436522" y="28895"/>
                </a:lnTo>
                <a:lnTo>
                  <a:pt x="395756" y="13162"/>
                </a:lnTo>
                <a:lnTo>
                  <a:pt x="352452" y="3370"/>
                </a:lnTo>
                <a:lnTo>
                  <a:pt x="307086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59630" algn="l"/>
              </a:tabLst>
            </a:pPr>
            <a:r>
              <a:rPr dirty="0"/>
              <a:t>S	</a:t>
            </a:r>
            <a:r>
              <a:rPr dirty="0"/>
              <a:t>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739" y="305562"/>
            <a:ext cx="51352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660000"/>
                </a:solidFill>
                <a:latin typeface="明兰"/>
                <a:cs typeface="明兰"/>
              </a:rPr>
              <a:t>最终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方案建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议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：基</a:t>
            </a:r>
            <a:r>
              <a:rPr dirty="0" sz="2000" spc="15" b="1">
                <a:solidFill>
                  <a:srgbClr val="660000"/>
                </a:solidFill>
                <a:latin typeface="明兰"/>
                <a:cs typeface="明兰"/>
              </a:rPr>
              <a:t>于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SWOT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分析合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资</a:t>
            </a:r>
            <a:r>
              <a:rPr dirty="0" sz="2000" spc="10" b="1">
                <a:solidFill>
                  <a:srgbClr val="660000"/>
                </a:solidFill>
                <a:latin typeface="明兰"/>
                <a:cs typeface="明兰"/>
              </a:rPr>
              <a:t>建厂</a:t>
            </a:r>
            <a:r>
              <a:rPr dirty="0" sz="2000" b="1">
                <a:solidFill>
                  <a:srgbClr val="660000"/>
                </a:solidFill>
                <a:latin typeface="明兰"/>
                <a:cs typeface="明兰"/>
              </a:rPr>
              <a:t>战略</a:t>
            </a:r>
            <a:endParaRPr sz="2000">
              <a:latin typeface="明兰"/>
              <a:cs typeface="明兰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462" y="317753"/>
            <a:ext cx="5378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目录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3546" y="3060954"/>
            <a:ext cx="302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0">
                <a:solidFill>
                  <a:srgbClr val="A6A6A6"/>
                </a:solidFill>
                <a:latin typeface="Malgun Gothic Semilight"/>
                <a:cs typeface="Malgun Gothic Semilight"/>
              </a:rPr>
              <a:t>02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6307" y="3925315"/>
            <a:ext cx="3035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" b="0">
                <a:solidFill>
                  <a:srgbClr val="A6A6A6"/>
                </a:solidFill>
                <a:latin typeface="Malgun Gothic Semilight"/>
                <a:cs typeface="Malgun Gothic Semilight"/>
              </a:rPr>
              <a:t>03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801" y="4827777"/>
            <a:ext cx="308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0">
                <a:latin typeface="Malgun Gothic Semilight"/>
                <a:cs typeface="Malgun Gothic Semilight"/>
              </a:rPr>
              <a:t>04</a:t>
            </a:r>
            <a:endParaRPr sz="2000">
              <a:latin typeface="Malgun Gothic Semilight"/>
              <a:cs typeface="Malgun Gothic Semi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3514" y="3094736"/>
            <a:ext cx="36042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整机进口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与散</a:t>
            </a:r>
            <a:r>
              <a:rPr dirty="0" sz="2000" spc="15" b="1">
                <a:solidFill>
                  <a:srgbClr val="A6A6A6"/>
                </a:solidFill>
                <a:latin typeface="明兰"/>
                <a:cs typeface="明兰"/>
              </a:rPr>
              <a:t>件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组装模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式之</a:t>
            </a:r>
            <a:r>
              <a:rPr dirty="0" sz="2000" spc="15" b="1">
                <a:solidFill>
                  <a:srgbClr val="A6A6A6"/>
                </a:solidFill>
                <a:latin typeface="明兰"/>
                <a:cs typeface="明兰"/>
              </a:rPr>
              <a:t>分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3514" y="3922267"/>
            <a:ext cx="30924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代工模式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与自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建厂</a:t>
            </a:r>
            <a:r>
              <a:rPr dirty="0" sz="2000" spc="25" b="1">
                <a:solidFill>
                  <a:srgbClr val="A6A6A6"/>
                </a:solidFill>
                <a:latin typeface="明兰"/>
                <a:cs typeface="明兰"/>
              </a:rPr>
              <a:t>商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之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优劣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3071" y="2232787"/>
            <a:ext cx="38423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3865" algn="l"/>
                <a:tab pos="762635" algn="l"/>
              </a:tabLst>
            </a:pPr>
            <a:r>
              <a:rPr dirty="0" sz="2000" spc="5" b="0">
                <a:solidFill>
                  <a:srgbClr val="A6A6A6"/>
                </a:solidFill>
                <a:latin typeface="Malgun Gothic Semilight"/>
                <a:cs typeface="Malgun Gothic Semilight"/>
              </a:rPr>
              <a:t>01	</a:t>
            </a:r>
            <a:r>
              <a:rPr dirty="0" baseline="2777" sz="3000" spc="540" b="1">
                <a:solidFill>
                  <a:srgbClr val="A6A6A6"/>
                </a:solidFill>
                <a:latin typeface="明兰"/>
                <a:cs typeface="明兰"/>
              </a:rPr>
              <a:t>-	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阿根廷智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能手</a:t>
            </a:r>
            <a:r>
              <a:rPr dirty="0" sz="2000" spc="20" b="1">
                <a:solidFill>
                  <a:srgbClr val="A6A6A6"/>
                </a:solidFill>
                <a:latin typeface="明兰"/>
                <a:cs typeface="明兰"/>
              </a:rPr>
              <a:t>机</a:t>
            </a:r>
            <a:r>
              <a:rPr dirty="0" sz="2000" spc="10" b="1">
                <a:solidFill>
                  <a:srgbClr val="A6A6A6"/>
                </a:solidFill>
                <a:latin typeface="明兰"/>
                <a:cs typeface="明兰"/>
              </a:rPr>
              <a:t>市场之</a:t>
            </a:r>
            <a:r>
              <a:rPr dirty="0" sz="2000" b="1">
                <a:solidFill>
                  <a:srgbClr val="A6A6A6"/>
                </a:solidFill>
                <a:latin typeface="明兰"/>
                <a:cs typeface="明兰"/>
              </a:rPr>
              <a:t>初探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4363" y="3056001"/>
            <a:ext cx="153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303" y="3955744"/>
            <a:ext cx="153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60" b="1">
                <a:solidFill>
                  <a:srgbClr val="A6A6A6"/>
                </a:solidFill>
                <a:latin typeface="明兰"/>
                <a:cs typeface="明兰"/>
              </a:rPr>
              <a:t>-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303" y="4820539"/>
            <a:ext cx="2863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275" algn="l"/>
              </a:tabLst>
            </a:pPr>
            <a:r>
              <a:rPr dirty="0" sz="2000" spc="360" b="1">
                <a:latin typeface="明兰"/>
                <a:cs typeface="明兰"/>
              </a:rPr>
              <a:t>-	</a:t>
            </a:r>
            <a:r>
              <a:rPr dirty="0" sz="2000" spc="10" b="1">
                <a:latin typeface="明兰"/>
                <a:cs typeface="明兰"/>
              </a:rPr>
              <a:t>建模分析</a:t>
            </a:r>
            <a:r>
              <a:rPr dirty="0" sz="2000" b="1">
                <a:latin typeface="明兰"/>
                <a:cs typeface="明兰"/>
              </a:rPr>
              <a:t>代工</a:t>
            </a:r>
            <a:r>
              <a:rPr dirty="0" sz="2000" spc="10" b="1">
                <a:latin typeface="明兰"/>
                <a:cs typeface="明兰"/>
              </a:rPr>
              <a:t>厂之抉</a:t>
            </a:r>
            <a:r>
              <a:rPr dirty="0" sz="2000" b="1">
                <a:latin typeface="明兰"/>
                <a:cs typeface="明兰"/>
              </a:rPr>
              <a:t>择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6635" y="1071503"/>
            <a:ext cx="1711325" cy="55880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035"/>
              </a:lnSpc>
            </a:pPr>
            <a:r>
              <a:rPr dirty="0" sz="11500" spc="-10">
                <a:solidFill>
                  <a:srgbClr val="660000"/>
                </a:solidFill>
                <a:latin typeface="Calisto MT"/>
                <a:cs typeface="Calisto MT"/>
              </a:rPr>
              <a:t>Contents</a:t>
            </a:r>
            <a:endParaRPr sz="115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4210" y="569213"/>
            <a:ext cx="0" cy="5977255"/>
          </a:xfrm>
          <a:custGeom>
            <a:avLst/>
            <a:gdLst/>
            <a:ahLst/>
            <a:cxnLst/>
            <a:rect l="l" t="t" r="r" b="b"/>
            <a:pathLst>
              <a:path w="0" h="5977255">
                <a:moveTo>
                  <a:pt x="0" y="0"/>
                </a:moveTo>
                <a:lnTo>
                  <a:pt x="0" y="5976658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181356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代工厂背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景介绍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160" y="949452"/>
            <a:ext cx="3881628" cy="3282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" y="1141510"/>
            <a:ext cx="3501982" cy="2912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9184" y="4421123"/>
            <a:ext cx="8700770" cy="192341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91440" marR="121920" indent="344170">
              <a:lnSpc>
                <a:spcPct val="107200"/>
              </a:lnSpc>
              <a:spcBef>
                <a:spcPts val="195"/>
              </a:spcBef>
            </a:pP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>
                <a:latin typeface="Arial"/>
                <a:cs typeface="Arial"/>
              </a:rPr>
              <a:t> S.A.</a:t>
            </a:r>
            <a:r>
              <a:rPr dirty="0" sz="1400" spc="10">
                <a:latin typeface="宋体"/>
                <a:cs typeface="宋体"/>
              </a:rPr>
              <a:t>和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 </a:t>
            </a:r>
            <a:r>
              <a:rPr dirty="0" sz="1400" spc="5">
                <a:latin typeface="Arial"/>
                <a:cs typeface="Arial"/>
              </a:rPr>
              <a:t>S.A.</a:t>
            </a:r>
            <a:r>
              <a:rPr dirty="0" sz="1400" spc="10">
                <a:latin typeface="宋体"/>
                <a:cs typeface="宋体"/>
              </a:rPr>
              <a:t>同</a:t>
            </a:r>
            <a:r>
              <a:rPr dirty="0" sz="1400" spc="5">
                <a:latin typeface="宋体"/>
                <a:cs typeface="宋体"/>
              </a:rPr>
              <a:t>属</a:t>
            </a:r>
            <a:r>
              <a:rPr dirty="0" sz="1400">
                <a:latin typeface="宋体"/>
                <a:cs typeface="宋体"/>
              </a:rPr>
              <a:t>于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Group</a:t>
            </a:r>
            <a:r>
              <a:rPr dirty="0" sz="1400" spc="5">
                <a:latin typeface="宋体"/>
                <a:cs typeface="宋体"/>
              </a:rPr>
              <a:t>集</a:t>
            </a:r>
            <a:r>
              <a:rPr dirty="0" sz="1400">
                <a:latin typeface="宋体"/>
                <a:cs typeface="宋体"/>
              </a:rPr>
              <a:t>团</a:t>
            </a:r>
            <a:r>
              <a:rPr dirty="0" sz="1400" spc="5">
                <a:latin typeface="宋体"/>
                <a:cs typeface="宋体"/>
              </a:rPr>
              <a:t>旗</a:t>
            </a:r>
            <a:r>
              <a:rPr dirty="0" sz="1400">
                <a:latin typeface="宋体"/>
                <a:cs typeface="宋体"/>
              </a:rPr>
              <a:t>下</a:t>
            </a:r>
            <a:r>
              <a:rPr dirty="0" sz="1400" spc="-10">
                <a:latin typeface="宋体"/>
                <a:cs typeface="宋体"/>
              </a:rPr>
              <a:t>公</a:t>
            </a:r>
            <a:r>
              <a:rPr dirty="0" sz="1400" spc="5">
                <a:latin typeface="宋体"/>
                <a:cs typeface="宋体"/>
              </a:rPr>
              <a:t>司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Group</a:t>
            </a:r>
            <a:r>
              <a:rPr dirty="0" sz="1400">
                <a:latin typeface="宋体"/>
                <a:cs typeface="宋体"/>
              </a:rPr>
              <a:t>在阿根廷拥 </a:t>
            </a:r>
            <a:r>
              <a:rPr dirty="0" sz="1400" spc="10">
                <a:latin typeface="宋体"/>
                <a:cs typeface="宋体"/>
              </a:rPr>
              <a:t>有较</a:t>
            </a:r>
            <a:r>
              <a:rPr dirty="0" sz="1400">
                <a:latin typeface="宋体"/>
                <a:cs typeface="宋体"/>
              </a:rPr>
              <a:t>为丰</a:t>
            </a:r>
            <a:r>
              <a:rPr dirty="0" sz="1400" spc="-15">
                <a:latin typeface="宋体"/>
                <a:cs typeface="宋体"/>
              </a:rPr>
              <a:t>富</a:t>
            </a:r>
            <a:r>
              <a:rPr dirty="0" sz="1400">
                <a:latin typeface="宋体"/>
                <a:cs typeface="宋体"/>
              </a:rPr>
              <a:t>的下</a:t>
            </a:r>
            <a:r>
              <a:rPr dirty="0" sz="1400" spc="-15">
                <a:latin typeface="宋体"/>
                <a:cs typeface="宋体"/>
              </a:rPr>
              <a:t>游</a:t>
            </a:r>
            <a:r>
              <a:rPr dirty="0" sz="1400">
                <a:latin typeface="宋体"/>
                <a:cs typeface="宋体"/>
              </a:rPr>
              <a:t>分销</a:t>
            </a:r>
            <a:r>
              <a:rPr dirty="0" sz="1400" spc="-15">
                <a:latin typeface="宋体"/>
                <a:cs typeface="宋体"/>
              </a:rPr>
              <a:t>渠</a:t>
            </a:r>
            <a:r>
              <a:rPr dirty="0" sz="1400">
                <a:latin typeface="宋体"/>
                <a:cs typeface="宋体"/>
              </a:rPr>
              <a:t>道资</a:t>
            </a:r>
            <a:r>
              <a:rPr dirty="0" sz="1400" spc="-15">
                <a:latin typeface="宋体"/>
                <a:cs typeface="宋体"/>
              </a:rPr>
              <a:t>源</a:t>
            </a:r>
            <a:r>
              <a:rPr dirty="0" sz="1400">
                <a:latin typeface="宋体"/>
                <a:cs typeface="宋体"/>
              </a:rPr>
              <a:t>。由</a:t>
            </a:r>
            <a:r>
              <a:rPr dirty="0" sz="1400" spc="-1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地处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业促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法案</a:t>
            </a:r>
            <a:r>
              <a:rPr dirty="0" sz="1400" spc="-15">
                <a:latin typeface="宋体"/>
                <a:cs typeface="宋体"/>
              </a:rPr>
              <a:t>收</a:t>
            </a:r>
            <a:r>
              <a:rPr dirty="0" sz="1400">
                <a:latin typeface="宋体"/>
                <a:cs typeface="宋体"/>
              </a:rPr>
              <a:t>益地</a:t>
            </a:r>
            <a:r>
              <a:rPr dirty="0" sz="1400" spc="-15">
                <a:latin typeface="宋体"/>
                <a:cs typeface="宋体"/>
              </a:rPr>
              <a:t>火</a:t>
            </a:r>
            <a:r>
              <a:rPr dirty="0" sz="1400">
                <a:latin typeface="宋体"/>
                <a:cs typeface="宋体"/>
              </a:rPr>
              <a:t>地岛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因</a:t>
            </a:r>
            <a:r>
              <a:rPr dirty="0" sz="1400" spc="15">
                <a:latin typeface="宋体"/>
                <a:cs typeface="宋体"/>
              </a:rPr>
              <a:t>而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Group</a:t>
            </a:r>
            <a:r>
              <a:rPr dirty="0" sz="1400">
                <a:latin typeface="宋体"/>
                <a:cs typeface="宋体"/>
              </a:rPr>
              <a:t>享有制</a:t>
            </a:r>
            <a:r>
              <a:rPr dirty="0" sz="1400" spc="-15">
                <a:latin typeface="宋体"/>
                <a:cs typeface="宋体"/>
              </a:rPr>
              <a:t>造</a:t>
            </a:r>
            <a:r>
              <a:rPr dirty="0" sz="1400">
                <a:latin typeface="宋体"/>
                <a:cs typeface="宋体"/>
              </a:rPr>
              <a:t>牌照、 税收和</a:t>
            </a:r>
            <a:r>
              <a:rPr dirty="0" sz="1400" spc="-15">
                <a:latin typeface="宋体"/>
                <a:cs typeface="宋体"/>
              </a:rPr>
              <a:t>生</a:t>
            </a:r>
            <a:r>
              <a:rPr dirty="0" sz="1400">
                <a:latin typeface="宋体"/>
                <a:cs typeface="宋体"/>
              </a:rPr>
              <a:t>产配</a:t>
            </a:r>
            <a:r>
              <a:rPr dirty="0" sz="1400" spc="-15">
                <a:latin typeface="宋体"/>
                <a:cs typeface="宋体"/>
              </a:rPr>
              <a:t>额等</a:t>
            </a:r>
            <a:r>
              <a:rPr dirty="0" sz="1400">
                <a:latin typeface="宋体"/>
                <a:cs typeface="宋体"/>
              </a:rPr>
              <a:t>多方面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政策</a:t>
            </a:r>
            <a:r>
              <a:rPr dirty="0" sz="1400" spc="-15">
                <a:latin typeface="宋体"/>
                <a:cs typeface="宋体"/>
              </a:rPr>
              <a:t>优</a:t>
            </a:r>
            <a:r>
              <a:rPr dirty="0" sz="1400">
                <a:latin typeface="宋体"/>
                <a:cs typeface="宋体"/>
              </a:rPr>
              <a:t>惠</a:t>
            </a:r>
            <a:endParaRPr sz="1400">
              <a:latin typeface="宋体"/>
              <a:cs typeface="宋体"/>
            </a:endParaRPr>
          </a:p>
          <a:p>
            <a:pPr marL="378460" indent="-28702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dirty="0" sz="1400">
                <a:latin typeface="宋体"/>
                <a:cs typeface="宋体"/>
              </a:rPr>
              <a:t>拥有火</a:t>
            </a:r>
            <a:r>
              <a:rPr dirty="0" sz="1400" spc="-15">
                <a:latin typeface="宋体"/>
                <a:cs typeface="宋体"/>
              </a:rPr>
              <a:t>地</a:t>
            </a:r>
            <a:r>
              <a:rPr dirty="0" sz="1400">
                <a:latin typeface="宋体"/>
                <a:cs typeface="宋体"/>
              </a:rPr>
              <a:t>岛生</a:t>
            </a:r>
            <a:r>
              <a:rPr dirty="0" sz="1400" spc="-15">
                <a:latin typeface="宋体"/>
                <a:cs typeface="宋体"/>
              </a:rPr>
              <a:t>产企</a:t>
            </a:r>
            <a:r>
              <a:rPr dirty="0" sz="1400">
                <a:latin typeface="宋体"/>
                <a:cs typeface="宋体"/>
              </a:rPr>
              <a:t>业政府</a:t>
            </a:r>
            <a:r>
              <a:rPr dirty="0" sz="1400" spc="-15">
                <a:latin typeface="宋体"/>
                <a:cs typeface="宋体"/>
              </a:rPr>
              <a:t>审</a:t>
            </a:r>
            <a:r>
              <a:rPr dirty="0" sz="1400">
                <a:latin typeface="宋体"/>
                <a:cs typeface="宋体"/>
              </a:rPr>
              <a:t>批许可</a:t>
            </a:r>
            <a:endParaRPr sz="1400">
              <a:latin typeface="宋体"/>
              <a:cs typeface="宋体"/>
            </a:endParaRPr>
          </a:p>
          <a:p>
            <a:pPr marL="378460" indent="-28702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dirty="0" sz="1400" spc="10">
                <a:latin typeface="宋体"/>
                <a:cs typeface="宋体"/>
              </a:rPr>
              <a:t>进口</a:t>
            </a:r>
            <a:r>
              <a:rPr dirty="0" sz="1400">
                <a:latin typeface="宋体"/>
                <a:cs typeface="宋体"/>
              </a:rPr>
              <a:t>税和</a:t>
            </a:r>
            <a:r>
              <a:rPr dirty="0" sz="1400" spc="-15">
                <a:latin typeface="宋体"/>
                <a:cs typeface="宋体"/>
              </a:rPr>
              <a:t>增</a:t>
            </a:r>
            <a:r>
              <a:rPr dirty="0" sz="1400">
                <a:latin typeface="宋体"/>
                <a:cs typeface="宋体"/>
              </a:rPr>
              <a:t>值税</a:t>
            </a:r>
            <a:r>
              <a:rPr dirty="0" sz="1400" spc="-15">
                <a:latin typeface="宋体"/>
                <a:cs typeface="宋体"/>
              </a:rPr>
              <a:t>免</a:t>
            </a:r>
            <a:r>
              <a:rPr dirty="0" sz="1400">
                <a:latin typeface="宋体"/>
                <a:cs typeface="宋体"/>
              </a:rPr>
              <a:t>除</a:t>
            </a:r>
            <a:r>
              <a:rPr dirty="0" sz="1400" spc="5">
                <a:latin typeface="宋体"/>
                <a:cs typeface="宋体"/>
              </a:rPr>
              <a:t>及</a:t>
            </a:r>
            <a:r>
              <a:rPr dirty="0" sz="1400" spc="-75">
                <a:latin typeface="Arial"/>
                <a:cs typeface="Arial"/>
              </a:rPr>
              <a:t>VAT</a:t>
            </a:r>
            <a:r>
              <a:rPr dirty="0" sz="1400">
                <a:latin typeface="宋体"/>
                <a:cs typeface="宋体"/>
              </a:rPr>
              <a:t>等</a:t>
            </a:r>
            <a:endParaRPr sz="1400">
              <a:latin typeface="宋体"/>
              <a:cs typeface="宋体"/>
            </a:endParaRPr>
          </a:p>
          <a:p>
            <a:pPr marL="378460" indent="-28702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378460" algn="l"/>
                <a:tab pos="379095" algn="l"/>
              </a:tabLst>
            </a:pPr>
            <a:r>
              <a:rPr dirty="0" sz="1400">
                <a:latin typeface="宋体"/>
                <a:cs typeface="宋体"/>
              </a:rPr>
              <a:t>拥有阿</a:t>
            </a:r>
            <a:r>
              <a:rPr dirty="0" sz="1400" spc="-15">
                <a:latin typeface="宋体"/>
                <a:cs typeface="宋体"/>
              </a:rPr>
              <a:t>根</a:t>
            </a:r>
            <a:r>
              <a:rPr dirty="0" sz="1400">
                <a:latin typeface="宋体"/>
                <a:cs typeface="宋体"/>
              </a:rPr>
              <a:t>廷政</a:t>
            </a:r>
            <a:r>
              <a:rPr dirty="0" sz="1400" spc="-15">
                <a:latin typeface="宋体"/>
                <a:cs typeface="宋体"/>
              </a:rPr>
              <a:t>府对</a:t>
            </a:r>
            <a:r>
              <a:rPr dirty="0" sz="1400">
                <a:latin typeface="宋体"/>
                <a:cs typeface="宋体"/>
              </a:rPr>
              <a:t>于进口</a:t>
            </a:r>
            <a:r>
              <a:rPr dirty="0" sz="1400" spc="-15">
                <a:latin typeface="宋体"/>
                <a:cs typeface="宋体"/>
              </a:rPr>
              <a:t>零</a:t>
            </a:r>
            <a:r>
              <a:rPr dirty="0" sz="1400">
                <a:latin typeface="宋体"/>
                <a:cs typeface="宋体"/>
              </a:rPr>
              <a:t>部件</a:t>
            </a:r>
            <a:r>
              <a:rPr dirty="0" sz="1400" spc="-15">
                <a:latin typeface="宋体"/>
                <a:cs typeface="宋体"/>
              </a:rPr>
              <a:t>的配</a:t>
            </a:r>
            <a:r>
              <a:rPr dirty="0" sz="1400">
                <a:latin typeface="宋体"/>
                <a:cs typeface="宋体"/>
              </a:rPr>
              <a:t>额资源</a:t>
            </a:r>
            <a:endParaRPr sz="1400">
              <a:latin typeface="宋体"/>
              <a:cs typeface="宋体"/>
            </a:endParaRPr>
          </a:p>
          <a:p>
            <a:pPr marL="436245">
              <a:lnSpc>
                <a:spcPct val="100000"/>
              </a:lnSpc>
              <a:spcBef>
                <a:spcPts val="120"/>
              </a:spcBef>
            </a:pPr>
            <a:r>
              <a:rPr dirty="0" sz="1400" spc="10">
                <a:latin typeface="宋体"/>
                <a:cs typeface="宋体"/>
              </a:rPr>
              <a:t>从集</a:t>
            </a:r>
            <a:r>
              <a:rPr dirty="0" sz="1400" spc="5">
                <a:latin typeface="宋体"/>
                <a:cs typeface="宋体"/>
              </a:rPr>
              <a:t>团</a:t>
            </a:r>
            <a:r>
              <a:rPr dirty="0" sz="1400">
                <a:latin typeface="宋体"/>
                <a:cs typeface="宋体"/>
              </a:rPr>
              <a:t>整</a:t>
            </a:r>
            <a:r>
              <a:rPr dirty="0" sz="1400" spc="-10">
                <a:latin typeface="宋体"/>
                <a:cs typeface="宋体"/>
              </a:rPr>
              <a:t>体</a:t>
            </a:r>
            <a:r>
              <a:rPr dirty="0" sz="1400" spc="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战</a:t>
            </a:r>
            <a:r>
              <a:rPr dirty="0" sz="1400" spc="-10">
                <a:latin typeface="宋体"/>
                <a:cs typeface="宋体"/>
              </a:rPr>
              <a:t>略</a:t>
            </a:r>
            <a:r>
              <a:rPr dirty="0" sz="1400" spc="5">
                <a:latin typeface="宋体"/>
                <a:cs typeface="宋体"/>
              </a:rPr>
              <a:t>角</a:t>
            </a:r>
            <a:r>
              <a:rPr dirty="0" sz="1400">
                <a:latin typeface="宋体"/>
                <a:cs typeface="宋体"/>
              </a:rPr>
              <a:t>度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未</a:t>
            </a:r>
            <a:r>
              <a:rPr dirty="0" sz="1400">
                <a:latin typeface="宋体"/>
                <a:cs typeface="宋体"/>
              </a:rPr>
              <a:t>来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旗</a:t>
            </a:r>
            <a:r>
              <a:rPr dirty="0" sz="1400">
                <a:latin typeface="宋体"/>
                <a:cs typeface="宋体"/>
              </a:rPr>
              <a:t>下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5">
                <a:latin typeface="宋体"/>
                <a:cs typeface="宋体"/>
              </a:rPr>
              <a:t>逐渐聚</a:t>
            </a:r>
            <a:r>
              <a:rPr dirty="0" sz="1400" spc="-10">
                <a:latin typeface="宋体"/>
                <a:cs typeface="宋体"/>
              </a:rPr>
              <a:t>焦</a:t>
            </a:r>
            <a:r>
              <a:rPr dirty="0" sz="1400" spc="5">
                <a:latin typeface="宋体"/>
                <a:cs typeface="宋体"/>
              </a:rPr>
              <a:t>电视</a:t>
            </a:r>
            <a:r>
              <a:rPr dirty="0" sz="1400" spc="-10">
                <a:latin typeface="宋体"/>
                <a:cs typeface="宋体"/>
              </a:rPr>
              <a:t>机</a:t>
            </a:r>
            <a:r>
              <a:rPr dirty="0" sz="1400" spc="5">
                <a:latin typeface="宋体"/>
                <a:cs typeface="宋体"/>
              </a:rPr>
              <a:t>、平</a:t>
            </a:r>
            <a:r>
              <a:rPr dirty="0" sz="1400" spc="-10">
                <a:latin typeface="宋体"/>
                <a:cs typeface="宋体"/>
              </a:rPr>
              <a:t>板</a:t>
            </a:r>
            <a:r>
              <a:rPr dirty="0" sz="1400" spc="5">
                <a:latin typeface="宋体"/>
                <a:cs typeface="宋体"/>
              </a:rPr>
              <a:t>、微</a:t>
            </a:r>
            <a:r>
              <a:rPr dirty="0" sz="1400" spc="-10">
                <a:latin typeface="宋体"/>
                <a:cs typeface="宋体"/>
              </a:rPr>
              <a:t>波</a:t>
            </a:r>
            <a:r>
              <a:rPr dirty="0" sz="1400" spc="5">
                <a:latin typeface="宋体"/>
                <a:cs typeface="宋体"/>
              </a:rPr>
              <a:t>炉、</a:t>
            </a:r>
            <a:r>
              <a:rPr dirty="0" sz="1400" spc="-10">
                <a:latin typeface="宋体"/>
                <a:cs typeface="宋体"/>
              </a:rPr>
              <a:t>照</a:t>
            </a:r>
            <a:r>
              <a:rPr dirty="0" sz="1400" spc="5">
                <a:latin typeface="宋体"/>
                <a:cs typeface="宋体"/>
              </a:rPr>
              <a:t>相机</a:t>
            </a:r>
            <a:r>
              <a:rPr dirty="0" sz="1400" spc="-10">
                <a:latin typeface="宋体"/>
                <a:cs typeface="宋体"/>
              </a:rPr>
              <a:t>、</a:t>
            </a:r>
            <a:r>
              <a:rPr dirty="0" sz="1400" spc="5">
                <a:latin typeface="宋体"/>
                <a:cs typeface="宋体"/>
              </a:rPr>
              <a:t>摄像</a:t>
            </a:r>
            <a:r>
              <a:rPr dirty="0" sz="1400" spc="-10">
                <a:latin typeface="宋体"/>
                <a:cs typeface="宋体"/>
              </a:rPr>
              <a:t>机</a:t>
            </a:r>
            <a:r>
              <a:rPr dirty="0" sz="1400" spc="5">
                <a:latin typeface="宋体"/>
                <a:cs typeface="宋体"/>
              </a:rPr>
              <a:t>、空</a:t>
            </a:r>
            <a:r>
              <a:rPr dirty="0" sz="1400" spc="-10">
                <a:latin typeface="宋体"/>
                <a:cs typeface="宋体"/>
              </a:rPr>
              <a:t>调</a:t>
            </a:r>
            <a:r>
              <a:rPr dirty="0" sz="1400" spc="5">
                <a:latin typeface="宋体"/>
                <a:cs typeface="宋体"/>
              </a:rPr>
              <a:t>配</a:t>
            </a:r>
            <a:endParaRPr sz="14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125"/>
              </a:spcBef>
            </a:pPr>
            <a:r>
              <a:rPr dirty="0" sz="1400" spc="10">
                <a:latin typeface="宋体"/>
                <a:cs typeface="宋体"/>
              </a:rPr>
              <a:t>件等</a:t>
            </a:r>
            <a:r>
              <a:rPr dirty="0" sz="1400">
                <a:latin typeface="宋体"/>
                <a:cs typeface="宋体"/>
              </a:rPr>
              <a:t>；旗</a:t>
            </a:r>
            <a:r>
              <a:rPr dirty="0" sz="1400" spc="-10">
                <a:latin typeface="宋体"/>
                <a:cs typeface="宋体"/>
              </a:rPr>
              <a:t>下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</a:t>
            </a:r>
            <a:r>
              <a:rPr dirty="0" sz="1400" spc="10">
                <a:latin typeface="宋体"/>
                <a:cs typeface="宋体"/>
              </a:rPr>
              <a:t>逐渐</a:t>
            </a:r>
            <a:r>
              <a:rPr dirty="0" sz="1400">
                <a:latin typeface="宋体"/>
                <a:cs typeface="宋体"/>
              </a:rPr>
              <a:t>聚</a:t>
            </a:r>
            <a:r>
              <a:rPr dirty="0" sz="1400" spc="-15">
                <a:latin typeface="宋体"/>
                <a:cs typeface="宋体"/>
              </a:rPr>
              <a:t>焦</a:t>
            </a:r>
            <a:r>
              <a:rPr dirty="0" sz="1400">
                <a:latin typeface="宋体"/>
                <a:cs typeface="宋体"/>
              </a:rPr>
              <a:t>手机</a:t>
            </a:r>
            <a:r>
              <a:rPr dirty="0" sz="1400" spc="-15">
                <a:latin typeface="宋体"/>
                <a:cs typeface="宋体"/>
              </a:rPr>
              <a:t>零</a:t>
            </a:r>
            <a:r>
              <a:rPr dirty="0" sz="1400">
                <a:latin typeface="宋体"/>
                <a:cs typeface="宋体"/>
              </a:rPr>
              <a:t>配件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制造</a:t>
            </a:r>
            <a:r>
              <a:rPr dirty="0" sz="1400" spc="-15">
                <a:latin typeface="宋体"/>
                <a:cs typeface="宋体"/>
              </a:rPr>
              <a:t>、</a:t>
            </a:r>
            <a:r>
              <a:rPr dirty="0" sz="1400">
                <a:latin typeface="宋体"/>
                <a:cs typeface="宋体"/>
              </a:rPr>
              <a:t>代工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作等。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9232" y="3691112"/>
            <a:ext cx="834427" cy="3627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51959" y="1168908"/>
            <a:ext cx="4777740" cy="462280"/>
          </a:xfrm>
          <a:custGeom>
            <a:avLst/>
            <a:gdLst/>
            <a:ahLst/>
            <a:cxnLst/>
            <a:rect l="l" t="t" r="r" b="b"/>
            <a:pathLst>
              <a:path w="4777740" h="462280">
                <a:moveTo>
                  <a:pt x="0" y="461772"/>
                </a:moveTo>
                <a:lnTo>
                  <a:pt x="4777740" y="461772"/>
                </a:lnTo>
                <a:lnTo>
                  <a:pt x="4777740" y="0"/>
                </a:lnTo>
                <a:lnTo>
                  <a:pt x="0" y="0"/>
                </a:lnTo>
                <a:lnTo>
                  <a:pt x="0" y="46177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30700" y="1198575"/>
            <a:ext cx="45732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2010-2016</a:t>
            </a:r>
            <a:r>
              <a:rPr dirty="0" sz="1200" spc="-5" b="1">
                <a:latin typeface="明兰"/>
                <a:cs typeface="明兰"/>
              </a:rPr>
              <a:t>年</a:t>
            </a:r>
            <a:r>
              <a:rPr dirty="0" sz="1200" spc="-5" b="1">
                <a:latin typeface="Arial"/>
                <a:cs typeface="Arial"/>
              </a:rPr>
              <a:t>Newsan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</a:t>
            </a:r>
            <a:r>
              <a:rPr dirty="0" sz="1200" spc="5" b="1">
                <a:latin typeface="明兰"/>
                <a:cs typeface="明兰"/>
              </a:rPr>
              <a:t>集团营收</a:t>
            </a:r>
            <a:r>
              <a:rPr dirty="0" sz="1200" b="1">
                <a:latin typeface="明兰"/>
                <a:cs typeface="明兰"/>
              </a:rPr>
              <a:t>、</a:t>
            </a:r>
            <a:r>
              <a:rPr dirty="0" sz="1200" spc="-5" b="1">
                <a:latin typeface="明兰"/>
                <a:cs typeface="明兰"/>
              </a:rPr>
              <a:t>利</a:t>
            </a:r>
            <a:r>
              <a:rPr dirty="0" sz="1200" b="1">
                <a:latin typeface="明兰"/>
                <a:cs typeface="明兰"/>
              </a:rPr>
              <a:t>润</a:t>
            </a:r>
            <a:r>
              <a:rPr dirty="0" sz="1200" spc="-5" b="1">
                <a:latin typeface="明兰"/>
                <a:cs typeface="明兰"/>
              </a:rPr>
              <a:t>（</a:t>
            </a:r>
            <a:r>
              <a:rPr dirty="0" sz="1200" b="1">
                <a:latin typeface="明兰"/>
                <a:cs typeface="明兰"/>
              </a:rPr>
              <a:t>百</a:t>
            </a:r>
            <a:r>
              <a:rPr dirty="0" sz="1200" spc="-5" b="1">
                <a:latin typeface="明兰"/>
                <a:cs typeface="明兰"/>
              </a:rPr>
              <a:t>万</a:t>
            </a:r>
            <a:r>
              <a:rPr dirty="0" sz="1200" b="1">
                <a:latin typeface="明兰"/>
                <a:cs typeface="明兰"/>
              </a:rPr>
              <a:t>美</a:t>
            </a:r>
            <a:r>
              <a:rPr dirty="0" sz="1200" spc="-5" b="1">
                <a:latin typeface="明兰"/>
                <a:cs typeface="明兰"/>
              </a:rPr>
              <a:t>元</a:t>
            </a:r>
            <a:r>
              <a:rPr dirty="0" sz="1200" b="1">
                <a:latin typeface="明兰"/>
                <a:cs typeface="明兰"/>
              </a:rPr>
              <a:t>）</a:t>
            </a:r>
            <a:r>
              <a:rPr dirty="0" sz="1200" spc="-5" b="1">
                <a:latin typeface="明兰"/>
                <a:cs typeface="明兰"/>
              </a:rPr>
              <a:t>及</a:t>
            </a:r>
            <a:r>
              <a:rPr dirty="0" sz="1200" b="1">
                <a:latin typeface="明兰"/>
                <a:cs typeface="明兰"/>
              </a:rPr>
              <a:t>利</a:t>
            </a:r>
            <a:r>
              <a:rPr dirty="0" sz="1200" spc="-5" b="1">
                <a:latin typeface="明兰"/>
                <a:cs typeface="明兰"/>
              </a:rPr>
              <a:t>润</a:t>
            </a:r>
            <a:r>
              <a:rPr dirty="0" sz="1200" b="1">
                <a:latin typeface="明兰"/>
                <a:cs typeface="明兰"/>
              </a:rPr>
              <a:t>率</a:t>
            </a:r>
            <a:endParaRPr sz="1200">
              <a:latin typeface="明兰"/>
              <a:cs typeface="明兰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明兰"/>
                <a:cs typeface="明兰"/>
              </a:rPr>
              <a:t>（ </a:t>
            </a:r>
            <a:r>
              <a:rPr dirty="0" sz="1200" spc="-5" b="1">
                <a:latin typeface="Arial"/>
                <a:cs typeface="Arial"/>
              </a:rPr>
              <a:t>%</a:t>
            </a:r>
            <a:r>
              <a:rPr dirty="0" sz="1200" spc="-150" b="1">
                <a:latin typeface="Arial"/>
                <a:cs typeface="Arial"/>
              </a:rPr>
              <a:t> </a:t>
            </a:r>
            <a:r>
              <a:rPr dirty="0" sz="1200" b="1">
                <a:latin typeface="明兰"/>
                <a:cs typeface="明兰"/>
              </a:rPr>
              <a:t>）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62500" y="3249167"/>
            <a:ext cx="193675" cy="411480"/>
          </a:xfrm>
          <a:custGeom>
            <a:avLst/>
            <a:gdLst/>
            <a:ahLst/>
            <a:cxnLst/>
            <a:rect l="l" t="t" r="r" b="b"/>
            <a:pathLst>
              <a:path w="193675" h="411479">
                <a:moveTo>
                  <a:pt x="193548" y="0"/>
                </a:moveTo>
                <a:lnTo>
                  <a:pt x="0" y="0"/>
                </a:lnTo>
                <a:lnTo>
                  <a:pt x="0" y="411480"/>
                </a:lnTo>
                <a:lnTo>
                  <a:pt x="193548" y="411480"/>
                </a:lnTo>
                <a:lnTo>
                  <a:pt x="193548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41620" y="2924555"/>
            <a:ext cx="193675" cy="736600"/>
          </a:xfrm>
          <a:custGeom>
            <a:avLst/>
            <a:gdLst/>
            <a:ahLst/>
            <a:cxnLst/>
            <a:rect l="l" t="t" r="r" b="b"/>
            <a:pathLst>
              <a:path w="193675" h="736600">
                <a:moveTo>
                  <a:pt x="193547" y="0"/>
                </a:moveTo>
                <a:lnTo>
                  <a:pt x="0" y="0"/>
                </a:lnTo>
                <a:lnTo>
                  <a:pt x="0" y="736092"/>
                </a:lnTo>
                <a:lnTo>
                  <a:pt x="193547" y="736092"/>
                </a:lnTo>
                <a:lnTo>
                  <a:pt x="19354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20740" y="2755392"/>
            <a:ext cx="192405" cy="905510"/>
          </a:xfrm>
          <a:custGeom>
            <a:avLst/>
            <a:gdLst/>
            <a:ahLst/>
            <a:cxnLst/>
            <a:rect l="l" t="t" r="r" b="b"/>
            <a:pathLst>
              <a:path w="192404" h="905510">
                <a:moveTo>
                  <a:pt x="192024" y="0"/>
                </a:moveTo>
                <a:lnTo>
                  <a:pt x="0" y="0"/>
                </a:lnTo>
                <a:lnTo>
                  <a:pt x="0" y="905256"/>
                </a:lnTo>
                <a:lnTo>
                  <a:pt x="192024" y="905256"/>
                </a:lnTo>
                <a:lnTo>
                  <a:pt x="19202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99859" y="2566416"/>
            <a:ext cx="192405" cy="1094740"/>
          </a:xfrm>
          <a:custGeom>
            <a:avLst/>
            <a:gdLst/>
            <a:ahLst/>
            <a:cxnLst/>
            <a:rect l="l" t="t" r="r" b="b"/>
            <a:pathLst>
              <a:path w="192404" h="1094739">
                <a:moveTo>
                  <a:pt x="192023" y="0"/>
                </a:moveTo>
                <a:lnTo>
                  <a:pt x="0" y="0"/>
                </a:lnTo>
                <a:lnTo>
                  <a:pt x="0" y="1094232"/>
                </a:lnTo>
                <a:lnTo>
                  <a:pt x="192023" y="1094232"/>
                </a:lnTo>
                <a:lnTo>
                  <a:pt x="19202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78980" y="2656332"/>
            <a:ext cx="192405" cy="1004569"/>
          </a:xfrm>
          <a:custGeom>
            <a:avLst/>
            <a:gdLst/>
            <a:ahLst/>
            <a:cxnLst/>
            <a:rect l="l" t="t" r="r" b="b"/>
            <a:pathLst>
              <a:path w="192404" h="1004570">
                <a:moveTo>
                  <a:pt x="192024" y="0"/>
                </a:moveTo>
                <a:lnTo>
                  <a:pt x="0" y="0"/>
                </a:lnTo>
                <a:lnTo>
                  <a:pt x="0" y="1004315"/>
                </a:lnTo>
                <a:lnTo>
                  <a:pt x="192024" y="1004315"/>
                </a:lnTo>
                <a:lnTo>
                  <a:pt x="19202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58100" y="1918716"/>
            <a:ext cx="192405" cy="1742439"/>
          </a:xfrm>
          <a:custGeom>
            <a:avLst/>
            <a:gdLst/>
            <a:ahLst/>
            <a:cxnLst/>
            <a:rect l="l" t="t" r="r" b="b"/>
            <a:pathLst>
              <a:path w="192404" h="1742439">
                <a:moveTo>
                  <a:pt x="192024" y="0"/>
                </a:moveTo>
                <a:lnTo>
                  <a:pt x="0" y="0"/>
                </a:lnTo>
                <a:lnTo>
                  <a:pt x="0" y="1741932"/>
                </a:lnTo>
                <a:lnTo>
                  <a:pt x="192024" y="1741932"/>
                </a:lnTo>
                <a:lnTo>
                  <a:pt x="19202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37219" y="2680716"/>
            <a:ext cx="192405" cy="980440"/>
          </a:xfrm>
          <a:custGeom>
            <a:avLst/>
            <a:gdLst/>
            <a:ahLst/>
            <a:cxnLst/>
            <a:rect l="l" t="t" r="r" b="b"/>
            <a:pathLst>
              <a:path w="192404" h="980439">
                <a:moveTo>
                  <a:pt x="192024" y="0"/>
                </a:moveTo>
                <a:lnTo>
                  <a:pt x="0" y="0"/>
                </a:lnTo>
                <a:lnTo>
                  <a:pt x="0" y="979932"/>
                </a:lnTo>
                <a:lnTo>
                  <a:pt x="192024" y="979932"/>
                </a:lnTo>
                <a:lnTo>
                  <a:pt x="19202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56047" y="3637788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 h="0">
                <a:moveTo>
                  <a:pt x="0" y="0"/>
                </a:moveTo>
                <a:lnTo>
                  <a:pt x="192024" y="0"/>
                </a:lnTo>
              </a:path>
            </a:pathLst>
          </a:custGeom>
          <a:ln w="45720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535167" y="3630929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 h="0">
                <a:moveTo>
                  <a:pt x="0" y="0"/>
                </a:moveTo>
                <a:lnTo>
                  <a:pt x="192024" y="0"/>
                </a:lnTo>
              </a:path>
            </a:pathLst>
          </a:custGeom>
          <a:ln w="59436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12764" y="3626358"/>
            <a:ext cx="193675" cy="0"/>
          </a:xfrm>
          <a:custGeom>
            <a:avLst/>
            <a:gdLst/>
            <a:ahLst/>
            <a:cxnLst/>
            <a:rect l="l" t="t" r="r" b="b"/>
            <a:pathLst>
              <a:path w="193675" h="0">
                <a:moveTo>
                  <a:pt x="0" y="0"/>
                </a:moveTo>
                <a:lnTo>
                  <a:pt x="193548" y="0"/>
                </a:lnTo>
              </a:path>
            </a:pathLst>
          </a:custGeom>
          <a:ln w="68580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91883" y="3566159"/>
            <a:ext cx="193675" cy="94615"/>
          </a:xfrm>
          <a:custGeom>
            <a:avLst/>
            <a:gdLst/>
            <a:ahLst/>
            <a:cxnLst/>
            <a:rect l="l" t="t" r="r" b="b"/>
            <a:pathLst>
              <a:path w="193675" h="94614">
                <a:moveTo>
                  <a:pt x="193548" y="0"/>
                </a:moveTo>
                <a:lnTo>
                  <a:pt x="0" y="0"/>
                </a:lnTo>
                <a:lnTo>
                  <a:pt x="0" y="94487"/>
                </a:lnTo>
                <a:lnTo>
                  <a:pt x="193548" y="94487"/>
                </a:lnTo>
                <a:lnTo>
                  <a:pt x="193548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71004" y="3552444"/>
            <a:ext cx="193675" cy="108585"/>
          </a:xfrm>
          <a:custGeom>
            <a:avLst/>
            <a:gdLst/>
            <a:ahLst/>
            <a:cxnLst/>
            <a:rect l="l" t="t" r="r" b="b"/>
            <a:pathLst>
              <a:path w="193675" h="108585">
                <a:moveTo>
                  <a:pt x="193548" y="0"/>
                </a:moveTo>
                <a:lnTo>
                  <a:pt x="0" y="0"/>
                </a:lnTo>
                <a:lnTo>
                  <a:pt x="0" y="108203"/>
                </a:lnTo>
                <a:lnTo>
                  <a:pt x="193548" y="108203"/>
                </a:lnTo>
                <a:lnTo>
                  <a:pt x="193548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50123" y="3448811"/>
            <a:ext cx="193675" cy="212090"/>
          </a:xfrm>
          <a:custGeom>
            <a:avLst/>
            <a:gdLst/>
            <a:ahLst/>
            <a:cxnLst/>
            <a:rect l="l" t="t" r="r" b="b"/>
            <a:pathLst>
              <a:path w="193675" h="212089">
                <a:moveTo>
                  <a:pt x="193548" y="0"/>
                </a:moveTo>
                <a:lnTo>
                  <a:pt x="0" y="0"/>
                </a:lnTo>
                <a:lnTo>
                  <a:pt x="0" y="211836"/>
                </a:lnTo>
                <a:lnTo>
                  <a:pt x="193548" y="211836"/>
                </a:lnTo>
                <a:lnTo>
                  <a:pt x="193548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429243" y="3480815"/>
            <a:ext cx="193675" cy="180340"/>
          </a:xfrm>
          <a:custGeom>
            <a:avLst/>
            <a:gdLst/>
            <a:ahLst/>
            <a:cxnLst/>
            <a:rect l="l" t="t" r="r" b="b"/>
            <a:pathLst>
              <a:path w="193675" h="180339">
                <a:moveTo>
                  <a:pt x="193548" y="0"/>
                </a:moveTo>
                <a:lnTo>
                  <a:pt x="0" y="0"/>
                </a:lnTo>
                <a:lnTo>
                  <a:pt x="0" y="179832"/>
                </a:lnTo>
                <a:lnTo>
                  <a:pt x="193548" y="179832"/>
                </a:lnTo>
                <a:lnTo>
                  <a:pt x="193548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718804" y="1784604"/>
            <a:ext cx="0" cy="1876425"/>
          </a:xfrm>
          <a:custGeom>
            <a:avLst/>
            <a:gdLst/>
            <a:ahLst/>
            <a:cxnLst/>
            <a:rect l="l" t="t" r="r" b="b"/>
            <a:pathLst>
              <a:path w="0" h="1876425">
                <a:moveTo>
                  <a:pt x="0" y="1876044"/>
                </a:moveTo>
                <a:lnTo>
                  <a:pt x="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718804" y="3660647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718804" y="3473196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718804" y="3285744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718804" y="3098292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718804" y="2910839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718804" y="2723388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718804" y="2535935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718804" y="2348483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718804" y="2161032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718804" y="1973579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718804" y="1784604"/>
            <a:ext cx="30480" cy="0"/>
          </a:xfrm>
          <a:custGeom>
            <a:avLst/>
            <a:gdLst/>
            <a:ahLst/>
            <a:cxnLst/>
            <a:rect l="l" t="t" r="r" b="b"/>
            <a:pathLst>
              <a:path w="30479" h="0">
                <a:moveTo>
                  <a:pt x="0" y="0"/>
                </a:moveTo>
                <a:lnTo>
                  <a:pt x="30479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66488" y="1784604"/>
            <a:ext cx="0" cy="1876425"/>
          </a:xfrm>
          <a:custGeom>
            <a:avLst/>
            <a:gdLst/>
            <a:ahLst/>
            <a:cxnLst/>
            <a:rect l="l" t="t" r="r" b="b"/>
            <a:pathLst>
              <a:path w="0" h="1876425">
                <a:moveTo>
                  <a:pt x="0" y="1876044"/>
                </a:moveTo>
                <a:lnTo>
                  <a:pt x="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66488" y="3660647"/>
            <a:ext cx="4052570" cy="0"/>
          </a:xfrm>
          <a:custGeom>
            <a:avLst/>
            <a:gdLst/>
            <a:ahLst/>
            <a:cxnLst/>
            <a:rect l="l" t="t" r="r" b="b"/>
            <a:pathLst>
              <a:path w="4052570" h="0">
                <a:moveTo>
                  <a:pt x="0" y="0"/>
                </a:moveTo>
                <a:lnTo>
                  <a:pt x="4052316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55285" y="1937766"/>
            <a:ext cx="3474720" cy="1001394"/>
          </a:xfrm>
          <a:custGeom>
            <a:avLst/>
            <a:gdLst/>
            <a:ahLst/>
            <a:cxnLst/>
            <a:rect l="l" t="t" r="r" b="b"/>
            <a:pathLst>
              <a:path w="3474720" h="1001394">
                <a:moveTo>
                  <a:pt x="0" y="682751"/>
                </a:moveTo>
                <a:lnTo>
                  <a:pt x="579119" y="967739"/>
                </a:lnTo>
                <a:lnTo>
                  <a:pt x="1158239" y="1001268"/>
                </a:lnTo>
                <a:lnTo>
                  <a:pt x="1737360" y="912876"/>
                </a:lnTo>
                <a:lnTo>
                  <a:pt x="2316480" y="707136"/>
                </a:lnTo>
                <a:lnTo>
                  <a:pt x="2895599" y="585216"/>
                </a:lnTo>
                <a:lnTo>
                  <a:pt x="3474719" y="0"/>
                </a:lnTo>
              </a:path>
            </a:pathLst>
          </a:custGeom>
          <a:ln w="2895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795384" y="1637766"/>
            <a:ext cx="228600" cy="208978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800" spc="-5">
                <a:latin typeface="Arial"/>
                <a:cs typeface="Arial"/>
              </a:rPr>
              <a:t>20%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5">
                <a:latin typeface="Arial"/>
                <a:cs typeface="Arial"/>
              </a:rPr>
              <a:t>18%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00" spc="-5">
                <a:latin typeface="Arial"/>
                <a:cs typeface="Arial"/>
              </a:rPr>
              <a:t>16%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5">
                <a:latin typeface="Arial"/>
                <a:cs typeface="Arial"/>
              </a:rPr>
              <a:t>14%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00" spc="-5">
                <a:latin typeface="Arial"/>
                <a:cs typeface="Arial"/>
              </a:rPr>
              <a:t>12%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5">
                <a:latin typeface="Arial"/>
                <a:cs typeface="Arial"/>
              </a:rPr>
              <a:t>10%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5">
                <a:latin typeface="Arial"/>
                <a:cs typeface="Arial"/>
              </a:rPr>
              <a:t>8%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00" spc="-5">
                <a:latin typeface="Arial"/>
                <a:cs typeface="Arial"/>
              </a:rPr>
              <a:t>6%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5">
                <a:latin typeface="Arial"/>
                <a:cs typeface="Arial"/>
              </a:rPr>
              <a:t>4%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00" spc="-5">
                <a:latin typeface="Arial"/>
                <a:cs typeface="Arial"/>
              </a:rPr>
              <a:t>2%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00" spc="-5">
                <a:latin typeface="Arial"/>
                <a:cs typeface="Arial"/>
              </a:rPr>
              <a:t>0%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61509" y="3580257"/>
            <a:ext cx="857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latin typeface="微软雅黑"/>
                <a:cs typeface="微软雅黑"/>
              </a:rPr>
              <a:t>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42257" y="3205099"/>
            <a:ext cx="2038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">
                <a:latin typeface="微软雅黑"/>
                <a:cs typeface="微软雅黑"/>
              </a:rPr>
              <a:t>500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58183" y="2829255"/>
            <a:ext cx="28829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latin typeface="微软雅黑"/>
                <a:cs typeface="微软雅黑"/>
              </a:rPr>
              <a:t>1</a:t>
            </a:r>
            <a:r>
              <a:rPr dirty="0" sz="800">
                <a:latin typeface="微软雅黑"/>
                <a:cs typeface="微软雅黑"/>
              </a:rPr>
              <a:t>,</a:t>
            </a:r>
            <a:r>
              <a:rPr dirty="0" sz="800" spc="-10">
                <a:latin typeface="微软雅黑"/>
                <a:cs typeface="微软雅黑"/>
              </a:rPr>
              <a:t>00</a:t>
            </a:r>
            <a:r>
              <a:rPr dirty="0" sz="800">
                <a:latin typeface="微软雅黑"/>
                <a:cs typeface="微软雅黑"/>
              </a:rPr>
              <a:t>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58183" y="2454401"/>
            <a:ext cx="2882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">
                <a:latin typeface="微软雅黑"/>
                <a:cs typeface="微软雅黑"/>
              </a:rPr>
              <a:t>1</a:t>
            </a:r>
            <a:r>
              <a:rPr dirty="0" sz="800">
                <a:latin typeface="微软雅黑"/>
                <a:cs typeface="微软雅黑"/>
              </a:rPr>
              <a:t>,</a:t>
            </a:r>
            <a:r>
              <a:rPr dirty="0" sz="800" spc="-5">
                <a:latin typeface="微软雅黑"/>
                <a:cs typeface="微软雅黑"/>
              </a:rPr>
              <a:t>50</a:t>
            </a:r>
            <a:r>
              <a:rPr dirty="0" sz="800">
                <a:latin typeface="微软雅黑"/>
                <a:cs typeface="微软雅黑"/>
              </a:rPr>
              <a:t>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58183" y="2079117"/>
            <a:ext cx="2882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">
                <a:latin typeface="微软雅黑"/>
                <a:cs typeface="微软雅黑"/>
              </a:rPr>
              <a:t>2</a:t>
            </a:r>
            <a:r>
              <a:rPr dirty="0" sz="800">
                <a:latin typeface="微软雅黑"/>
                <a:cs typeface="微软雅黑"/>
              </a:rPr>
              <a:t>,</a:t>
            </a:r>
            <a:r>
              <a:rPr dirty="0" sz="800" spc="-5">
                <a:latin typeface="微软雅黑"/>
                <a:cs typeface="微软雅黑"/>
              </a:rPr>
              <a:t>00</a:t>
            </a:r>
            <a:r>
              <a:rPr dirty="0" sz="800">
                <a:latin typeface="微软雅黑"/>
                <a:cs typeface="微软雅黑"/>
              </a:rPr>
              <a:t>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58183" y="1703958"/>
            <a:ext cx="2882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">
                <a:latin typeface="微软雅黑"/>
                <a:cs typeface="微软雅黑"/>
              </a:rPr>
              <a:t>2</a:t>
            </a:r>
            <a:r>
              <a:rPr dirty="0" sz="800">
                <a:latin typeface="微软雅黑"/>
                <a:cs typeface="微软雅黑"/>
              </a:rPr>
              <a:t>,</a:t>
            </a:r>
            <a:r>
              <a:rPr dirty="0" sz="800" spc="-5">
                <a:latin typeface="微软雅黑"/>
                <a:cs typeface="微软雅黑"/>
              </a:rPr>
              <a:t>50</a:t>
            </a:r>
            <a:r>
              <a:rPr dirty="0" sz="800">
                <a:latin typeface="微软雅黑"/>
                <a:cs typeface="微软雅黑"/>
              </a:rPr>
              <a:t>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24476" y="3727196"/>
            <a:ext cx="2635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>
                <a:latin typeface="微软雅黑"/>
                <a:cs typeface="微软雅黑"/>
              </a:rPr>
              <a:t>2010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03596" y="3727196"/>
            <a:ext cx="2635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>
                <a:latin typeface="微软雅黑"/>
                <a:cs typeface="微软雅黑"/>
              </a:rPr>
              <a:t>2011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82715" y="3727196"/>
            <a:ext cx="2635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>
                <a:latin typeface="微软雅黑"/>
                <a:cs typeface="微软雅黑"/>
              </a:rPr>
              <a:t>2012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61835" y="3727196"/>
            <a:ext cx="2635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>
                <a:latin typeface="微软雅黑"/>
                <a:cs typeface="微软雅黑"/>
              </a:rPr>
              <a:t>2013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299195" y="3727196"/>
            <a:ext cx="2635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>
                <a:latin typeface="微软雅黑"/>
                <a:cs typeface="微软雅黑"/>
              </a:rPr>
              <a:t>2016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25440" y="406450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0960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682741" y="3983863"/>
            <a:ext cx="2724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微软雅黑"/>
                <a:cs typeface="微软雅黑"/>
              </a:rPr>
              <a:t>S</a:t>
            </a:r>
            <a:r>
              <a:rPr dirty="0" sz="800">
                <a:latin typeface="微软雅黑"/>
                <a:cs typeface="微软雅黑"/>
              </a:rPr>
              <a:t>ales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089903" y="406450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0960">
            <a:solidFill>
              <a:srgbClr val="BA8E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348476" y="3983863"/>
            <a:ext cx="50228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">
                <a:latin typeface="微软雅黑"/>
                <a:cs typeface="微软雅黑"/>
              </a:rPr>
              <a:t>Net</a:t>
            </a:r>
            <a:r>
              <a:rPr dirty="0" sz="800" spc="-60">
                <a:latin typeface="微软雅黑"/>
                <a:cs typeface="微软雅黑"/>
              </a:rPr>
              <a:t> </a:t>
            </a:r>
            <a:r>
              <a:rPr dirty="0" sz="800" spc="-5">
                <a:latin typeface="微软雅黑"/>
                <a:cs typeface="微软雅黑"/>
              </a:rPr>
              <a:t>profit</a:t>
            </a:r>
            <a:endParaRPr sz="800">
              <a:latin typeface="微软雅黑"/>
              <a:cs typeface="微软雅黑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985254" y="406527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140956" y="3727196"/>
            <a:ext cx="842644" cy="40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dirty="0" sz="800" spc="-5">
                <a:latin typeface="微软雅黑"/>
                <a:cs typeface="微软雅黑"/>
              </a:rPr>
              <a:t>201</a:t>
            </a:r>
            <a:r>
              <a:rPr dirty="0" sz="800">
                <a:latin typeface="微软雅黑"/>
                <a:cs typeface="微软雅黑"/>
              </a:rPr>
              <a:t>4</a:t>
            </a:r>
            <a:r>
              <a:rPr dirty="0" sz="800">
                <a:latin typeface="微软雅黑"/>
                <a:cs typeface="微软雅黑"/>
              </a:rPr>
              <a:t>	</a:t>
            </a:r>
            <a:r>
              <a:rPr dirty="0" sz="800" spc="-5">
                <a:latin typeface="微软雅黑"/>
                <a:cs typeface="微软雅黑"/>
              </a:rPr>
              <a:t>2015</a:t>
            </a:r>
            <a:endParaRPr sz="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Times New Roman"/>
              <a:cs typeface="Times New Roman"/>
            </a:endParaRPr>
          </a:p>
          <a:p>
            <a:pPr algn="ctr" marL="33655">
              <a:lnSpc>
                <a:spcPct val="100000"/>
              </a:lnSpc>
            </a:pPr>
            <a:r>
              <a:rPr dirty="0" sz="800" spc="-5">
                <a:latin typeface="微软雅黑"/>
                <a:cs typeface="微软雅黑"/>
              </a:rPr>
              <a:t>Profit</a:t>
            </a:r>
            <a:r>
              <a:rPr dirty="0" sz="800" spc="-25">
                <a:latin typeface="微软雅黑"/>
                <a:cs typeface="微软雅黑"/>
              </a:rPr>
              <a:t> </a:t>
            </a:r>
            <a:r>
              <a:rPr dirty="0" sz="800" spc="-5">
                <a:latin typeface="微软雅黑"/>
                <a:cs typeface="微软雅黑"/>
              </a:rPr>
              <a:t>Margin</a:t>
            </a:r>
            <a:endParaRPr sz="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181356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代工厂背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景介绍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59" y="3528035"/>
            <a:ext cx="1448185" cy="6279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912" y="2383542"/>
            <a:ext cx="1068351" cy="2880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8912" y="5059681"/>
            <a:ext cx="1068351" cy="2880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24044" y="4233671"/>
            <a:ext cx="3952240" cy="18167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65404" rIns="0" bIns="0" rtlCol="0" vert="horz">
            <a:spAutoFit/>
          </a:bodyPr>
          <a:lstStyle/>
          <a:p>
            <a:pPr algn="just" marL="263525" marR="123189" indent="-172085">
              <a:lnSpc>
                <a:spcPts val="1620"/>
              </a:lnSpc>
              <a:spcBef>
                <a:spcPts val="515"/>
              </a:spcBef>
              <a:buFont typeface="Arial"/>
              <a:buChar char="•"/>
              <a:tabLst>
                <a:tab pos="264160" algn="l"/>
              </a:tabLst>
            </a:pPr>
            <a:r>
              <a:rPr dirty="0" sz="1400">
                <a:latin typeface="宋体"/>
                <a:cs typeface="宋体"/>
              </a:rPr>
              <a:t>主要业</a:t>
            </a:r>
            <a:r>
              <a:rPr dirty="0" sz="1400" spc="-15">
                <a:latin typeface="宋体"/>
                <a:cs typeface="宋体"/>
              </a:rPr>
              <a:t>务</a:t>
            </a:r>
            <a:r>
              <a:rPr dirty="0" sz="1400">
                <a:latin typeface="宋体"/>
                <a:cs typeface="宋体"/>
              </a:rPr>
              <a:t>涉及</a:t>
            </a:r>
            <a:r>
              <a:rPr dirty="0" sz="1400" spc="-15">
                <a:latin typeface="宋体"/>
                <a:cs typeface="宋体"/>
              </a:rPr>
              <a:t>代工</a:t>
            </a:r>
            <a:r>
              <a:rPr dirty="0" sz="1400">
                <a:latin typeface="宋体"/>
                <a:cs typeface="宋体"/>
              </a:rPr>
              <a:t>及自有</a:t>
            </a:r>
            <a:r>
              <a:rPr dirty="0" sz="1400" spc="-15">
                <a:latin typeface="宋体"/>
                <a:cs typeface="宋体"/>
              </a:rPr>
              <a:t>品</a:t>
            </a:r>
            <a:r>
              <a:rPr dirty="0" sz="1400">
                <a:latin typeface="宋体"/>
                <a:cs typeface="宋体"/>
              </a:rPr>
              <a:t>牌的</a:t>
            </a:r>
            <a:r>
              <a:rPr dirty="0" sz="1400" spc="-15">
                <a:latin typeface="宋体"/>
                <a:cs typeface="宋体"/>
              </a:rPr>
              <a:t>组装</a:t>
            </a:r>
            <a:r>
              <a:rPr dirty="0" sz="1400">
                <a:latin typeface="宋体"/>
                <a:cs typeface="宋体"/>
              </a:rPr>
              <a:t>、制造及 出口、</a:t>
            </a:r>
            <a:r>
              <a:rPr dirty="0" sz="1400" spc="-15">
                <a:latin typeface="宋体"/>
                <a:cs typeface="宋体"/>
              </a:rPr>
              <a:t>电</a:t>
            </a:r>
            <a:r>
              <a:rPr dirty="0" sz="1400">
                <a:latin typeface="宋体"/>
                <a:cs typeface="宋体"/>
              </a:rPr>
              <a:t>子产</a:t>
            </a:r>
            <a:r>
              <a:rPr dirty="0" sz="1400" spc="-15">
                <a:latin typeface="宋体"/>
                <a:cs typeface="宋体"/>
              </a:rPr>
              <a:t>品转</a:t>
            </a:r>
            <a:r>
              <a:rPr dirty="0" sz="1400">
                <a:latin typeface="宋体"/>
                <a:cs typeface="宋体"/>
              </a:rPr>
              <a:t>售</a:t>
            </a:r>
            <a:endParaRPr sz="1400">
              <a:latin typeface="宋体"/>
              <a:cs typeface="宋体"/>
            </a:endParaRPr>
          </a:p>
          <a:p>
            <a:pPr algn="just" marL="263525" marR="120014" indent="-172085">
              <a:lnSpc>
                <a:spcPts val="1680"/>
              </a:lnSpc>
              <a:spcBef>
                <a:spcPts val="10"/>
              </a:spcBef>
              <a:buFont typeface="Arial"/>
              <a:buChar char="•"/>
              <a:tabLst>
                <a:tab pos="264160" algn="l"/>
              </a:tabLst>
            </a:pPr>
            <a:r>
              <a:rPr dirty="0" sz="1400" spc="10">
                <a:latin typeface="宋体"/>
                <a:cs typeface="宋体"/>
              </a:rPr>
              <a:t>主营</a:t>
            </a:r>
            <a:r>
              <a:rPr dirty="0" sz="1400" spc="5">
                <a:latin typeface="宋体"/>
                <a:cs typeface="宋体"/>
              </a:rPr>
              <a:t>电</a:t>
            </a:r>
            <a:r>
              <a:rPr dirty="0" sz="1400">
                <a:latin typeface="宋体"/>
                <a:cs typeface="宋体"/>
              </a:rPr>
              <a:t>子</a:t>
            </a:r>
            <a:r>
              <a:rPr dirty="0" sz="1400" spc="-10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品</a:t>
            </a:r>
            <a:r>
              <a:rPr dirty="0" sz="1400" spc="-5">
                <a:latin typeface="Arial"/>
                <a:cs typeface="Arial"/>
              </a:rPr>
              <a:t>80%</a:t>
            </a:r>
            <a:r>
              <a:rPr dirty="0" sz="1400">
                <a:latin typeface="宋体"/>
                <a:cs typeface="宋体"/>
              </a:rPr>
              <a:t>由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</a:t>
            </a:r>
            <a:r>
              <a:rPr dirty="0" sz="1400" spc="10">
                <a:latin typeface="宋体"/>
                <a:cs typeface="宋体"/>
              </a:rPr>
              <a:t>工</a:t>
            </a:r>
            <a:r>
              <a:rPr dirty="0" sz="1400" spc="5">
                <a:latin typeface="宋体"/>
                <a:cs typeface="宋体"/>
              </a:rPr>
              <a:t>厂完 </a:t>
            </a:r>
            <a:r>
              <a:rPr dirty="0" sz="1400" spc="10">
                <a:latin typeface="宋体"/>
                <a:cs typeface="宋体"/>
              </a:rPr>
              <a:t>成生</a:t>
            </a:r>
            <a:r>
              <a:rPr dirty="0" sz="1400">
                <a:latin typeface="宋体"/>
                <a:cs typeface="宋体"/>
              </a:rPr>
              <a:t>产</a:t>
            </a:r>
            <a:r>
              <a:rPr dirty="0" sz="1400" spc="-5">
                <a:latin typeface="宋体"/>
                <a:cs typeface="宋体"/>
              </a:rPr>
              <a:t>，</a:t>
            </a:r>
            <a:r>
              <a:rPr dirty="0" sz="1400" spc="-5">
                <a:latin typeface="Arial"/>
                <a:cs typeface="Arial"/>
              </a:rPr>
              <a:t>12%</a:t>
            </a:r>
            <a:r>
              <a:rPr dirty="0" sz="1400">
                <a:latin typeface="宋体"/>
                <a:cs typeface="宋体"/>
              </a:rPr>
              <a:t>由</a:t>
            </a:r>
            <a:r>
              <a:rPr dirty="0" sz="1400" spc="-15">
                <a:latin typeface="宋体"/>
                <a:cs typeface="宋体"/>
              </a:rPr>
              <a:t>关</a:t>
            </a:r>
            <a:r>
              <a:rPr dirty="0" sz="1400">
                <a:latin typeface="宋体"/>
                <a:cs typeface="宋体"/>
              </a:rPr>
              <a:t>联公</a:t>
            </a:r>
            <a:r>
              <a:rPr dirty="0" sz="1400" spc="-15">
                <a:latin typeface="宋体"/>
                <a:cs typeface="宋体"/>
              </a:rPr>
              <a:t>司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S.A.</a:t>
            </a:r>
            <a:r>
              <a:rPr dirty="0" sz="1400" spc="10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为生 </a:t>
            </a:r>
            <a:r>
              <a:rPr dirty="0" sz="1400" spc="10">
                <a:latin typeface="宋体"/>
                <a:cs typeface="宋体"/>
              </a:rPr>
              <a:t>产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>
                <a:latin typeface="Arial"/>
                <a:cs typeface="Arial"/>
              </a:rPr>
              <a:t>8%</a:t>
            </a:r>
            <a:r>
              <a:rPr dirty="0" sz="1400">
                <a:latin typeface="宋体"/>
                <a:cs typeface="宋体"/>
              </a:rPr>
              <a:t>进口</a:t>
            </a:r>
            <a:endParaRPr sz="1400">
              <a:latin typeface="宋体"/>
              <a:cs typeface="宋体"/>
            </a:endParaRPr>
          </a:p>
          <a:p>
            <a:pPr marL="263525" indent="-172085">
              <a:lnSpc>
                <a:spcPts val="1625"/>
              </a:lnSpc>
              <a:buFont typeface="Arial"/>
              <a:buChar char="•"/>
              <a:tabLst>
                <a:tab pos="264160" algn="l"/>
              </a:tabLst>
            </a:pPr>
            <a:r>
              <a:rPr dirty="0" sz="1400" spc="10">
                <a:latin typeface="宋体"/>
                <a:cs typeface="宋体"/>
              </a:rPr>
              <a:t>旗下</a:t>
            </a:r>
            <a:r>
              <a:rPr dirty="0" sz="1400">
                <a:latin typeface="宋体"/>
                <a:cs typeface="宋体"/>
              </a:rPr>
              <a:t>自有</a:t>
            </a:r>
            <a:r>
              <a:rPr dirty="0" sz="1400" spc="-15">
                <a:latin typeface="宋体"/>
                <a:cs typeface="宋体"/>
              </a:rPr>
              <a:t>品</a:t>
            </a:r>
            <a:r>
              <a:rPr dirty="0" sz="1400">
                <a:latin typeface="宋体"/>
                <a:cs typeface="宋体"/>
              </a:rPr>
              <a:t>牌包</a:t>
            </a:r>
            <a:r>
              <a:rPr dirty="0" sz="1400" spc="-10">
                <a:latin typeface="宋体"/>
                <a:cs typeface="宋体"/>
              </a:rPr>
              <a:t>括</a:t>
            </a:r>
            <a:r>
              <a:rPr dirty="0" sz="1400" spc="-5">
                <a:latin typeface="Arial"/>
                <a:cs typeface="Arial"/>
              </a:rPr>
              <a:t>Atma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Noblex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Siam</a:t>
            </a:r>
            <a:r>
              <a:rPr dirty="0" sz="1400">
                <a:latin typeface="宋体"/>
                <a:cs typeface="宋体"/>
              </a:rPr>
              <a:t>和</a:t>
            </a:r>
            <a:endParaRPr sz="1400">
              <a:latin typeface="宋体"/>
              <a:cs typeface="宋体"/>
            </a:endParaRPr>
          </a:p>
          <a:p>
            <a:pPr marL="263525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Pioneer</a:t>
            </a:r>
            <a:r>
              <a:rPr dirty="0" sz="1400" spc="-5">
                <a:latin typeface="宋体"/>
                <a:cs typeface="宋体"/>
              </a:rPr>
              <a:t>；</a:t>
            </a:r>
            <a:r>
              <a:rPr dirty="0" sz="1400">
                <a:latin typeface="宋体"/>
                <a:cs typeface="宋体"/>
              </a:rPr>
              <a:t>代工品</a:t>
            </a:r>
            <a:r>
              <a:rPr dirty="0" sz="1400" spc="-15">
                <a:latin typeface="宋体"/>
                <a:cs typeface="宋体"/>
              </a:rPr>
              <a:t>牌</a:t>
            </a:r>
            <a:r>
              <a:rPr dirty="0" sz="1400">
                <a:latin typeface="宋体"/>
                <a:cs typeface="宋体"/>
              </a:rPr>
              <a:t>商包</a:t>
            </a:r>
            <a:r>
              <a:rPr dirty="0" sz="1400" spc="-15">
                <a:latin typeface="宋体"/>
                <a:cs typeface="宋体"/>
              </a:rPr>
              <a:t>括</a:t>
            </a:r>
            <a:r>
              <a:rPr dirty="0" sz="1400" spc="-5">
                <a:latin typeface="Arial"/>
                <a:cs typeface="Arial"/>
              </a:rPr>
              <a:t>Motorola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LG</a:t>
            </a:r>
            <a:r>
              <a:rPr dirty="0" sz="1400">
                <a:latin typeface="宋体"/>
                <a:cs typeface="宋体"/>
              </a:rPr>
              <a:t>、</a:t>
            </a:r>
            <a:endParaRPr sz="1400">
              <a:latin typeface="宋体"/>
              <a:cs typeface="宋体"/>
            </a:endParaRPr>
          </a:p>
          <a:p>
            <a:pPr marL="26352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Alcatel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 spc="-5">
                <a:latin typeface="Arial"/>
                <a:cs typeface="Arial"/>
              </a:rPr>
              <a:t>Karcher</a:t>
            </a:r>
            <a:r>
              <a:rPr dirty="0" sz="1400">
                <a:latin typeface="宋体"/>
                <a:cs typeface="宋体"/>
              </a:rPr>
              <a:t>和</a:t>
            </a:r>
            <a:r>
              <a:rPr dirty="0" sz="1400" spc="-10">
                <a:latin typeface="Arial"/>
                <a:cs typeface="Arial"/>
              </a:rPr>
              <a:t>Lenovo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53716" y="1551939"/>
            <a:ext cx="1458595" cy="1459230"/>
          </a:xfrm>
          <a:custGeom>
            <a:avLst/>
            <a:gdLst/>
            <a:ahLst/>
            <a:cxnLst/>
            <a:rect l="l" t="t" r="r" b="b"/>
            <a:pathLst>
              <a:path w="1458595" h="1459230">
                <a:moveTo>
                  <a:pt x="182244" y="742823"/>
                </a:moveTo>
                <a:lnTo>
                  <a:pt x="0" y="747268"/>
                </a:lnTo>
                <a:lnTo>
                  <a:pt x="2824" y="796301"/>
                </a:lnTo>
                <a:lnTo>
                  <a:pt x="8813" y="844400"/>
                </a:lnTo>
                <a:lnTo>
                  <a:pt x="17863" y="891462"/>
                </a:lnTo>
                <a:lnTo>
                  <a:pt x="29869" y="937384"/>
                </a:lnTo>
                <a:lnTo>
                  <a:pt x="44725" y="982065"/>
                </a:lnTo>
                <a:lnTo>
                  <a:pt x="62327" y="1025401"/>
                </a:lnTo>
                <a:lnTo>
                  <a:pt x="82570" y="1067291"/>
                </a:lnTo>
                <a:lnTo>
                  <a:pt x="105348" y="1107632"/>
                </a:lnTo>
                <a:lnTo>
                  <a:pt x="130558" y="1146322"/>
                </a:lnTo>
                <a:lnTo>
                  <a:pt x="158094" y="1183257"/>
                </a:lnTo>
                <a:lnTo>
                  <a:pt x="187852" y="1218337"/>
                </a:lnTo>
                <a:lnTo>
                  <a:pt x="219725" y="1251458"/>
                </a:lnTo>
                <a:lnTo>
                  <a:pt x="253611" y="1282517"/>
                </a:lnTo>
                <a:lnTo>
                  <a:pt x="289402" y="1311413"/>
                </a:lnTo>
                <a:lnTo>
                  <a:pt x="326996" y="1338043"/>
                </a:lnTo>
                <a:lnTo>
                  <a:pt x="366286" y="1362305"/>
                </a:lnTo>
                <a:lnTo>
                  <a:pt x="407169" y="1384096"/>
                </a:lnTo>
                <a:lnTo>
                  <a:pt x="449538" y="1403314"/>
                </a:lnTo>
                <a:lnTo>
                  <a:pt x="493289" y="1419856"/>
                </a:lnTo>
                <a:lnTo>
                  <a:pt x="538318" y="1433620"/>
                </a:lnTo>
                <a:lnTo>
                  <a:pt x="584519" y="1444504"/>
                </a:lnTo>
                <a:lnTo>
                  <a:pt x="631787" y="1452405"/>
                </a:lnTo>
                <a:lnTo>
                  <a:pt x="680018" y="1457221"/>
                </a:lnTo>
                <a:lnTo>
                  <a:pt x="729107" y="1458849"/>
                </a:lnTo>
                <a:lnTo>
                  <a:pt x="777065" y="1457297"/>
                </a:lnTo>
                <a:lnTo>
                  <a:pt x="824195" y="1452705"/>
                </a:lnTo>
                <a:lnTo>
                  <a:pt x="870401" y="1445170"/>
                </a:lnTo>
                <a:lnTo>
                  <a:pt x="915585" y="1434788"/>
                </a:lnTo>
                <a:lnTo>
                  <a:pt x="959652" y="1421655"/>
                </a:lnTo>
                <a:lnTo>
                  <a:pt x="1002506" y="1405867"/>
                </a:lnTo>
                <a:lnTo>
                  <a:pt x="1044051" y="1387520"/>
                </a:lnTo>
                <a:lnTo>
                  <a:pt x="1084191" y="1366710"/>
                </a:lnTo>
                <a:lnTo>
                  <a:pt x="1122829" y="1343534"/>
                </a:lnTo>
                <a:lnTo>
                  <a:pt x="1159870" y="1318088"/>
                </a:lnTo>
                <a:lnTo>
                  <a:pt x="1195218" y="1290467"/>
                </a:lnTo>
                <a:lnTo>
                  <a:pt x="1211171" y="1276350"/>
                </a:lnTo>
                <a:lnTo>
                  <a:pt x="742569" y="1276350"/>
                </a:lnTo>
                <a:lnTo>
                  <a:pt x="695318" y="1275493"/>
                </a:lnTo>
                <a:lnTo>
                  <a:pt x="649088" y="1270704"/>
                </a:lnTo>
                <a:lnTo>
                  <a:pt x="604047" y="1262142"/>
                </a:lnTo>
                <a:lnTo>
                  <a:pt x="560363" y="1249968"/>
                </a:lnTo>
                <a:lnTo>
                  <a:pt x="518204" y="1234342"/>
                </a:lnTo>
                <a:lnTo>
                  <a:pt x="477738" y="1215424"/>
                </a:lnTo>
                <a:lnTo>
                  <a:pt x="439134" y="1193374"/>
                </a:lnTo>
                <a:lnTo>
                  <a:pt x="402559" y="1168353"/>
                </a:lnTo>
                <a:lnTo>
                  <a:pt x="368181" y="1140521"/>
                </a:lnTo>
                <a:lnTo>
                  <a:pt x="336169" y="1110037"/>
                </a:lnTo>
                <a:lnTo>
                  <a:pt x="306691" y="1077063"/>
                </a:lnTo>
                <a:lnTo>
                  <a:pt x="279914" y="1041758"/>
                </a:lnTo>
                <a:lnTo>
                  <a:pt x="256007" y="1004283"/>
                </a:lnTo>
                <a:lnTo>
                  <a:pt x="235138" y="964797"/>
                </a:lnTo>
                <a:lnTo>
                  <a:pt x="217475" y="923462"/>
                </a:lnTo>
                <a:lnTo>
                  <a:pt x="203186" y="880436"/>
                </a:lnTo>
                <a:lnTo>
                  <a:pt x="192439" y="835881"/>
                </a:lnTo>
                <a:lnTo>
                  <a:pt x="185403" y="789956"/>
                </a:lnTo>
                <a:lnTo>
                  <a:pt x="182244" y="742823"/>
                </a:lnTo>
                <a:close/>
              </a:path>
              <a:path w="1458595" h="1459230">
                <a:moveTo>
                  <a:pt x="729107" y="0"/>
                </a:moveTo>
                <a:lnTo>
                  <a:pt x="729107" y="182372"/>
                </a:lnTo>
                <a:lnTo>
                  <a:pt x="778061" y="184534"/>
                </a:lnTo>
                <a:lnTo>
                  <a:pt x="825825" y="190901"/>
                </a:lnTo>
                <a:lnTo>
                  <a:pt x="872211" y="201290"/>
                </a:lnTo>
                <a:lnTo>
                  <a:pt x="917034" y="215520"/>
                </a:lnTo>
                <a:lnTo>
                  <a:pt x="960107" y="233407"/>
                </a:lnTo>
                <a:lnTo>
                  <a:pt x="1001244" y="254771"/>
                </a:lnTo>
                <a:lnTo>
                  <a:pt x="1040258" y="279429"/>
                </a:lnTo>
                <a:lnTo>
                  <a:pt x="1076962" y="307199"/>
                </a:lnTo>
                <a:lnTo>
                  <a:pt x="1111170" y="337899"/>
                </a:lnTo>
                <a:lnTo>
                  <a:pt x="1142696" y="371347"/>
                </a:lnTo>
                <a:lnTo>
                  <a:pt x="1171354" y="407362"/>
                </a:lnTo>
                <a:lnTo>
                  <a:pt x="1196956" y="445760"/>
                </a:lnTo>
                <a:lnTo>
                  <a:pt x="1219316" y="486361"/>
                </a:lnTo>
                <a:lnTo>
                  <a:pt x="1238249" y="528982"/>
                </a:lnTo>
                <a:lnTo>
                  <a:pt x="1253567" y="573440"/>
                </a:lnTo>
                <a:lnTo>
                  <a:pt x="1265083" y="619555"/>
                </a:lnTo>
                <a:lnTo>
                  <a:pt x="1272613" y="667144"/>
                </a:lnTo>
                <a:lnTo>
                  <a:pt x="1275969" y="716026"/>
                </a:lnTo>
                <a:lnTo>
                  <a:pt x="1275131" y="763257"/>
                </a:lnTo>
                <a:lnTo>
                  <a:pt x="1270359" y="809470"/>
                </a:lnTo>
                <a:lnTo>
                  <a:pt x="1261812" y="854497"/>
                </a:lnTo>
                <a:lnTo>
                  <a:pt x="1249651" y="898168"/>
                </a:lnTo>
                <a:lnTo>
                  <a:pt x="1234037" y="940316"/>
                </a:lnTo>
                <a:lnTo>
                  <a:pt x="1215129" y="980774"/>
                </a:lnTo>
                <a:lnTo>
                  <a:pt x="1193088" y="1019372"/>
                </a:lnTo>
                <a:lnTo>
                  <a:pt x="1168074" y="1055942"/>
                </a:lnTo>
                <a:lnTo>
                  <a:pt x="1140248" y="1090318"/>
                </a:lnTo>
                <a:lnTo>
                  <a:pt x="1109770" y="1122330"/>
                </a:lnTo>
                <a:lnTo>
                  <a:pt x="1076800" y="1151810"/>
                </a:lnTo>
                <a:lnTo>
                  <a:pt x="1041498" y="1178591"/>
                </a:lnTo>
                <a:lnTo>
                  <a:pt x="1004025" y="1202505"/>
                </a:lnTo>
                <a:lnTo>
                  <a:pt x="964541" y="1223382"/>
                </a:lnTo>
                <a:lnTo>
                  <a:pt x="923207" y="1241056"/>
                </a:lnTo>
                <a:lnTo>
                  <a:pt x="880182" y="1255357"/>
                </a:lnTo>
                <a:lnTo>
                  <a:pt x="835627" y="1266119"/>
                </a:lnTo>
                <a:lnTo>
                  <a:pt x="789702" y="1273172"/>
                </a:lnTo>
                <a:lnTo>
                  <a:pt x="742569" y="1276350"/>
                </a:lnTo>
                <a:lnTo>
                  <a:pt x="1211171" y="1276350"/>
                </a:lnTo>
                <a:lnTo>
                  <a:pt x="1260448" y="1229089"/>
                </a:lnTo>
                <a:lnTo>
                  <a:pt x="1290139" y="1195524"/>
                </a:lnTo>
                <a:lnTo>
                  <a:pt x="1317752" y="1160169"/>
                </a:lnTo>
                <a:lnTo>
                  <a:pt x="1343191" y="1123121"/>
                </a:lnTo>
                <a:lnTo>
                  <a:pt x="1366360" y="1084476"/>
                </a:lnTo>
                <a:lnTo>
                  <a:pt x="1387163" y="1044329"/>
                </a:lnTo>
                <a:lnTo>
                  <a:pt x="1405504" y="1002779"/>
                </a:lnTo>
                <a:lnTo>
                  <a:pt x="1421287" y="959919"/>
                </a:lnTo>
                <a:lnTo>
                  <a:pt x="1434416" y="915848"/>
                </a:lnTo>
                <a:lnTo>
                  <a:pt x="1444794" y="870660"/>
                </a:lnTo>
                <a:lnTo>
                  <a:pt x="1452326" y="824452"/>
                </a:lnTo>
                <a:lnTo>
                  <a:pt x="1456916" y="777320"/>
                </a:lnTo>
                <a:lnTo>
                  <a:pt x="1458468" y="729361"/>
                </a:lnTo>
                <a:lnTo>
                  <a:pt x="1456916" y="681416"/>
                </a:lnTo>
                <a:lnTo>
                  <a:pt x="1452326" y="634297"/>
                </a:lnTo>
                <a:lnTo>
                  <a:pt x="1444794" y="588102"/>
                </a:lnTo>
                <a:lnTo>
                  <a:pt x="1434416" y="542925"/>
                </a:lnTo>
                <a:lnTo>
                  <a:pt x="1421287" y="498864"/>
                </a:lnTo>
                <a:lnTo>
                  <a:pt x="1405504" y="456014"/>
                </a:lnTo>
                <a:lnTo>
                  <a:pt x="1387163" y="414471"/>
                </a:lnTo>
                <a:lnTo>
                  <a:pt x="1366360" y="374333"/>
                </a:lnTo>
                <a:lnTo>
                  <a:pt x="1343191" y="335694"/>
                </a:lnTo>
                <a:lnTo>
                  <a:pt x="1317751" y="298652"/>
                </a:lnTo>
                <a:lnTo>
                  <a:pt x="1290139" y="263302"/>
                </a:lnTo>
                <a:lnTo>
                  <a:pt x="1260448" y="229741"/>
                </a:lnTo>
                <a:lnTo>
                  <a:pt x="1228776" y="198065"/>
                </a:lnTo>
                <a:lnTo>
                  <a:pt x="1195218" y="168370"/>
                </a:lnTo>
                <a:lnTo>
                  <a:pt x="1159870" y="140752"/>
                </a:lnTo>
                <a:lnTo>
                  <a:pt x="1122829" y="115308"/>
                </a:lnTo>
                <a:lnTo>
                  <a:pt x="1084191" y="92134"/>
                </a:lnTo>
                <a:lnTo>
                  <a:pt x="1044051" y="71326"/>
                </a:lnTo>
                <a:lnTo>
                  <a:pt x="1002506" y="52980"/>
                </a:lnTo>
                <a:lnTo>
                  <a:pt x="959652" y="37192"/>
                </a:lnTo>
                <a:lnTo>
                  <a:pt x="915585" y="24059"/>
                </a:lnTo>
                <a:lnTo>
                  <a:pt x="870401" y="13678"/>
                </a:lnTo>
                <a:lnTo>
                  <a:pt x="824195" y="6143"/>
                </a:lnTo>
                <a:lnTo>
                  <a:pt x="777065" y="1551"/>
                </a:lnTo>
                <a:lnTo>
                  <a:pt x="729107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53716" y="1953767"/>
            <a:ext cx="240665" cy="345440"/>
          </a:xfrm>
          <a:custGeom>
            <a:avLst/>
            <a:gdLst/>
            <a:ahLst/>
            <a:cxnLst/>
            <a:rect l="l" t="t" r="r" b="b"/>
            <a:pathLst>
              <a:path w="240664" h="345439">
                <a:moveTo>
                  <a:pt x="77469" y="0"/>
                </a:moveTo>
                <a:lnTo>
                  <a:pt x="56070" y="46560"/>
                </a:lnTo>
                <a:lnTo>
                  <a:pt x="38051" y="94353"/>
                </a:lnTo>
                <a:lnTo>
                  <a:pt x="23452" y="143198"/>
                </a:lnTo>
                <a:lnTo>
                  <a:pt x="12309" y="192911"/>
                </a:lnTo>
                <a:lnTo>
                  <a:pt x="4661" y="243310"/>
                </a:lnTo>
                <a:lnTo>
                  <a:pt x="545" y="294214"/>
                </a:lnTo>
                <a:lnTo>
                  <a:pt x="0" y="345440"/>
                </a:lnTo>
                <a:lnTo>
                  <a:pt x="182244" y="340995"/>
                </a:lnTo>
                <a:lnTo>
                  <a:pt x="183588" y="287277"/>
                </a:lnTo>
                <a:lnTo>
                  <a:pt x="190155" y="234126"/>
                </a:lnTo>
                <a:lnTo>
                  <a:pt x="201868" y="181925"/>
                </a:lnTo>
                <a:lnTo>
                  <a:pt x="218646" y="131060"/>
                </a:lnTo>
                <a:lnTo>
                  <a:pt x="240410" y="81915"/>
                </a:lnTo>
                <a:lnTo>
                  <a:pt x="77469" y="0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53716" y="1953767"/>
            <a:ext cx="240665" cy="345440"/>
          </a:xfrm>
          <a:custGeom>
            <a:avLst/>
            <a:gdLst/>
            <a:ahLst/>
            <a:cxnLst/>
            <a:rect l="l" t="t" r="r" b="b"/>
            <a:pathLst>
              <a:path w="240664" h="345439">
                <a:moveTo>
                  <a:pt x="0" y="345440"/>
                </a:moveTo>
                <a:lnTo>
                  <a:pt x="545" y="294214"/>
                </a:lnTo>
                <a:lnTo>
                  <a:pt x="4661" y="243310"/>
                </a:lnTo>
                <a:lnTo>
                  <a:pt x="12309" y="192911"/>
                </a:lnTo>
                <a:lnTo>
                  <a:pt x="23452" y="143198"/>
                </a:lnTo>
                <a:lnTo>
                  <a:pt x="38051" y="94353"/>
                </a:lnTo>
                <a:lnTo>
                  <a:pt x="56070" y="46560"/>
                </a:lnTo>
                <a:lnTo>
                  <a:pt x="77469" y="0"/>
                </a:lnTo>
                <a:lnTo>
                  <a:pt x="240410" y="81915"/>
                </a:lnTo>
                <a:lnTo>
                  <a:pt x="218646" y="131060"/>
                </a:lnTo>
                <a:lnTo>
                  <a:pt x="201868" y="181925"/>
                </a:lnTo>
                <a:lnTo>
                  <a:pt x="190155" y="234126"/>
                </a:lnTo>
                <a:lnTo>
                  <a:pt x="183588" y="287277"/>
                </a:lnTo>
                <a:lnTo>
                  <a:pt x="182244" y="340995"/>
                </a:lnTo>
                <a:lnTo>
                  <a:pt x="0" y="34544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1185" y="1551939"/>
            <a:ext cx="652145" cy="483870"/>
          </a:xfrm>
          <a:custGeom>
            <a:avLst/>
            <a:gdLst/>
            <a:ahLst/>
            <a:cxnLst/>
            <a:rect l="l" t="t" r="r" b="b"/>
            <a:pathLst>
              <a:path w="652145" h="483869">
                <a:moveTo>
                  <a:pt x="651637" y="0"/>
                </a:moveTo>
                <a:lnTo>
                  <a:pt x="603247" y="1600"/>
                </a:lnTo>
                <a:lnTo>
                  <a:pt x="555476" y="6349"/>
                </a:lnTo>
                <a:lnTo>
                  <a:pt x="508451" y="14168"/>
                </a:lnTo>
                <a:lnTo>
                  <a:pt x="462299" y="24977"/>
                </a:lnTo>
                <a:lnTo>
                  <a:pt x="417150" y="38699"/>
                </a:lnTo>
                <a:lnTo>
                  <a:pt x="373129" y="55254"/>
                </a:lnTo>
                <a:lnTo>
                  <a:pt x="330366" y="74564"/>
                </a:lnTo>
                <a:lnTo>
                  <a:pt x="288988" y="96549"/>
                </a:lnTo>
                <a:lnTo>
                  <a:pt x="249123" y="121132"/>
                </a:lnTo>
                <a:lnTo>
                  <a:pt x="210898" y="148233"/>
                </a:lnTo>
                <a:lnTo>
                  <a:pt x="174442" y="177773"/>
                </a:lnTo>
                <a:lnTo>
                  <a:pt x="139882" y="209673"/>
                </a:lnTo>
                <a:lnTo>
                  <a:pt x="107347" y="243856"/>
                </a:lnTo>
                <a:lnTo>
                  <a:pt x="76963" y="280241"/>
                </a:lnTo>
                <a:lnTo>
                  <a:pt x="48858" y="318751"/>
                </a:lnTo>
                <a:lnTo>
                  <a:pt x="23161" y="359306"/>
                </a:lnTo>
                <a:lnTo>
                  <a:pt x="0" y="401827"/>
                </a:lnTo>
                <a:lnTo>
                  <a:pt x="162940" y="483743"/>
                </a:lnTo>
                <a:lnTo>
                  <a:pt x="186038" y="442332"/>
                </a:lnTo>
                <a:lnTo>
                  <a:pt x="212338" y="403476"/>
                </a:lnTo>
                <a:lnTo>
                  <a:pt x="241626" y="367305"/>
                </a:lnTo>
                <a:lnTo>
                  <a:pt x="273688" y="333951"/>
                </a:lnTo>
                <a:lnTo>
                  <a:pt x="308309" y="303548"/>
                </a:lnTo>
                <a:lnTo>
                  <a:pt x="345274" y="276226"/>
                </a:lnTo>
                <a:lnTo>
                  <a:pt x="384369" y="252119"/>
                </a:lnTo>
                <a:lnTo>
                  <a:pt x="425379" y="231358"/>
                </a:lnTo>
                <a:lnTo>
                  <a:pt x="468089" y="214075"/>
                </a:lnTo>
                <a:lnTo>
                  <a:pt x="512284" y="200403"/>
                </a:lnTo>
                <a:lnTo>
                  <a:pt x="557750" y="190474"/>
                </a:lnTo>
                <a:lnTo>
                  <a:pt x="604273" y="184419"/>
                </a:lnTo>
                <a:lnTo>
                  <a:pt x="651637" y="182372"/>
                </a:lnTo>
                <a:lnTo>
                  <a:pt x="651637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31185" y="1551939"/>
            <a:ext cx="652145" cy="483870"/>
          </a:xfrm>
          <a:custGeom>
            <a:avLst/>
            <a:gdLst/>
            <a:ahLst/>
            <a:cxnLst/>
            <a:rect l="l" t="t" r="r" b="b"/>
            <a:pathLst>
              <a:path w="652145" h="483869">
                <a:moveTo>
                  <a:pt x="0" y="401827"/>
                </a:moveTo>
                <a:lnTo>
                  <a:pt x="23161" y="359306"/>
                </a:lnTo>
                <a:lnTo>
                  <a:pt x="48858" y="318751"/>
                </a:lnTo>
                <a:lnTo>
                  <a:pt x="76963" y="280241"/>
                </a:lnTo>
                <a:lnTo>
                  <a:pt x="107347" y="243856"/>
                </a:lnTo>
                <a:lnTo>
                  <a:pt x="139882" y="209673"/>
                </a:lnTo>
                <a:lnTo>
                  <a:pt x="174442" y="177773"/>
                </a:lnTo>
                <a:lnTo>
                  <a:pt x="210898" y="148233"/>
                </a:lnTo>
                <a:lnTo>
                  <a:pt x="249123" y="121132"/>
                </a:lnTo>
                <a:lnTo>
                  <a:pt x="288988" y="96549"/>
                </a:lnTo>
                <a:lnTo>
                  <a:pt x="330366" y="74564"/>
                </a:lnTo>
                <a:lnTo>
                  <a:pt x="373129" y="55254"/>
                </a:lnTo>
                <a:lnTo>
                  <a:pt x="417150" y="38699"/>
                </a:lnTo>
                <a:lnTo>
                  <a:pt x="462299" y="24977"/>
                </a:lnTo>
                <a:lnTo>
                  <a:pt x="508451" y="14168"/>
                </a:lnTo>
                <a:lnTo>
                  <a:pt x="555476" y="6349"/>
                </a:lnTo>
                <a:lnTo>
                  <a:pt x="603247" y="1600"/>
                </a:lnTo>
                <a:lnTo>
                  <a:pt x="651637" y="0"/>
                </a:lnTo>
                <a:lnTo>
                  <a:pt x="651637" y="182372"/>
                </a:lnTo>
                <a:lnTo>
                  <a:pt x="604273" y="184419"/>
                </a:lnTo>
                <a:lnTo>
                  <a:pt x="557750" y="190474"/>
                </a:lnTo>
                <a:lnTo>
                  <a:pt x="512284" y="200403"/>
                </a:lnTo>
                <a:lnTo>
                  <a:pt x="468089" y="214075"/>
                </a:lnTo>
                <a:lnTo>
                  <a:pt x="425379" y="231358"/>
                </a:lnTo>
                <a:lnTo>
                  <a:pt x="384369" y="252119"/>
                </a:lnTo>
                <a:lnTo>
                  <a:pt x="345274" y="276226"/>
                </a:lnTo>
                <a:lnTo>
                  <a:pt x="308309" y="303548"/>
                </a:lnTo>
                <a:lnTo>
                  <a:pt x="273688" y="333951"/>
                </a:lnTo>
                <a:lnTo>
                  <a:pt x="241626" y="367305"/>
                </a:lnTo>
                <a:lnTo>
                  <a:pt x="212338" y="403476"/>
                </a:lnTo>
                <a:lnTo>
                  <a:pt x="186038" y="442332"/>
                </a:lnTo>
                <a:lnTo>
                  <a:pt x="162940" y="483743"/>
                </a:lnTo>
                <a:lnTo>
                  <a:pt x="0" y="401827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39896" y="2726435"/>
            <a:ext cx="320040" cy="120650"/>
          </a:xfrm>
          <a:custGeom>
            <a:avLst/>
            <a:gdLst/>
            <a:ahLst/>
            <a:cxnLst/>
            <a:rect l="l" t="t" r="r" b="b"/>
            <a:pathLst>
              <a:path w="320039" h="120650">
                <a:moveTo>
                  <a:pt x="0" y="0"/>
                </a:moveTo>
                <a:lnTo>
                  <a:pt x="262127" y="120396"/>
                </a:lnTo>
                <a:lnTo>
                  <a:pt x="320039" y="120396"/>
                </a:lnTo>
              </a:path>
            </a:pathLst>
          </a:custGeom>
          <a:ln w="9143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41448" y="2112264"/>
            <a:ext cx="218440" cy="29209"/>
          </a:xfrm>
          <a:custGeom>
            <a:avLst/>
            <a:gdLst/>
            <a:ahLst/>
            <a:cxnLst/>
            <a:rect l="l" t="t" r="r" b="b"/>
            <a:pathLst>
              <a:path w="218439" h="29210">
                <a:moveTo>
                  <a:pt x="217931" y="28956"/>
                </a:moveTo>
                <a:lnTo>
                  <a:pt x="56387" y="0"/>
                </a:lnTo>
                <a:lnTo>
                  <a:pt x="0" y="0"/>
                </a:lnTo>
              </a:path>
            </a:pathLst>
          </a:custGeom>
          <a:ln w="9144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33116" y="1409700"/>
            <a:ext cx="114300" cy="327660"/>
          </a:xfrm>
          <a:custGeom>
            <a:avLst/>
            <a:gdLst/>
            <a:ahLst/>
            <a:cxnLst/>
            <a:rect l="l" t="t" r="r" b="b"/>
            <a:pathLst>
              <a:path w="114300" h="327660">
                <a:moveTo>
                  <a:pt x="114300" y="327660"/>
                </a:moveTo>
                <a:lnTo>
                  <a:pt x="56387" y="0"/>
                </a:lnTo>
                <a:lnTo>
                  <a:pt x="0" y="0"/>
                </a:lnTo>
              </a:path>
            </a:pathLst>
          </a:custGeom>
          <a:ln w="9144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84701" y="2728086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74.6%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8642" y="1993138"/>
            <a:ext cx="328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7.8%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8047" y="1291209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17.6%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2160" y="994917"/>
            <a:ext cx="93916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75" b="1">
                <a:latin typeface="Microsoft JhengHei UI"/>
                <a:cs typeface="Microsoft JhengHei UI"/>
              </a:rPr>
              <a:t>Newsan</a:t>
            </a:r>
            <a:r>
              <a:rPr dirty="0" sz="1450" spc="-105" b="1">
                <a:latin typeface="Microsoft JhengHei UI"/>
                <a:cs typeface="Microsoft JhengHei UI"/>
              </a:rPr>
              <a:t> </a:t>
            </a:r>
            <a:r>
              <a:rPr dirty="0" sz="1450" spc="-85" b="1">
                <a:latin typeface="Microsoft JhengHei UI"/>
                <a:cs typeface="Microsoft JhengHei UI"/>
              </a:rPr>
              <a:t>S.A.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2338" y="3358134"/>
            <a:ext cx="76200" cy="78105"/>
          </a:xfrm>
          <a:custGeom>
            <a:avLst/>
            <a:gdLst/>
            <a:ahLst/>
            <a:cxnLst/>
            <a:rect l="l" t="t" r="r" b="b"/>
            <a:pathLst>
              <a:path w="76200" h="78104">
                <a:moveTo>
                  <a:pt x="0" y="77724"/>
                </a:moveTo>
                <a:lnTo>
                  <a:pt x="76200" y="77724"/>
                </a:lnTo>
                <a:lnTo>
                  <a:pt x="76200" y="0"/>
                </a:lnTo>
                <a:lnTo>
                  <a:pt x="0" y="0"/>
                </a:lnTo>
                <a:lnTo>
                  <a:pt x="0" y="77724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40382" y="3273933"/>
            <a:ext cx="1293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华文仿宋"/>
                <a:cs typeface="华文仿宋"/>
              </a:rPr>
              <a:t>In-House</a:t>
            </a:r>
            <a:r>
              <a:rPr dirty="0" sz="1200" spc="-20">
                <a:latin typeface="华文仿宋"/>
                <a:cs typeface="华文仿宋"/>
              </a:rPr>
              <a:t> </a:t>
            </a:r>
            <a:r>
              <a:rPr dirty="0" sz="1200" spc="-5">
                <a:latin typeface="华文仿宋"/>
                <a:cs typeface="华文仿宋"/>
              </a:rPr>
              <a:t>Production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90721" y="3358134"/>
            <a:ext cx="76200" cy="78105"/>
          </a:xfrm>
          <a:custGeom>
            <a:avLst/>
            <a:gdLst/>
            <a:ahLst/>
            <a:cxnLst/>
            <a:rect l="l" t="t" r="r" b="b"/>
            <a:pathLst>
              <a:path w="76200" h="78104">
                <a:moveTo>
                  <a:pt x="0" y="77724"/>
                </a:moveTo>
                <a:lnTo>
                  <a:pt x="76200" y="77724"/>
                </a:lnTo>
                <a:lnTo>
                  <a:pt x="76200" y="0"/>
                </a:lnTo>
                <a:lnTo>
                  <a:pt x="0" y="0"/>
                </a:lnTo>
                <a:lnTo>
                  <a:pt x="0" y="77724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588765" y="3273933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R</a:t>
            </a:r>
            <a:r>
              <a:rPr dirty="0" sz="1200" spc="-10">
                <a:latin typeface="华文仿宋"/>
                <a:cs typeface="华文仿宋"/>
              </a:rPr>
              <a:t>e</a:t>
            </a:r>
            <a:r>
              <a:rPr dirty="0" sz="1200">
                <a:latin typeface="华文仿宋"/>
                <a:cs typeface="华文仿宋"/>
              </a:rPr>
              <a:t>s</a:t>
            </a:r>
            <a:r>
              <a:rPr dirty="0" sz="1200" spc="-10">
                <a:latin typeface="华文仿宋"/>
                <a:cs typeface="华文仿宋"/>
              </a:rPr>
              <a:t>a</a:t>
            </a:r>
            <a:r>
              <a:rPr dirty="0" sz="1200">
                <a:latin typeface="华文仿宋"/>
                <a:cs typeface="华文仿宋"/>
              </a:rPr>
              <a:t>le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44517" y="3358134"/>
            <a:ext cx="78105" cy="78105"/>
          </a:xfrm>
          <a:custGeom>
            <a:avLst/>
            <a:gdLst/>
            <a:ahLst/>
            <a:cxnLst/>
            <a:rect l="l" t="t" r="r" b="b"/>
            <a:pathLst>
              <a:path w="78104" h="78104">
                <a:moveTo>
                  <a:pt x="0" y="77724"/>
                </a:moveTo>
                <a:lnTo>
                  <a:pt x="77724" y="77724"/>
                </a:lnTo>
                <a:lnTo>
                  <a:pt x="77724" y="0"/>
                </a:lnTo>
                <a:lnTo>
                  <a:pt x="0" y="0"/>
                </a:lnTo>
                <a:lnTo>
                  <a:pt x="0" y="77724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243578" y="3273933"/>
            <a:ext cx="446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E</a:t>
            </a:r>
            <a:r>
              <a:rPr dirty="0" sz="1200" spc="-10">
                <a:latin typeface="华文仿宋"/>
                <a:cs typeface="华文仿宋"/>
              </a:rPr>
              <a:t>x</a:t>
            </a:r>
            <a:r>
              <a:rPr dirty="0" sz="1200">
                <a:latin typeface="华文仿宋"/>
                <a:cs typeface="华文仿宋"/>
              </a:rPr>
              <a:t>po</a:t>
            </a:r>
            <a:r>
              <a:rPr dirty="0" sz="1200" spc="5">
                <a:latin typeface="华文仿宋"/>
                <a:cs typeface="华文仿宋"/>
              </a:rPr>
              <a:t>r</a:t>
            </a:r>
            <a:r>
              <a:rPr dirty="0" sz="1200">
                <a:latin typeface="华文仿宋"/>
                <a:cs typeface="华文仿宋"/>
              </a:rPr>
              <a:t>t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76448" y="4368038"/>
            <a:ext cx="1438910" cy="1441450"/>
          </a:xfrm>
          <a:custGeom>
            <a:avLst/>
            <a:gdLst/>
            <a:ahLst/>
            <a:cxnLst/>
            <a:rect l="l" t="t" r="r" b="b"/>
            <a:pathLst>
              <a:path w="1438910" h="1441450">
                <a:moveTo>
                  <a:pt x="179450" y="767842"/>
                </a:moveTo>
                <a:lnTo>
                  <a:pt x="0" y="783463"/>
                </a:lnTo>
                <a:lnTo>
                  <a:pt x="5805" y="831508"/>
                </a:lnTo>
                <a:lnTo>
                  <a:pt x="14670" y="878473"/>
                </a:lnTo>
                <a:lnTo>
                  <a:pt x="26487" y="924260"/>
                </a:lnTo>
                <a:lnTo>
                  <a:pt x="41150" y="968771"/>
                </a:lnTo>
                <a:lnTo>
                  <a:pt x="58550" y="1011907"/>
                </a:lnTo>
                <a:lnTo>
                  <a:pt x="78581" y="1053571"/>
                </a:lnTo>
                <a:lnTo>
                  <a:pt x="101136" y="1093664"/>
                </a:lnTo>
                <a:lnTo>
                  <a:pt x="126107" y="1132087"/>
                </a:lnTo>
                <a:lnTo>
                  <a:pt x="153389" y="1168743"/>
                </a:lnTo>
                <a:lnTo>
                  <a:pt x="182874" y="1203534"/>
                </a:lnTo>
                <a:lnTo>
                  <a:pt x="214454" y="1236360"/>
                </a:lnTo>
                <a:lnTo>
                  <a:pt x="248023" y="1267125"/>
                </a:lnTo>
                <a:lnTo>
                  <a:pt x="283474" y="1295730"/>
                </a:lnTo>
                <a:lnTo>
                  <a:pt x="320699" y="1322077"/>
                </a:lnTo>
                <a:lnTo>
                  <a:pt x="359593" y="1346067"/>
                </a:lnTo>
                <a:lnTo>
                  <a:pt x="400046" y="1367603"/>
                </a:lnTo>
                <a:lnTo>
                  <a:pt x="441954" y="1386585"/>
                </a:lnTo>
                <a:lnTo>
                  <a:pt x="485208" y="1402917"/>
                </a:lnTo>
                <a:lnTo>
                  <a:pt x="529701" y="1416499"/>
                </a:lnTo>
                <a:lnTo>
                  <a:pt x="575328" y="1427234"/>
                </a:lnTo>
                <a:lnTo>
                  <a:pt x="621979" y="1435024"/>
                </a:lnTo>
                <a:lnTo>
                  <a:pt x="669549" y="1439770"/>
                </a:lnTo>
                <a:lnTo>
                  <a:pt x="717930" y="1441373"/>
                </a:lnTo>
                <a:lnTo>
                  <a:pt x="765315" y="1439840"/>
                </a:lnTo>
                <a:lnTo>
                  <a:pt x="811880" y="1435305"/>
                </a:lnTo>
                <a:lnTo>
                  <a:pt x="857531" y="1427863"/>
                </a:lnTo>
                <a:lnTo>
                  <a:pt x="902173" y="1417608"/>
                </a:lnTo>
                <a:lnTo>
                  <a:pt x="945712" y="1404636"/>
                </a:lnTo>
                <a:lnTo>
                  <a:pt x="988051" y="1389041"/>
                </a:lnTo>
                <a:lnTo>
                  <a:pt x="1029097" y="1370918"/>
                </a:lnTo>
                <a:lnTo>
                  <a:pt x="1068755" y="1350363"/>
                </a:lnTo>
                <a:lnTo>
                  <a:pt x="1106929" y="1327470"/>
                </a:lnTo>
                <a:lnTo>
                  <a:pt x="1143525" y="1302334"/>
                </a:lnTo>
                <a:lnTo>
                  <a:pt x="1178447" y="1275051"/>
                </a:lnTo>
                <a:lnTo>
                  <a:pt x="1194068" y="1261229"/>
                </a:lnTo>
                <a:lnTo>
                  <a:pt x="715837" y="1261229"/>
                </a:lnTo>
                <a:lnTo>
                  <a:pt x="667486" y="1258934"/>
                </a:lnTo>
                <a:lnTo>
                  <a:pt x="620202" y="1252430"/>
                </a:lnTo>
                <a:lnTo>
                  <a:pt x="574192" y="1241891"/>
                </a:lnTo>
                <a:lnTo>
                  <a:pt x="529662" y="1227490"/>
                </a:lnTo>
                <a:lnTo>
                  <a:pt x="486819" y="1209401"/>
                </a:lnTo>
                <a:lnTo>
                  <a:pt x="445869" y="1187797"/>
                </a:lnTo>
                <a:lnTo>
                  <a:pt x="407018" y="1162852"/>
                </a:lnTo>
                <a:lnTo>
                  <a:pt x="370474" y="1134740"/>
                </a:lnTo>
                <a:lnTo>
                  <a:pt x="336443" y="1103634"/>
                </a:lnTo>
                <a:lnTo>
                  <a:pt x="305132" y="1069707"/>
                </a:lnTo>
                <a:lnTo>
                  <a:pt x="276747" y="1033135"/>
                </a:lnTo>
                <a:lnTo>
                  <a:pt x="251494" y="994089"/>
                </a:lnTo>
                <a:lnTo>
                  <a:pt x="229580" y="952744"/>
                </a:lnTo>
                <a:lnTo>
                  <a:pt x="211213" y="909273"/>
                </a:lnTo>
                <a:lnTo>
                  <a:pt x="196598" y="863850"/>
                </a:lnTo>
                <a:lnTo>
                  <a:pt x="185941" y="816648"/>
                </a:lnTo>
                <a:lnTo>
                  <a:pt x="179450" y="767842"/>
                </a:lnTo>
                <a:close/>
              </a:path>
              <a:path w="1438910" h="1441450">
                <a:moveTo>
                  <a:pt x="717930" y="0"/>
                </a:moveTo>
                <a:lnTo>
                  <a:pt x="717930" y="180212"/>
                </a:lnTo>
                <a:lnTo>
                  <a:pt x="766876" y="182405"/>
                </a:lnTo>
                <a:lnTo>
                  <a:pt x="814656" y="188861"/>
                </a:lnTo>
                <a:lnTo>
                  <a:pt x="861071" y="199398"/>
                </a:lnTo>
                <a:lnTo>
                  <a:pt x="905923" y="213835"/>
                </a:lnTo>
                <a:lnTo>
                  <a:pt x="949013" y="231990"/>
                </a:lnTo>
                <a:lnTo>
                  <a:pt x="990142" y="253681"/>
                </a:lnTo>
                <a:lnTo>
                  <a:pt x="1029113" y="278725"/>
                </a:lnTo>
                <a:lnTo>
                  <a:pt x="1065727" y="306942"/>
                </a:lnTo>
                <a:lnTo>
                  <a:pt x="1099784" y="338148"/>
                </a:lnTo>
                <a:lnTo>
                  <a:pt x="1131087" y="372163"/>
                </a:lnTo>
                <a:lnTo>
                  <a:pt x="1159438" y="408803"/>
                </a:lnTo>
                <a:lnTo>
                  <a:pt x="1184637" y="447888"/>
                </a:lnTo>
                <a:lnTo>
                  <a:pt x="1206485" y="489235"/>
                </a:lnTo>
                <a:lnTo>
                  <a:pt x="1224786" y="532663"/>
                </a:lnTo>
                <a:lnTo>
                  <a:pt x="1239339" y="577988"/>
                </a:lnTo>
                <a:lnTo>
                  <a:pt x="1249947" y="625031"/>
                </a:lnTo>
                <a:lnTo>
                  <a:pt x="1256411" y="673607"/>
                </a:lnTo>
                <a:lnTo>
                  <a:pt x="1258481" y="722799"/>
                </a:lnTo>
                <a:lnTo>
                  <a:pt x="1256171" y="771134"/>
                </a:lnTo>
                <a:lnTo>
                  <a:pt x="1249655" y="818406"/>
                </a:lnTo>
                <a:lnTo>
                  <a:pt x="1239106" y="864407"/>
                </a:lnTo>
                <a:lnTo>
                  <a:pt x="1224698" y="908930"/>
                </a:lnTo>
                <a:lnTo>
                  <a:pt x="1206603" y="951769"/>
                </a:lnTo>
                <a:lnTo>
                  <a:pt x="1184995" y="992717"/>
                </a:lnTo>
                <a:lnTo>
                  <a:pt x="1160048" y="1031566"/>
                </a:lnTo>
                <a:lnTo>
                  <a:pt x="1131935" y="1068111"/>
                </a:lnTo>
                <a:lnTo>
                  <a:pt x="1100829" y="1102143"/>
                </a:lnTo>
                <a:lnTo>
                  <a:pt x="1066903" y="1133457"/>
                </a:lnTo>
                <a:lnTo>
                  <a:pt x="1030332" y="1161844"/>
                </a:lnTo>
                <a:lnTo>
                  <a:pt x="991288" y="1187099"/>
                </a:lnTo>
                <a:lnTo>
                  <a:pt x="949945" y="1209015"/>
                </a:lnTo>
                <a:lnTo>
                  <a:pt x="906476" y="1227383"/>
                </a:lnTo>
                <a:lnTo>
                  <a:pt x="861054" y="1241999"/>
                </a:lnTo>
                <a:lnTo>
                  <a:pt x="813854" y="1252653"/>
                </a:lnTo>
                <a:lnTo>
                  <a:pt x="765048" y="1259141"/>
                </a:lnTo>
                <a:lnTo>
                  <a:pt x="715837" y="1261229"/>
                </a:lnTo>
                <a:lnTo>
                  <a:pt x="1194068" y="1261229"/>
                </a:lnTo>
                <a:lnTo>
                  <a:pt x="1242893" y="1214420"/>
                </a:lnTo>
                <a:lnTo>
                  <a:pt x="1272227" y="1181262"/>
                </a:lnTo>
                <a:lnTo>
                  <a:pt x="1299507" y="1146337"/>
                </a:lnTo>
                <a:lnTo>
                  <a:pt x="1324640" y="1109738"/>
                </a:lnTo>
                <a:lnTo>
                  <a:pt x="1347530" y="1071561"/>
                </a:lnTo>
                <a:lnTo>
                  <a:pt x="1368083" y="1031901"/>
                </a:lnTo>
                <a:lnTo>
                  <a:pt x="1386203" y="990853"/>
                </a:lnTo>
                <a:lnTo>
                  <a:pt x="1401796" y="948511"/>
                </a:lnTo>
                <a:lnTo>
                  <a:pt x="1414767" y="904971"/>
                </a:lnTo>
                <a:lnTo>
                  <a:pt x="1425020" y="860327"/>
                </a:lnTo>
                <a:lnTo>
                  <a:pt x="1432462" y="814675"/>
                </a:lnTo>
                <a:lnTo>
                  <a:pt x="1436996" y="768109"/>
                </a:lnTo>
                <a:lnTo>
                  <a:pt x="1438528" y="720725"/>
                </a:lnTo>
                <a:lnTo>
                  <a:pt x="1436996" y="673340"/>
                </a:lnTo>
                <a:lnTo>
                  <a:pt x="1432462" y="626773"/>
                </a:lnTo>
                <a:lnTo>
                  <a:pt x="1425020" y="581119"/>
                </a:lnTo>
                <a:lnTo>
                  <a:pt x="1414767" y="536473"/>
                </a:lnTo>
                <a:lnTo>
                  <a:pt x="1401796" y="492930"/>
                </a:lnTo>
                <a:lnTo>
                  <a:pt x="1386203" y="450585"/>
                </a:lnTo>
                <a:lnTo>
                  <a:pt x="1368083" y="409533"/>
                </a:lnTo>
                <a:lnTo>
                  <a:pt x="1347530" y="369869"/>
                </a:lnTo>
                <a:lnTo>
                  <a:pt x="1324640" y="331688"/>
                </a:lnTo>
                <a:lnTo>
                  <a:pt x="1299507" y="295086"/>
                </a:lnTo>
                <a:lnTo>
                  <a:pt x="1272227" y="260156"/>
                </a:lnTo>
                <a:lnTo>
                  <a:pt x="1242893" y="226994"/>
                </a:lnTo>
                <a:lnTo>
                  <a:pt x="1211602" y="195695"/>
                </a:lnTo>
                <a:lnTo>
                  <a:pt x="1178447" y="166354"/>
                </a:lnTo>
                <a:lnTo>
                  <a:pt x="1143525" y="139066"/>
                </a:lnTo>
                <a:lnTo>
                  <a:pt x="1106929" y="113925"/>
                </a:lnTo>
                <a:lnTo>
                  <a:pt x="1068755" y="91028"/>
                </a:lnTo>
                <a:lnTo>
                  <a:pt x="1029097" y="70469"/>
                </a:lnTo>
                <a:lnTo>
                  <a:pt x="988051" y="52343"/>
                </a:lnTo>
                <a:lnTo>
                  <a:pt x="945712" y="36745"/>
                </a:lnTo>
                <a:lnTo>
                  <a:pt x="902173" y="23770"/>
                </a:lnTo>
                <a:lnTo>
                  <a:pt x="857531" y="13513"/>
                </a:lnTo>
                <a:lnTo>
                  <a:pt x="811880" y="6069"/>
                </a:lnTo>
                <a:lnTo>
                  <a:pt x="765315" y="1533"/>
                </a:lnTo>
                <a:lnTo>
                  <a:pt x="71793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73792" y="4803902"/>
            <a:ext cx="224154" cy="347980"/>
          </a:xfrm>
          <a:custGeom>
            <a:avLst/>
            <a:gdLst/>
            <a:ahLst/>
            <a:cxnLst/>
            <a:rect l="l" t="t" r="r" b="b"/>
            <a:pathLst>
              <a:path w="224155" h="347979">
                <a:moveTo>
                  <a:pt x="58536" y="0"/>
                </a:moveTo>
                <a:lnTo>
                  <a:pt x="40058" y="47499"/>
                </a:lnTo>
                <a:lnTo>
                  <a:pt x="25031" y="96037"/>
                </a:lnTo>
                <a:lnTo>
                  <a:pt x="13482" y="145420"/>
                </a:lnTo>
                <a:lnTo>
                  <a:pt x="5442" y="195460"/>
                </a:lnTo>
                <a:lnTo>
                  <a:pt x="938" y="245963"/>
                </a:lnTo>
                <a:lnTo>
                  <a:pt x="0" y="296740"/>
                </a:lnTo>
                <a:lnTo>
                  <a:pt x="2656" y="347599"/>
                </a:lnTo>
                <a:lnTo>
                  <a:pt x="182107" y="331978"/>
                </a:lnTo>
                <a:lnTo>
                  <a:pt x="180101" y="278551"/>
                </a:lnTo>
                <a:lnTo>
                  <a:pt x="183344" y="225369"/>
                </a:lnTo>
                <a:lnTo>
                  <a:pt x="191781" y="172826"/>
                </a:lnTo>
                <a:lnTo>
                  <a:pt x="205357" y="121320"/>
                </a:lnTo>
                <a:lnTo>
                  <a:pt x="224017" y="71247"/>
                </a:lnTo>
                <a:lnTo>
                  <a:pt x="58536" y="0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73792" y="4803902"/>
            <a:ext cx="224154" cy="347980"/>
          </a:xfrm>
          <a:custGeom>
            <a:avLst/>
            <a:gdLst/>
            <a:ahLst/>
            <a:cxnLst/>
            <a:rect l="l" t="t" r="r" b="b"/>
            <a:pathLst>
              <a:path w="224155" h="347979">
                <a:moveTo>
                  <a:pt x="2656" y="347599"/>
                </a:moveTo>
                <a:lnTo>
                  <a:pt x="0" y="296740"/>
                </a:lnTo>
                <a:lnTo>
                  <a:pt x="938" y="245963"/>
                </a:lnTo>
                <a:lnTo>
                  <a:pt x="5442" y="195460"/>
                </a:lnTo>
                <a:lnTo>
                  <a:pt x="13482" y="145420"/>
                </a:lnTo>
                <a:lnTo>
                  <a:pt x="25031" y="96037"/>
                </a:lnTo>
                <a:lnTo>
                  <a:pt x="40058" y="47499"/>
                </a:lnTo>
                <a:lnTo>
                  <a:pt x="58536" y="0"/>
                </a:lnTo>
                <a:lnTo>
                  <a:pt x="224017" y="71247"/>
                </a:lnTo>
                <a:lnTo>
                  <a:pt x="205357" y="121320"/>
                </a:lnTo>
                <a:lnTo>
                  <a:pt x="191781" y="172826"/>
                </a:lnTo>
                <a:lnTo>
                  <a:pt x="183344" y="225369"/>
                </a:lnTo>
                <a:lnTo>
                  <a:pt x="180101" y="278551"/>
                </a:lnTo>
                <a:lnTo>
                  <a:pt x="182107" y="331978"/>
                </a:lnTo>
                <a:lnTo>
                  <a:pt x="2656" y="347599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32329" y="4368038"/>
            <a:ext cx="662305" cy="507365"/>
          </a:xfrm>
          <a:custGeom>
            <a:avLst/>
            <a:gdLst/>
            <a:ahLst/>
            <a:cxnLst/>
            <a:rect l="l" t="t" r="r" b="b"/>
            <a:pathLst>
              <a:path w="662304" h="507364">
                <a:moveTo>
                  <a:pt x="662050" y="0"/>
                </a:moveTo>
                <a:lnTo>
                  <a:pt x="611533" y="1763"/>
                </a:lnTo>
                <a:lnTo>
                  <a:pt x="561739" y="6991"/>
                </a:lnTo>
                <a:lnTo>
                  <a:pt x="512811" y="15586"/>
                </a:lnTo>
                <a:lnTo>
                  <a:pt x="464896" y="27453"/>
                </a:lnTo>
                <a:lnTo>
                  <a:pt x="418137" y="42497"/>
                </a:lnTo>
                <a:lnTo>
                  <a:pt x="372680" y="60620"/>
                </a:lnTo>
                <a:lnTo>
                  <a:pt x="328670" y="81728"/>
                </a:lnTo>
                <a:lnTo>
                  <a:pt x="286251" y="105725"/>
                </a:lnTo>
                <a:lnTo>
                  <a:pt x="245568" y="132514"/>
                </a:lnTo>
                <a:lnTo>
                  <a:pt x="206767" y="162000"/>
                </a:lnTo>
                <a:lnTo>
                  <a:pt x="169992" y="194087"/>
                </a:lnTo>
                <a:lnTo>
                  <a:pt x="135387" y="228680"/>
                </a:lnTo>
                <a:lnTo>
                  <a:pt x="103099" y="265681"/>
                </a:lnTo>
                <a:lnTo>
                  <a:pt x="73271" y="304996"/>
                </a:lnTo>
                <a:lnTo>
                  <a:pt x="46048" y="346529"/>
                </a:lnTo>
                <a:lnTo>
                  <a:pt x="21576" y="390183"/>
                </a:lnTo>
                <a:lnTo>
                  <a:pt x="0" y="435863"/>
                </a:lnTo>
                <a:lnTo>
                  <a:pt x="165481" y="507111"/>
                </a:lnTo>
                <a:lnTo>
                  <a:pt x="187085" y="462599"/>
                </a:lnTo>
                <a:lnTo>
                  <a:pt x="212346" y="420727"/>
                </a:lnTo>
                <a:lnTo>
                  <a:pt x="241022" y="381655"/>
                </a:lnTo>
                <a:lnTo>
                  <a:pt x="272868" y="345544"/>
                </a:lnTo>
                <a:lnTo>
                  <a:pt x="307641" y="312554"/>
                </a:lnTo>
                <a:lnTo>
                  <a:pt x="345100" y="282845"/>
                </a:lnTo>
                <a:lnTo>
                  <a:pt x="384999" y="256578"/>
                </a:lnTo>
                <a:lnTo>
                  <a:pt x="427097" y="233911"/>
                </a:lnTo>
                <a:lnTo>
                  <a:pt x="471150" y="215007"/>
                </a:lnTo>
                <a:lnTo>
                  <a:pt x="516915" y="200025"/>
                </a:lnTo>
                <a:lnTo>
                  <a:pt x="564149" y="189125"/>
                </a:lnTo>
                <a:lnTo>
                  <a:pt x="612608" y="182467"/>
                </a:lnTo>
                <a:lnTo>
                  <a:pt x="662050" y="180212"/>
                </a:lnTo>
                <a:lnTo>
                  <a:pt x="662050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32329" y="4368038"/>
            <a:ext cx="662305" cy="507365"/>
          </a:xfrm>
          <a:custGeom>
            <a:avLst/>
            <a:gdLst/>
            <a:ahLst/>
            <a:cxnLst/>
            <a:rect l="l" t="t" r="r" b="b"/>
            <a:pathLst>
              <a:path w="662304" h="507364">
                <a:moveTo>
                  <a:pt x="0" y="435863"/>
                </a:moveTo>
                <a:lnTo>
                  <a:pt x="21576" y="390183"/>
                </a:lnTo>
                <a:lnTo>
                  <a:pt x="46048" y="346529"/>
                </a:lnTo>
                <a:lnTo>
                  <a:pt x="73271" y="304996"/>
                </a:lnTo>
                <a:lnTo>
                  <a:pt x="103099" y="265681"/>
                </a:lnTo>
                <a:lnTo>
                  <a:pt x="135387" y="228680"/>
                </a:lnTo>
                <a:lnTo>
                  <a:pt x="169992" y="194087"/>
                </a:lnTo>
                <a:lnTo>
                  <a:pt x="206767" y="162000"/>
                </a:lnTo>
                <a:lnTo>
                  <a:pt x="245568" y="132514"/>
                </a:lnTo>
                <a:lnTo>
                  <a:pt x="286251" y="105725"/>
                </a:lnTo>
                <a:lnTo>
                  <a:pt x="328670" y="81728"/>
                </a:lnTo>
                <a:lnTo>
                  <a:pt x="372680" y="60620"/>
                </a:lnTo>
                <a:lnTo>
                  <a:pt x="418137" y="42497"/>
                </a:lnTo>
                <a:lnTo>
                  <a:pt x="464896" y="27453"/>
                </a:lnTo>
                <a:lnTo>
                  <a:pt x="512811" y="15586"/>
                </a:lnTo>
                <a:lnTo>
                  <a:pt x="561739" y="6991"/>
                </a:lnTo>
                <a:lnTo>
                  <a:pt x="611533" y="1763"/>
                </a:lnTo>
                <a:lnTo>
                  <a:pt x="662050" y="0"/>
                </a:lnTo>
                <a:lnTo>
                  <a:pt x="662050" y="180212"/>
                </a:lnTo>
                <a:lnTo>
                  <a:pt x="612608" y="182467"/>
                </a:lnTo>
                <a:lnTo>
                  <a:pt x="564149" y="189125"/>
                </a:lnTo>
                <a:lnTo>
                  <a:pt x="516915" y="200025"/>
                </a:lnTo>
                <a:lnTo>
                  <a:pt x="471150" y="215007"/>
                </a:lnTo>
                <a:lnTo>
                  <a:pt x="427097" y="233911"/>
                </a:lnTo>
                <a:lnTo>
                  <a:pt x="384999" y="256578"/>
                </a:lnTo>
                <a:lnTo>
                  <a:pt x="345100" y="282845"/>
                </a:lnTo>
                <a:lnTo>
                  <a:pt x="307641" y="312554"/>
                </a:lnTo>
                <a:lnTo>
                  <a:pt x="272868" y="345544"/>
                </a:lnTo>
                <a:lnTo>
                  <a:pt x="241022" y="381655"/>
                </a:lnTo>
                <a:lnTo>
                  <a:pt x="212346" y="420727"/>
                </a:lnTo>
                <a:lnTo>
                  <a:pt x="187085" y="462599"/>
                </a:lnTo>
                <a:lnTo>
                  <a:pt x="165481" y="507111"/>
                </a:lnTo>
                <a:lnTo>
                  <a:pt x="0" y="435863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59708" y="5515355"/>
            <a:ext cx="535305" cy="220979"/>
          </a:xfrm>
          <a:custGeom>
            <a:avLst/>
            <a:gdLst/>
            <a:ahLst/>
            <a:cxnLst/>
            <a:rect l="l" t="t" r="r" b="b"/>
            <a:pathLst>
              <a:path w="535304" h="220979">
                <a:moveTo>
                  <a:pt x="0" y="0"/>
                </a:moveTo>
                <a:lnTo>
                  <a:pt x="478536" y="220980"/>
                </a:lnTo>
                <a:lnTo>
                  <a:pt x="534924" y="220980"/>
                </a:lnTo>
              </a:path>
            </a:pathLst>
          </a:custGeom>
          <a:ln w="9144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363723" y="4974335"/>
            <a:ext cx="307975" cy="13970"/>
          </a:xfrm>
          <a:custGeom>
            <a:avLst/>
            <a:gdLst/>
            <a:ahLst/>
            <a:cxnLst/>
            <a:rect l="l" t="t" r="r" b="b"/>
            <a:pathLst>
              <a:path w="307975" h="13970">
                <a:moveTo>
                  <a:pt x="307848" y="13715"/>
                </a:moveTo>
                <a:lnTo>
                  <a:pt x="56387" y="0"/>
                </a:lnTo>
                <a:lnTo>
                  <a:pt x="0" y="0"/>
                </a:lnTo>
              </a:path>
            </a:pathLst>
          </a:custGeom>
          <a:ln w="9144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91967" y="4384547"/>
            <a:ext cx="155575" cy="177165"/>
          </a:xfrm>
          <a:custGeom>
            <a:avLst/>
            <a:gdLst/>
            <a:ahLst/>
            <a:cxnLst/>
            <a:rect l="l" t="t" r="r" b="b"/>
            <a:pathLst>
              <a:path w="155575" h="177164">
                <a:moveTo>
                  <a:pt x="155448" y="176783"/>
                </a:moveTo>
                <a:lnTo>
                  <a:pt x="57912" y="0"/>
                </a:lnTo>
                <a:lnTo>
                  <a:pt x="0" y="0"/>
                </a:lnTo>
              </a:path>
            </a:pathLst>
          </a:custGeom>
          <a:ln w="9144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20032" y="5619089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73.6%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11172" y="4855845"/>
            <a:ext cx="328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7.9%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67533" y="4266438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18.5%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91867" y="3812794"/>
            <a:ext cx="16465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10" b="1">
                <a:latin typeface="Microsoft JhengHei UI"/>
                <a:cs typeface="Microsoft JhengHei UI"/>
              </a:rPr>
              <a:t>Electronic </a:t>
            </a:r>
            <a:r>
              <a:rPr dirty="0" sz="1450" spc="-190" b="1">
                <a:latin typeface="Microsoft JhengHei UI"/>
                <a:cs typeface="Microsoft JhengHei UI"/>
              </a:rPr>
              <a:t>System</a:t>
            </a:r>
            <a:r>
              <a:rPr dirty="0" sz="1450" spc="-160" b="1">
                <a:latin typeface="Microsoft JhengHei UI"/>
                <a:cs typeface="Microsoft JhengHei UI"/>
              </a:rPr>
              <a:t> </a:t>
            </a:r>
            <a:r>
              <a:rPr dirty="0" sz="1450" spc="-85" b="1">
                <a:latin typeface="Microsoft JhengHei UI"/>
                <a:cs typeface="Microsoft JhengHei UI"/>
              </a:rPr>
              <a:t>S.A.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54529" y="61561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199"/>
                </a:moveTo>
                <a:lnTo>
                  <a:pt x="76200" y="76199"/>
                </a:lnTo>
                <a:lnTo>
                  <a:pt x="76200" y="0"/>
                </a:lnTo>
                <a:lnTo>
                  <a:pt x="0" y="0"/>
                </a:lnTo>
                <a:lnTo>
                  <a:pt x="0" y="76199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052066" y="6072022"/>
            <a:ext cx="1293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华文仿宋"/>
                <a:cs typeface="华文仿宋"/>
              </a:rPr>
              <a:t>In-House</a:t>
            </a:r>
            <a:r>
              <a:rPr dirty="0" sz="1200" spc="-20">
                <a:latin typeface="华文仿宋"/>
                <a:cs typeface="华文仿宋"/>
              </a:rPr>
              <a:t> </a:t>
            </a:r>
            <a:r>
              <a:rPr dirty="0" sz="1200" spc="-5">
                <a:latin typeface="华文仿宋"/>
                <a:cs typeface="华文仿宋"/>
              </a:rPr>
              <a:t>Production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01390" y="6156197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4" h="76200">
                <a:moveTo>
                  <a:pt x="0" y="76199"/>
                </a:moveTo>
                <a:lnTo>
                  <a:pt x="77724" y="76199"/>
                </a:lnTo>
                <a:lnTo>
                  <a:pt x="77724" y="0"/>
                </a:lnTo>
                <a:lnTo>
                  <a:pt x="0" y="0"/>
                </a:lnTo>
                <a:lnTo>
                  <a:pt x="0" y="76199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600450" y="6072022"/>
            <a:ext cx="399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R</a:t>
            </a:r>
            <a:r>
              <a:rPr dirty="0" sz="1200" spc="-10">
                <a:latin typeface="华文仿宋"/>
                <a:cs typeface="华文仿宋"/>
              </a:rPr>
              <a:t>e</a:t>
            </a:r>
            <a:r>
              <a:rPr dirty="0" sz="1200">
                <a:latin typeface="华文仿宋"/>
                <a:cs typeface="华文仿宋"/>
              </a:rPr>
              <a:t>s</a:t>
            </a:r>
            <a:r>
              <a:rPr dirty="0" sz="1200" spc="-10">
                <a:latin typeface="华文仿宋"/>
                <a:cs typeface="华文仿宋"/>
              </a:rPr>
              <a:t>a</a:t>
            </a:r>
            <a:r>
              <a:rPr dirty="0" sz="1200">
                <a:latin typeface="华文仿宋"/>
                <a:cs typeface="华文仿宋"/>
              </a:rPr>
              <a:t>le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156709" y="61561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199"/>
                </a:moveTo>
                <a:lnTo>
                  <a:pt x="76200" y="76199"/>
                </a:lnTo>
                <a:lnTo>
                  <a:pt x="76200" y="0"/>
                </a:lnTo>
                <a:lnTo>
                  <a:pt x="0" y="0"/>
                </a:lnTo>
                <a:lnTo>
                  <a:pt x="0" y="76199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255134" y="6072022"/>
            <a:ext cx="446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华文仿宋"/>
                <a:cs typeface="华文仿宋"/>
              </a:rPr>
              <a:t>E</a:t>
            </a:r>
            <a:r>
              <a:rPr dirty="0" sz="1200" spc="-10">
                <a:latin typeface="华文仿宋"/>
                <a:cs typeface="华文仿宋"/>
              </a:rPr>
              <a:t>x</a:t>
            </a:r>
            <a:r>
              <a:rPr dirty="0" sz="1200">
                <a:latin typeface="华文仿宋"/>
                <a:cs typeface="华文仿宋"/>
              </a:rPr>
              <a:t>po</a:t>
            </a:r>
            <a:r>
              <a:rPr dirty="0" sz="1200" spc="5">
                <a:latin typeface="华文仿宋"/>
                <a:cs typeface="华文仿宋"/>
              </a:rPr>
              <a:t>r</a:t>
            </a:r>
            <a:r>
              <a:rPr dirty="0" sz="1200">
                <a:latin typeface="华文仿宋"/>
                <a:cs typeface="华文仿宋"/>
              </a:rPr>
              <a:t>t</a:t>
            </a:r>
            <a:endParaRPr sz="1200">
              <a:latin typeface="华文仿宋"/>
              <a:cs typeface="华文仿宋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24044" y="1235963"/>
            <a:ext cx="3952240" cy="20320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63525" indent="-172085">
              <a:lnSpc>
                <a:spcPts val="1650"/>
              </a:lnSpc>
              <a:spcBef>
                <a:spcPts val="400"/>
              </a:spcBef>
              <a:buFont typeface="Arial"/>
              <a:buChar char="•"/>
              <a:tabLst>
                <a:tab pos="264160" algn="l"/>
              </a:tabLst>
            </a:pPr>
            <a:r>
              <a:rPr dirty="0" sz="1400" spc="5">
                <a:latin typeface="宋体"/>
                <a:cs typeface="宋体"/>
              </a:rPr>
              <a:t>主</a:t>
            </a:r>
            <a:r>
              <a:rPr dirty="0" sz="1400">
                <a:latin typeface="宋体"/>
                <a:cs typeface="宋体"/>
              </a:rPr>
              <a:t>要</a:t>
            </a:r>
            <a:r>
              <a:rPr dirty="0" sz="1400" spc="5">
                <a:latin typeface="宋体"/>
                <a:cs typeface="宋体"/>
              </a:rPr>
              <a:t>业</a:t>
            </a:r>
            <a:r>
              <a:rPr dirty="0" sz="1400" spc="-15">
                <a:latin typeface="宋体"/>
                <a:cs typeface="宋体"/>
              </a:rPr>
              <a:t>务</a:t>
            </a:r>
            <a:r>
              <a:rPr dirty="0" sz="1400" spc="5">
                <a:latin typeface="宋体"/>
                <a:cs typeface="宋体"/>
              </a:rPr>
              <a:t>涉</a:t>
            </a:r>
            <a:r>
              <a:rPr dirty="0" sz="1400">
                <a:latin typeface="宋体"/>
                <a:cs typeface="宋体"/>
              </a:rPr>
              <a:t>及</a:t>
            </a:r>
            <a:r>
              <a:rPr dirty="0" sz="1400" spc="-10">
                <a:latin typeface="宋体"/>
                <a:cs typeface="宋体"/>
              </a:rPr>
              <a:t>代工</a:t>
            </a:r>
            <a:r>
              <a:rPr dirty="0" sz="1400" spc="5">
                <a:latin typeface="宋体"/>
                <a:cs typeface="宋体"/>
              </a:rPr>
              <a:t>及</a:t>
            </a:r>
            <a:r>
              <a:rPr dirty="0" sz="1400">
                <a:latin typeface="宋体"/>
                <a:cs typeface="宋体"/>
              </a:rPr>
              <a:t>自</a:t>
            </a:r>
            <a:r>
              <a:rPr dirty="0" sz="1400" spc="5">
                <a:latin typeface="宋体"/>
                <a:cs typeface="宋体"/>
              </a:rPr>
              <a:t>有</a:t>
            </a:r>
            <a:r>
              <a:rPr dirty="0" sz="1400" spc="-15">
                <a:latin typeface="宋体"/>
                <a:cs typeface="宋体"/>
              </a:rPr>
              <a:t>品</a:t>
            </a:r>
            <a:r>
              <a:rPr dirty="0" sz="1400" spc="5">
                <a:latin typeface="宋体"/>
                <a:cs typeface="宋体"/>
              </a:rPr>
              <a:t>牌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0">
                <a:latin typeface="宋体"/>
                <a:cs typeface="宋体"/>
              </a:rPr>
              <a:t>制造</a:t>
            </a:r>
            <a:r>
              <a:rPr dirty="0" sz="1400" spc="5">
                <a:latin typeface="宋体"/>
                <a:cs typeface="宋体"/>
              </a:rPr>
              <a:t>、</a:t>
            </a:r>
            <a:r>
              <a:rPr dirty="0" sz="1400">
                <a:latin typeface="宋体"/>
                <a:cs typeface="宋体"/>
              </a:rPr>
              <a:t>组</a:t>
            </a:r>
            <a:r>
              <a:rPr dirty="0" sz="1400" spc="5">
                <a:latin typeface="宋体"/>
                <a:cs typeface="宋体"/>
              </a:rPr>
              <a:t>装及</a:t>
            </a:r>
            <a:endParaRPr sz="1400">
              <a:latin typeface="宋体"/>
              <a:cs typeface="宋体"/>
            </a:endParaRPr>
          </a:p>
          <a:p>
            <a:pPr marL="263525">
              <a:lnSpc>
                <a:spcPts val="1650"/>
              </a:lnSpc>
            </a:pPr>
            <a:r>
              <a:rPr dirty="0" sz="1400">
                <a:latin typeface="宋体"/>
                <a:cs typeface="宋体"/>
              </a:rPr>
              <a:t>出口、</a:t>
            </a:r>
            <a:r>
              <a:rPr dirty="0" sz="1400" spc="-15">
                <a:latin typeface="宋体"/>
                <a:cs typeface="宋体"/>
              </a:rPr>
              <a:t>电</a:t>
            </a:r>
            <a:r>
              <a:rPr dirty="0" sz="1400">
                <a:latin typeface="宋体"/>
                <a:cs typeface="宋体"/>
              </a:rPr>
              <a:t>子产</a:t>
            </a:r>
            <a:r>
              <a:rPr dirty="0" sz="1400" spc="-15">
                <a:latin typeface="宋体"/>
                <a:cs typeface="宋体"/>
              </a:rPr>
              <a:t>品转</a:t>
            </a:r>
            <a:r>
              <a:rPr dirty="0" sz="1400">
                <a:latin typeface="宋体"/>
                <a:cs typeface="宋体"/>
              </a:rPr>
              <a:t>售</a:t>
            </a:r>
            <a:endParaRPr sz="1400">
              <a:latin typeface="宋体"/>
              <a:cs typeface="宋体"/>
            </a:endParaRPr>
          </a:p>
          <a:p>
            <a:pPr marL="263525" indent="-172085">
              <a:lnSpc>
                <a:spcPct val="100000"/>
              </a:lnSpc>
              <a:buFont typeface="Arial"/>
              <a:buChar char="•"/>
              <a:tabLst>
                <a:tab pos="264160" algn="l"/>
              </a:tabLst>
            </a:pPr>
            <a:r>
              <a:rPr dirty="0" sz="1400" spc="10">
                <a:latin typeface="宋体"/>
                <a:cs typeface="宋体"/>
              </a:rPr>
              <a:t>主营</a:t>
            </a:r>
            <a:r>
              <a:rPr dirty="0" sz="1400">
                <a:latin typeface="宋体"/>
                <a:cs typeface="宋体"/>
              </a:rPr>
              <a:t>电子</a:t>
            </a:r>
            <a:r>
              <a:rPr dirty="0" sz="1400" spc="-15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品</a:t>
            </a:r>
            <a:r>
              <a:rPr dirty="0" sz="1400" spc="-5">
                <a:latin typeface="Arial"/>
                <a:cs typeface="Arial"/>
              </a:rPr>
              <a:t>95%</a:t>
            </a:r>
            <a:r>
              <a:rPr dirty="0" sz="1400">
                <a:latin typeface="宋体"/>
                <a:cs typeface="宋体"/>
              </a:rPr>
              <a:t>由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>
                <a:latin typeface="宋体"/>
                <a:cs typeface="宋体"/>
              </a:rPr>
              <a:t>工</a:t>
            </a:r>
            <a:r>
              <a:rPr dirty="0" sz="1400" spc="-15">
                <a:latin typeface="宋体"/>
                <a:cs typeface="宋体"/>
              </a:rPr>
              <a:t>厂</a:t>
            </a:r>
            <a:r>
              <a:rPr dirty="0" sz="1400">
                <a:latin typeface="宋体"/>
                <a:cs typeface="宋体"/>
              </a:rPr>
              <a:t>完成</a:t>
            </a:r>
            <a:r>
              <a:rPr dirty="0" sz="1400" spc="-15">
                <a:latin typeface="宋体"/>
                <a:cs typeface="宋体"/>
              </a:rPr>
              <a:t>生</a:t>
            </a:r>
            <a:r>
              <a:rPr dirty="0" sz="1400">
                <a:latin typeface="宋体"/>
                <a:cs typeface="宋体"/>
              </a:rPr>
              <a:t>产，</a:t>
            </a:r>
            <a:endParaRPr sz="1400">
              <a:latin typeface="宋体"/>
              <a:cs typeface="宋体"/>
            </a:endParaRPr>
          </a:p>
          <a:p>
            <a:pPr marL="263525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5%</a:t>
            </a:r>
            <a:r>
              <a:rPr dirty="0" sz="1400" spc="10">
                <a:latin typeface="宋体"/>
                <a:cs typeface="宋体"/>
              </a:rPr>
              <a:t>为进口</a:t>
            </a:r>
            <a:endParaRPr sz="1400">
              <a:latin typeface="宋体"/>
              <a:cs typeface="宋体"/>
            </a:endParaRPr>
          </a:p>
          <a:p>
            <a:pPr marL="263525" indent="-172085">
              <a:lnSpc>
                <a:spcPct val="100000"/>
              </a:lnSpc>
              <a:buFont typeface="Arial"/>
              <a:buChar char="•"/>
              <a:tabLst>
                <a:tab pos="264160" algn="l"/>
              </a:tabLst>
            </a:pPr>
            <a:r>
              <a:rPr dirty="0" sz="1400" spc="10">
                <a:latin typeface="宋体"/>
                <a:cs typeface="宋体"/>
              </a:rPr>
              <a:t>旗下</a:t>
            </a:r>
            <a:r>
              <a:rPr dirty="0" sz="1400">
                <a:latin typeface="宋体"/>
                <a:cs typeface="宋体"/>
              </a:rPr>
              <a:t>自有</a:t>
            </a:r>
            <a:r>
              <a:rPr dirty="0" sz="1400" spc="-15">
                <a:latin typeface="宋体"/>
                <a:cs typeface="宋体"/>
              </a:rPr>
              <a:t>品</a:t>
            </a:r>
            <a:r>
              <a:rPr dirty="0" sz="1400">
                <a:latin typeface="宋体"/>
                <a:cs typeface="宋体"/>
              </a:rPr>
              <a:t>牌包</a:t>
            </a:r>
            <a:r>
              <a:rPr dirty="0" sz="1400" spc="-10">
                <a:latin typeface="宋体"/>
                <a:cs typeface="宋体"/>
              </a:rPr>
              <a:t>括</a:t>
            </a:r>
            <a:r>
              <a:rPr dirty="0" sz="1400" spc="-5">
                <a:latin typeface="Arial"/>
                <a:cs typeface="Arial"/>
              </a:rPr>
              <a:t>SANYO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 spc="-5">
                <a:latin typeface="Arial"/>
                <a:cs typeface="Arial"/>
              </a:rPr>
              <a:t>Noblex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Atma</a:t>
            </a:r>
            <a:r>
              <a:rPr dirty="0" sz="1400">
                <a:latin typeface="宋体"/>
                <a:cs typeface="宋体"/>
              </a:rPr>
              <a:t>、</a:t>
            </a:r>
            <a:endParaRPr sz="1400">
              <a:latin typeface="宋体"/>
              <a:cs typeface="宋体"/>
            </a:endParaRPr>
          </a:p>
          <a:p>
            <a:pPr marL="26352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Philco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>
                <a:latin typeface="Arial"/>
                <a:cs typeface="Arial"/>
              </a:rPr>
              <a:t>JVC</a:t>
            </a:r>
            <a:r>
              <a:rPr dirty="0" sz="1400">
                <a:latin typeface="宋体"/>
                <a:cs typeface="宋体"/>
              </a:rPr>
              <a:t>和</a:t>
            </a:r>
            <a:r>
              <a:rPr dirty="0" sz="1400" spc="-5">
                <a:latin typeface="Arial"/>
                <a:cs typeface="Arial"/>
              </a:rPr>
              <a:t>Compaq</a:t>
            </a:r>
            <a:r>
              <a:rPr dirty="0" sz="1400" spc="-5">
                <a:latin typeface="宋体"/>
                <a:cs typeface="宋体"/>
              </a:rPr>
              <a:t>；</a:t>
            </a:r>
            <a:r>
              <a:rPr dirty="0" sz="1400">
                <a:latin typeface="宋体"/>
                <a:cs typeface="宋体"/>
              </a:rPr>
              <a:t>代</a:t>
            </a:r>
            <a:r>
              <a:rPr dirty="0" sz="1400" spc="-15">
                <a:latin typeface="宋体"/>
                <a:cs typeface="宋体"/>
              </a:rPr>
              <a:t>工</a:t>
            </a:r>
            <a:r>
              <a:rPr dirty="0" sz="1400">
                <a:latin typeface="宋体"/>
                <a:cs typeface="宋体"/>
              </a:rPr>
              <a:t>品牌</a:t>
            </a:r>
            <a:r>
              <a:rPr dirty="0" sz="1400" spc="-15">
                <a:latin typeface="宋体"/>
                <a:cs typeface="宋体"/>
              </a:rPr>
              <a:t>包</a:t>
            </a:r>
            <a:r>
              <a:rPr dirty="0" sz="1400">
                <a:latin typeface="宋体"/>
                <a:cs typeface="宋体"/>
              </a:rPr>
              <a:t>括多个</a:t>
            </a:r>
            <a:endParaRPr sz="1400">
              <a:latin typeface="宋体"/>
              <a:cs typeface="宋体"/>
            </a:endParaRPr>
          </a:p>
          <a:p>
            <a:pPr marL="263525">
              <a:lnSpc>
                <a:spcPct val="100000"/>
              </a:lnSpc>
            </a:pPr>
            <a:r>
              <a:rPr dirty="0" sz="1400" spc="5">
                <a:latin typeface="宋体"/>
                <a:cs typeface="宋体"/>
              </a:rPr>
              <a:t>国</a:t>
            </a:r>
            <a:r>
              <a:rPr dirty="0" sz="1400">
                <a:latin typeface="宋体"/>
                <a:cs typeface="宋体"/>
              </a:rPr>
              <a:t>内</a:t>
            </a:r>
            <a:r>
              <a:rPr dirty="0" sz="1400" spc="5">
                <a:latin typeface="宋体"/>
                <a:cs typeface="宋体"/>
              </a:rPr>
              <a:t>外</a:t>
            </a:r>
            <a:r>
              <a:rPr dirty="0" sz="1400" spc="-15">
                <a:latin typeface="宋体"/>
                <a:cs typeface="宋体"/>
              </a:rPr>
              <a:t>品</a:t>
            </a:r>
            <a:r>
              <a:rPr dirty="0" sz="1400" spc="5">
                <a:latin typeface="宋体"/>
                <a:cs typeface="宋体"/>
              </a:rPr>
              <a:t>牌</a:t>
            </a:r>
            <a:endParaRPr sz="1400">
              <a:latin typeface="宋体"/>
              <a:cs typeface="宋体"/>
            </a:endParaRPr>
          </a:p>
          <a:p>
            <a:pPr marL="263525" marR="123189" indent="-172085">
              <a:lnSpc>
                <a:spcPts val="1620"/>
              </a:lnSpc>
              <a:spcBef>
                <a:spcPts val="165"/>
              </a:spcBef>
              <a:buFont typeface="Arial"/>
              <a:buChar char="•"/>
              <a:tabLst>
                <a:tab pos="264160" algn="l"/>
              </a:tabLst>
            </a:pPr>
            <a:r>
              <a:rPr dirty="0" sz="1400">
                <a:latin typeface="宋体"/>
                <a:cs typeface="宋体"/>
              </a:rPr>
              <a:t>公司在</a:t>
            </a:r>
            <a:r>
              <a:rPr dirty="0" sz="1400" spc="-15">
                <a:latin typeface="宋体"/>
                <a:cs typeface="宋体"/>
              </a:rPr>
              <a:t>电</a:t>
            </a:r>
            <a:r>
              <a:rPr dirty="0" sz="1400">
                <a:latin typeface="宋体"/>
                <a:cs typeface="宋体"/>
              </a:rPr>
              <a:t>子产</a:t>
            </a:r>
            <a:r>
              <a:rPr dirty="0" sz="1400" spc="-15">
                <a:latin typeface="宋体"/>
                <a:cs typeface="宋体"/>
              </a:rPr>
              <a:t>品生</a:t>
            </a:r>
            <a:r>
              <a:rPr dirty="0" sz="1400">
                <a:latin typeface="宋体"/>
                <a:cs typeface="宋体"/>
              </a:rPr>
              <a:t>产、营</a:t>
            </a:r>
            <a:r>
              <a:rPr dirty="0" sz="1400" spc="-15">
                <a:latin typeface="宋体"/>
                <a:cs typeface="宋体"/>
              </a:rPr>
              <a:t>销</a:t>
            </a:r>
            <a:r>
              <a:rPr dirty="0" sz="1400">
                <a:latin typeface="宋体"/>
                <a:cs typeface="宋体"/>
              </a:rPr>
              <a:t>、分</a:t>
            </a:r>
            <a:r>
              <a:rPr dirty="0" sz="1400" spc="-15">
                <a:latin typeface="宋体"/>
                <a:cs typeface="宋体"/>
              </a:rPr>
              <a:t>销等</a:t>
            </a:r>
            <a:r>
              <a:rPr dirty="0" sz="1400">
                <a:latin typeface="宋体"/>
                <a:cs typeface="宋体"/>
              </a:rPr>
              <a:t>方面拥有 较多的</a:t>
            </a:r>
            <a:r>
              <a:rPr dirty="0" sz="1400" spc="-15">
                <a:latin typeface="宋体"/>
                <a:cs typeface="宋体"/>
              </a:rPr>
              <a:t>经</a:t>
            </a:r>
            <a:r>
              <a:rPr dirty="0" sz="1400">
                <a:latin typeface="宋体"/>
                <a:cs typeface="宋体"/>
              </a:rPr>
              <a:t>验和</a:t>
            </a:r>
            <a:r>
              <a:rPr dirty="0" sz="1400" spc="-15">
                <a:latin typeface="宋体"/>
                <a:cs typeface="宋体"/>
              </a:rPr>
              <a:t>技术</a:t>
            </a:r>
            <a:r>
              <a:rPr dirty="0" sz="1400">
                <a:latin typeface="宋体"/>
                <a:cs typeface="宋体"/>
              </a:rPr>
              <a:t>积累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43355" y="2671572"/>
            <a:ext cx="76200" cy="856615"/>
          </a:xfrm>
          <a:custGeom>
            <a:avLst/>
            <a:gdLst/>
            <a:ahLst/>
            <a:cxnLst/>
            <a:rect l="l" t="t" r="r" b="b"/>
            <a:pathLst>
              <a:path w="76200" h="856614">
                <a:moveTo>
                  <a:pt x="44450" y="63500"/>
                </a:moveTo>
                <a:lnTo>
                  <a:pt x="31750" y="63500"/>
                </a:lnTo>
                <a:lnTo>
                  <a:pt x="31750" y="856361"/>
                </a:lnTo>
                <a:lnTo>
                  <a:pt x="44450" y="856361"/>
                </a:lnTo>
                <a:lnTo>
                  <a:pt x="44450" y="63500"/>
                </a:lnTo>
                <a:close/>
              </a:path>
              <a:path w="76200" h="85661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56614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43355" y="4155947"/>
            <a:ext cx="76200" cy="902969"/>
          </a:xfrm>
          <a:custGeom>
            <a:avLst/>
            <a:gdLst/>
            <a:ahLst/>
            <a:cxnLst/>
            <a:rect l="l" t="t" r="r" b="b"/>
            <a:pathLst>
              <a:path w="76200" h="902970">
                <a:moveTo>
                  <a:pt x="31750" y="826643"/>
                </a:moveTo>
                <a:lnTo>
                  <a:pt x="0" y="826643"/>
                </a:lnTo>
                <a:lnTo>
                  <a:pt x="38100" y="902843"/>
                </a:lnTo>
                <a:lnTo>
                  <a:pt x="69850" y="839343"/>
                </a:lnTo>
                <a:lnTo>
                  <a:pt x="31750" y="839343"/>
                </a:lnTo>
                <a:lnTo>
                  <a:pt x="31750" y="826643"/>
                </a:lnTo>
                <a:close/>
              </a:path>
              <a:path w="76200" h="902970">
                <a:moveTo>
                  <a:pt x="44450" y="0"/>
                </a:moveTo>
                <a:lnTo>
                  <a:pt x="31750" y="0"/>
                </a:lnTo>
                <a:lnTo>
                  <a:pt x="31750" y="839343"/>
                </a:lnTo>
                <a:lnTo>
                  <a:pt x="44450" y="839343"/>
                </a:lnTo>
                <a:lnTo>
                  <a:pt x="44450" y="0"/>
                </a:lnTo>
                <a:close/>
              </a:path>
              <a:path w="76200" h="902970">
                <a:moveTo>
                  <a:pt x="76200" y="826643"/>
                </a:moveTo>
                <a:lnTo>
                  <a:pt x="44450" y="826643"/>
                </a:lnTo>
                <a:lnTo>
                  <a:pt x="44450" y="839343"/>
                </a:lnTo>
                <a:lnTo>
                  <a:pt x="69850" y="839343"/>
                </a:lnTo>
                <a:lnTo>
                  <a:pt x="76200" y="826643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181356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代工厂背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景介绍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9911" y="2697479"/>
            <a:ext cx="111760" cy="436245"/>
          </a:xfrm>
          <a:custGeom>
            <a:avLst/>
            <a:gdLst/>
            <a:ahLst/>
            <a:cxnLst/>
            <a:rect l="l" t="t" r="r" b="b"/>
            <a:pathLst>
              <a:path w="111759" h="436244">
                <a:moveTo>
                  <a:pt x="111251" y="0"/>
                </a:moveTo>
                <a:lnTo>
                  <a:pt x="0" y="0"/>
                </a:lnTo>
                <a:lnTo>
                  <a:pt x="0" y="435864"/>
                </a:lnTo>
                <a:lnTo>
                  <a:pt x="111251" y="435864"/>
                </a:lnTo>
                <a:lnTo>
                  <a:pt x="111251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81683" y="2380488"/>
            <a:ext cx="109855" cy="753110"/>
          </a:xfrm>
          <a:custGeom>
            <a:avLst/>
            <a:gdLst/>
            <a:ahLst/>
            <a:cxnLst/>
            <a:rect l="l" t="t" r="r" b="b"/>
            <a:pathLst>
              <a:path w="109855" h="753110">
                <a:moveTo>
                  <a:pt x="109728" y="0"/>
                </a:moveTo>
                <a:lnTo>
                  <a:pt x="0" y="0"/>
                </a:lnTo>
                <a:lnTo>
                  <a:pt x="0" y="752856"/>
                </a:lnTo>
                <a:lnTo>
                  <a:pt x="109728" y="752856"/>
                </a:lnTo>
                <a:lnTo>
                  <a:pt x="109728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3455" y="2270760"/>
            <a:ext cx="109855" cy="862965"/>
          </a:xfrm>
          <a:custGeom>
            <a:avLst/>
            <a:gdLst/>
            <a:ahLst/>
            <a:cxnLst/>
            <a:rect l="l" t="t" r="r" b="b"/>
            <a:pathLst>
              <a:path w="109855" h="862964">
                <a:moveTo>
                  <a:pt x="109727" y="0"/>
                </a:moveTo>
                <a:lnTo>
                  <a:pt x="0" y="0"/>
                </a:lnTo>
                <a:lnTo>
                  <a:pt x="0" y="862584"/>
                </a:lnTo>
                <a:lnTo>
                  <a:pt x="109727" y="862584"/>
                </a:lnTo>
                <a:lnTo>
                  <a:pt x="109727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3704" y="2093976"/>
            <a:ext cx="111760" cy="1039494"/>
          </a:xfrm>
          <a:custGeom>
            <a:avLst/>
            <a:gdLst/>
            <a:ahLst/>
            <a:cxnLst/>
            <a:rect l="l" t="t" r="r" b="b"/>
            <a:pathLst>
              <a:path w="111760" h="1039494">
                <a:moveTo>
                  <a:pt x="111251" y="0"/>
                </a:moveTo>
                <a:lnTo>
                  <a:pt x="0" y="0"/>
                </a:lnTo>
                <a:lnTo>
                  <a:pt x="0" y="1039368"/>
                </a:lnTo>
                <a:lnTo>
                  <a:pt x="111251" y="1039368"/>
                </a:lnTo>
                <a:lnTo>
                  <a:pt x="111251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65476" y="2293620"/>
            <a:ext cx="109855" cy="840105"/>
          </a:xfrm>
          <a:custGeom>
            <a:avLst/>
            <a:gdLst/>
            <a:ahLst/>
            <a:cxnLst/>
            <a:rect l="l" t="t" r="r" b="b"/>
            <a:pathLst>
              <a:path w="109855" h="840105">
                <a:moveTo>
                  <a:pt x="109728" y="0"/>
                </a:moveTo>
                <a:lnTo>
                  <a:pt x="0" y="0"/>
                </a:lnTo>
                <a:lnTo>
                  <a:pt x="0" y="839724"/>
                </a:lnTo>
                <a:lnTo>
                  <a:pt x="109728" y="839724"/>
                </a:lnTo>
                <a:lnTo>
                  <a:pt x="109728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27248" y="1796795"/>
            <a:ext cx="109855" cy="1336675"/>
          </a:xfrm>
          <a:custGeom>
            <a:avLst/>
            <a:gdLst/>
            <a:ahLst/>
            <a:cxnLst/>
            <a:rect l="l" t="t" r="r" b="b"/>
            <a:pathLst>
              <a:path w="109855" h="1336675">
                <a:moveTo>
                  <a:pt x="109727" y="0"/>
                </a:moveTo>
                <a:lnTo>
                  <a:pt x="0" y="0"/>
                </a:lnTo>
                <a:lnTo>
                  <a:pt x="0" y="1336548"/>
                </a:lnTo>
                <a:lnTo>
                  <a:pt x="109727" y="1336548"/>
                </a:lnTo>
                <a:lnTo>
                  <a:pt x="109727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89020" y="2455164"/>
            <a:ext cx="109855" cy="678180"/>
          </a:xfrm>
          <a:custGeom>
            <a:avLst/>
            <a:gdLst/>
            <a:ahLst/>
            <a:cxnLst/>
            <a:rect l="l" t="t" r="r" b="b"/>
            <a:pathLst>
              <a:path w="109854" h="678180">
                <a:moveTo>
                  <a:pt x="109727" y="0"/>
                </a:moveTo>
                <a:lnTo>
                  <a:pt x="0" y="0"/>
                </a:lnTo>
                <a:lnTo>
                  <a:pt x="0" y="678180"/>
                </a:lnTo>
                <a:lnTo>
                  <a:pt x="109727" y="678180"/>
                </a:lnTo>
                <a:lnTo>
                  <a:pt x="109727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31163" y="3115055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728" y="0"/>
                </a:lnTo>
              </a:path>
            </a:pathLst>
          </a:custGeom>
          <a:ln w="3657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91411" y="3044951"/>
            <a:ext cx="111760" cy="88900"/>
          </a:xfrm>
          <a:custGeom>
            <a:avLst/>
            <a:gdLst/>
            <a:ahLst/>
            <a:cxnLst/>
            <a:rect l="l" t="t" r="r" b="b"/>
            <a:pathLst>
              <a:path w="111759" h="88900">
                <a:moveTo>
                  <a:pt x="111251" y="0"/>
                </a:moveTo>
                <a:lnTo>
                  <a:pt x="0" y="0"/>
                </a:lnTo>
                <a:lnTo>
                  <a:pt x="0" y="88392"/>
                </a:lnTo>
                <a:lnTo>
                  <a:pt x="111251" y="88392"/>
                </a:lnTo>
                <a:lnTo>
                  <a:pt x="11125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53183" y="2961132"/>
            <a:ext cx="109855" cy="172720"/>
          </a:xfrm>
          <a:custGeom>
            <a:avLst/>
            <a:gdLst/>
            <a:ahLst/>
            <a:cxnLst/>
            <a:rect l="l" t="t" r="r" b="b"/>
            <a:pathLst>
              <a:path w="109855" h="172719">
                <a:moveTo>
                  <a:pt x="109728" y="0"/>
                </a:moveTo>
                <a:lnTo>
                  <a:pt x="0" y="0"/>
                </a:lnTo>
                <a:lnTo>
                  <a:pt x="0" y="172212"/>
                </a:lnTo>
                <a:lnTo>
                  <a:pt x="109728" y="172212"/>
                </a:lnTo>
                <a:lnTo>
                  <a:pt x="10972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14955" y="2923032"/>
            <a:ext cx="109855" cy="210820"/>
          </a:xfrm>
          <a:custGeom>
            <a:avLst/>
            <a:gdLst/>
            <a:ahLst/>
            <a:cxnLst/>
            <a:rect l="l" t="t" r="r" b="b"/>
            <a:pathLst>
              <a:path w="109855" h="210819">
                <a:moveTo>
                  <a:pt x="109727" y="0"/>
                </a:moveTo>
                <a:lnTo>
                  <a:pt x="0" y="0"/>
                </a:lnTo>
                <a:lnTo>
                  <a:pt x="0" y="210312"/>
                </a:lnTo>
                <a:lnTo>
                  <a:pt x="109727" y="210312"/>
                </a:lnTo>
                <a:lnTo>
                  <a:pt x="109727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75204" y="2823972"/>
            <a:ext cx="111760" cy="309880"/>
          </a:xfrm>
          <a:custGeom>
            <a:avLst/>
            <a:gdLst/>
            <a:ahLst/>
            <a:cxnLst/>
            <a:rect l="l" t="t" r="r" b="b"/>
            <a:pathLst>
              <a:path w="111760" h="309880">
                <a:moveTo>
                  <a:pt x="111251" y="0"/>
                </a:moveTo>
                <a:lnTo>
                  <a:pt x="0" y="0"/>
                </a:lnTo>
                <a:lnTo>
                  <a:pt x="0" y="309372"/>
                </a:lnTo>
                <a:lnTo>
                  <a:pt x="111251" y="309372"/>
                </a:lnTo>
                <a:lnTo>
                  <a:pt x="11125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36976" y="2478023"/>
            <a:ext cx="109855" cy="655320"/>
          </a:xfrm>
          <a:custGeom>
            <a:avLst/>
            <a:gdLst/>
            <a:ahLst/>
            <a:cxnLst/>
            <a:rect l="l" t="t" r="r" b="b"/>
            <a:pathLst>
              <a:path w="109854" h="655319">
                <a:moveTo>
                  <a:pt x="109727" y="0"/>
                </a:moveTo>
                <a:lnTo>
                  <a:pt x="0" y="0"/>
                </a:lnTo>
                <a:lnTo>
                  <a:pt x="0" y="655320"/>
                </a:lnTo>
                <a:lnTo>
                  <a:pt x="109727" y="655320"/>
                </a:lnTo>
                <a:lnTo>
                  <a:pt x="109727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98747" y="2691383"/>
            <a:ext cx="109855" cy="441959"/>
          </a:xfrm>
          <a:custGeom>
            <a:avLst/>
            <a:gdLst/>
            <a:ahLst/>
            <a:cxnLst/>
            <a:rect l="l" t="t" r="r" b="b"/>
            <a:pathLst>
              <a:path w="109854" h="441960">
                <a:moveTo>
                  <a:pt x="109727" y="0"/>
                </a:moveTo>
                <a:lnTo>
                  <a:pt x="0" y="0"/>
                </a:lnTo>
                <a:lnTo>
                  <a:pt x="0" y="441960"/>
                </a:lnTo>
                <a:lnTo>
                  <a:pt x="109727" y="441960"/>
                </a:lnTo>
                <a:lnTo>
                  <a:pt x="109727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9516" y="3133344"/>
            <a:ext cx="3229610" cy="0"/>
          </a:xfrm>
          <a:custGeom>
            <a:avLst/>
            <a:gdLst/>
            <a:ahLst/>
            <a:cxnLst/>
            <a:rect l="l" t="t" r="r" b="b"/>
            <a:pathLst>
              <a:path w="3229610" h="0">
                <a:moveTo>
                  <a:pt x="0" y="0"/>
                </a:moveTo>
                <a:lnTo>
                  <a:pt x="3229356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92174" y="2145029"/>
            <a:ext cx="2306320" cy="698500"/>
          </a:xfrm>
          <a:custGeom>
            <a:avLst/>
            <a:gdLst/>
            <a:ahLst/>
            <a:cxnLst/>
            <a:rect l="l" t="t" r="r" b="b"/>
            <a:pathLst>
              <a:path w="2306320" h="698500">
                <a:moveTo>
                  <a:pt x="0" y="0"/>
                </a:moveTo>
                <a:lnTo>
                  <a:pt x="460248" y="333756"/>
                </a:lnTo>
                <a:lnTo>
                  <a:pt x="922019" y="300228"/>
                </a:lnTo>
                <a:lnTo>
                  <a:pt x="1383792" y="527304"/>
                </a:lnTo>
                <a:lnTo>
                  <a:pt x="1845564" y="77724"/>
                </a:lnTo>
                <a:lnTo>
                  <a:pt x="2305812" y="697992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92174" y="1732026"/>
            <a:ext cx="2306320" cy="1015365"/>
          </a:xfrm>
          <a:custGeom>
            <a:avLst/>
            <a:gdLst/>
            <a:ahLst/>
            <a:cxnLst/>
            <a:rect l="l" t="t" r="r" b="b"/>
            <a:pathLst>
              <a:path w="2306320" h="1015364">
                <a:moveTo>
                  <a:pt x="0" y="0"/>
                </a:moveTo>
                <a:lnTo>
                  <a:pt x="460248" y="291084"/>
                </a:lnTo>
                <a:lnTo>
                  <a:pt x="922019" y="701039"/>
                </a:lnTo>
                <a:lnTo>
                  <a:pt x="1383792" y="560832"/>
                </a:lnTo>
                <a:lnTo>
                  <a:pt x="1845564" y="188975"/>
                </a:lnTo>
                <a:lnTo>
                  <a:pt x="2305812" y="1014984"/>
                </a:lnTo>
              </a:path>
            </a:pathLst>
          </a:custGeom>
          <a:ln w="28956">
            <a:solidFill>
              <a:srgbClr val="AE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32630" y="3042665"/>
            <a:ext cx="3771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微软雅黑"/>
                <a:cs typeface="微软雅黑"/>
              </a:rPr>
              <a:t>-100%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32630" y="2757042"/>
            <a:ext cx="309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微软雅黑"/>
                <a:cs typeface="微软雅黑"/>
              </a:rPr>
              <a:t>-</a:t>
            </a:r>
            <a:r>
              <a:rPr dirty="0" sz="900" spc="-5">
                <a:latin typeface="微软雅黑"/>
                <a:cs typeface="微软雅黑"/>
              </a:rPr>
              <a:t>50%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2630" y="2471165"/>
            <a:ext cx="1943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微软雅黑"/>
                <a:cs typeface="微软雅黑"/>
              </a:rPr>
              <a:t>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32630" y="2185542"/>
            <a:ext cx="261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微软雅黑"/>
                <a:cs typeface="微软雅黑"/>
              </a:rPr>
              <a:t>50%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2630" y="1899665"/>
            <a:ext cx="328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微软雅黑"/>
                <a:cs typeface="微软雅黑"/>
              </a:rPr>
              <a:t>100%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32630" y="1614042"/>
            <a:ext cx="328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微软雅黑"/>
                <a:cs typeface="微软雅黑"/>
              </a:rPr>
              <a:t>150%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9308" y="356006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705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97251" y="356006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7055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60069" y="378485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96489" y="378485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AE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3377" y="1328420"/>
            <a:ext cx="4057650" cy="252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1420" algn="l"/>
              </a:tabLst>
            </a:pPr>
            <a:r>
              <a:rPr dirty="0" sz="900">
                <a:latin typeface="微软雅黑"/>
                <a:cs typeface="微软雅黑"/>
              </a:rPr>
              <a:t>2000	200%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900">
                <a:latin typeface="微软雅黑"/>
                <a:cs typeface="微软雅黑"/>
              </a:rPr>
              <a:t>1500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900">
                <a:latin typeface="微软雅黑"/>
                <a:cs typeface="微软雅黑"/>
              </a:rPr>
              <a:t>1000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ctr" marR="3688715">
              <a:lnSpc>
                <a:spcPct val="100000"/>
              </a:lnSpc>
              <a:spcBef>
                <a:spcPts val="910"/>
              </a:spcBef>
            </a:pPr>
            <a:r>
              <a:rPr dirty="0" sz="900">
                <a:latin typeface="微软雅黑"/>
                <a:cs typeface="微软雅黑"/>
              </a:rPr>
              <a:t>500</a:t>
            </a:r>
            <a:endParaRPr sz="9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spcBef>
                <a:spcPts val="915"/>
              </a:spcBef>
            </a:pPr>
            <a:r>
              <a:rPr dirty="0" sz="900">
                <a:latin typeface="微软雅黑"/>
                <a:cs typeface="微软雅黑"/>
              </a:rPr>
              <a:t>0</a:t>
            </a:r>
            <a:endParaRPr sz="900">
              <a:latin typeface="微软雅黑"/>
              <a:cs typeface="微软雅黑"/>
            </a:endParaRPr>
          </a:p>
          <a:p>
            <a:pPr marL="492759">
              <a:lnSpc>
                <a:spcPct val="100000"/>
              </a:lnSpc>
              <a:spcBef>
                <a:spcPts val="220"/>
              </a:spcBef>
              <a:tabLst>
                <a:tab pos="954405" algn="l"/>
                <a:tab pos="1415415" algn="l"/>
                <a:tab pos="1877060" algn="l"/>
                <a:tab pos="2338070" algn="l"/>
                <a:tab pos="2799715" algn="l"/>
                <a:tab pos="3261360" algn="l"/>
              </a:tabLst>
            </a:pPr>
            <a:r>
              <a:rPr dirty="0" sz="900">
                <a:latin typeface="微软雅黑"/>
                <a:cs typeface="微软雅黑"/>
              </a:rPr>
              <a:t>2010	2011	2012	2013	2014	2015	2016</a:t>
            </a:r>
            <a:endParaRPr sz="900">
              <a:latin typeface="微软雅黑"/>
              <a:cs typeface="微软雅黑"/>
            </a:endParaRPr>
          </a:p>
          <a:p>
            <a:pPr marL="525780">
              <a:lnSpc>
                <a:spcPct val="100000"/>
              </a:lnSpc>
              <a:spcBef>
                <a:spcPts val="985"/>
              </a:spcBef>
              <a:tabLst>
                <a:tab pos="2362835" algn="l"/>
              </a:tabLst>
            </a:pPr>
            <a:r>
              <a:rPr dirty="0" sz="900" spc="-5">
                <a:latin typeface="微软雅黑"/>
                <a:cs typeface="微软雅黑"/>
              </a:rPr>
              <a:t>Newsan总营</a:t>
            </a:r>
            <a:r>
              <a:rPr dirty="0" sz="900">
                <a:latin typeface="微软雅黑"/>
                <a:cs typeface="微软雅黑"/>
              </a:rPr>
              <a:t>收	</a:t>
            </a:r>
            <a:r>
              <a:rPr dirty="0" sz="900" spc="-5">
                <a:latin typeface="微软雅黑"/>
                <a:cs typeface="微软雅黑"/>
              </a:rPr>
              <a:t>Electronic</a:t>
            </a:r>
            <a:r>
              <a:rPr dirty="0" sz="900" spc="-20">
                <a:latin typeface="微软雅黑"/>
                <a:cs typeface="微软雅黑"/>
              </a:rPr>
              <a:t> </a:t>
            </a:r>
            <a:r>
              <a:rPr dirty="0" sz="900" spc="-5">
                <a:latin typeface="微软雅黑"/>
                <a:cs typeface="微软雅黑"/>
              </a:rPr>
              <a:t>System总营收</a:t>
            </a:r>
            <a:endParaRPr sz="900">
              <a:latin typeface="微软雅黑"/>
              <a:cs typeface="微软雅黑"/>
            </a:endParaRPr>
          </a:p>
          <a:p>
            <a:pPr marL="525780">
              <a:lnSpc>
                <a:spcPct val="100000"/>
              </a:lnSpc>
              <a:spcBef>
                <a:spcPts val="695"/>
              </a:spcBef>
              <a:tabLst>
                <a:tab pos="2362835" algn="l"/>
              </a:tabLst>
            </a:pPr>
            <a:r>
              <a:rPr dirty="0" sz="900" spc="-5">
                <a:latin typeface="微软雅黑"/>
                <a:cs typeface="微软雅黑"/>
              </a:rPr>
              <a:t>Newsan</a:t>
            </a:r>
            <a:r>
              <a:rPr dirty="0" sz="900">
                <a:latin typeface="微软雅黑"/>
                <a:cs typeface="微软雅黑"/>
              </a:rPr>
              <a:t>总营收增长	</a:t>
            </a:r>
            <a:r>
              <a:rPr dirty="0" sz="900" spc="-5">
                <a:latin typeface="微软雅黑"/>
                <a:cs typeface="微软雅黑"/>
              </a:rPr>
              <a:t>Electronic</a:t>
            </a:r>
            <a:r>
              <a:rPr dirty="0" sz="900" spc="-30">
                <a:latin typeface="微软雅黑"/>
                <a:cs typeface="微软雅黑"/>
              </a:rPr>
              <a:t> </a:t>
            </a:r>
            <a:r>
              <a:rPr dirty="0" sz="900">
                <a:latin typeface="微软雅黑"/>
                <a:cs typeface="微软雅黑"/>
              </a:rPr>
              <a:t>System总营收增长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3172" y="1002791"/>
            <a:ext cx="424624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Arial"/>
                <a:cs typeface="Arial"/>
              </a:rPr>
              <a:t>Newsan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Electronic System</a:t>
            </a:r>
            <a:r>
              <a:rPr dirty="0" sz="1200" spc="10" b="1">
                <a:latin typeface="明兰"/>
                <a:cs typeface="明兰"/>
              </a:rPr>
              <a:t>营收情况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81144" y="1002791"/>
            <a:ext cx="440753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Arial"/>
                <a:cs typeface="Arial"/>
              </a:rPr>
              <a:t>Newsan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Electronic </a:t>
            </a:r>
            <a:r>
              <a:rPr dirty="0" sz="1200" spc="-10" b="1">
                <a:latin typeface="Arial"/>
                <a:cs typeface="Arial"/>
              </a:rPr>
              <a:t>System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EBITDA</a:t>
            </a:r>
            <a:r>
              <a:rPr dirty="0" sz="1200" spc="10" b="1">
                <a:latin typeface="明兰"/>
                <a:cs typeface="明兰"/>
              </a:rPr>
              <a:t>利润率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15484" y="3339084"/>
            <a:ext cx="3832860" cy="0"/>
          </a:xfrm>
          <a:custGeom>
            <a:avLst/>
            <a:gdLst/>
            <a:ahLst/>
            <a:cxnLst/>
            <a:rect l="l" t="t" r="r" b="b"/>
            <a:pathLst>
              <a:path w="3832859" h="0">
                <a:moveTo>
                  <a:pt x="0" y="0"/>
                </a:moveTo>
                <a:lnTo>
                  <a:pt x="3832860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289041" y="2387345"/>
            <a:ext cx="3286125" cy="317500"/>
          </a:xfrm>
          <a:custGeom>
            <a:avLst/>
            <a:gdLst/>
            <a:ahLst/>
            <a:cxnLst/>
            <a:rect l="l" t="t" r="r" b="b"/>
            <a:pathLst>
              <a:path w="3286125" h="317500">
                <a:moveTo>
                  <a:pt x="0" y="158495"/>
                </a:moveTo>
                <a:lnTo>
                  <a:pt x="547116" y="316991"/>
                </a:lnTo>
                <a:lnTo>
                  <a:pt x="1095756" y="316991"/>
                </a:lnTo>
                <a:lnTo>
                  <a:pt x="1642872" y="105155"/>
                </a:lnTo>
                <a:lnTo>
                  <a:pt x="2189988" y="0"/>
                </a:lnTo>
                <a:lnTo>
                  <a:pt x="2738628" y="0"/>
                </a:lnTo>
                <a:lnTo>
                  <a:pt x="3285743" y="0"/>
                </a:lnTo>
              </a:path>
            </a:pathLst>
          </a:custGeom>
          <a:ln w="28956">
            <a:solidFill>
              <a:srgbClr val="BE9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289041" y="1593341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0" y="475488"/>
                </a:moveTo>
                <a:lnTo>
                  <a:pt x="547116" y="582168"/>
                </a:lnTo>
                <a:lnTo>
                  <a:pt x="1095756" y="635508"/>
                </a:lnTo>
                <a:lnTo>
                  <a:pt x="1642872" y="845820"/>
                </a:lnTo>
                <a:lnTo>
                  <a:pt x="2189988" y="952500"/>
                </a:lnTo>
                <a:lnTo>
                  <a:pt x="2738628" y="475488"/>
                </a:lnTo>
                <a:lnTo>
                  <a:pt x="3285743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652009" y="1396365"/>
            <a:ext cx="261620" cy="2015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微软雅黑"/>
                <a:cs typeface="微软雅黑"/>
              </a:rPr>
              <a:t>35%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900">
                <a:latin typeface="微软雅黑"/>
                <a:cs typeface="微软雅黑"/>
              </a:rPr>
              <a:t>30%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900">
                <a:latin typeface="微软雅黑"/>
                <a:cs typeface="微软雅黑"/>
              </a:rPr>
              <a:t>25%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900">
                <a:latin typeface="微软雅黑"/>
                <a:cs typeface="微软雅黑"/>
              </a:rPr>
              <a:t>20%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900" spc="-5">
                <a:latin typeface="微软雅黑"/>
                <a:cs typeface="微软雅黑"/>
              </a:rPr>
              <a:t>15%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900">
                <a:latin typeface="微软雅黑"/>
                <a:cs typeface="微软雅黑"/>
              </a:rPr>
              <a:t>10%</a:t>
            </a:r>
            <a:endParaRPr sz="900">
              <a:latin typeface="微软雅黑"/>
              <a:cs typeface="微软雅黑"/>
            </a:endParaRPr>
          </a:p>
          <a:p>
            <a:pPr algn="ctr" marL="66675">
              <a:lnSpc>
                <a:spcPct val="100000"/>
              </a:lnSpc>
              <a:spcBef>
                <a:spcPts val="1000"/>
              </a:spcBef>
            </a:pPr>
            <a:r>
              <a:rPr dirty="0" sz="900">
                <a:latin typeface="微软雅黑"/>
                <a:cs typeface="微软雅黑"/>
              </a:rPr>
              <a:t>5%</a:t>
            </a:r>
            <a:endParaRPr sz="900">
              <a:latin typeface="微软雅黑"/>
              <a:cs typeface="微软雅黑"/>
            </a:endParaRPr>
          </a:p>
          <a:p>
            <a:pPr algn="ctr" marL="66675">
              <a:lnSpc>
                <a:spcPct val="100000"/>
              </a:lnSpc>
              <a:spcBef>
                <a:spcPts val="1010"/>
              </a:spcBef>
            </a:pPr>
            <a:r>
              <a:rPr dirty="0" sz="900">
                <a:latin typeface="微软雅黑"/>
                <a:cs typeface="微软雅黑"/>
              </a:rPr>
              <a:t>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921758" y="376656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BE9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143246" y="3414521"/>
            <a:ext cx="1389380" cy="424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070" algn="l"/>
                <a:tab pos="1107440" algn="l"/>
              </a:tabLst>
            </a:pPr>
            <a:r>
              <a:rPr dirty="0" sz="900">
                <a:latin typeface="微软雅黑"/>
                <a:cs typeface="微软雅黑"/>
              </a:rPr>
              <a:t>2010	2011	2012</a:t>
            </a:r>
            <a:endParaRPr sz="900">
              <a:latin typeface="微软雅黑"/>
              <a:cs typeface="微软雅黑"/>
            </a:endParaRPr>
          </a:p>
          <a:p>
            <a:pPr marL="48260">
              <a:lnSpc>
                <a:spcPct val="100000"/>
              </a:lnSpc>
              <a:spcBef>
                <a:spcPts val="980"/>
              </a:spcBef>
            </a:pPr>
            <a:r>
              <a:rPr dirty="0" sz="900" spc="-5">
                <a:latin typeface="微软雅黑"/>
                <a:cs typeface="微软雅黑"/>
              </a:rPr>
              <a:t>Newsan EBITDA</a:t>
            </a:r>
            <a:r>
              <a:rPr dirty="0" sz="900" spc="-50">
                <a:latin typeface="微软雅黑"/>
                <a:cs typeface="微软雅黑"/>
              </a:rPr>
              <a:t> </a:t>
            </a:r>
            <a:r>
              <a:rPr dirty="0" sz="900" spc="-5">
                <a:latin typeface="微软雅黑"/>
                <a:cs typeface="微软雅黑"/>
              </a:rPr>
              <a:t>Margin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601206" y="376656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786118" y="3414521"/>
            <a:ext cx="1937385" cy="424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547370" algn="l"/>
                <a:tab pos="1095375" algn="l"/>
                <a:tab pos="1642745" algn="l"/>
              </a:tabLst>
            </a:pPr>
            <a:r>
              <a:rPr dirty="0" sz="900">
                <a:latin typeface="微软雅黑"/>
                <a:cs typeface="微软雅黑"/>
              </a:rPr>
              <a:t>2013	2014	2015	2016</a:t>
            </a:r>
            <a:endParaRPr sz="900">
              <a:latin typeface="微软雅黑"/>
              <a:cs typeface="微软雅黑"/>
            </a:endParaRPr>
          </a:p>
          <a:p>
            <a:pPr algn="ctr" marL="55244">
              <a:lnSpc>
                <a:spcPct val="100000"/>
              </a:lnSpc>
              <a:spcBef>
                <a:spcPts val="980"/>
              </a:spcBef>
            </a:pPr>
            <a:r>
              <a:rPr dirty="0" sz="900" spc="-5">
                <a:latin typeface="微软雅黑"/>
                <a:cs typeface="微软雅黑"/>
              </a:rPr>
              <a:t>Electronic System EBITDA</a:t>
            </a:r>
            <a:r>
              <a:rPr dirty="0" sz="900" spc="-30">
                <a:latin typeface="微软雅黑"/>
                <a:cs typeface="微软雅黑"/>
              </a:rPr>
              <a:t> </a:t>
            </a:r>
            <a:r>
              <a:rPr dirty="0" sz="900" spc="-5">
                <a:latin typeface="微软雅黑"/>
                <a:cs typeface="微软雅黑"/>
              </a:rPr>
              <a:t>Margin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3172" y="3907535"/>
            <a:ext cx="4246245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Arial"/>
                <a:cs typeface="Arial"/>
              </a:rPr>
              <a:t>Newsan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Electronic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System</a:t>
            </a:r>
            <a:r>
              <a:rPr dirty="0" sz="1200" spc="10" b="1">
                <a:latin typeface="明兰"/>
                <a:cs typeface="明兰"/>
              </a:rPr>
              <a:t>毛利率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81144" y="3907535"/>
            <a:ext cx="4407535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dirty="0" sz="1200" b="1">
                <a:latin typeface="Arial"/>
                <a:cs typeface="Arial"/>
              </a:rPr>
              <a:t>Newsan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Electronic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System</a:t>
            </a:r>
            <a:r>
              <a:rPr dirty="0" sz="1200" spc="10" b="1">
                <a:latin typeface="明兰"/>
                <a:cs typeface="明兰"/>
              </a:rPr>
              <a:t>净利润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67512" y="6128003"/>
            <a:ext cx="3773804" cy="0"/>
          </a:xfrm>
          <a:custGeom>
            <a:avLst/>
            <a:gdLst/>
            <a:ahLst/>
            <a:cxnLst/>
            <a:rect l="l" t="t" r="r" b="b"/>
            <a:pathLst>
              <a:path w="3773804" h="0">
                <a:moveTo>
                  <a:pt x="0" y="0"/>
                </a:moveTo>
                <a:lnTo>
                  <a:pt x="3773424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36497" y="4891278"/>
            <a:ext cx="3235960" cy="515620"/>
          </a:xfrm>
          <a:custGeom>
            <a:avLst/>
            <a:gdLst/>
            <a:ahLst/>
            <a:cxnLst/>
            <a:rect l="l" t="t" r="r" b="b"/>
            <a:pathLst>
              <a:path w="3235960" h="515620">
                <a:moveTo>
                  <a:pt x="0" y="0"/>
                </a:moveTo>
                <a:lnTo>
                  <a:pt x="539496" y="463296"/>
                </a:lnTo>
                <a:lnTo>
                  <a:pt x="1078992" y="515112"/>
                </a:lnTo>
                <a:lnTo>
                  <a:pt x="1618488" y="257556"/>
                </a:lnTo>
                <a:lnTo>
                  <a:pt x="2156460" y="153924"/>
                </a:lnTo>
                <a:lnTo>
                  <a:pt x="2695955" y="153924"/>
                </a:lnTo>
                <a:lnTo>
                  <a:pt x="3235452" y="50292"/>
                </a:lnTo>
              </a:path>
            </a:pathLst>
          </a:custGeom>
          <a:ln w="28955">
            <a:solidFill>
              <a:srgbClr val="BE9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36497" y="4478273"/>
            <a:ext cx="3235960" cy="670560"/>
          </a:xfrm>
          <a:custGeom>
            <a:avLst/>
            <a:gdLst/>
            <a:ahLst/>
            <a:cxnLst/>
            <a:rect l="l" t="t" r="r" b="b"/>
            <a:pathLst>
              <a:path w="3235960" h="670560">
                <a:moveTo>
                  <a:pt x="0" y="0"/>
                </a:moveTo>
                <a:lnTo>
                  <a:pt x="539496" y="257556"/>
                </a:lnTo>
                <a:lnTo>
                  <a:pt x="1078992" y="103631"/>
                </a:lnTo>
                <a:lnTo>
                  <a:pt x="1618488" y="0"/>
                </a:lnTo>
                <a:lnTo>
                  <a:pt x="2156460" y="670559"/>
                </a:lnTo>
                <a:lnTo>
                  <a:pt x="2695955" y="413003"/>
                </a:lnTo>
                <a:lnTo>
                  <a:pt x="3235452" y="51815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03377" y="4233417"/>
            <a:ext cx="261620" cy="196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微软雅黑"/>
                <a:cs typeface="微软雅黑"/>
              </a:rPr>
              <a:t>35%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900">
                <a:latin typeface="微软雅黑"/>
                <a:cs typeface="微软雅黑"/>
              </a:rPr>
              <a:t>30%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900">
                <a:latin typeface="微软雅黑"/>
                <a:cs typeface="微软雅黑"/>
              </a:rPr>
              <a:t>25%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900">
                <a:latin typeface="微软雅黑"/>
                <a:cs typeface="微软雅黑"/>
              </a:rPr>
              <a:t>20%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900">
                <a:latin typeface="微软雅黑"/>
                <a:cs typeface="微软雅黑"/>
              </a:rPr>
              <a:t>15%</a:t>
            </a:r>
            <a:endParaRPr sz="9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900">
                <a:latin typeface="微软雅黑"/>
                <a:cs typeface="微软雅黑"/>
              </a:rPr>
              <a:t>10%</a:t>
            </a:r>
            <a:endParaRPr sz="900">
              <a:latin typeface="微软雅黑"/>
              <a:cs typeface="微软雅黑"/>
            </a:endParaRPr>
          </a:p>
          <a:p>
            <a:pPr algn="ctr" marL="66675">
              <a:lnSpc>
                <a:spcPct val="100000"/>
              </a:lnSpc>
              <a:spcBef>
                <a:spcPts val="950"/>
              </a:spcBef>
            </a:pPr>
            <a:r>
              <a:rPr dirty="0" sz="900">
                <a:latin typeface="微软雅黑"/>
                <a:cs typeface="微软雅黑"/>
              </a:rPr>
              <a:t>5%</a:t>
            </a:r>
            <a:endParaRPr sz="900">
              <a:latin typeface="微软雅黑"/>
              <a:cs typeface="微软雅黑"/>
            </a:endParaRPr>
          </a:p>
          <a:p>
            <a:pPr algn="ctr" marL="66675">
              <a:lnSpc>
                <a:spcPct val="100000"/>
              </a:lnSpc>
              <a:spcBef>
                <a:spcPts val="950"/>
              </a:spcBef>
            </a:pPr>
            <a:r>
              <a:rPr dirty="0" sz="900" spc="-5">
                <a:latin typeface="微软雅黑"/>
                <a:cs typeface="微软雅黑"/>
              </a:rPr>
              <a:t>0%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2697" y="655396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BE9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90448" y="6203086"/>
            <a:ext cx="1372235" cy="424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1815" algn="l"/>
                <a:tab pos="1090930" algn="l"/>
              </a:tabLst>
            </a:pPr>
            <a:r>
              <a:rPr dirty="0" sz="900">
                <a:latin typeface="微软雅黑"/>
                <a:cs typeface="微软雅黑"/>
              </a:rPr>
              <a:t>2010	2011	2012</a:t>
            </a:r>
            <a:endParaRPr sz="900">
              <a:latin typeface="微软雅黑"/>
              <a:cs typeface="微软雅黑"/>
            </a:endParaRPr>
          </a:p>
          <a:p>
            <a:pPr marL="491490">
              <a:lnSpc>
                <a:spcPct val="100000"/>
              </a:lnSpc>
              <a:spcBef>
                <a:spcPts val="980"/>
              </a:spcBef>
            </a:pPr>
            <a:r>
              <a:rPr dirty="0" sz="900" spc="-5">
                <a:latin typeface="微软雅黑"/>
                <a:cs typeface="微软雅黑"/>
              </a:rPr>
              <a:t>Newsan</a:t>
            </a:r>
            <a:r>
              <a:rPr dirty="0" sz="900">
                <a:latin typeface="微软雅黑"/>
                <a:cs typeface="微软雅黑"/>
              </a:rPr>
              <a:t>毛利率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274570" y="655396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408047" y="6203086"/>
            <a:ext cx="1911985" cy="424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1180" algn="l"/>
                <a:tab pos="1090930" algn="l"/>
                <a:tab pos="1630045" algn="l"/>
              </a:tabLst>
            </a:pPr>
            <a:r>
              <a:rPr dirty="0" sz="900">
                <a:latin typeface="微软雅黑"/>
                <a:cs typeface="微软雅黑"/>
              </a:rPr>
              <a:t>2013	2014	2015	2016</a:t>
            </a:r>
            <a:endParaRPr sz="900">
              <a:latin typeface="微软雅黑"/>
              <a:cs typeface="微软雅黑"/>
            </a:endParaRPr>
          </a:p>
          <a:p>
            <a:pPr marL="135890">
              <a:lnSpc>
                <a:spcPct val="100000"/>
              </a:lnSpc>
              <a:spcBef>
                <a:spcPts val="980"/>
              </a:spcBef>
            </a:pPr>
            <a:r>
              <a:rPr dirty="0" sz="900" spc="-5">
                <a:latin typeface="微软雅黑"/>
                <a:cs typeface="微软雅黑"/>
              </a:rPr>
              <a:t>Electronic</a:t>
            </a:r>
            <a:r>
              <a:rPr dirty="0" sz="900" spc="-20">
                <a:latin typeface="微软雅黑"/>
                <a:cs typeface="微软雅黑"/>
              </a:rPr>
              <a:t> </a:t>
            </a:r>
            <a:r>
              <a:rPr dirty="0" sz="900">
                <a:latin typeface="微软雅黑"/>
                <a:cs typeface="微软雅黑"/>
              </a:rPr>
              <a:t>System毛利率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114544" y="5673852"/>
            <a:ext cx="119380" cy="462280"/>
          </a:xfrm>
          <a:custGeom>
            <a:avLst/>
            <a:gdLst/>
            <a:ahLst/>
            <a:cxnLst/>
            <a:rect l="l" t="t" r="r" b="b"/>
            <a:pathLst>
              <a:path w="119379" h="462279">
                <a:moveTo>
                  <a:pt x="118871" y="0"/>
                </a:moveTo>
                <a:lnTo>
                  <a:pt x="0" y="0"/>
                </a:lnTo>
                <a:lnTo>
                  <a:pt x="0" y="461772"/>
                </a:lnTo>
                <a:lnTo>
                  <a:pt x="118871" y="461772"/>
                </a:lnTo>
                <a:lnTo>
                  <a:pt x="118871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612891" y="5600700"/>
            <a:ext cx="119380" cy="535305"/>
          </a:xfrm>
          <a:custGeom>
            <a:avLst/>
            <a:gdLst/>
            <a:ahLst/>
            <a:cxnLst/>
            <a:rect l="l" t="t" r="r" b="b"/>
            <a:pathLst>
              <a:path w="119379" h="535304">
                <a:moveTo>
                  <a:pt x="118872" y="0"/>
                </a:moveTo>
                <a:lnTo>
                  <a:pt x="0" y="0"/>
                </a:lnTo>
                <a:lnTo>
                  <a:pt x="0" y="534924"/>
                </a:lnTo>
                <a:lnTo>
                  <a:pt x="118872" y="534924"/>
                </a:lnTo>
                <a:lnTo>
                  <a:pt x="118872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111240" y="5538215"/>
            <a:ext cx="119380" cy="597535"/>
          </a:xfrm>
          <a:custGeom>
            <a:avLst/>
            <a:gdLst/>
            <a:ahLst/>
            <a:cxnLst/>
            <a:rect l="l" t="t" r="r" b="b"/>
            <a:pathLst>
              <a:path w="119379" h="597535">
                <a:moveTo>
                  <a:pt x="118872" y="0"/>
                </a:moveTo>
                <a:lnTo>
                  <a:pt x="0" y="0"/>
                </a:lnTo>
                <a:lnTo>
                  <a:pt x="0" y="597408"/>
                </a:lnTo>
                <a:lnTo>
                  <a:pt x="118872" y="597408"/>
                </a:lnTo>
                <a:lnTo>
                  <a:pt x="118872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609588" y="5166359"/>
            <a:ext cx="119380" cy="969644"/>
          </a:xfrm>
          <a:custGeom>
            <a:avLst/>
            <a:gdLst/>
            <a:ahLst/>
            <a:cxnLst/>
            <a:rect l="l" t="t" r="r" b="b"/>
            <a:pathLst>
              <a:path w="119379" h="969645">
                <a:moveTo>
                  <a:pt x="118871" y="0"/>
                </a:moveTo>
                <a:lnTo>
                  <a:pt x="0" y="0"/>
                </a:lnTo>
                <a:lnTo>
                  <a:pt x="0" y="969263"/>
                </a:lnTo>
                <a:lnTo>
                  <a:pt x="118871" y="969263"/>
                </a:lnTo>
                <a:lnTo>
                  <a:pt x="118871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07935" y="5228844"/>
            <a:ext cx="119380" cy="906780"/>
          </a:xfrm>
          <a:custGeom>
            <a:avLst/>
            <a:gdLst/>
            <a:ahLst/>
            <a:cxnLst/>
            <a:rect l="l" t="t" r="r" b="b"/>
            <a:pathLst>
              <a:path w="119379" h="906779">
                <a:moveTo>
                  <a:pt x="118872" y="0"/>
                </a:moveTo>
                <a:lnTo>
                  <a:pt x="0" y="0"/>
                </a:lnTo>
                <a:lnTo>
                  <a:pt x="0" y="906779"/>
                </a:lnTo>
                <a:lnTo>
                  <a:pt x="118872" y="906779"/>
                </a:lnTo>
                <a:lnTo>
                  <a:pt x="118872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606283" y="4730496"/>
            <a:ext cx="119380" cy="1405255"/>
          </a:xfrm>
          <a:custGeom>
            <a:avLst/>
            <a:gdLst/>
            <a:ahLst/>
            <a:cxnLst/>
            <a:rect l="l" t="t" r="r" b="b"/>
            <a:pathLst>
              <a:path w="119379" h="1405254">
                <a:moveTo>
                  <a:pt x="118872" y="0"/>
                </a:moveTo>
                <a:lnTo>
                  <a:pt x="0" y="0"/>
                </a:lnTo>
                <a:lnTo>
                  <a:pt x="0" y="1405127"/>
                </a:lnTo>
                <a:lnTo>
                  <a:pt x="118872" y="1405127"/>
                </a:lnTo>
                <a:lnTo>
                  <a:pt x="118872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103107" y="5219700"/>
            <a:ext cx="119380" cy="916305"/>
          </a:xfrm>
          <a:custGeom>
            <a:avLst/>
            <a:gdLst/>
            <a:ahLst/>
            <a:cxnLst/>
            <a:rect l="l" t="t" r="r" b="b"/>
            <a:pathLst>
              <a:path w="119379" h="916304">
                <a:moveTo>
                  <a:pt x="118872" y="0"/>
                </a:moveTo>
                <a:lnTo>
                  <a:pt x="0" y="0"/>
                </a:lnTo>
                <a:lnTo>
                  <a:pt x="0" y="915924"/>
                </a:lnTo>
                <a:lnTo>
                  <a:pt x="118872" y="915924"/>
                </a:lnTo>
                <a:lnTo>
                  <a:pt x="118872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233415" y="6044184"/>
            <a:ext cx="119380" cy="91440"/>
          </a:xfrm>
          <a:custGeom>
            <a:avLst/>
            <a:gdLst/>
            <a:ahLst/>
            <a:cxnLst/>
            <a:rect l="l" t="t" r="r" b="b"/>
            <a:pathLst>
              <a:path w="119379" h="91439">
                <a:moveTo>
                  <a:pt x="118872" y="0"/>
                </a:moveTo>
                <a:lnTo>
                  <a:pt x="0" y="0"/>
                </a:lnTo>
                <a:lnTo>
                  <a:pt x="0" y="91439"/>
                </a:lnTo>
                <a:lnTo>
                  <a:pt x="118872" y="91439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731764" y="5954267"/>
            <a:ext cx="119380" cy="181610"/>
          </a:xfrm>
          <a:custGeom>
            <a:avLst/>
            <a:gdLst/>
            <a:ahLst/>
            <a:cxnLst/>
            <a:rect l="l" t="t" r="r" b="b"/>
            <a:pathLst>
              <a:path w="119379" h="181610">
                <a:moveTo>
                  <a:pt x="118872" y="0"/>
                </a:moveTo>
                <a:lnTo>
                  <a:pt x="0" y="0"/>
                </a:lnTo>
                <a:lnTo>
                  <a:pt x="0" y="181355"/>
                </a:lnTo>
                <a:lnTo>
                  <a:pt x="118872" y="181355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30111" y="5890259"/>
            <a:ext cx="119380" cy="245745"/>
          </a:xfrm>
          <a:custGeom>
            <a:avLst/>
            <a:gdLst/>
            <a:ahLst/>
            <a:cxnLst/>
            <a:rect l="l" t="t" r="r" b="b"/>
            <a:pathLst>
              <a:path w="119379" h="245745">
                <a:moveTo>
                  <a:pt x="118872" y="0"/>
                </a:moveTo>
                <a:lnTo>
                  <a:pt x="0" y="0"/>
                </a:lnTo>
                <a:lnTo>
                  <a:pt x="0" y="245363"/>
                </a:lnTo>
                <a:lnTo>
                  <a:pt x="118872" y="245363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728459" y="5963411"/>
            <a:ext cx="119380" cy="172720"/>
          </a:xfrm>
          <a:custGeom>
            <a:avLst/>
            <a:gdLst/>
            <a:ahLst/>
            <a:cxnLst/>
            <a:rect l="l" t="t" r="r" b="b"/>
            <a:pathLst>
              <a:path w="119379" h="172720">
                <a:moveTo>
                  <a:pt x="118872" y="0"/>
                </a:moveTo>
                <a:lnTo>
                  <a:pt x="0" y="0"/>
                </a:lnTo>
                <a:lnTo>
                  <a:pt x="0" y="172211"/>
                </a:lnTo>
                <a:lnTo>
                  <a:pt x="118872" y="172211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226807" y="5727191"/>
            <a:ext cx="119380" cy="408940"/>
          </a:xfrm>
          <a:custGeom>
            <a:avLst/>
            <a:gdLst/>
            <a:ahLst/>
            <a:cxnLst/>
            <a:rect l="l" t="t" r="r" b="b"/>
            <a:pathLst>
              <a:path w="119379" h="408939">
                <a:moveTo>
                  <a:pt x="118872" y="0"/>
                </a:moveTo>
                <a:lnTo>
                  <a:pt x="0" y="0"/>
                </a:lnTo>
                <a:lnTo>
                  <a:pt x="0" y="408432"/>
                </a:lnTo>
                <a:lnTo>
                  <a:pt x="118872" y="408432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725156" y="4994147"/>
            <a:ext cx="119380" cy="1141730"/>
          </a:xfrm>
          <a:custGeom>
            <a:avLst/>
            <a:gdLst/>
            <a:ahLst/>
            <a:cxnLst/>
            <a:rect l="l" t="t" r="r" b="b"/>
            <a:pathLst>
              <a:path w="119379" h="1141729">
                <a:moveTo>
                  <a:pt x="118872" y="0"/>
                </a:moveTo>
                <a:lnTo>
                  <a:pt x="0" y="0"/>
                </a:lnTo>
                <a:lnTo>
                  <a:pt x="0" y="1141476"/>
                </a:lnTo>
                <a:lnTo>
                  <a:pt x="118872" y="1141476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221980" y="4876800"/>
            <a:ext cx="119380" cy="1259205"/>
          </a:xfrm>
          <a:custGeom>
            <a:avLst/>
            <a:gdLst/>
            <a:ahLst/>
            <a:cxnLst/>
            <a:rect l="l" t="t" r="r" b="b"/>
            <a:pathLst>
              <a:path w="119379" h="1259204">
                <a:moveTo>
                  <a:pt x="118872" y="0"/>
                </a:moveTo>
                <a:lnTo>
                  <a:pt x="0" y="0"/>
                </a:lnTo>
                <a:lnTo>
                  <a:pt x="0" y="1258824"/>
                </a:lnTo>
                <a:lnTo>
                  <a:pt x="118872" y="1258824"/>
                </a:lnTo>
                <a:lnTo>
                  <a:pt x="11887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985003" y="6135623"/>
            <a:ext cx="3487420" cy="0"/>
          </a:xfrm>
          <a:custGeom>
            <a:avLst/>
            <a:gdLst/>
            <a:ahLst/>
            <a:cxnLst/>
            <a:rect l="l" t="t" r="r" b="b"/>
            <a:pathLst>
              <a:path w="3487420" h="0">
                <a:moveTo>
                  <a:pt x="0" y="0"/>
                </a:moveTo>
                <a:lnTo>
                  <a:pt x="3486912" y="0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732526" y="5322570"/>
            <a:ext cx="2490470" cy="702945"/>
          </a:xfrm>
          <a:custGeom>
            <a:avLst/>
            <a:gdLst/>
            <a:ahLst/>
            <a:cxnLst/>
            <a:rect l="l" t="t" r="r" b="b"/>
            <a:pathLst>
              <a:path w="2490470" h="702945">
                <a:moveTo>
                  <a:pt x="0" y="336803"/>
                </a:moveTo>
                <a:lnTo>
                  <a:pt x="498348" y="364235"/>
                </a:lnTo>
                <a:lnTo>
                  <a:pt x="995172" y="0"/>
                </a:lnTo>
                <a:lnTo>
                  <a:pt x="1493520" y="498347"/>
                </a:lnTo>
                <a:lnTo>
                  <a:pt x="1991868" y="51815"/>
                </a:lnTo>
                <a:lnTo>
                  <a:pt x="2490216" y="702563"/>
                </a:lnTo>
              </a:path>
            </a:pathLst>
          </a:custGeom>
          <a:ln w="28956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732526" y="4469129"/>
            <a:ext cx="2490470" cy="1518285"/>
          </a:xfrm>
          <a:custGeom>
            <a:avLst/>
            <a:gdLst/>
            <a:ahLst/>
            <a:cxnLst/>
            <a:rect l="l" t="t" r="r" b="b"/>
            <a:pathLst>
              <a:path w="2490470" h="1518285">
                <a:moveTo>
                  <a:pt x="0" y="579120"/>
                </a:moveTo>
                <a:lnTo>
                  <a:pt x="498348" y="1050036"/>
                </a:lnTo>
                <a:lnTo>
                  <a:pt x="995172" y="1517904"/>
                </a:lnTo>
                <a:lnTo>
                  <a:pt x="1493520" y="312420"/>
                </a:lnTo>
                <a:lnTo>
                  <a:pt x="1991868" y="0"/>
                </a:lnTo>
                <a:lnTo>
                  <a:pt x="2490216" y="1229868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4652009" y="4224909"/>
            <a:ext cx="4267835" cy="2141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3917315" algn="l"/>
              </a:tabLst>
            </a:pPr>
            <a:r>
              <a:rPr dirty="0" sz="1000" spc="-5">
                <a:latin typeface="Arial"/>
                <a:cs typeface="Arial"/>
              </a:rPr>
              <a:t>2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-5">
                <a:latin typeface="Arial"/>
                <a:cs typeface="Arial"/>
              </a:rPr>
              <a:t>0</a:t>
            </a:r>
            <a:r>
              <a:rPr dirty="0" sz="1000">
                <a:latin typeface="Arial"/>
                <a:cs typeface="Arial"/>
              </a:rPr>
              <a:t>	</a:t>
            </a:r>
            <a:r>
              <a:rPr dirty="0" sz="1000" spc="-5">
                <a:latin typeface="Arial"/>
                <a:cs typeface="Arial"/>
              </a:rPr>
              <a:t>2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-5">
                <a:latin typeface="Arial"/>
                <a:cs typeface="Arial"/>
              </a:rPr>
              <a:t>0%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3917315" algn="l"/>
              </a:tabLst>
            </a:pP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6</a:t>
            </a:r>
            <a:r>
              <a:rPr dirty="0" sz="1000" spc="-5">
                <a:latin typeface="Arial"/>
                <a:cs typeface="Arial"/>
              </a:rPr>
              <a:t>0</a:t>
            </a:r>
            <a:r>
              <a:rPr dirty="0" sz="1000">
                <a:latin typeface="Arial"/>
                <a:cs typeface="Arial"/>
              </a:rPr>
              <a:t>	</a:t>
            </a: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-5">
                <a:latin typeface="Arial"/>
                <a:cs typeface="Arial"/>
              </a:rPr>
              <a:t>0%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3917315" algn="l"/>
              </a:tabLst>
            </a:pP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2</a:t>
            </a:r>
            <a:r>
              <a:rPr dirty="0" sz="1000" spc="-5">
                <a:latin typeface="Arial"/>
                <a:cs typeface="Arial"/>
              </a:rPr>
              <a:t>0</a:t>
            </a:r>
            <a:r>
              <a:rPr dirty="0" sz="1000">
                <a:latin typeface="Arial"/>
                <a:cs typeface="Arial"/>
              </a:rPr>
              <a:t>	</a:t>
            </a:r>
            <a:r>
              <a:rPr dirty="0" sz="1000" spc="-5">
                <a:latin typeface="Arial"/>
                <a:cs typeface="Arial"/>
              </a:rPr>
              <a:t>1</a:t>
            </a:r>
            <a:r>
              <a:rPr dirty="0" sz="1000">
                <a:latin typeface="Arial"/>
                <a:cs typeface="Arial"/>
              </a:rPr>
              <a:t>0</a:t>
            </a:r>
            <a:r>
              <a:rPr dirty="0" sz="1000" spc="-5">
                <a:latin typeface="Arial"/>
                <a:cs typeface="Arial"/>
              </a:rPr>
              <a:t>0%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3846829" algn="l"/>
              </a:tabLst>
            </a:pPr>
            <a:r>
              <a:rPr dirty="0" sz="1000" spc="-5">
                <a:latin typeface="Arial"/>
                <a:cs typeface="Arial"/>
              </a:rPr>
              <a:t>80	50%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63500">
              <a:lnSpc>
                <a:spcPct val="100000"/>
              </a:lnSpc>
              <a:tabLst>
                <a:tab pos="3846829" algn="l"/>
              </a:tabLst>
            </a:pPr>
            <a:r>
              <a:rPr dirty="0" sz="1000" spc="-5">
                <a:latin typeface="Arial"/>
                <a:cs typeface="Arial"/>
              </a:rPr>
              <a:t>40	</a:t>
            </a:r>
            <a:r>
              <a:rPr dirty="0" sz="1000" spc="-10">
                <a:latin typeface="Arial"/>
                <a:cs typeface="Arial"/>
              </a:rPr>
              <a:t>0%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111760">
              <a:lnSpc>
                <a:spcPts val="1195"/>
              </a:lnSpc>
              <a:tabLst>
                <a:tab pos="3888104" algn="l"/>
              </a:tabLst>
            </a:pPr>
            <a:r>
              <a:rPr dirty="0" sz="1000" spc="-5">
                <a:latin typeface="Arial"/>
                <a:cs typeface="Arial"/>
              </a:rPr>
              <a:t>0	-50%</a:t>
            </a:r>
            <a:endParaRPr sz="1000">
              <a:latin typeface="Arial"/>
              <a:cs typeface="Arial"/>
            </a:endParaRPr>
          </a:p>
          <a:p>
            <a:pPr algn="ctr" marR="104775">
              <a:lnSpc>
                <a:spcPts val="1195"/>
              </a:lnSpc>
              <a:tabLst>
                <a:tab pos="497840" algn="l"/>
                <a:tab pos="996315" algn="l"/>
                <a:tab pos="1494155" algn="l"/>
                <a:tab pos="1992630" algn="l"/>
                <a:tab pos="2491105" algn="l"/>
                <a:tab pos="2988945" algn="l"/>
              </a:tabLst>
            </a:pPr>
            <a:r>
              <a:rPr dirty="0" sz="1000" spc="-5">
                <a:latin typeface="Arial"/>
                <a:cs typeface="Arial"/>
              </a:rPr>
              <a:t>2010	2011	2012	2013	2014	2015	2016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869179" y="654481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62483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824471" y="654481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6248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868417" y="676122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28956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5126482" y="6375908"/>
            <a:ext cx="1113790" cy="45910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000" spc="-5">
                <a:latin typeface="Arial"/>
                <a:cs typeface="Arial"/>
              </a:rPr>
              <a:t>Newsan</a:t>
            </a:r>
            <a:r>
              <a:rPr dirty="0" sz="1000" spc="-5">
                <a:latin typeface="等线"/>
                <a:cs typeface="等线"/>
              </a:rPr>
              <a:t>净利润</a:t>
            </a:r>
            <a:endParaRPr sz="1000">
              <a:latin typeface="等线"/>
              <a:cs typeface="等线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spc="-5">
                <a:latin typeface="Arial"/>
                <a:cs typeface="Arial"/>
              </a:rPr>
              <a:t>Ne</a:t>
            </a:r>
            <a:r>
              <a:rPr dirty="0" sz="1000" spc="-20">
                <a:latin typeface="Arial"/>
                <a:cs typeface="Arial"/>
              </a:rPr>
              <a:t>w</a:t>
            </a:r>
            <a:r>
              <a:rPr dirty="0" sz="1000">
                <a:latin typeface="Arial"/>
                <a:cs typeface="Arial"/>
              </a:rPr>
              <a:t>s</a:t>
            </a:r>
            <a:r>
              <a:rPr dirty="0" sz="1000" spc="-5">
                <a:latin typeface="Arial"/>
                <a:cs typeface="Arial"/>
              </a:rPr>
              <a:t>a</a:t>
            </a:r>
            <a:r>
              <a:rPr dirty="0" sz="1000" spc="-10">
                <a:latin typeface="Arial"/>
                <a:cs typeface="Arial"/>
              </a:rPr>
              <a:t>n</a:t>
            </a:r>
            <a:r>
              <a:rPr dirty="0" sz="1000" spc="-5">
                <a:latin typeface="等线"/>
                <a:cs typeface="等线"/>
              </a:rPr>
              <a:t>净利润增长</a:t>
            </a:r>
            <a:endParaRPr sz="1000">
              <a:latin typeface="等线"/>
              <a:cs typeface="等线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825233" y="676122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2895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082790" y="6375908"/>
            <a:ext cx="1671955" cy="459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2200"/>
              </a:lnSpc>
              <a:spcBef>
                <a:spcPts val="100"/>
              </a:spcBef>
            </a:pPr>
            <a:r>
              <a:rPr dirty="0" sz="1000" spc="-5">
                <a:latin typeface="Arial"/>
                <a:cs typeface="Arial"/>
              </a:rPr>
              <a:t>Electronic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System</a:t>
            </a:r>
            <a:r>
              <a:rPr dirty="0" sz="1000" spc="-5">
                <a:latin typeface="等线"/>
                <a:cs typeface="等线"/>
              </a:rPr>
              <a:t>净利润 </a:t>
            </a:r>
            <a:r>
              <a:rPr dirty="0" sz="1000" spc="-5">
                <a:latin typeface="Arial"/>
                <a:cs typeface="Arial"/>
              </a:rPr>
              <a:t>Electronic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5">
                <a:latin typeface="Arial"/>
                <a:cs typeface="Arial"/>
              </a:rPr>
              <a:t>System</a:t>
            </a:r>
            <a:r>
              <a:rPr dirty="0" sz="1000" spc="-5">
                <a:latin typeface="等线"/>
                <a:cs typeface="等线"/>
              </a:rPr>
              <a:t>净利润增长</a:t>
            </a:r>
            <a:endParaRPr sz="10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" y="290525"/>
            <a:ext cx="232727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5" b="1">
                <a:solidFill>
                  <a:srgbClr val="7A2121"/>
                </a:solidFill>
                <a:latin typeface="明兰"/>
                <a:cs typeface="明兰"/>
              </a:rPr>
              <a:t>各指标重</a:t>
            </a:r>
            <a:r>
              <a:rPr dirty="0" sz="2000" spc="-5" b="1">
                <a:solidFill>
                  <a:srgbClr val="7A2121"/>
                </a:solidFill>
                <a:latin typeface="明兰"/>
                <a:cs typeface="明兰"/>
              </a:rPr>
              <a:t>要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程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度分析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39005" y="4347209"/>
            <a:ext cx="767715" cy="76200"/>
          </a:xfrm>
          <a:custGeom>
            <a:avLst/>
            <a:gdLst/>
            <a:ahLst/>
            <a:cxnLst/>
            <a:rect l="l" t="t" r="r" b="b"/>
            <a:pathLst>
              <a:path w="767714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06" y="48006"/>
                </a:lnTo>
                <a:lnTo>
                  <a:pt x="38100" y="48006"/>
                </a:lnTo>
                <a:lnTo>
                  <a:pt x="38100" y="28193"/>
                </a:lnTo>
                <a:lnTo>
                  <a:pt x="74206" y="28193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7714" h="76200">
                <a:moveTo>
                  <a:pt x="74206" y="28193"/>
                </a:moveTo>
                <a:lnTo>
                  <a:pt x="38100" y="28193"/>
                </a:lnTo>
                <a:lnTo>
                  <a:pt x="38100" y="48006"/>
                </a:lnTo>
                <a:lnTo>
                  <a:pt x="74206" y="48006"/>
                </a:lnTo>
                <a:lnTo>
                  <a:pt x="76200" y="38100"/>
                </a:lnTo>
                <a:lnTo>
                  <a:pt x="74206" y="28193"/>
                </a:lnTo>
                <a:close/>
              </a:path>
              <a:path w="767714" h="76200">
                <a:moveTo>
                  <a:pt x="97536" y="28193"/>
                </a:moveTo>
                <a:lnTo>
                  <a:pt x="74206" y="28193"/>
                </a:lnTo>
                <a:lnTo>
                  <a:pt x="76200" y="38100"/>
                </a:lnTo>
                <a:lnTo>
                  <a:pt x="74206" y="48006"/>
                </a:lnTo>
                <a:lnTo>
                  <a:pt x="97536" y="48006"/>
                </a:lnTo>
                <a:lnTo>
                  <a:pt x="97536" y="28193"/>
                </a:lnTo>
                <a:close/>
              </a:path>
              <a:path w="767714" h="76200">
                <a:moveTo>
                  <a:pt x="176784" y="28193"/>
                </a:moveTo>
                <a:lnTo>
                  <a:pt x="117348" y="28193"/>
                </a:lnTo>
                <a:lnTo>
                  <a:pt x="117348" y="48006"/>
                </a:lnTo>
                <a:lnTo>
                  <a:pt x="176784" y="48006"/>
                </a:lnTo>
                <a:lnTo>
                  <a:pt x="176784" y="28193"/>
                </a:lnTo>
                <a:close/>
              </a:path>
              <a:path w="767714" h="76200">
                <a:moveTo>
                  <a:pt x="256032" y="28193"/>
                </a:moveTo>
                <a:lnTo>
                  <a:pt x="196596" y="28193"/>
                </a:lnTo>
                <a:lnTo>
                  <a:pt x="196596" y="48006"/>
                </a:lnTo>
                <a:lnTo>
                  <a:pt x="256032" y="48006"/>
                </a:lnTo>
                <a:lnTo>
                  <a:pt x="256032" y="28193"/>
                </a:lnTo>
                <a:close/>
              </a:path>
              <a:path w="767714" h="76200">
                <a:moveTo>
                  <a:pt x="335280" y="28193"/>
                </a:moveTo>
                <a:lnTo>
                  <a:pt x="275844" y="28193"/>
                </a:lnTo>
                <a:lnTo>
                  <a:pt x="275844" y="48006"/>
                </a:lnTo>
                <a:lnTo>
                  <a:pt x="335280" y="48006"/>
                </a:lnTo>
                <a:lnTo>
                  <a:pt x="335280" y="28193"/>
                </a:lnTo>
                <a:close/>
              </a:path>
              <a:path w="767714" h="76200">
                <a:moveTo>
                  <a:pt x="414528" y="28193"/>
                </a:moveTo>
                <a:lnTo>
                  <a:pt x="355092" y="28193"/>
                </a:lnTo>
                <a:lnTo>
                  <a:pt x="355092" y="48006"/>
                </a:lnTo>
                <a:lnTo>
                  <a:pt x="414528" y="48006"/>
                </a:lnTo>
                <a:lnTo>
                  <a:pt x="414528" y="28193"/>
                </a:lnTo>
                <a:close/>
              </a:path>
              <a:path w="767714" h="76200">
                <a:moveTo>
                  <a:pt x="493776" y="28193"/>
                </a:moveTo>
                <a:lnTo>
                  <a:pt x="434340" y="28193"/>
                </a:lnTo>
                <a:lnTo>
                  <a:pt x="434340" y="48006"/>
                </a:lnTo>
                <a:lnTo>
                  <a:pt x="493776" y="48006"/>
                </a:lnTo>
                <a:lnTo>
                  <a:pt x="493776" y="28193"/>
                </a:lnTo>
                <a:close/>
              </a:path>
              <a:path w="767714" h="76200">
                <a:moveTo>
                  <a:pt x="573024" y="28193"/>
                </a:moveTo>
                <a:lnTo>
                  <a:pt x="513588" y="28193"/>
                </a:lnTo>
                <a:lnTo>
                  <a:pt x="513588" y="48006"/>
                </a:lnTo>
                <a:lnTo>
                  <a:pt x="573024" y="48006"/>
                </a:lnTo>
                <a:lnTo>
                  <a:pt x="573024" y="28193"/>
                </a:lnTo>
                <a:close/>
              </a:path>
              <a:path w="767714" h="76200">
                <a:moveTo>
                  <a:pt x="652272" y="28193"/>
                </a:moveTo>
                <a:lnTo>
                  <a:pt x="592836" y="28193"/>
                </a:lnTo>
                <a:lnTo>
                  <a:pt x="592836" y="48006"/>
                </a:lnTo>
                <a:lnTo>
                  <a:pt x="652272" y="48006"/>
                </a:lnTo>
                <a:lnTo>
                  <a:pt x="652272" y="28193"/>
                </a:lnTo>
                <a:close/>
              </a:path>
              <a:path w="767714" h="76200">
                <a:moveTo>
                  <a:pt x="729361" y="0"/>
                </a:moveTo>
                <a:lnTo>
                  <a:pt x="714567" y="2988"/>
                </a:lnTo>
                <a:lnTo>
                  <a:pt x="702452" y="11144"/>
                </a:lnTo>
                <a:lnTo>
                  <a:pt x="694267" y="23252"/>
                </a:lnTo>
                <a:lnTo>
                  <a:pt x="691261" y="38100"/>
                </a:lnTo>
                <a:lnTo>
                  <a:pt x="694267" y="52947"/>
                </a:lnTo>
                <a:lnTo>
                  <a:pt x="702452" y="65055"/>
                </a:lnTo>
                <a:lnTo>
                  <a:pt x="714567" y="73211"/>
                </a:lnTo>
                <a:lnTo>
                  <a:pt x="729361" y="76200"/>
                </a:lnTo>
                <a:lnTo>
                  <a:pt x="744208" y="73211"/>
                </a:lnTo>
                <a:lnTo>
                  <a:pt x="756316" y="65055"/>
                </a:lnTo>
                <a:lnTo>
                  <a:pt x="764472" y="52947"/>
                </a:lnTo>
                <a:lnTo>
                  <a:pt x="765467" y="48006"/>
                </a:lnTo>
                <a:lnTo>
                  <a:pt x="729361" y="48006"/>
                </a:lnTo>
                <a:lnTo>
                  <a:pt x="729361" y="28193"/>
                </a:lnTo>
                <a:lnTo>
                  <a:pt x="765467" y="28193"/>
                </a:lnTo>
                <a:lnTo>
                  <a:pt x="764472" y="23252"/>
                </a:lnTo>
                <a:lnTo>
                  <a:pt x="756316" y="11144"/>
                </a:lnTo>
                <a:lnTo>
                  <a:pt x="744208" y="2988"/>
                </a:lnTo>
                <a:lnTo>
                  <a:pt x="729361" y="0"/>
                </a:lnTo>
                <a:close/>
              </a:path>
              <a:path w="767714" h="76200">
                <a:moveTo>
                  <a:pt x="693266" y="28193"/>
                </a:moveTo>
                <a:lnTo>
                  <a:pt x="672084" y="28193"/>
                </a:lnTo>
                <a:lnTo>
                  <a:pt x="672084" y="48006"/>
                </a:lnTo>
                <a:lnTo>
                  <a:pt x="693266" y="48006"/>
                </a:lnTo>
                <a:lnTo>
                  <a:pt x="691261" y="38100"/>
                </a:lnTo>
                <a:lnTo>
                  <a:pt x="693266" y="28193"/>
                </a:lnTo>
                <a:close/>
              </a:path>
              <a:path w="767714" h="76200">
                <a:moveTo>
                  <a:pt x="765467" y="28193"/>
                </a:moveTo>
                <a:lnTo>
                  <a:pt x="729361" y="28193"/>
                </a:lnTo>
                <a:lnTo>
                  <a:pt x="729361" y="48006"/>
                </a:lnTo>
                <a:lnTo>
                  <a:pt x="765467" y="48006"/>
                </a:lnTo>
                <a:lnTo>
                  <a:pt x="767461" y="38100"/>
                </a:lnTo>
                <a:lnTo>
                  <a:pt x="765467" y="28193"/>
                </a:lnTo>
                <a:close/>
              </a:path>
            </a:pathLst>
          </a:custGeom>
          <a:solidFill>
            <a:srgbClr val="854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75709" y="3405378"/>
            <a:ext cx="1231900" cy="76200"/>
          </a:xfrm>
          <a:custGeom>
            <a:avLst/>
            <a:gdLst/>
            <a:ahLst/>
            <a:cxnLst/>
            <a:rect l="l" t="t" r="r" b="b"/>
            <a:pathLst>
              <a:path w="12319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06" y="48006"/>
                </a:lnTo>
                <a:lnTo>
                  <a:pt x="38100" y="48006"/>
                </a:lnTo>
                <a:lnTo>
                  <a:pt x="38100" y="28194"/>
                </a:lnTo>
                <a:lnTo>
                  <a:pt x="74206" y="28194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231900" h="76200">
                <a:moveTo>
                  <a:pt x="74206" y="28194"/>
                </a:moveTo>
                <a:lnTo>
                  <a:pt x="38100" y="28194"/>
                </a:lnTo>
                <a:lnTo>
                  <a:pt x="38100" y="48006"/>
                </a:lnTo>
                <a:lnTo>
                  <a:pt x="74206" y="48006"/>
                </a:lnTo>
                <a:lnTo>
                  <a:pt x="76200" y="38100"/>
                </a:lnTo>
                <a:lnTo>
                  <a:pt x="74206" y="28194"/>
                </a:lnTo>
                <a:close/>
              </a:path>
              <a:path w="1231900" h="76200">
                <a:moveTo>
                  <a:pt x="97536" y="28194"/>
                </a:moveTo>
                <a:lnTo>
                  <a:pt x="74206" y="28194"/>
                </a:lnTo>
                <a:lnTo>
                  <a:pt x="76200" y="38100"/>
                </a:lnTo>
                <a:lnTo>
                  <a:pt x="74206" y="48006"/>
                </a:lnTo>
                <a:lnTo>
                  <a:pt x="97536" y="48006"/>
                </a:lnTo>
                <a:lnTo>
                  <a:pt x="97536" y="28194"/>
                </a:lnTo>
                <a:close/>
              </a:path>
              <a:path w="1231900" h="76200">
                <a:moveTo>
                  <a:pt x="176784" y="28194"/>
                </a:moveTo>
                <a:lnTo>
                  <a:pt x="117348" y="28194"/>
                </a:lnTo>
                <a:lnTo>
                  <a:pt x="117348" y="48006"/>
                </a:lnTo>
                <a:lnTo>
                  <a:pt x="176784" y="48006"/>
                </a:lnTo>
                <a:lnTo>
                  <a:pt x="176784" y="28194"/>
                </a:lnTo>
                <a:close/>
              </a:path>
              <a:path w="1231900" h="76200">
                <a:moveTo>
                  <a:pt x="256031" y="28194"/>
                </a:moveTo>
                <a:lnTo>
                  <a:pt x="196595" y="28194"/>
                </a:lnTo>
                <a:lnTo>
                  <a:pt x="196595" y="48006"/>
                </a:lnTo>
                <a:lnTo>
                  <a:pt x="256031" y="48006"/>
                </a:lnTo>
                <a:lnTo>
                  <a:pt x="256031" y="28194"/>
                </a:lnTo>
                <a:close/>
              </a:path>
              <a:path w="1231900" h="76200">
                <a:moveTo>
                  <a:pt x="335279" y="28194"/>
                </a:moveTo>
                <a:lnTo>
                  <a:pt x="275843" y="28194"/>
                </a:lnTo>
                <a:lnTo>
                  <a:pt x="275843" y="48006"/>
                </a:lnTo>
                <a:lnTo>
                  <a:pt x="335279" y="48006"/>
                </a:lnTo>
                <a:lnTo>
                  <a:pt x="335279" y="28194"/>
                </a:lnTo>
                <a:close/>
              </a:path>
              <a:path w="1231900" h="76200">
                <a:moveTo>
                  <a:pt x="414527" y="28194"/>
                </a:moveTo>
                <a:lnTo>
                  <a:pt x="355091" y="28194"/>
                </a:lnTo>
                <a:lnTo>
                  <a:pt x="355091" y="48006"/>
                </a:lnTo>
                <a:lnTo>
                  <a:pt x="414527" y="48006"/>
                </a:lnTo>
                <a:lnTo>
                  <a:pt x="414527" y="28194"/>
                </a:lnTo>
                <a:close/>
              </a:path>
              <a:path w="1231900" h="76200">
                <a:moveTo>
                  <a:pt x="493775" y="28194"/>
                </a:moveTo>
                <a:lnTo>
                  <a:pt x="434339" y="28194"/>
                </a:lnTo>
                <a:lnTo>
                  <a:pt x="434339" y="48006"/>
                </a:lnTo>
                <a:lnTo>
                  <a:pt x="493775" y="48006"/>
                </a:lnTo>
                <a:lnTo>
                  <a:pt x="493775" y="28194"/>
                </a:lnTo>
                <a:close/>
              </a:path>
              <a:path w="1231900" h="76200">
                <a:moveTo>
                  <a:pt x="573024" y="28194"/>
                </a:moveTo>
                <a:lnTo>
                  <a:pt x="513588" y="28194"/>
                </a:lnTo>
                <a:lnTo>
                  <a:pt x="513588" y="48006"/>
                </a:lnTo>
                <a:lnTo>
                  <a:pt x="573024" y="48006"/>
                </a:lnTo>
                <a:lnTo>
                  <a:pt x="573024" y="28194"/>
                </a:lnTo>
                <a:close/>
              </a:path>
              <a:path w="1231900" h="76200">
                <a:moveTo>
                  <a:pt x="652272" y="28194"/>
                </a:moveTo>
                <a:lnTo>
                  <a:pt x="592836" y="28194"/>
                </a:lnTo>
                <a:lnTo>
                  <a:pt x="592836" y="48006"/>
                </a:lnTo>
                <a:lnTo>
                  <a:pt x="652272" y="48006"/>
                </a:lnTo>
                <a:lnTo>
                  <a:pt x="652272" y="28194"/>
                </a:lnTo>
                <a:close/>
              </a:path>
              <a:path w="1231900" h="76200">
                <a:moveTo>
                  <a:pt x="731519" y="28194"/>
                </a:moveTo>
                <a:lnTo>
                  <a:pt x="672084" y="28194"/>
                </a:lnTo>
                <a:lnTo>
                  <a:pt x="672084" y="48006"/>
                </a:lnTo>
                <a:lnTo>
                  <a:pt x="731519" y="48006"/>
                </a:lnTo>
                <a:lnTo>
                  <a:pt x="731519" y="28194"/>
                </a:lnTo>
                <a:close/>
              </a:path>
              <a:path w="1231900" h="76200">
                <a:moveTo>
                  <a:pt x="810767" y="28194"/>
                </a:moveTo>
                <a:lnTo>
                  <a:pt x="751331" y="28194"/>
                </a:lnTo>
                <a:lnTo>
                  <a:pt x="751331" y="48006"/>
                </a:lnTo>
                <a:lnTo>
                  <a:pt x="810767" y="48006"/>
                </a:lnTo>
                <a:lnTo>
                  <a:pt x="810767" y="28194"/>
                </a:lnTo>
                <a:close/>
              </a:path>
              <a:path w="1231900" h="76200">
                <a:moveTo>
                  <a:pt x="890015" y="28194"/>
                </a:moveTo>
                <a:lnTo>
                  <a:pt x="830579" y="28194"/>
                </a:lnTo>
                <a:lnTo>
                  <a:pt x="830579" y="48006"/>
                </a:lnTo>
                <a:lnTo>
                  <a:pt x="890015" y="48006"/>
                </a:lnTo>
                <a:lnTo>
                  <a:pt x="890015" y="28194"/>
                </a:lnTo>
                <a:close/>
              </a:path>
              <a:path w="1231900" h="76200">
                <a:moveTo>
                  <a:pt x="969263" y="28194"/>
                </a:moveTo>
                <a:lnTo>
                  <a:pt x="909827" y="28194"/>
                </a:lnTo>
                <a:lnTo>
                  <a:pt x="909827" y="48006"/>
                </a:lnTo>
                <a:lnTo>
                  <a:pt x="969263" y="48006"/>
                </a:lnTo>
                <a:lnTo>
                  <a:pt x="969263" y="28194"/>
                </a:lnTo>
                <a:close/>
              </a:path>
              <a:path w="1231900" h="76200">
                <a:moveTo>
                  <a:pt x="1048512" y="28194"/>
                </a:moveTo>
                <a:lnTo>
                  <a:pt x="989076" y="28194"/>
                </a:lnTo>
                <a:lnTo>
                  <a:pt x="989076" y="48006"/>
                </a:lnTo>
                <a:lnTo>
                  <a:pt x="1048512" y="48006"/>
                </a:lnTo>
                <a:lnTo>
                  <a:pt x="1048512" y="28194"/>
                </a:lnTo>
                <a:close/>
              </a:path>
              <a:path w="1231900" h="76200">
                <a:moveTo>
                  <a:pt x="1127760" y="28194"/>
                </a:moveTo>
                <a:lnTo>
                  <a:pt x="1068324" y="28194"/>
                </a:lnTo>
                <a:lnTo>
                  <a:pt x="1068324" y="48006"/>
                </a:lnTo>
                <a:lnTo>
                  <a:pt x="1127760" y="48006"/>
                </a:lnTo>
                <a:lnTo>
                  <a:pt x="1127760" y="28194"/>
                </a:lnTo>
                <a:close/>
              </a:path>
              <a:path w="1231900" h="76200">
                <a:moveTo>
                  <a:pt x="1193800" y="0"/>
                </a:moveTo>
                <a:lnTo>
                  <a:pt x="1178952" y="2988"/>
                </a:lnTo>
                <a:lnTo>
                  <a:pt x="1166844" y="11144"/>
                </a:lnTo>
                <a:lnTo>
                  <a:pt x="1158688" y="23252"/>
                </a:lnTo>
                <a:lnTo>
                  <a:pt x="1155700" y="38100"/>
                </a:lnTo>
                <a:lnTo>
                  <a:pt x="1158688" y="52947"/>
                </a:lnTo>
                <a:lnTo>
                  <a:pt x="1166844" y="65055"/>
                </a:lnTo>
                <a:lnTo>
                  <a:pt x="1178952" y="73211"/>
                </a:lnTo>
                <a:lnTo>
                  <a:pt x="1193800" y="76200"/>
                </a:lnTo>
                <a:lnTo>
                  <a:pt x="1208647" y="73211"/>
                </a:lnTo>
                <a:lnTo>
                  <a:pt x="1220755" y="65055"/>
                </a:lnTo>
                <a:lnTo>
                  <a:pt x="1228911" y="52947"/>
                </a:lnTo>
                <a:lnTo>
                  <a:pt x="1229906" y="48006"/>
                </a:lnTo>
                <a:lnTo>
                  <a:pt x="1193800" y="48006"/>
                </a:lnTo>
                <a:lnTo>
                  <a:pt x="1193800" y="28194"/>
                </a:lnTo>
                <a:lnTo>
                  <a:pt x="1229906" y="28194"/>
                </a:lnTo>
                <a:lnTo>
                  <a:pt x="1228911" y="23252"/>
                </a:lnTo>
                <a:lnTo>
                  <a:pt x="1220755" y="11144"/>
                </a:lnTo>
                <a:lnTo>
                  <a:pt x="1208647" y="2988"/>
                </a:lnTo>
                <a:lnTo>
                  <a:pt x="1193800" y="0"/>
                </a:lnTo>
                <a:close/>
              </a:path>
              <a:path w="1231900" h="76200">
                <a:moveTo>
                  <a:pt x="1157693" y="28194"/>
                </a:moveTo>
                <a:lnTo>
                  <a:pt x="1147572" y="28194"/>
                </a:lnTo>
                <a:lnTo>
                  <a:pt x="1147572" y="48006"/>
                </a:lnTo>
                <a:lnTo>
                  <a:pt x="1157693" y="48006"/>
                </a:lnTo>
                <a:lnTo>
                  <a:pt x="1155700" y="38100"/>
                </a:lnTo>
                <a:lnTo>
                  <a:pt x="1157693" y="28194"/>
                </a:lnTo>
                <a:close/>
              </a:path>
              <a:path w="1231900" h="76200">
                <a:moveTo>
                  <a:pt x="1229906" y="28194"/>
                </a:moveTo>
                <a:lnTo>
                  <a:pt x="1193800" y="28194"/>
                </a:lnTo>
                <a:lnTo>
                  <a:pt x="1193800" y="48006"/>
                </a:lnTo>
                <a:lnTo>
                  <a:pt x="1229906" y="48006"/>
                </a:lnTo>
                <a:lnTo>
                  <a:pt x="1231900" y="38100"/>
                </a:lnTo>
                <a:lnTo>
                  <a:pt x="1229906" y="28194"/>
                </a:lnTo>
                <a:close/>
              </a:path>
            </a:pathLst>
          </a:custGeom>
          <a:solidFill>
            <a:srgbClr val="A975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67278" y="2565654"/>
            <a:ext cx="1640839" cy="76200"/>
          </a:xfrm>
          <a:custGeom>
            <a:avLst/>
            <a:gdLst/>
            <a:ahLst/>
            <a:cxnLst/>
            <a:rect l="l" t="t" r="r" b="b"/>
            <a:pathLst>
              <a:path w="164083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06" y="48006"/>
                </a:lnTo>
                <a:lnTo>
                  <a:pt x="38100" y="48006"/>
                </a:lnTo>
                <a:lnTo>
                  <a:pt x="38100" y="28194"/>
                </a:lnTo>
                <a:lnTo>
                  <a:pt x="74206" y="28194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640839" h="76200">
                <a:moveTo>
                  <a:pt x="74206" y="28194"/>
                </a:moveTo>
                <a:lnTo>
                  <a:pt x="38100" y="28194"/>
                </a:lnTo>
                <a:lnTo>
                  <a:pt x="38100" y="48006"/>
                </a:lnTo>
                <a:lnTo>
                  <a:pt x="74206" y="48006"/>
                </a:lnTo>
                <a:lnTo>
                  <a:pt x="76200" y="38100"/>
                </a:lnTo>
                <a:lnTo>
                  <a:pt x="74206" y="28194"/>
                </a:lnTo>
                <a:close/>
              </a:path>
              <a:path w="1640839" h="76200">
                <a:moveTo>
                  <a:pt x="97536" y="28194"/>
                </a:moveTo>
                <a:lnTo>
                  <a:pt x="74206" y="28194"/>
                </a:lnTo>
                <a:lnTo>
                  <a:pt x="76200" y="38100"/>
                </a:lnTo>
                <a:lnTo>
                  <a:pt x="74206" y="48006"/>
                </a:lnTo>
                <a:lnTo>
                  <a:pt x="97536" y="48006"/>
                </a:lnTo>
                <a:lnTo>
                  <a:pt x="97536" y="28194"/>
                </a:lnTo>
                <a:close/>
              </a:path>
              <a:path w="1640839" h="76200">
                <a:moveTo>
                  <a:pt x="176784" y="28194"/>
                </a:moveTo>
                <a:lnTo>
                  <a:pt x="117348" y="28194"/>
                </a:lnTo>
                <a:lnTo>
                  <a:pt x="117348" y="48006"/>
                </a:lnTo>
                <a:lnTo>
                  <a:pt x="176784" y="48006"/>
                </a:lnTo>
                <a:lnTo>
                  <a:pt x="176784" y="28194"/>
                </a:lnTo>
                <a:close/>
              </a:path>
              <a:path w="1640839" h="76200">
                <a:moveTo>
                  <a:pt x="256032" y="28194"/>
                </a:moveTo>
                <a:lnTo>
                  <a:pt x="196596" y="28194"/>
                </a:lnTo>
                <a:lnTo>
                  <a:pt x="196596" y="48006"/>
                </a:lnTo>
                <a:lnTo>
                  <a:pt x="256032" y="48006"/>
                </a:lnTo>
                <a:lnTo>
                  <a:pt x="256032" y="28194"/>
                </a:lnTo>
                <a:close/>
              </a:path>
              <a:path w="1640839" h="76200">
                <a:moveTo>
                  <a:pt x="335280" y="28194"/>
                </a:moveTo>
                <a:lnTo>
                  <a:pt x="275844" y="28194"/>
                </a:lnTo>
                <a:lnTo>
                  <a:pt x="275844" y="48006"/>
                </a:lnTo>
                <a:lnTo>
                  <a:pt x="335280" y="48006"/>
                </a:lnTo>
                <a:lnTo>
                  <a:pt x="335280" y="28194"/>
                </a:lnTo>
                <a:close/>
              </a:path>
              <a:path w="1640839" h="76200">
                <a:moveTo>
                  <a:pt x="414527" y="28194"/>
                </a:moveTo>
                <a:lnTo>
                  <a:pt x="355092" y="28194"/>
                </a:lnTo>
                <a:lnTo>
                  <a:pt x="355092" y="48006"/>
                </a:lnTo>
                <a:lnTo>
                  <a:pt x="414527" y="48006"/>
                </a:lnTo>
                <a:lnTo>
                  <a:pt x="414527" y="28194"/>
                </a:lnTo>
                <a:close/>
              </a:path>
              <a:path w="1640839" h="76200">
                <a:moveTo>
                  <a:pt x="493775" y="28194"/>
                </a:moveTo>
                <a:lnTo>
                  <a:pt x="434339" y="28194"/>
                </a:lnTo>
                <a:lnTo>
                  <a:pt x="434339" y="48006"/>
                </a:lnTo>
                <a:lnTo>
                  <a:pt x="493775" y="48006"/>
                </a:lnTo>
                <a:lnTo>
                  <a:pt x="493775" y="28194"/>
                </a:lnTo>
                <a:close/>
              </a:path>
              <a:path w="1640839" h="76200">
                <a:moveTo>
                  <a:pt x="573024" y="28194"/>
                </a:moveTo>
                <a:lnTo>
                  <a:pt x="513588" y="28194"/>
                </a:lnTo>
                <a:lnTo>
                  <a:pt x="513588" y="48006"/>
                </a:lnTo>
                <a:lnTo>
                  <a:pt x="573024" y="48006"/>
                </a:lnTo>
                <a:lnTo>
                  <a:pt x="573024" y="28194"/>
                </a:lnTo>
                <a:close/>
              </a:path>
              <a:path w="1640839" h="76200">
                <a:moveTo>
                  <a:pt x="652272" y="28194"/>
                </a:moveTo>
                <a:lnTo>
                  <a:pt x="592836" y="28194"/>
                </a:lnTo>
                <a:lnTo>
                  <a:pt x="592836" y="48006"/>
                </a:lnTo>
                <a:lnTo>
                  <a:pt x="652272" y="48006"/>
                </a:lnTo>
                <a:lnTo>
                  <a:pt x="652272" y="28194"/>
                </a:lnTo>
                <a:close/>
              </a:path>
              <a:path w="1640839" h="76200">
                <a:moveTo>
                  <a:pt x="731520" y="28194"/>
                </a:moveTo>
                <a:lnTo>
                  <a:pt x="672084" y="28194"/>
                </a:lnTo>
                <a:lnTo>
                  <a:pt x="672084" y="48006"/>
                </a:lnTo>
                <a:lnTo>
                  <a:pt x="731520" y="48006"/>
                </a:lnTo>
                <a:lnTo>
                  <a:pt x="731520" y="28194"/>
                </a:lnTo>
                <a:close/>
              </a:path>
              <a:path w="1640839" h="76200">
                <a:moveTo>
                  <a:pt x="810768" y="28194"/>
                </a:moveTo>
                <a:lnTo>
                  <a:pt x="751332" y="28194"/>
                </a:lnTo>
                <a:lnTo>
                  <a:pt x="751332" y="48006"/>
                </a:lnTo>
                <a:lnTo>
                  <a:pt x="810768" y="48006"/>
                </a:lnTo>
                <a:lnTo>
                  <a:pt x="810768" y="28194"/>
                </a:lnTo>
                <a:close/>
              </a:path>
              <a:path w="1640839" h="76200">
                <a:moveTo>
                  <a:pt x="890016" y="28194"/>
                </a:moveTo>
                <a:lnTo>
                  <a:pt x="830580" y="28194"/>
                </a:lnTo>
                <a:lnTo>
                  <a:pt x="830580" y="48006"/>
                </a:lnTo>
                <a:lnTo>
                  <a:pt x="890016" y="48006"/>
                </a:lnTo>
                <a:lnTo>
                  <a:pt x="890016" y="28194"/>
                </a:lnTo>
                <a:close/>
              </a:path>
              <a:path w="1640839" h="76200">
                <a:moveTo>
                  <a:pt x="969263" y="28194"/>
                </a:moveTo>
                <a:lnTo>
                  <a:pt x="909827" y="28194"/>
                </a:lnTo>
                <a:lnTo>
                  <a:pt x="909827" y="48006"/>
                </a:lnTo>
                <a:lnTo>
                  <a:pt x="969263" y="48006"/>
                </a:lnTo>
                <a:lnTo>
                  <a:pt x="969263" y="28194"/>
                </a:lnTo>
                <a:close/>
              </a:path>
              <a:path w="1640839" h="76200">
                <a:moveTo>
                  <a:pt x="1048512" y="28194"/>
                </a:moveTo>
                <a:lnTo>
                  <a:pt x="989076" y="28194"/>
                </a:lnTo>
                <a:lnTo>
                  <a:pt x="989076" y="48006"/>
                </a:lnTo>
                <a:lnTo>
                  <a:pt x="1048512" y="48006"/>
                </a:lnTo>
                <a:lnTo>
                  <a:pt x="1048512" y="28194"/>
                </a:lnTo>
                <a:close/>
              </a:path>
              <a:path w="1640839" h="76200">
                <a:moveTo>
                  <a:pt x="1127760" y="28194"/>
                </a:moveTo>
                <a:lnTo>
                  <a:pt x="1068324" y="28194"/>
                </a:lnTo>
                <a:lnTo>
                  <a:pt x="1068324" y="48006"/>
                </a:lnTo>
                <a:lnTo>
                  <a:pt x="1127760" y="48006"/>
                </a:lnTo>
                <a:lnTo>
                  <a:pt x="1127760" y="28194"/>
                </a:lnTo>
                <a:close/>
              </a:path>
              <a:path w="1640839" h="76200">
                <a:moveTo>
                  <a:pt x="1207008" y="28194"/>
                </a:moveTo>
                <a:lnTo>
                  <a:pt x="1147572" y="28194"/>
                </a:lnTo>
                <a:lnTo>
                  <a:pt x="1147572" y="48006"/>
                </a:lnTo>
                <a:lnTo>
                  <a:pt x="1207008" y="48006"/>
                </a:lnTo>
                <a:lnTo>
                  <a:pt x="1207008" y="28194"/>
                </a:lnTo>
                <a:close/>
              </a:path>
              <a:path w="1640839" h="76200">
                <a:moveTo>
                  <a:pt x="1286256" y="28194"/>
                </a:moveTo>
                <a:lnTo>
                  <a:pt x="1226820" y="28194"/>
                </a:lnTo>
                <a:lnTo>
                  <a:pt x="1226820" y="48006"/>
                </a:lnTo>
                <a:lnTo>
                  <a:pt x="1286256" y="48006"/>
                </a:lnTo>
                <a:lnTo>
                  <a:pt x="1286256" y="28194"/>
                </a:lnTo>
                <a:close/>
              </a:path>
              <a:path w="1640839" h="76200">
                <a:moveTo>
                  <a:pt x="1365504" y="28194"/>
                </a:moveTo>
                <a:lnTo>
                  <a:pt x="1306068" y="28194"/>
                </a:lnTo>
                <a:lnTo>
                  <a:pt x="1306068" y="48006"/>
                </a:lnTo>
                <a:lnTo>
                  <a:pt x="1365504" y="48006"/>
                </a:lnTo>
                <a:lnTo>
                  <a:pt x="1365504" y="28194"/>
                </a:lnTo>
                <a:close/>
              </a:path>
              <a:path w="1640839" h="76200">
                <a:moveTo>
                  <a:pt x="1444752" y="28194"/>
                </a:moveTo>
                <a:lnTo>
                  <a:pt x="1385316" y="28194"/>
                </a:lnTo>
                <a:lnTo>
                  <a:pt x="1385316" y="48006"/>
                </a:lnTo>
                <a:lnTo>
                  <a:pt x="1444752" y="48006"/>
                </a:lnTo>
                <a:lnTo>
                  <a:pt x="1444752" y="28194"/>
                </a:lnTo>
                <a:close/>
              </a:path>
              <a:path w="1640839" h="76200">
                <a:moveTo>
                  <a:pt x="1524000" y="28194"/>
                </a:moveTo>
                <a:lnTo>
                  <a:pt x="1464564" y="28194"/>
                </a:lnTo>
                <a:lnTo>
                  <a:pt x="1464564" y="48006"/>
                </a:lnTo>
                <a:lnTo>
                  <a:pt x="1524000" y="48006"/>
                </a:lnTo>
                <a:lnTo>
                  <a:pt x="1524000" y="28194"/>
                </a:lnTo>
                <a:close/>
              </a:path>
              <a:path w="1640839" h="76200">
                <a:moveTo>
                  <a:pt x="1602232" y="0"/>
                </a:moveTo>
                <a:lnTo>
                  <a:pt x="1587384" y="2988"/>
                </a:lnTo>
                <a:lnTo>
                  <a:pt x="1575276" y="11144"/>
                </a:lnTo>
                <a:lnTo>
                  <a:pt x="1567120" y="23252"/>
                </a:lnTo>
                <a:lnTo>
                  <a:pt x="1564132" y="38100"/>
                </a:lnTo>
                <a:lnTo>
                  <a:pt x="1567120" y="52947"/>
                </a:lnTo>
                <a:lnTo>
                  <a:pt x="1575276" y="65055"/>
                </a:lnTo>
                <a:lnTo>
                  <a:pt x="1587384" y="73211"/>
                </a:lnTo>
                <a:lnTo>
                  <a:pt x="1602232" y="76200"/>
                </a:lnTo>
                <a:lnTo>
                  <a:pt x="1617025" y="73211"/>
                </a:lnTo>
                <a:lnTo>
                  <a:pt x="1629140" y="65055"/>
                </a:lnTo>
                <a:lnTo>
                  <a:pt x="1637325" y="52947"/>
                </a:lnTo>
                <a:lnTo>
                  <a:pt x="1638326" y="48006"/>
                </a:lnTo>
                <a:lnTo>
                  <a:pt x="1602232" y="48006"/>
                </a:lnTo>
                <a:lnTo>
                  <a:pt x="1602232" y="28194"/>
                </a:lnTo>
                <a:lnTo>
                  <a:pt x="1638326" y="28194"/>
                </a:lnTo>
                <a:lnTo>
                  <a:pt x="1637325" y="23252"/>
                </a:lnTo>
                <a:lnTo>
                  <a:pt x="1629140" y="11144"/>
                </a:lnTo>
                <a:lnTo>
                  <a:pt x="1617025" y="2988"/>
                </a:lnTo>
                <a:lnTo>
                  <a:pt x="1602232" y="0"/>
                </a:lnTo>
                <a:close/>
              </a:path>
              <a:path w="1640839" h="76200">
                <a:moveTo>
                  <a:pt x="1566125" y="28194"/>
                </a:moveTo>
                <a:lnTo>
                  <a:pt x="1543812" y="28194"/>
                </a:lnTo>
                <a:lnTo>
                  <a:pt x="1543812" y="48006"/>
                </a:lnTo>
                <a:lnTo>
                  <a:pt x="1566125" y="48006"/>
                </a:lnTo>
                <a:lnTo>
                  <a:pt x="1564132" y="38100"/>
                </a:lnTo>
                <a:lnTo>
                  <a:pt x="1566125" y="28194"/>
                </a:lnTo>
                <a:close/>
              </a:path>
              <a:path w="1640839" h="76200">
                <a:moveTo>
                  <a:pt x="1638326" y="28194"/>
                </a:moveTo>
                <a:lnTo>
                  <a:pt x="1602232" y="28194"/>
                </a:lnTo>
                <a:lnTo>
                  <a:pt x="1602232" y="48006"/>
                </a:lnTo>
                <a:lnTo>
                  <a:pt x="1638326" y="48006"/>
                </a:lnTo>
                <a:lnTo>
                  <a:pt x="1640332" y="38100"/>
                </a:lnTo>
                <a:lnTo>
                  <a:pt x="1638326" y="28194"/>
                </a:lnTo>
                <a:close/>
              </a:path>
            </a:pathLst>
          </a:custGeom>
          <a:solidFill>
            <a:srgbClr val="C6AB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07814" y="5186934"/>
            <a:ext cx="399415" cy="76200"/>
          </a:xfrm>
          <a:custGeom>
            <a:avLst/>
            <a:gdLst/>
            <a:ahLst/>
            <a:cxnLst/>
            <a:rect l="l" t="t" r="r" b="b"/>
            <a:pathLst>
              <a:path w="399414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06" y="48006"/>
                </a:lnTo>
                <a:lnTo>
                  <a:pt x="38100" y="48006"/>
                </a:lnTo>
                <a:lnTo>
                  <a:pt x="38100" y="28194"/>
                </a:lnTo>
                <a:lnTo>
                  <a:pt x="74206" y="28194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99414" h="76200">
                <a:moveTo>
                  <a:pt x="74206" y="28194"/>
                </a:moveTo>
                <a:lnTo>
                  <a:pt x="38100" y="28194"/>
                </a:lnTo>
                <a:lnTo>
                  <a:pt x="38100" y="48006"/>
                </a:lnTo>
                <a:lnTo>
                  <a:pt x="74206" y="48006"/>
                </a:lnTo>
                <a:lnTo>
                  <a:pt x="76200" y="38100"/>
                </a:lnTo>
                <a:lnTo>
                  <a:pt x="74206" y="28194"/>
                </a:lnTo>
                <a:close/>
              </a:path>
              <a:path w="399414" h="76200">
                <a:moveTo>
                  <a:pt x="97536" y="28194"/>
                </a:moveTo>
                <a:lnTo>
                  <a:pt x="74206" y="28194"/>
                </a:lnTo>
                <a:lnTo>
                  <a:pt x="76200" y="38100"/>
                </a:lnTo>
                <a:lnTo>
                  <a:pt x="74206" y="48006"/>
                </a:lnTo>
                <a:lnTo>
                  <a:pt x="97536" y="48006"/>
                </a:lnTo>
                <a:lnTo>
                  <a:pt x="97536" y="28194"/>
                </a:lnTo>
                <a:close/>
              </a:path>
              <a:path w="399414" h="76200">
                <a:moveTo>
                  <a:pt x="176784" y="28194"/>
                </a:moveTo>
                <a:lnTo>
                  <a:pt x="117348" y="28194"/>
                </a:lnTo>
                <a:lnTo>
                  <a:pt x="117348" y="48006"/>
                </a:lnTo>
                <a:lnTo>
                  <a:pt x="176784" y="48006"/>
                </a:lnTo>
                <a:lnTo>
                  <a:pt x="176784" y="28194"/>
                </a:lnTo>
                <a:close/>
              </a:path>
              <a:path w="399414" h="76200">
                <a:moveTo>
                  <a:pt x="256032" y="28194"/>
                </a:moveTo>
                <a:lnTo>
                  <a:pt x="196596" y="28194"/>
                </a:lnTo>
                <a:lnTo>
                  <a:pt x="196596" y="48006"/>
                </a:lnTo>
                <a:lnTo>
                  <a:pt x="256032" y="48006"/>
                </a:lnTo>
                <a:lnTo>
                  <a:pt x="256032" y="28194"/>
                </a:lnTo>
                <a:close/>
              </a:path>
              <a:path w="399414" h="76200">
                <a:moveTo>
                  <a:pt x="360934" y="0"/>
                </a:moveTo>
                <a:lnTo>
                  <a:pt x="346140" y="2988"/>
                </a:lnTo>
                <a:lnTo>
                  <a:pt x="334025" y="11144"/>
                </a:lnTo>
                <a:lnTo>
                  <a:pt x="325840" y="23252"/>
                </a:lnTo>
                <a:lnTo>
                  <a:pt x="322834" y="38100"/>
                </a:lnTo>
                <a:lnTo>
                  <a:pt x="325840" y="52947"/>
                </a:lnTo>
                <a:lnTo>
                  <a:pt x="334025" y="65055"/>
                </a:lnTo>
                <a:lnTo>
                  <a:pt x="346140" y="73211"/>
                </a:lnTo>
                <a:lnTo>
                  <a:pt x="360934" y="76200"/>
                </a:lnTo>
                <a:lnTo>
                  <a:pt x="375781" y="73211"/>
                </a:lnTo>
                <a:lnTo>
                  <a:pt x="387889" y="65055"/>
                </a:lnTo>
                <a:lnTo>
                  <a:pt x="396045" y="52947"/>
                </a:lnTo>
                <a:lnTo>
                  <a:pt x="397040" y="48006"/>
                </a:lnTo>
                <a:lnTo>
                  <a:pt x="335280" y="48006"/>
                </a:lnTo>
                <a:lnTo>
                  <a:pt x="335280" y="28194"/>
                </a:lnTo>
                <a:lnTo>
                  <a:pt x="397040" y="28194"/>
                </a:lnTo>
                <a:lnTo>
                  <a:pt x="396045" y="23252"/>
                </a:lnTo>
                <a:lnTo>
                  <a:pt x="387889" y="11144"/>
                </a:lnTo>
                <a:lnTo>
                  <a:pt x="375781" y="2988"/>
                </a:lnTo>
                <a:lnTo>
                  <a:pt x="360934" y="0"/>
                </a:lnTo>
                <a:close/>
              </a:path>
              <a:path w="399414" h="76200">
                <a:moveTo>
                  <a:pt x="324839" y="28194"/>
                </a:moveTo>
                <a:lnTo>
                  <a:pt x="275844" y="28194"/>
                </a:lnTo>
                <a:lnTo>
                  <a:pt x="275844" y="48006"/>
                </a:lnTo>
                <a:lnTo>
                  <a:pt x="324839" y="48006"/>
                </a:lnTo>
                <a:lnTo>
                  <a:pt x="322834" y="38100"/>
                </a:lnTo>
                <a:lnTo>
                  <a:pt x="324839" y="28194"/>
                </a:lnTo>
                <a:close/>
              </a:path>
              <a:path w="399414" h="76200">
                <a:moveTo>
                  <a:pt x="355091" y="28194"/>
                </a:moveTo>
                <a:lnTo>
                  <a:pt x="335280" y="28194"/>
                </a:lnTo>
                <a:lnTo>
                  <a:pt x="335280" y="48006"/>
                </a:lnTo>
                <a:lnTo>
                  <a:pt x="355091" y="48006"/>
                </a:lnTo>
                <a:lnTo>
                  <a:pt x="355091" y="28194"/>
                </a:lnTo>
                <a:close/>
              </a:path>
              <a:path w="399414" h="76200">
                <a:moveTo>
                  <a:pt x="360934" y="28194"/>
                </a:moveTo>
                <a:lnTo>
                  <a:pt x="355091" y="28194"/>
                </a:lnTo>
                <a:lnTo>
                  <a:pt x="355091" y="48006"/>
                </a:lnTo>
                <a:lnTo>
                  <a:pt x="360934" y="48006"/>
                </a:lnTo>
                <a:lnTo>
                  <a:pt x="360934" y="28194"/>
                </a:lnTo>
                <a:close/>
              </a:path>
              <a:path w="399414" h="76200">
                <a:moveTo>
                  <a:pt x="397040" y="28194"/>
                </a:moveTo>
                <a:lnTo>
                  <a:pt x="360934" y="28194"/>
                </a:lnTo>
                <a:lnTo>
                  <a:pt x="360934" y="48006"/>
                </a:lnTo>
                <a:lnTo>
                  <a:pt x="397040" y="48006"/>
                </a:lnTo>
                <a:lnTo>
                  <a:pt x="399034" y="38100"/>
                </a:lnTo>
                <a:lnTo>
                  <a:pt x="397040" y="28194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0955" y="4882896"/>
            <a:ext cx="4003675" cy="889000"/>
          </a:xfrm>
          <a:custGeom>
            <a:avLst/>
            <a:gdLst/>
            <a:ahLst/>
            <a:cxnLst/>
            <a:rect l="l" t="t" r="r" b="b"/>
            <a:pathLst>
              <a:path w="4003675" h="889000">
                <a:moveTo>
                  <a:pt x="3588893" y="0"/>
                </a:moveTo>
                <a:lnTo>
                  <a:pt x="414629" y="0"/>
                </a:lnTo>
                <a:lnTo>
                  <a:pt x="0" y="888491"/>
                </a:lnTo>
                <a:lnTo>
                  <a:pt x="4003548" y="888491"/>
                </a:lnTo>
                <a:lnTo>
                  <a:pt x="358889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0955" y="4882896"/>
            <a:ext cx="4003675" cy="889000"/>
          </a:xfrm>
          <a:custGeom>
            <a:avLst/>
            <a:gdLst/>
            <a:ahLst/>
            <a:cxnLst/>
            <a:rect l="l" t="t" r="r" b="b"/>
            <a:pathLst>
              <a:path w="4003675" h="889000">
                <a:moveTo>
                  <a:pt x="0" y="888491"/>
                </a:moveTo>
                <a:lnTo>
                  <a:pt x="414629" y="0"/>
                </a:lnTo>
                <a:lnTo>
                  <a:pt x="3588893" y="0"/>
                </a:lnTo>
                <a:lnTo>
                  <a:pt x="4003548" y="888491"/>
                </a:lnTo>
                <a:lnTo>
                  <a:pt x="0" y="888491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69998" y="5183504"/>
            <a:ext cx="1049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FFFFFF"/>
                </a:solidFill>
                <a:latin typeface="明兰"/>
                <a:cs typeface="明兰"/>
              </a:rPr>
              <a:t>营运能力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02436" y="3976115"/>
            <a:ext cx="3183890" cy="904240"/>
          </a:xfrm>
          <a:custGeom>
            <a:avLst/>
            <a:gdLst/>
            <a:ahLst/>
            <a:cxnLst/>
            <a:rect l="l" t="t" r="r" b="b"/>
            <a:pathLst>
              <a:path w="3183890" h="904239">
                <a:moveTo>
                  <a:pt x="2761868" y="0"/>
                </a:moveTo>
                <a:lnTo>
                  <a:pt x="421766" y="0"/>
                </a:lnTo>
                <a:lnTo>
                  <a:pt x="0" y="903731"/>
                </a:lnTo>
                <a:lnTo>
                  <a:pt x="3183636" y="903731"/>
                </a:lnTo>
                <a:lnTo>
                  <a:pt x="2761868" y="0"/>
                </a:lnTo>
                <a:close/>
              </a:path>
            </a:pathLst>
          </a:custGeom>
          <a:solidFill>
            <a:srgbClr val="762727">
              <a:alpha val="8705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02436" y="3976115"/>
            <a:ext cx="3183890" cy="904240"/>
          </a:xfrm>
          <a:custGeom>
            <a:avLst/>
            <a:gdLst/>
            <a:ahLst/>
            <a:cxnLst/>
            <a:rect l="l" t="t" r="r" b="b"/>
            <a:pathLst>
              <a:path w="3183890" h="904239">
                <a:moveTo>
                  <a:pt x="0" y="903731"/>
                </a:moveTo>
                <a:lnTo>
                  <a:pt x="421766" y="0"/>
                </a:lnTo>
                <a:lnTo>
                  <a:pt x="2761868" y="0"/>
                </a:lnTo>
                <a:lnTo>
                  <a:pt x="3183636" y="903731"/>
                </a:lnTo>
                <a:lnTo>
                  <a:pt x="0" y="903731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72360" y="4326077"/>
            <a:ext cx="84264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5" b="1">
                <a:solidFill>
                  <a:srgbClr val="FFFFFF"/>
                </a:solidFill>
                <a:latin typeface="明兰"/>
                <a:cs typeface="明兰"/>
              </a:rPr>
              <a:t>偿</a:t>
            </a:r>
            <a:r>
              <a:rPr dirty="0" sz="1600" b="1">
                <a:solidFill>
                  <a:srgbClr val="FFFFFF"/>
                </a:solidFill>
                <a:latin typeface="明兰"/>
                <a:cs typeface="明兰"/>
              </a:rPr>
              <a:t>债能</a:t>
            </a:r>
            <a:r>
              <a:rPr dirty="0" sz="1600" spc="-5" b="1">
                <a:solidFill>
                  <a:srgbClr val="FFFFFF"/>
                </a:solidFill>
                <a:latin typeface="明兰"/>
                <a:cs typeface="明兰"/>
              </a:rPr>
              <a:t>力</a:t>
            </a:r>
            <a:endParaRPr sz="1600">
              <a:latin typeface="明兰"/>
              <a:cs typeface="明兰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0679" y="3052572"/>
            <a:ext cx="2322830" cy="911860"/>
          </a:xfrm>
          <a:custGeom>
            <a:avLst/>
            <a:gdLst/>
            <a:ahLst/>
            <a:cxnLst/>
            <a:rect l="l" t="t" r="r" b="b"/>
            <a:pathLst>
              <a:path w="2322829" h="911860">
                <a:moveTo>
                  <a:pt x="1897253" y="0"/>
                </a:moveTo>
                <a:lnTo>
                  <a:pt x="425322" y="0"/>
                </a:lnTo>
                <a:lnTo>
                  <a:pt x="0" y="911351"/>
                </a:lnTo>
                <a:lnTo>
                  <a:pt x="2322575" y="911351"/>
                </a:lnTo>
                <a:lnTo>
                  <a:pt x="1897253" y="0"/>
                </a:lnTo>
                <a:close/>
              </a:path>
            </a:pathLst>
          </a:custGeom>
          <a:solidFill>
            <a:srgbClr val="660000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30679" y="3052572"/>
            <a:ext cx="2322830" cy="911860"/>
          </a:xfrm>
          <a:custGeom>
            <a:avLst/>
            <a:gdLst/>
            <a:ahLst/>
            <a:cxnLst/>
            <a:rect l="l" t="t" r="r" b="b"/>
            <a:pathLst>
              <a:path w="2322829" h="911860">
                <a:moveTo>
                  <a:pt x="0" y="911351"/>
                </a:moveTo>
                <a:lnTo>
                  <a:pt x="425322" y="0"/>
                </a:lnTo>
                <a:lnTo>
                  <a:pt x="1897253" y="0"/>
                </a:lnTo>
                <a:lnTo>
                  <a:pt x="2322575" y="911351"/>
                </a:lnTo>
                <a:lnTo>
                  <a:pt x="0" y="911351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74214" y="3456813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明兰"/>
                <a:cs typeface="明兰"/>
              </a:rPr>
              <a:t>盈利能力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49779" y="2168651"/>
            <a:ext cx="1487805" cy="878205"/>
          </a:xfrm>
          <a:custGeom>
            <a:avLst/>
            <a:gdLst/>
            <a:ahLst/>
            <a:cxnLst/>
            <a:rect l="l" t="t" r="r" b="b"/>
            <a:pathLst>
              <a:path w="1487804" h="878205">
                <a:moveTo>
                  <a:pt x="1077721" y="0"/>
                </a:moveTo>
                <a:lnTo>
                  <a:pt x="409701" y="0"/>
                </a:lnTo>
                <a:lnTo>
                  <a:pt x="0" y="877824"/>
                </a:lnTo>
                <a:lnTo>
                  <a:pt x="1487423" y="877824"/>
                </a:lnTo>
                <a:lnTo>
                  <a:pt x="1077721" y="0"/>
                </a:lnTo>
                <a:close/>
              </a:path>
            </a:pathLst>
          </a:custGeom>
          <a:solidFill>
            <a:srgbClr val="660000">
              <a:alpha val="2784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49779" y="2168651"/>
            <a:ext cx="1487805" cy="878205"/>
          </a:xfrm>
          <a:custGeom>
            <a:avLst/>
            <a:gdLst/>
            <a:ahLst/>
            <a:cxnLst/>
            <a:rect l="l" t="t" r="r" b="b"/>
            <a:pathLst>
              <a:path w="1487804" h="878205">
                <a:moveTo>
                  <a:pt x="0" y="877824"/>
                </a:moveTo>
                <a:lnTo>
                  <a:pt x="409701" y="0"/>
                </a:lnTo>
                <a:lnTo>
                  <a:pt x="1077721" y="0"/>
                </a:lnTo>
                <a:lnTo>
                  <a:pt x="1487423" y="877824"/>
                </a:lnTo>
                <a:lnTo>
                  <a:pt x="0" y="877824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01264" y="2588717"/>
            <a:ext cx="5867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FFFFFF"/>
                </a:solidFill>
                <a:latin typeface="明兰"/>
                <a:cs typeface="明兰"/>
              </a:rPr>
              <a:t>公司规模</a:t>
            </a:r>
            <a:endParaRPr sz="1100">
              <a:latin typeface="明兰"/>
              <a:cs typeface="明兰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4134" y="5368797"/>
            <a:ext cx="2566035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营</a:t>
            </a:r>
            <a:r>
              <a:rPr dirty="0" sz="1000" spc="-5">
                <a:latin typeface="宋体"/>
                <a:cs typeface="宋体"/>
              </a:rPr>
              <a:t>运能</a:t>
            </a:r>
            <a:r>
              <a:rPr dirty="0" sz="1000" spc="5">
                <a:latin typeface="宋体"/>
                <a:cs typeface="宋体"/>
              </a:rPr>
              <a:t>力</a:t>
            </a:r>
            <a:r>
              <a:rPr dirty="0" sz="1000" spc="-5">
                <a:latin typeface="宋体"/>
                <a:cs typeface="宋体"/>
              </a:rPr>
              <a:t>较强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代工</a:t>
            </a:r>
            <a:r>
              <a:rPr dirty="0" sz="1000" spc="5">
                <a:latin typeface="宋体"/>
                <a:cs typeface="宋体"/>
              </a:rPr>
              <a:t>厂</a:t>
            </a:r>
            <a:r>
              <a:rPr dirty="0" sz="1000" spc="-5">
                <a:latin typeface="宋体"/>
                <a:cs typeface="宋体"/>
              </a:rPr>
              <a:t>经营</a:t>
            </a:r>
            <a:r>
              <a:rPr dirty="0" sz="1000" spc="5">
                <a:latin typeface="宋体"/>
                <a:cs typeface="宋体"/>
              </a:rPr>
              <a:t>运</a:t>
            </a:r>
            <a:r>
              <a:rPr dirty="0" sz="1000" spc="-5">
                <a:latin typeface="宋体"/>
                <a:cs typeface="宋体"/>
              </a:rPr>
              <a:t>行能</a:t>
            </a:r>
            <a:r>
              <a:rPr dirty="0" sz="1000" spc="5">
                <a:latin typeface="宋体"/>
                <a:cs typeface="宋体"/>
              </a:rPr>
              <a:t>力</a:t>
            </a:r>
            <a:r>
              <a:rPr dirty="0" sz="1000" spc="-5">
                <a:latin typeface="宋体"/>
                <a:cs typeface="宋体"/>
              </a:rPr>
              <a:t>较强</a:t>
            </a:r>
            <a:r>
              <a:rPr dirty="0" sz="1000" spc="5">
                <a:latin typeface="宋体"/>
                <a:cs typeface="宋体"/>
              </a:rPr>
              <a:t>，</a:t>
            </a:r>
            <a:r>
              <a:rPr dirty="0" sz="1000" spc="-5">
                <a:latin typeface="宋体"/>
                <a:cs typeface="宋体"/>
              </a:rPr>
              <a:t>对 </a:t>
            </a:r>
            <a:r>
              <a:rPr dirty="0" sz="1000" spc="5">
                <a:latin typeface="宋体"/>
                <a:cs typeface="宋体"/>
              </a:rPr>
              <a:t>资</a:t>
            </a:r>
            <a:r>
              <a:rPr dirty="0" sz="1000" spc="-5">
                <a:latin typeface="宋体"/>
                <a:cs typeface="宋体"/>
              </a:rPr>
              <a:t>产的</a:t>
            </a:r>
            <a:r>
              <a:rPr dirty="0" sz="1000" spc="5">
                <a:latin typeface="宋体"/>
                <a:cs typeface="宋体"/>
              </a:rPr>
              <a:t>管</a:t>
            </a:r>
            <a:r>
              <a:rPr dirty="0" sz="1000" spc="-5">
                <a:latin typeface="宋体"/>
                <a:cs typeface="宋体"/>
              </a:rPr>
              <a:t>理和</a:t>
            </a:r>
            <a:r>
              <a:rPr dirty="0" sz="1000" spc="5">
                <a:latin typeface="宋体"/>
                <a:cs typeface="宋体"/>
              </a:rPr>
              <a:t>利</a:t>
            </a:r>
            <a:r>
              <a:rPr dirty="0" sz="1000" spc="-5">
                <a:latin typeface="宋体"/>
                <a:cs typeface="宋体"/>
              </a:rPr>
              <a:t>用更</a:t>
            </a:r>
            <a:r>
              <a:rPr dirty="0" sz="1000" spc="5">
                <a:latin typeface="宋体"/>
                <a:cs typeface="宋体"/>
              </a:rPr>
              <a:t>科</a:t>
            </a:r>
            <a:r>
              <a:rPr dirty="0" sz="1000" spc="-5">
                <a:latin typeface="宋体"/>
                <a:cs typeface="宋体"/>
              </a:rPr>
              <a:t>学，</a:t>
            </a:r>
            <a:r>
              <a:rPr dirty="0" sz="1000" spc="5">
                <a:latin typeface="宋体"/>
                <a:cs typeface="宋体"/>
              </a:rPr>
              <a:t>支</a:t>
            </a:r>
            <a:r>
              <a:rPr dirty="0" sz="1000" spc="-5">
                <a:latin typeface="宋体"/>
                <a:cs typeface="宋体"/>
              </a:rPr>
              <a:t>付款</a:t>
            </a:r>
            <a:r>
              <a:rPr dirty="0" sz="1000" spc="5">
                <a:latin typeface="宋体"/>
                <a:cs typeface="宋体"/>
              </a:rPr>
              <a:t>项</a:t>
            </a:r>
            <a:r>
              <a:rPr dirty="0" sz="1000" spc="-5">
                <a:latin typeface="宋体"/>
                <a:cs typeface="宋体"/>
              </a:rPr>
              <a:t>及时</a:t>
            </a:r>
            <a:r>
              <a:rPr dirty="0" sz="1000" spc="5">
                <a:latin typeface="宋体"/>
                <a:cs typeface="宋体"/>
              </a:rPr>
              <a:t>，</a:t>
            </a:r>
            <a:r>
              <a:rPr dirty="0" sz="1000" spc="-5">
                <a:latin typeface="宋体"/>
                <a:cs typeface="宋体"/>
              </a:rPr>
              <a:t>组 </a:t>
            </a:r>
            <a:r>
              <a:rPr dirty="0" sz="1000" spc="5">
                <a:latin typeface="宋体"/>
                <a:cs typeface="宋体"/>
              </a:rPr>
              <a:t>装</a:t>
            </a:r>
            <a:r>
              <a:rPr dirty="0" sz="1000" spc="-5">
                <a:latin typeface="宋体"/>
                <a:cs typeface="宋体"/>
              </a:rPr>
              <a:t>、销</a:t>
            </a:r>
            <a:r>
              <a:rPr dirty="0" sz="1000" spc="5">
                <a:latin typeface="宋体"/>
                <a:cs typeface="宋体"/>
              </a:rPr>
              <a:t>售</a:t>
            </a:r>
            <a:r>
              <a:rPr dirty="0" sz="1000" spc="-5">
                <a:latin typeface="宋体"/>
                <a:cs typeface="宋体"/>
              </a:rPr>
              <a:t>手机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效率</a:t>
            </a:r>
            <a:r>
              <a:rPr dirty="0" sz="1000" spc="5">
                <a:latin typeface="宋体"/>
                <a:cs typeface="宋体"/>
              </a:rPr>
              <a:t>更</a:t>
            </a:r>
            <a:r>
              <a:rPr dirty="0" sz="1000" spc="-5">
                <a:latin typeface="宋体"/>
                <a:cs typeface="宋体"/>
              </a:rPr>
              <a:t>高，</a:t>
            </a:r>
            <a:r>
              <a:rPr dirty="0" sz="1000" spc="5">
                <a:latin typeface="宋体"/>
                <a:cs typeface="宋体"/>
              </a:rPr>
              <a:t>利</a:t>
            </a:r>
            <a:r>
              <a:rPr dirty="0" sz="1000" spc="-5">
                <a:latin typeface="宋体"/>
                <a:cs typeface="宋体"/>
              </a:rPr>
              <a:t>润质</a:t>
            </a:r>
            <a:r>
              <a:rPr dirty="0" sz="1000" spc="5">
                <a:latin typeface="宋体"/>
                <a:cs typeface="宋体"/>
              </a:rPr>
              <a:t>量</a:t>
            </a:r>
            <a:r>
              <a:rPr dirty="0" sz="1000" spc="-5">
                <a:latin typeface="宋体"/>
                <a:cs typeface="宋体"/>
              </a:rPr>
              <a:t>更好</a:t>
            </a:r>
            <a:r>
              <a:rPr dirty="0" sz="1000" spc="5">
                <a:latin typeface="宋体"/>
                <a:cs typeface="宋体"/>
              </a:rPr>
              <a:t>。</a:t>
            </a:r>
            <a:r>
              <a:rPr dirty="0" sz="1000" spc="-5">
                <a:latin typeface="宋体"/>
                <a:cs typeface="宋体"/>
              </a:rPr>
              <a:t>与 </a:t>
            </a:r>
            <a:r>
              <a:rPr dirty="0" sz="1000">
                <a:latin typeface="宋体"/>
                <a:cs typeface="宋体"/>
              </a:rPr>
              <a:t>其</a:t>
            </a:r>
            <a:r>
              <a:rPr dirty="0" sz="1000" spc="-5">
                <a:latin typeface="宋体"/>
                <a:cs typeface="宋体"/>
              </a:rPr>
              <a:t>建</a:t>
            </a:r>
            <a:r>
              <a:rPr dirty="0" sz="1000" spc="-10">
                <a:latin typeface="宋体"/>
                <a:cs typeface="宋体"/>
              </a:rPr>
              <a:t>立</a:t>
            </a:r>
            <a:r>
              <a:rPr dirty="0" sz="1000">
                <a:latin typeface="宋体"/>
                <a:cs typeface="宋体"/>
              </a:rPr>
              <a:t>合</a:t>
            </a:r>
            <a:r>
              <a:rPr dirty="0" sz="1000" spc="-5">
                <a:latin typeface="宋体"/>
                <a:cs typeface="宋体"/>
              </a:rPr>
              <a:t>作</a:t>
            </a:r>
            <a:r>
              <a:rPr dirty="0" sz="1000" spc="-10">
                <a:latin typeface="宋体"/>
                <a:cs typeface="宋体"/>
              </a:rPr>
              <a:t>关</a:t>
            </a:r>
            <a:r>
              <a:rPr dirty="0" sz="1000">
                <a:latin typeface="宋体"/>
                <a:cs typeface="宋体"/>
              </a:rPr>
              <a:t>系</a:t>
            </a:r>
            <a:r>
              <a:rPr dirty="0" sz="1000" spc="-5">
                <a:latin typeface="宋体"/>
                <a:cs typeface="宋体"/>
              </a:rPr>
              <a:t>，</a:t>
            </a:r>
            <a:r>
              <a:rPr dirty="0" sz="1000" spc="-10">
                <a:latin typeface="宋体"/>
                <a:cs typeface="宋体"/>
              </a:rPr>
              <a:t>可</a:t>
            </a:r>
            <a:r>
              <a:rPr dirty="0" sz="1000">
                <a:latin typeface="宋体"/>
                <a:cs typeface="宋体"/>
              </a:rPr>
              <a:t>较</a:t>
            </a:r>
            <a:r>
              <a:rPr dirty="0" sz="1000" spc="-5">
                <a:latin typeface="宋体"/>
                <a:cs typeface="宋体"/>
              </a:rPr>
              <a:t>快</a:t>
            </a:r>
            <a:r>
              <a:rPr dirty="0" sz="1000" spc="-10">
                <a:latin typeface="宋体"/>
                <a:cs typeface="宋体"/>
              </a:rPr>
              <a:t>回</a:t>
            </a:r>
            <a:r>
              <a:rPr dirty="0" sz="1000">
                <a:latin typeface="宋体"/>
                <a:cs typeface="宋体"/>
              </a:rPr>
              <a:t>收</a:t>
            </a:r>
            <a:r>
              <a:rPr dirty="0" sz="1000" spc="-5">
                <a:latin typeface="宋体"/>
                <a:cs typeface="宋体"/>
              </a:rPr>
              <a:t>账</a:t>
            </a:r>
            <a:r>
              <a:rPr dirty="0" sz="1000" spc="-10">
                <a:latin typeface="宋体"/>
                <a:cs typeface="宋体"/>
              </a:rPr>
              <a:t>款</a:t>
            </a:r>
            <a:r>
              <a:rPr dirty="0" sz="1000">
                <a:latin typeface="宋体"/>
                <a:cs typeface="宋体"/>
              </a:rPr>
              <a:t>，</a:t>
            </a:r>
            <a:r>
              <a:rPr dirty="0" sz="1000" spc="-5">
                <a:latin typeface="宋体"/>
                <a:cs typeface="宋体"/>
              </a:rPr>
              <a:t>高</a:t>
            </a:r>
            <a:r>
              <a:rPr dirty="0" sz="1000" spc="-10">
                <a:latin typeface="宋体"/>
                <a:cs typeface="宋体"/>
              </a:rPr>
              <a:t>效</a:t>
            </a:r>
            <a:r>
              <a:rPr dirty="0" sz="1000">
                <a:latin typeface="宋体"/>
                <a:cs typeface="宋体"/>
              </a:rPr>
              <a:t>率</a:t>
            </a:r>
            <a:r>
              <a:rPr dirty="0" sz="1000" spc="-5">
                <a:latin typeface="宋体"/>
                <a:cs typeface="宋体"/>
              </a:rPr>
              <a:t>实 </a:t>
            </a:r>
            <a:r>
              <a:rPr dirty="0" sz="1000" spc="5">
                <a:latin typeface="宋体"/>
                <a:cs typeface="宋体"/>
              </a:rPr>
              <a:t>现</a:t>
            </a:r>
            <a:r>
              <a:rPr dirty="0" sz="1000" spc="-5">
                <a:latin typeface="宋体"/>
                <a:cs typeface="宋体"/>
              </a:rPr>
              <a:t>生产</a:t>
            </a:r>
            <a:r>
              <a:rPr dirty="0" sz="1000" spc="5">
                <a:latin typeface="宋体"/>
                <a:cs typeface="宋体"/>
              </a:rPr>
              <a:t>和</a:t>
            </a:r>
            <a:r>
              <a:rPr dirty="0" sz="1000" spc="-5">
                <a:latin typeface="宋体"/>
                <a:cs typeface="宋体"/>
              </a:rPr>
              <a:t>销售。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50408" y="5000244"/>
            <a:ext cx="2825750" cy="302260"/>
          </a:xfrm>
          <a:custGeom>
            <a:avLst/>
            <a:gdLst/>
            <a:ahLst/>
            <a:cxnLst/>
            <a:rect l="l" t="t" r="r" b="b"/>
            <a:pathLst>
              <a:path w="2825750" h="302260">
                <a:moveTo>
                  <a:pt x="2674619" y="0"/>
                </a:moveTo>
                <a:lnTo>
                  <a:pt x="150875" y="0"/>
                </a:lnTo>
                <a:lnTo>
                  <a:pt x="103193" y="7693"/>
                </a:lnTo>
                <a:lnTo>
                  <a:pt x="61776" y="29114"/>
                </a:lnTo>
                <a:lnTo>
                  <a:pt x="29114" y="61776"/>
                </a:lnTo>
                <a:lnTo>
                  <a:pt x="7693" y="103193"/>
                </a:lnTo>
                <a:lnTo>
                  <a:pt x="0" y="150875"/>
                </a:lnTo>
                <a:lnTo>
                  <a:pt x="7693" y="198558"/>
                </a:lnTo>
                <a:lnTo>
                  <a:pt x="29114" y="239975"/>
                </a:lnTo>
                <a:lnTo>
                  <a:pt x="61776" y="272637"/>
                </a:lnTo>
                <a:lnTo>
                  <a:pt x="103193" y="294058"/>
                </a:lnTo>
                <a:lnTo>
                  <a:pt x="150875" y="301751"/>
                </a:lnTo>
                <a:lnTo>
                  <a:pt x="2674619" y="301751"/>
                </a:lnTo>
                <a:lnTo>
                  <a:pt x="2722302" y="294058"/>
                </a:lnTo>
                <a:lnTo>
                  <a:pt x="2763719" y="272637"/>
                </a:lnTo>
                <a:lnTo>
                  <a:pt x="2796381" y="239975"/>
                </a:lnTo>
                <a:lnTo>
                  <a:pt x="2817802" y="198558"/>
                </a:lnTo>
                <a:lnTo>
                  <a:pt x="2825495" y="150875"/>
                </a:lnTo>
                <a:lnTo>
                  <a:pt x="2817802" y="103193"/>
                </a:lnTo>
                <a:lnTo>
                  <a:pt x="2796381" y="61776"/>
                </a:lnTo>
                <a:lnTo>
                  <a:pt x="2763719" y="29114"/>
                </a:lnTo>
                <a:lnTo>
                  <a:pt x="2722302" y="7693"/>
                </a:lnTo>
                <a:lnTo>
                  <a:pt x="2674619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672454" y="5041772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明兰"/>
                <a:cs typeface="明兰"/>
              </a:rPr>
              <a:t>营运能力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4134" y="4476369"/>
            <a:ext cx="2565400" cy="476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98000"/>
              </a:lnSpc>
              <a:spcBef>
                <a:spcPts val="120"/>
              </a:spcBef>
            </a:pPr>
            <a:r>
              <a:rPr dirty="0" sz="1000" spc="5">
                <a:latin typeface="宋体"/>
                <a:cs typeface="宋体"/>
              </a:rPr>
              <a:t>偿</a:t>
            </a:r>
            <a:r>
              <a:rPr dirty="0" sz="1000" spc="-5">
                <a:latin typeface="宋体"/>
                <a:cs typeface="宋体"/>
              </a:rPr>
              <a:t>债能</a:t>
            </a:r>
            <a:r>
              <a:rPr dirty="0" sz="1000" spc="5">
                <a:latin typeface="宋体"/>
                <a:cs typeface="宋体"/>
              </a:rPr>
              <a:t>力</a:t>
            </a:r>
            <a:r>
              <a:rPr dirty="0" sz="1000" spc="-5">
                <a:latin typeface="宋体"/>
                <a:cs typeface="宋体"/>
              </a:rPr>
              <a:t>较强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代工</a:t>
            </a:r>
            <a:r>
              <a:rPr dirty="0" sz="1000" spc="5">
                <a:latin typeface="宋体"/>
                <a:cs typeface="宋体"/>
              </a:rPr>
              <a:t>厂</a:t>
            </a:r>
            <a:r>
              <a:rPr dirty="0" sz="1000" spc="-5">
                <a:latin typeface="宋体"/>
                <a:cs typeface="宋体"/>
              </a:rPr>
              <a:t>短期</a:t>
            </a:r>
            <a:r>
              <a:rPr dirty="0" sz="1000" spc="5">
                <a:latin typeface="宋体"/>
                <a:cs typeface="宋体"/>
              </a:rPr>
              <a:t>内</a:t>
            </a:r>
            <a:r>
              <a:rPr dirty="0" sz="1000" spc="-5">
                <a:latin typeface="宋体"/>
                <a:cs typeface="宋体"/>
              </a:rPr>
              <a:t>经营</a:t>
            </a:r>
            <a:r>
              <a:rPr dirty="0" sz="1000" spc="5">
                <a:latin typeface="宋体"/>
                <a:cs typeface="宋体"/>
              </a:rPr>
              <a:t>存</a:t>
            </a:r>
            <a:r>
              <a:rPr dirty="0" sz="1000" spc="-5">
                <a:latin typeface="宋体"/>
                <a:cs typeface="宋体"/>
              </a:rPr>
              <a:t>续更</a:t>
            </a:r>
            <a:r>
              <a:rPr dirty="0" sz="1000" spc="5">
                <a:latin typeface="宋体"/>
                <a:cs typeface="宋体"/>
              </a:rPr>
              <a:t>有</a:t>
            </a:r>
            <a:r>
              <a:rPr dirty="0" sz="1000" spc="-5">
                <a:latin typeface="宋体"/>
                <a:cs typeface="宋体"/>
              </a:rPr>
              <a:t>保 </a:t>
            </a:r>
            <a:r>
              <a:rPr dirty="0" sz="1000" spc="5">
                <a:latin typeface="宋体"/>
                <a:cs typeface="宋体"/>
              </a:rPr>
              <a:t>障</a:t>
            </a:r>
            <a:r>
              <a:rPr dirty="0" sz="1000" spc="-5">
                <a:latin typeface="宋体"/>
                <a:cs typeface="宋体"/>
              </a:rPr>
              <a:t>，发</a:t>
            </a:r>
            <a:r>
              <a:rPr dirty="0" sz="1000" spc="5">
                <a:latin typeface="宋体"/>
                <a:cs typeface="宋体"/>
              </a:rPr>
              <a:t>展</a:t>
            </a:r>
            <a:r>
              <a:rPr dirty="0" sz="1000" spc="-5">
                <a:latin typeface="宋体"/>
                <a:cs typeface="宋体"/>
              </a:rPr>
              <a:t>更为</a:t>
            </a:r>
            <a:r>
              <a:rPr dirty="0" sz="1000" spc="5">
                <a:latin typeface="宋体"/>
                <a:cs typeface="宋体"/>
              </a:rPr>
              <a:t>健</a:t>
            </a:r>
            <a:r>
              <a:rPr dirty="0" sz="1000" spc="-5">
                <a:latin typeface="宋体"/>
                <a:cs typeface="宋体"/>
              </a:rPr>
              <a:t>康。</a:t>
            </a:r>
            <a:r>
              <a:rPr dirty="0" sz="1000" spc="5">
                <a:latin typeface="宋体"/>
                <a:cs typeface="宋体"/>
              </a:rPr>
              <a:t>与</a:t>
            </a:r>
            <a:r>
              <a:rPr dirty="0" sz="1000" spc="-5">
                <a:latin typeface="宋体"/>
                <a:cs typeface="宋体"/>
              </a:rPr>
              <a:t>其建</a:t>
            </a:r>
            <a:r>
              <a:rPr dirty="0" sz="1000" spc="5">
                <a:latin typeface="宋体"/>
                <a:cs typeface="宋体"/>
              </a:rPr>
              <a:t>立</a:t>
            </a:r>
            <a:r>
              <a:rPr dirty="0" sz="1000" spc="-5">
                <a:latin typeface="宋体"/>
                <a:cs typeface="宋体"/>
              </a:rPr>
              <a:t>的合</a:t>
            </a:r>
            <a:r>
              <a:rPr dirty="0" sz="1000" spc="5">
                <a:latin typeface="宋体"/>
                <a:cs typeface="宋体"/>
              </a:rPr>
              <a:t>作</a:t>
            </a:r>
            <a:r>
              <a:rPr dirty="0" sz="1000" spc="-5">
                <a:latin typeface="宋体"/>
                <a:cs typeface="宋体"/>
              </a:rPr>
              <a:t>关系</a:t>
            </a:r>
            <a:r>
              <a:rPr dirty="0" sz="1000" spc="5">
                <a:latin typeface="宋体"/>
                <a:cs typeface="宋体"/>
              </a:rPr>
              <a:t>在</a:t>
            </a:r>
            <a:r>
              <a:rPr dirty="0" sz="1000" spc="-5">
                <a:latin typeface="宋体"/>
                <a:cs typeface="宋体"/>
              </a:rPr>
              <a:t>短 </a:t>
            </a:r>
            <a:r>
              <a:rPr dirty="0" sz="1000" spc="5">
                <a:latin typeface="宋体"/>
                <a:cs typeface="宋体"/>
              </a:rPr>
              <a:t>期</a:t>
            </a:r>
            <a:r>
              <a:rPr dirty="0" sz="1000" spc="-5">
                <a:latin typeface="宋体"/>
                <a:cs typeface="宋体"/>
              </a:rPr>
              <a:t>内更</a:t>
            </a:r>
            <a:r>
              <a:rPr dirty="0" sz="1000" spc="5">
                <a:latin typeface="宋体"/>
                <a:cs typeface="宋体"/>
              </a:rPr>
              <a:t>为</a:t>
            </a:r>
            <a:r>
              <a:rPr dirty="0" sz="1000" spc="-5">
                <a:latin typeface="宋体"/>
                <a:cs typeface="宋体"/>
              </a:rPr>
              <a:t>稳定。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64123" y="4107179"/>
            <a:ext cx="2825750" cy="303530"/>
          </a:xfrm>
          <a:custGeom>
            <a:avLst/>
            <a:gdLst/>
            <a:ahLst/>
            <a:cxnLst/>
            <a:rect l="l" t="t" r="r" b="b"/>
            <a:pathLst>
              <a:path w="2825750" h="303529">
                <a:moveTo>
                  <a:pt x="2673857" y="0"/>
                </a:moveTo>
                <a:lnTo>
                  <a:pt x="151637" y="0"/>
                </a:lnTo>
                <a:lnTo>
                  <a:pt x="103729" y="7735"/>
                </a:lnTo>
                <a:lnTo>
                  <a:pt x="62106" y="29272"/>
                </a:lnTo>
                <a:lnTo>
                  <a:pt x="29272" y="62106"/>
                </a:lnTo>
                <a:lnTo>
                  <a:pt x="7735" y="103729"/>
                </a:lnTo>
                <a:lnTo>
                  <a:pt x="0" y="151638"/>
                </a:lnTo>
                <a:lnTo>
                  <a:pt x="7735" y="199546"/>
                </a:lnTo>
                <a:lnTo>
                  <a:pt x="29272" y="241169"/>
                </a:lnTo>
                <a:lnTo>
                  <a:pt x="62106" y="274003"/>
                </a:lnTo>
                <a:lnTo>
                  <a:pt x="103729" y="295540"/>
                </a:lnTo>
                <a:lnTo>
                  <a:pt x="151637" y="303276"/>
                </a:lnTo>
                <a:lnTo>
                  <a:pt x="2673857" y="303276"/>
                </a:lnTo>
                <a:lnTo>
                  <a:pt x="2721766" y="295540"/>
                </a:lnTo>
                <a:lnTo>
                  <a:pt x="2763389" y="274003"/>
                </a:lnTo>
                <a:lnTo>
                  <a:pt x="2796223" y="241169"/>
                </a:lnTo>
                <a:lnTo>
                  <a:pt x="2817760" y="199546"/>
                </a:lnTo>
                <a:lnTo>
                  <a:pt x="2825496" y="151638"/>
                </a:lnTo>
                <a:lnTo>
                  <a:pt x="2817760" y="103729"/>
                </a:lnTo>
                <a:lnTo>
                  <a:pt x="2796223" y="62106"/>
                </a:lnTo>
                <a:lnTo>
                  <a:pt x="2763389" y="29272"/>
                </a:lnTo>
                <a:lnTo>
                  <a:pt x="2721766" y="7735"/>
                </a:lnTo>
                <a:lnTo>
                  <a:pt x="2673857" y="0"/>
                </a:lnTo>
                <a:close/>
              </a:path>
            </a:pathLst>
          </a:custGeom>
          <a:solidFill>
            <a:srgbClr val="854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687059" y="4149344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明兰"/>
                <a:cs typeface="明兰"/>
              </a:rPr>
              <a:t>偿债能力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44134" y="3526282"/>
            <a:ext cx="2565400" cy="476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98000"/>
              </a:lnSpc>
              <a:spcBef>
                <a:spcPts val="120"/>
              </a:spcBef>
            </a:pPr>
            <a:r>
              <a:rPr dirty="0" sz="1000" spc="5">
                <a:latin typeface="宋体"/>
                <a:cs typeface="宋体"/>
              </a:rPr>
              <a:t>盈</a:t>
            </a:r>
            <a:r>
              <a:rPr dirty="0" sz="1000" spc="-5">
                <a:latin typeface="宋体"/>
                <a:cs typeface="宋体"/>
              </a:rPr>
              <a:t>利能</a:t>
            </a:r>
            <a:r>
              <a:rPr dirty="0" sz="1000" spc="5">
                <a:latin typeface="宋体"/>
                <a:cs typeface="宋体"/>
              </a:rPr>
              <a:t>力</a:t>
            </a:r>
            <a:r>
              <a:rPr dirty="0" sz="1000" spc="-5">
                <a:latin typeface="宋体"/>
                <a:cs typeface="宋体"/>
              </a:rPr>
              <a:t>较强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代工</a:t>
            </a:r>
            <a:r>
              <a:rPr dirty="0" sz="1000" spc="5">
                <a:latin typeface="宋体"/>
                <a:cs typeface="宋体"/>
              </a:rPr>
              <a:t>厂</a:t>
            </a:r>
            <a:r>
              <a:rPr dirty="0" sz="1000" spc="-5">
                <a:latin typeface="宋体"/>
                <a:cs typeface="宋体"/>
              </a:rPr>
              <a:t>整体</a:t>
            </a:r>
            <a:r>
              <a:rPr dirty="0" sz="1000" spc="5">
                <a:latin typeface="宋体"/>
                <a:cs typeface="宋体"/>
              </a:rPr>
              <a:t>经</a:t>
            </a:r>
            <a:r>
              <a:rPr dirty="0" sz="1000" spc="-5">
                <a:latin typeface="宋体"/>
                <a:cs typeface="宋体"/>
              </a:rPr>
              <a:t>营状</a:t>
            </a:r>
            <a:r>
              <a:rPr dirty="0" sz="1000" spc="5">
                <a:latin typeface="宋体"/>
                <a:cs typeface="宋体"/>
              </a:rPr>
              <a:t>况</a:t>
            </a:r>
            <a:r>
              <a:rPr dirty="0" sz="1000" spc="-5">
                <a:latin typeface="宋体"/>
                <a:cs typeface="宋体"/>
              </a:rPr>
              <a:t>较好</a:t>
            </a:r>
            <a:r>
              <a:rPr dirty="0" sz="1000" spc="5">
                <a:latin typeface="宋体"/>
                <a:cs typeface="宋体"/>
              </a:rPr>
              <a:t>，</a:t>
            </a:r>
            <a:r>
              <a:rPr dirty="0" sz="1000" spc="-5">
                <a:latin typeface="宋体"/>
                <a:cs typeface="宋体"/>
              </a:rPr>
              <a:t>是 </a:t>
            </a:r>
            <a:r>
              <a:rPr dirty="0" sz="1000" spc="5">
                <a:latin typeface="宋体"/>
                <a:cs typeface="宋体"/>
              </a:rPr>
              <a:t>企</a:t>
            </a:r>
            <a:r>
              <a:rPr dirty="0" sz="1000" spc="-5">
                <a:latin typeface="宋体"/>
                <a:cs typeface="宋体"/>
              </a:rPr>
              <a:t>业稳</a:t>
            </a:r>
            <a:r>
              <a:rPr dirty="0" sz="1000" spc="5">
                <a:latin typeface="宋体"/>
                <a:cs typeface="宋体"/>
              </a:rPr>
              <a:t>定</a:t>
            </a:r>
            <a:r>
              <a:rPr dirty="0" sz="1000" spc="-5">
                <a:latin typeface="宋体"/>
                <a:cs typeface="宋体"/>
              </a:rPr>
              <a:t>发展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根本</a:t>
            </a:r>
            <a:r>
              <a:rPr dirty="0" sz="1000" spc="5">
                <a:latin typeface="宋体"/>
                <a:cs typeface="宋体"/>
              </a:rPr>
              <a:t>。</a:t>
            </a:r>
            <a:r>
              <a:rPr dirty="0" sz="1000" spc="-5">
                <a:latin typeface="宋体"/>
                <a:cs typeface="宋体"/>
              </a:rPr>
              <a:t>与其</a:t>
            </a:r>
            <a:r>
              <a:rPr dirty="0" sz="1000" spc="5">
                <a:latin typeface="宋体"/>
                <a:cs typeface="宋体"/>
              </a:rPr>
              <a:t>建</a:t>
            </a:r>
            <a:r>
              <a:rPr dirty="0" sz="1000" spc="-5">
                <a:latin typeface="宋体"/>
                <a:cs typeface="宋体"/>
              </a:rPr>
              <a:t>立的</a:t>
            </a:r>
            <a:r>
              <a:rPr dirty="0" sz="1000" spc="5">
                <a:latin typeface="宋体"/>
                <a:cs typeface="宋体"/>
              </a:rPr>
              <a:t>合</a:t>
            </a:r>
            <a:r>
              <a:rPr dirty="0" sz="1000" spc="-5">
                <a:latin typeface="宋体"/>
                <a:cs typeface="宋体"/>
              </a:rPr>
              <a:t>作关</a:t>
            </a:r>
            <a:r>
              <a:rPr dirty="0" sz="1000" spc="5">
                <a:latin typeface="宋体"/>
                <a:cs typeface="宋体"/>
              </a:rPr>
              <a:t>系</a:t>
            </a:r>
            <a:r>
              <a:rPr dirty="0" sz="1000" spc="-5">
                <a:latin typeface="宋体"/>
                <a:cs typeface="宋体"/>
              </a:rPr>
              <a:t>在 </a:t>
            </a:r>
            <a:r>
              <a:rPr dirty="0" sz="1000" spc="5">
                <a:latin typeface="宋体"/>
                <a:cs typeface="宋体"/>
              </a:rPr>
              <a:t>中</a:t>
            </a:r>
            <a:r>
              <a:rPr dirty="0" sz="1000" spc="-5">
                <a:latin typeface="宋体"/>
                <a:cs typeface="宋体"/>
              </a:rPr>
              <a:t>长期</a:t>
            </a:r>
            <a:r>
              <a:rPr dirty="0" sz="1000" spc="5">
                <a:latin typeface="宋体"/>
                <a:cs typeface="宋体"/>
              </a:rPr>
              <a:t>内</a:t>
            </a:r>
            <a:r>
              <a:rPr dirty="0" sz="1000" spc="-5">
                <a:latin typeface="宋体"/>
                <a:cs typeface="宋体"/>
              </a:rPr>
              <a:t>更为</a:t>
            </a:r>
            <a:r>
              <a:rPr dirty="0" sz="1000" spc="5">
                <a:latin typeface="宋体"/>
                <a:cs typeface="宋体"/>
              </a:rPr>
              <a:t>稳</a:t>
            </a:r>
            <a:r>
              <a:rPr dirty="0" sz="1000" spc="-5">
                <a:latin typeface="宋体"/>
                <a:cs typeface="宋体"/>
              </a:rPr>
              <a:t>定。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64123" y="3157727"/>
            <a:ext cx="2825750" cy="302260"/>
          </a:xfrm>
          <a:custGeom>
            <a:avLst/>
            <a:gdLst/>
            <a:ahLst/>
            <a:cxnLst/>
            <a:rect l="l" t="t" r="r" b="b"/>
            <a:pathLst>
              <a:path w="2825750" h="302260">
                <a:moveTo>
                  <a:pt x="2674620" y="0"/>
                </a:moveTo>
                <a:lnTo>
                  <a:pt x="150875" y="0"/>
                </a:lnTo>
                <a:lnTo>
                  <a:pt x="103193" y="7693"/>
                </a:lnTo>
                <a:lnTo>
                  <a:pt x="61776" y="29114"/>
                </a:lnTo>
                <a:lnTo>
                  <a:pt x="29114" y="61776"/>
                </a:lnTo>
                <a:lnTo>
                  <a:pt x="7693" y="103193"/>
                </a:lnTo>
                <a:lnTo>
                  <a:pt x="0" y="150875"/>
                </a:lnTo>
                <a:lnTo>
                  <a:pt x="7693" y="198558"/>
                </a:lnTo>
                <a:lnTo>
                  <a:pt x="29114" y="239975"/>
                </a:lnTo>
                <a:lnTo>
                  <a:pt x="61776" y="272637"/>
                </a:lnTo>
                <a:lnTo>
                  <a:pt x="103193" y="294058"/>
                </a:lnTo>
                <a:lnTo>
                  <a:pt x="150875" y="301751"/>
                </a:lnTo>
                <a:lnTo>
                  <a:pt x="2674620" y="301751"/>
                </a:lnTo>
                <a:lnTo>
                  <a:pt x="2722302" y="294058"/>
                </a:lnTo>
                <a:lnTo>
                  <a:pt x="2763719" y="272637"/>
                </a:lnTo>
                <a:lnTo>
                  <a:pt x="2796381" y="239975"/>
                </a:lnTo>
                <a:lnTo>
                  <a:pt x="2817802" y="198558"/>
                </a:lnTo>
                <a:lnTo>
                  <a:pt x="2825496" y="150875"/>
                </a:lnTo>
                <a:lnTo>
                  <a:pt x="2817802" y="103193"/>
                </a:lnTo>
                <a:lnTo>
                  <a:pt x="2796381" y="61776"/>
                </a:lnTo>
                <a:lnTo>
                  <a:pt x="2763719" y="29114"/>
                </a:lnTo>
                <a:lnTo>
                  <a:pt x="2722302" y="7693"/>
                </a:lnTo>
                <a:lnTo>
                  <a:pt x="2674620" y="0"/>
                </a:lnTo>
                <a:close/>
              </a:path>
            </a:pathLst>
          </a:custGeom>
          <a:solidFill>
            <a:srgbClr val="AB78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87059" y="3202304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盈利能力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28513" y="2681477"/>
            <a:ext cx="2565400" cy="3238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</a:pPr>
            <a:r>
              <a:rPr dirty="0" sz="1000" spc="5">
                <a:latin typeface="宋体"/>
                <a:cs typeface="宋体"/>
              </a:rPr>
              <a:t>公</a:t>
            </a:r>
            <a:r>
              <a:rPr dirty="0" sz="1000" spc="-5">
                <a:latin typeface="宋体"/>
                <a:cs typeface="宋体"/>
              </a:rPr>
              <a:t>司规</a:t>
            </a:r>
            <a:r>
              <a:rPr dirty="0" sz="1000" spc="5">
                <a:latin typeface="宋体"/>
                <a:cs typeface="宋体"/>
              </a:rPr>
              <a:t>模</a:t>
            </a:r>
            <a:r>
              <a:rPr dirty="0" sz="1000" spc="-5">
                <a:latin typeface="宋体"/>
                <a:cs typeface="宋体"/>
              </a:rPr>
              <a:t>较大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代工</a:t>
            </a:r>
            <a:r>
              <a:rPr dirty="0" sz="1000" spc="5">
                <a:latin typeface="宋体"/>
                <a:cs typeface="宋体"/>
              </a:rPr>
              <a:t>厂</a:t>
            </a:r>
            <a:r>
              <a:rPr dirty="0" sz="1000" spc="-5">
                <a:latin typeface="宋体"/>
                <a:cs typeface="宋体"/>
              </a:rPr>
              <a:t>有着</a:t>
            </a:r>
            <a:r>
              <a:rPr dirty="0" sz="1000" spc="5">
                <a:latin typeface="宋体"/>
                <a:cs typeface="宋体"/>
              </a:rPr>
              <a:t>更</a:t>
            </a:r>
            <a:r>
              <a:rPr dirty="0" sz="1000" spc="-5">
                <a:latin typeface="宋体"/>
                <a:cs typeface="宋体"/>
              </a:rPr>
              <a:t>充分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产能</a:t>
            </a:r>
            <a:r>
              <a:rPr dirty="0" sz="1000" spc="5">
                <a:latin typeface="宋体"/>
                <a:cs typeface="宋体"/>
              </a:rPr>
              <a:t>，</a:t>
            </a:r>
            <a:r>
              <a:rPr dirty="0" sz="1000" spc="-5">
                <a:latin typeface="宋体"/>
                <a:cs typeface="宋体"/>
              </a:rPr>
              <a:t>满 </a:t>
            </a:r>
            <a:r>
              <a:rPr dirty="0" sz="1000" spc="5">
                <a:latin typeface="宋体"/>
                <a:cs typeface="宋体"/>
              </a:rPr>
              <a:t>足</a:t>
            </a:r>
            <a:r>
              <a:rPr dirty="0" sz="1000" spc="-5">
                <a:latin typeface="宋体"/>
                <a:cs typeface="宋体"/>
              </a:rPr>
              <a:t>华为</a:t>
            </a:r>
            <a:r>
              <a:rPr dirty="0" sz="1000" spc="5">
                <a:latin typeface="宋体"/>
                <a:cs typeface="宋体"/>
              </a:rPr>
              <a:t>扩</a:t>
            </a:r>
            <a:r>
              <a:rPr dirty="0" sz="1000" spc="-5">
                <a:latin typeface="宋体"/>
                <a:cs typeface="宋体"/>
              </a:rPr>
              <a:t>张的</a:t>
            </a:r>
            <a:r>
              <a:rPr dirty="0" sz="1000" spc="5">
                <a:latin typeface="宋体"/>
                <a:cs typeface="宋体"/>
              </a:rPr>
              <a:t>需</a:t>
            </a:r>
            <a:r>
              <a:rPr dirty="0" sz="1000" spc="-5">
                <a:latin typeface="宋体"/>
                <a:cs typeface="宋体"/>
              </a:rPr>
              <a:t>求。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48884" y="2313432"/>
            <a:ext cx="2825750" cy="302260"/>
          </a:xfrm>
          <a:custGeom>
            <a:avLst/>
            <a:gdLst/>
            <a:ahLst/>
            <a:cxnLst/>
            <a:rect l="l" t="t" r="r" b="b"/>
            <a:pathLst>
              <a:path w="2825750" h="302260">
                <a:moveTo>
                  <a:pt x="2674619" y="0"/>
                </a:moveTo>
                <a:lnTo>
                  <a:pt x="150875" y="0"/>
                </a:lnTo>
                <a:lnTo>
                  <a:pt x="103193" y="7693"/>
                </a:lnTo>
                <a:lnTo>
                  <a:pt x="61776" y="29114"/>
                </a:lnTo>
                <a:lnTo>
                  <a:pt x="29114" y="61776"/>
                </a:lnTo>
                <a:lnTo>
                  <a:pt x="7693" y="103193"/>
                </a:lnTo>
                <a:lnTo>
                  <a:pt x="0" y="150875"/>
                </a:lnTo>
                <a:lnTo>
                  <a:pt x="7693" y="198558"/>
                </a:lnTo>
                <a:lnTo>
                  <a:pt x="29114" y="239975"/>
                </a:lnTo>
                <a:lnTo>
                  <a:pt x="61776" y="272637"/>
                </a:lnTo>
                <a:lnTo>
                  <a:pt x="103193" y="294058"/>
                </a:lnTo>
                <a:lnTo>
                  <a:pt x="150875" y="301751"/>
                </a:lnTo>
                <a:lnTo>
                  <a:pt x="2674619" y="301751"/>
                </a:lnTo>
                <a:lnTo>
                  <a:pt x="2722302" y="294058"/>
                </a:lnTo>
                <a:lnTo>
                  <a:pt x="2763719" y="272637"/>
                </a:lnTo>
                <a:lnTo>
                  <a:pt x="2796381" y="239975"/>
                </a:lnTo>
                <a:lnTo>
                  <a:pt x="2817802" y="198558"/>
                </a:lnTo>
                <a:lnTo>
                  <a:pt x="2825495" y="150875"/>
                </a:lnTo>
                <a:lnTo>
                  <a:pt x="2817802" y="103193"/>
                </a:lnTo>
                <a:lnTo>
                  <a:pt x="2796381" y="61776"/>
                </a:lnTo>
                <a:lnTo>
                  <a:pt x="2763719" y="29114"/>
                </a:lnTo>
                <a:lnTo>
                  <a:pt x="2722302" y="7693"/>
                </a:lnTo>
                <a:lnTo>
                  <a:pt x="2674619" y="0"/>
                </a:lnTo>
                <a:close/>
              </a:path>
            </a:pathLst>
          </a:custGeom>
          <a:solidFill>
            <a:srgbClr val="C5AA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671565" y="2357373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公司规模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484120" y="1484375"/>
            <a:ext cx="611505" cy="678180"/>
          </a:xfrm>
          <a:custGeom>
            <a:avLst/>
            <a:gdLst/>
            <a:ahLst/>
            <a:cxnLst/>
            <a:rect l="l" t="t" r="r" b="b"/>
            <a:pathLst>
              <a:path w="611505" h="678180">
                <a:moveTo>
                  <a:pt x="317881" y="0"/>
                </a:moveTo>
                <a:lnTo>
                  <a:pt x="0" y="678179"/>
                </a:lnTo>
                <a:lnTo>
                  <a:pt x="611124" y="678179"/>
                </a:lnTo>
                <a:lnTo>
                  <a:pt x="317881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84120" y="1484375"/>
            <a:ext cx="611505" cy="678180"/>
          </a:xfrm>
          <a:custGeom>
            <a:avLst/>
            <a:gdLst/>
            <a:ahLst/>
            <a:cxnLst/>
            <a:rect l="l" t="t" r="r" b="b"/>
            <a:pathLst>
              <a:path w="611505" h="678180">
                <a:moveTo>
                  <a:pt x="0" y="678179"/>
                </a:moveTo>
                <a:lnTo>
                  <a:pt x="317881" y="0"/>
                </a:lnTo>
                <a:lnTo>
                  <a:pt x="611124" y="678179"/>
                </a:lnTo>
                <a:lnTo>
                  <a:pt x="0" y="678179"/>
                </a:lnTo>
                <a:close/>
              </a:path>
            </a:pathLst>
          </a:custGeom>
          <a:ln w="12192">
            <a:solidFill>
              <a:srgbClr val="DBDB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731770" y="1678939"/>
            <a:ext cx="127635" cy="5099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98800"/>
              </a:lnSpc>
              <a:spcBef>
                <a:spcPts val="114"/>
              </a:spcBef>
            </a:pPr>
            <a:r>
              <a:rPr dirty="0" sz="800" b="1">
                <a:solidFill>
                  <a:srgbClr val="FFFFFF"/>
                </a:solidFill>
                <a:latin typeface="明兰"/>
                <a:cs typeface="明兰"/>
              </a:rPr>
              <a:t>成 长 能 力</a:t>
            </a:r>
            <a:endParaRPr sz="800">
              <a:latin typeface="明兰"/>
              <a:cs typeface="明兰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02101" y="1764029"/>
            <a:ext cx="1905000" cy="92075"/>
          </a:xfrm>
          <a:custGeom>
            <a:avLst/>
            <a:gdLst/>
            <a:ahLst/>
            <a:cxnLst/>
            <a:rect l="l" t="t" r="r" b="b"/>
            <a:pathLst>
              <a:path w="1905000" h="92075">
                <a:moveTo>
                  <a:pt x="38481" y="0"/>
                </a:moveTo>
                <a:lnTo>
                  <a:pt x="23592" y="2893"/>
                </a:lnTo>
                <a:lnTo>
                  <a:pt x="11382" y="10953"/>
                </a:lnTo>
                <a:lnTo>
                  <a:pt x="3101" y="22967"/>
                </a:lnTo>
                <a:lnTo>
                  <a:pt x="0" y="37719"/>
                </a:lnTo>
                <a:lnTo>
                  <a:pt x="2893" y="52607"/>
                </a:lnTo>
                <a:lnTo>
                  <a:pt x="10953" y="64817"/>
                </a:lnTo>
                <a:lnTo>
                  <a:pt x="22967" y="73098"/>
                </a:lnTo>
                <a:lnTo>
                  <a:pt x="37718" y="76200"/>
                </a:lnTo>
                <a:lnTo>
                  <a:pt x="52607" y="73306"/>
                </a:lnTo>
                <a:lnTo>
                  <a:pt x="64817" y="65246"/>
                </a:lnTo>
                <a:lnTo>
                  <a:pt x="73098" y="53232"/>
                </a:lnTo>
                <a:lnTo>
                  <a:pt x="74132" y="48315"/>
                </a:lnTo>
                <a:lnTo>
                  <a:pt x="37973" y="48006"/>
                </a:lnTo>
                <a:lnTo>
                  <a:pt x="38227" y="28194"/>
                </a:lnTo>
                <a:lnTo>
                  <a:pt x="74201" y="28194"/>
                </a:lnTo>
                <a:lnTo>
                  <a:pt x="73306" y="23592"/>
                </a:lnTo>
                <a:lnTo>
                  <a:pt x="65246" y="11382"/>
                </a:lnTo>
                <a:lnTo>
                  <a:pt x="53232" y="3101"/>
                </a:lnTo>
                <a:lnTo>
                  <a:pt x="38481" y="0"/>
                </a:lnTo>
                <a:close/>
              </a:path>
              <a:path w="1905000" h="92075">
                <a:moveTo>
                  <a:pt x="74260" y="28501"/>
                </a:moveTo>
                <a:lnTo>
                  <a:pt x="76200" y="38481"/>
                </a:lnTo>
                <a:lnTo>
                  <a:pt x="74132" y="48315"/>
                </a:lnTo>
                <a:lnTo>
                  <a:pt x="97409" y="48514"/>
                </a:lnTo>
                <a:lnTo>
                  <a:pt x="97662" y="28702"/>
                </a:lnTo>
                <a:lnTo>
                  <a:pt x="74260" y="28501"/>
                </a:lnTo>
                <a:close/>
              </a:path>
              <a:path w="1905000" h="92075">
                <a:moveTo>
                  <a:pt x="38227" y="28194"/>
                </a:moveTo>
                <a:lnTo>
                  <a:pt x="37973" y="48006"/>
                </a:lnTo>
                <a:lnTo>
                  <a:pt x="74132" y="48315"/>
                </a:lnTo>
                <a:lnTo>
                  <a:pt x="76200" y="38481"/>
                </a:lnTo>
                <a:lnTo>
                  <a:pt x="74260" y="28501"/>
                </a:lnTo>
                <a:lnTo>
                  <a:pt x="38227" y="28194"/>
                </a:lnTo>
                <a:close/>
              </a:path>
              <a:path w="1905000" h="92075">
                <a:moveTo>
                  <a:pt x="74201" y="28194"/>
                </a:moveTo>
                <a:lnTo>
                  <a:pt x="38227" y="28194"/>
                </a:lnTo>
                <a:lnTo>
                  <a:pt x="74260" y="28501"/>
                </a:lnTo>
                <a:lnTo>
                  <a:pt x="74201" y="28194"/>
                </a:lnTo>
                <a:close/>
              </a:path>
              <a:path w="1905000" h="92075">
                <a:moveTo>
                  <a:pt x="117475" y="28829"/>
                </a:moveTo>
                <a:lnTo>
                  <a:pt x="117221" y="48641"/>
                </a:lnTo>
                <a:lnTo>
                  <a:pt x="176657" y="49149"/>
                </a:lnTo>
                <a:lnTo>
                  <a:pt x="176911" y="29337"/>
                </a:lnTo>
                <a:lnTo>
                  <a:pt x="117475" y="28829"/>
                </a:lnTo>
                <a:close/>
              </a:path>
              <a:path w="1905000" h="92075">
                <a:moveTo>
                  <a:pt x="196723" y="29464"/>
                </a:moveTo>
                <a:lnTo>
                  <a:pt x="196469" y="49275"/>
                </a:lnTo>
                <a:lnTo>
                  <a:pt x="255905" y="49784"/>
                </a:lnTo>
                <a:lnTo>
                  <a:pt x="256159" y="29972"/>
                </a:lnTo>
                <a:lnTo>
                  <a:pt x="196723" y="29464"/>
                </a:lnTo>
                <a:close/>
              </a:path>
              <a:path w="1905000" h="92075">
                <a:moveTo>
                  <a:pt x="275971" y="30225"/>
                </a:moveTo>
                <a:lnTo>
                  <a:pt x="275717" y="50037"/>
                </a:lnTo>
                <a:lnTo>
                  <a:pt x="335152" y="50546"/>
                </a:lnTo>
                <a:lnTo>
                  <a:pt x="335407" y="30734"/>
                </a:lnTo>
                <a:lnTo>
                  <a:pt x="275971" y="30225"/>
                </a:lnTo>
                <a:close/>
              </a:path>
              <a:path w="1905000" h="92075">
                <a:moveTo>
                  <a:pt x="355219" y="30861"/>
                </a:moveTo>
                <a:lnTo>
                  <a:pt x="354964" y="50673"/>
                </a:lnTo>
                <a:lnTo>
                  <a:pt x="414400" y="51181"/>
                </a:lnTo>
                <a:lnTo>
                  <a:pt x="414655" y="31369"/>
                </a:lnTo>
                <a:lnTo>
                  <a:pt x="355219" y="30861"/>
                </a:lnTo>
                <a:close/>
              </a:path>
              <a:path w="1905000" h="92075">
                <a:moveTo>
                  <a:pt x="434467" y="31496"/>
                </a:moveTo>
                <a:lnTo>
                  <a:pt x="434213" y="51308"/>
                </a:lnTo>
                <a:lnTo>
                  <a:pt x="493649" y="51816"/>
                </a:lnTo>
                <a:lnTo>
                  <a:pt x="493902" y="32004"/>
                </a:lnTo>
                <a:lnTo>
                  <a:pt x="434467" y="31496"/>
                </a:lnTo>
                <a:close/>
              </a:path>
              <a:path w="1905000" h="92075">
                <a:moveTo>
                  <a:pt x="513714" y="32131"/>
                </a:moveTo>
                <a:lnTo>
                  <a:pt x="513461" y="51943"/>
                </a:lnTo>
                <a:lnTo>
                  <a:pt x="572897" y="52450"/>
                </a:lnTo>
                <a:lnTo>
                  <a:pt x="573024" y="32639"/>
                </a:lnTo>
                <a:lnTo>
                  <a:pt x="513714" y="32131"/>
                </a:lnTo>
                <a:close/>
              </a:path>
              <a:path w="1905000" h="92075">
                <a:moveTo>
                  <a:pt x="592836" y="32893"/>
                </a:moveTo>
                <a:lnTo>
                  <a:pt x="592709" y="52705"/>
                </a:lnTo>
                <a:lnTo>
                  <a:pt x="652145" y="53086"/>
                </a:lnTo>
                <a:lnTo>
                  <a:pt x="652272" y="33274"/>
                </a:lnTo>
                <a:lnTo>
                  <a:pt x="592836" y="32893"/>
                </a:lnTo>
                <a:close/>
              </a:path>
              <a:path w="1905000" h="92075">
                <a:moveTo>
                  <a:pt x="672084" y="33528"/>
                </a:moveTo>
                <a:lnTo>
                  <a:pt x="671957" y="53340"/>
                </a:lnTo>
                <a:lnTo>
                  <a:pt x="731393" y="53848"/>
                </a:lnTo>
                <a:lnTo>
                  <a:pt x="731520" y="34036"/>
                </a:lnTo>
                <a:lnTo>
                  <a:pt x="672084" y="33528"/>
                </a:lnTo>
                <a:close/>
              </a:path>
              <a:path w="1905000" h="92075">
                <a:moveTo>
                  <a:pt x="751332" y="34162"/>
                </a:moveTo>
                <a:lnTo>
                  <a:pt x="751205" y="53975"/>
                </a:lnTo>
                <a:lnTo>
                  <a:pt x="810640" y="54483"/>
                </a:lnTo>
                <a:lnTo>
                  <a:pt x="810768" y="34671"/>
                </a:lnTo>
                <a:lnTo>
                  <a:pt x="751332" y="34162"/>
                </a:lnTo>
                <a:close/>
              </a:path>
              <a:path w="1905000" h="92075">
                <a:moveTo>
                  <a:pt x="830580" y="34798"/>
                </a:moveTo>
                <a:lnTo>
                  <a:pt x="830452" y="54610"/>
                </a:lnTo>
                <a:lnTo>
                  <a:pt x="889888" y="55118"/>
                </a:lnTo>
                <a:lnTo>
                  <a:pt x="890015" y="35306"/>
                </a:lnTo>
                <a:lnTo>
                  <a:pt x="830580" y="34798"/>
                </a:lnTo>
                <a:close/>
              </a:path>
              <a:path w="1905000" h="92075">
                <a:moveTo>
                  <a:pt x="909827" y="35433"/>
                </a:moveTo>
                <a:lnTo>
                  <a:pt x="909701" y="55245"/>
                </a:lnTo>
                <a:lnTo>
                  <a:pt x="969137" y="55753"/>
                </a:lnTo>
                <a:lnTo>
                  <a:pt x="969263" y="35941"/>
                </a:lnTo>
                <a:lnTo>
                  <a:pt x="909827" y="35433"/>
                </a:lnTo>
                <a:close/>
              </a:path>
              <a:path w="1905000" h="92075">
                <a:moveTo>
                  <a:pt x="989076" y="36195"/>
                </a:moveTo>
                <a:lnTo>
                  <a:pt x="988949" y="56007"/>
                </a:lnTo>
                <a:lnTo>
                  <a:pt x="1048385" y="56515"/>
                </a:lnTo>
                <a:lnTo>
                  <a:pt x="1048512" y="36703"/>
                </a:lnTo>
                <a:lnTo>
                  <a:pt x="989076" y="36195"/>
                </a:lnTo>
                <a:close/>
              </a:path>
              <a:path w="1905000" h="92075">
                <a:moveTo>
                  <a:pt x="1068324" y="36830"/>
                </a:moveTo>
                <a:lnTo>
                  <a:pt x="1068197" y="56642"/>
                </a:lnTo>
                <a:lnTo>
                  <a:pt x="1127633" y="57150"/>
                </a:lnTo>
                <a:lnTo>
                  <a:pt x="1127760" y="37337"/>
                </a:lnTo>
                <a:lnTo>
                  <a:pt x="1068324" y="36830"/>
                </a:lnTo>
                <a:close/>
              </a:path>
              <a:path w="1905000" h="92075">
                <a:moveTo>
                  <a:pt x="1147572" y="37465"/>
                </a:moveTo>
                <a:lnTo>
                  <a:pt x="1147445" y="57277"/>
                </a:lnTo>
                <a:lnTo>
                  <a:pt x="1206881" y="57785"/>
                </a:lnTo>
                <a:lnTo>
                  <a:pt x="1207008" y="37973"/>
                </a:lnTo>
                <a:lnTo>
                  <a:pt x="1147572" y="37465"/>
                </a:lnTo>
                <a:close/>
              </a:path>
              <a:path w="1905000" h="92075">
                <a:moveTo>
                  <a:pt x="1226820" y="38100"/>
                </a:moveTo>
                <a:lnTo>
                  <a:pt x="1226693" y="57912"/>
                </a:lnTo>
                <a:lnTo>
                  <a:pt x="1286128" y="58420"/>
                </a:lnTo>
                <a:lnTo>
                  <a:pt x="1286256" y="38608"/>
                </a:lnTo>
                <a:lnTo>
                  <a:pt x="1226820" y="38100"/>
                </a:lnTo>
                <a:close/>
              </a:path>
              <a:path w="1905000" h="92075">
                <a:moveTo>
                  <a:pt x="1306068" y="38862"/>
                </a:moveTo>
                <a:lnTo>
                  <a:pt x="1305940" y="58674"/>
                </a:lnTo>
                <a:lnTo>
                  <a:pt x="1365377" y="59182"/>
                </a:lnTo>
                <a:lnTo>
                  <a:pt x="1365503" y="39370"/>
                </a:lnTo>
                <a:lnTo>
                  <a:pt x="1306068" y="38862"/>
                </a:lnTo>
                <a:close/>
              </a:path>
              <a:path w="1905000" h="92075">
                <a:moveTo>
                  <a:pt x="1385315" y="39497"/>
                </a:moveTo>
                <a:lnTo>
                  <a:pt x="1385189" y="59309"/>
                </a:lnTo>
                <a:lnTo>
                  <a:pt x="1444625" y="59817"/>
                </a:lnTo>
                <a:lnTo>
                  <a:pt x="1444752" y="40005"/>
                </a:lnTo>
                <a:lnTo>
                  <a:pt x="1385315" y="39497"/>
                </a:lnTo>
                <a:close/>
              </a:path>
              <a:path w="1905000" h="92075">
                <a:moveTo>
                  <a:pt x="1464564" y="40132"/>
                </a:moveTo>
                <a:lnTo>
                  <a:pt x="1464437" y="59944"/>
                </a:lnTo>
                <a:lnTo>
                  <a:pt x="1523873" y="60452"/>
                </a:lnTo>
                <a:lnTo>
                  <a:pt x="1524000" y="40640"/>
                </a:lnTo>
                <a:lnTo>
                  <a:pt x="1464564" y="40132"/>
                </a:lnTo>
                <a:close/>
              </a:path>
              <a:path w="1905000" h="92075">
                <a:moveTo>
                  <a:pt x="1543812" y="40767"/>
                </a:moveTo>
                <a:lnTo>
                  <a:pt x="1543685" y="60579"/>
                </a:lnTo>
                <a:lnTo>
                  <a:pt x="1603121" y="61087"/>
                </a:lnTo>
                <a:lnTo>
                  <a:pt x="1603248" y="41275"/>
                </a:lnTo>
                <a:lnTo>
                  <a:pt x="1543812" y="40767"/>
                </a:lnTo>
                <a:close/>
              </a:path>
              <a:path w="1905000" h="92075">
                <a:moveTo>
                  <a:pt x="1623060" y="41529"/>
                </a:moveTo>
                <a:lnTo>
                  <a:pt x="1622933" y="61341"/>
                </a:lnTo>
                <a:lnTo>
                  <a:pt x="1682369" y="61722"/>
                </a:lnTo>
                <a:lnTo>
                  <a:pt x="1682496" y="41910"/>
                </a:lnTo>
                <a:lnTo>
                  <a:pt x="1623060" y="41529"/>
                </a:lnTo>
                <a:close/>
              </a:path>
              <a:path w="1905000" h="92075">
                <a:moveTo>
                  <a:pt x="1702308" y="42164"/>
                </a:moveTo>
                <a:lnTo>
                  <a:pt x="1702181" y="61975"/>
                </a:lnTo>
                <a:lnTo>
                  <a:pt x="1761617" y="62484"/>
                </a:lnTo>
                <a:lnTo>
                  <a:pt x="1761744" y="42672"/>
                </a:lnTo>
                <a:lnTo>
                  <a:pt x="1702308" y="42164"/>
                </a:lnTo>
                <a:close/>
              </a:path>
              <a:path w="1905000" h="92075">
                <a:moveTo>
                  <a:pt x="1830699" y="63032"/>
                </a:moveTo>
                <a:lnTo>
                  <a:pt x="1831639" y="67956"/>
                </a:lnTo>
                <a:lnTo>
                  <a:pt x="1839706" y="80137"/>
                </a:lnTo>
                <a:lnTo>
                  <a:pt x="1851749" y="88411"/>
                </a:lnTo>
                <a:lnTo>
                  <a:pt x="1866519" y="91567"/>
                </a:lnTo>
                <a:lnTo>
                  <a:pt x="1881389" y="88671"/>
                </a:lnTo>
                <a:lnTo>
                  <a:pt x="1893570" y="80597"/>
                </a:lnTo>
                <a:lnTo>
                  <a:pt x="1901844" y="68546"/>
                </a:lnTo>
                <a:lnTo>
                  <a:pt x="1902945" y="63373"/>
                </a:lnTo>
                <a:lnTo>
                  <a:pt x="1866773" y="63373"/>
                </a:lnTo>
                <a:lnTo>
                  <a:pt x="1860677" y="63246"/>
                </a:lnTo>
                <a:lnTo>
                  <a:pt x="1840864" y="63119"/>
                </a:lnTo>
                <a:lnTo>
                  <a:pt x="1830699" y="63032"/>
                </a:lnTo>
                <a:close/>
              </a:path>
              <a:path w="1905000" h="92075">
                <a:moveTo>
                  <a:pt x="1860803" y="43434"/>
                </a:moveTo>
                <a:lnTo>
                  <a:pt x="1860677" y="63246"/>
                </a:lnTo>
                <a:lnTo>
                  <a:pt x="1866773" y="63373"/>
                </a:lnTo>
                <a:lnTo>
                  <a:pt x="1866900" y="43561"/>
                </a:lnTo>
                <a:lnTo>
                  <a:pt x="1860803" y="43434"/>
                </a:lnTo>
                <a:close/>
              </a:path>
              <a:path w="1905000" h="92075">
                <a:moveTo>
                  <a:pt x="1902996" y="43434"/>
                </a:moveTo>
                <a:lnTo>
                  <a:pt x="1860803" y="43434"/>
                </a:lnTo>
                <a:lnTo>
                  <a:pt x="1866900" y="43561"/>
                </a:lnTo>
                <a:lnTo>
                  <a:pt x="1866773" y="63373"/>
                </a:lnTo>
                <a:lnTo>
                  <a:pt x="1902945" y="63373"/>
                </a:lnTo>
                <a:lnTo>
                  <a:pt x="1905000" y="53721"/>
                </a:lnTo>
                <a:lnTo>
                  <a:pt x="1902996" y="43434"/>
                </a:lnTo>
                <a:close/>
              </a:path>
              <a:path w="1905000" h="92075">
                <a:moveTo>
                  <a:pt x="1830862" y="43220"/>
                </a:moveTo>
                <a:lnTo>
                  <a:pt x="1828800" y="53086"/>
                </a:lnTo>
                <a:lnTo>
                  <a:pt x="1830699" y="63032"/>
                </a:lnTo>
                <a:lnTo>
                  <a:pt x="1840864" y="63119"/>
                </a:lnTo>
                <a:lnTo>
                  <a:pt x="1840992" y="43307"/>
                </a:lnTo>
                <a:lnTo>
                  <a:pt x="1830862" y="43220"/>
                </a:lnTo>
                <a:close/>
              </a:path>
              <a:path w="1905000" h="92075">
                <a:moveTo>
                  <a:pt x="1867153" y="15367"/>
                </a:moveTo>
                <a:lnTo>
                  <a:pt x="1852338" y="18188"/>
                </a:lnTo>
                <a:lnTo>
                  <a:pt x="1840166" y="26225"/>
                </a:lnTo>
                <a:lnTo>
                  <a:pt x="1831899" y="38262"/>
                </a:lnTo>
                <a:lnTo>
                  <a:pt x="1830862" y="43220"/>
                </a:lnTo>
                <a:lnTo>
                  <a:pt x="1840992" y="43307"/>
                </a:lnTo>
                <a:lnTo>
                  <a:pt x="1840864" y="63119"/>
                </a:lnTo>
                <a:lnTo>
                  <a:pt x="1860677" y="63119"/>
                </a:lnTo>
                <a:lnTo>
                  <a:pt x="1860803" y="43434"/>
                </a:lnTo>
                <a:lnTo>
                  <a:pt x="1902996" y="43434"/>
                </a:lnTo>
                <a:lnTo>
                  <a:pt x="1902104" y="38852"/>
                </a:lnTo>
                <a:lnTo>
                  <a:pt x="1894030" y="26685"/>
                </a:lnTo>
                <a:lnTo>
                  <a:pt x="1881979" y="18448"/>
                </a:lnTo>
                <a:lnTo>
                  <a:pt x="1867153" y="15367"/>
                </a:lnTo>
                <a:close/>
              </a:path>
              <a:path w="1905000" h="92075">
                <a:moveTo>
                  <a:pt x="1781556" y="42799"/>
                </a:moveTo>
                <a:lnTo>
                  <a:pt x="1781428" y="62611"/>
                </a:lnTo>
                <a:lnTo>
                  <a:pt x="1830699" y="63032"/>
                </a:lnTo>
                <a:lnTo>
                  <a:pt x="1828800" y="53086"/>
                </a:lnTo>
                <a:lnTo>
                  <a:pt x="1830862" y="43220"/>
                </a:lnTo>
                <a:lnTo>
                  <a:pt x="1781556" y="42799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23686" y="1886457"/>
            <a:ext cx="2565400" cy="3238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</a:pPr>
            <a:r>
              <a:rPr dirty="0" sz="1000" spc="5">
                <a:latin typeface="宋体"/>
                <a:cs typeface="宋体"/>
              </a:rPr>
              <a:t>成</a:t>
            </a:r>
            <a:r>
              <a:rPr dirty="0" sz="1000" spc="-5">
                <a:latin typeface="宋体"/>
                <a:cs typeface="宋体"/>
              </a:rPr>
              <a:t>长能</a:t>
            </a:r>
            <a:r>
              <a:rPr dirty="0" sz="1000" spc="5">
                <a:latin typeface="宋体"/>
                <a:cs typeface="宋体"/>
              </a:rPr>
              <a:t>力</a:t>
            </a:r>
            <a:r>
              <a:rPr dirty="0" sz="1000" spc="-5">
                <a:latin typeface="宋体"/>
                <a:cs typeface="宋体"/>
              </a:rPr>
              <a:t>较强</a:t>
            </a:r>
            <a:r>
              <a:rPr dirty="0" sz="1000" spc="5">
                <a:latin typeface="宋体"/>
                <a:cs typeface="宋体"/>
              </a:rPr>
              <a:t>的</a:t>
            </a:r>
            <a:r>
              <a:rPr dirty="0" sz="1000" spc="-5">
                <a:latin typeface="宋体"/>
                <a:cs typeface="宋体"/>
              </a:rPr>
              <a:t>代工</a:t>
            </a:r>
            <a:r>
              <a:rPr dirty="0" sz="1000" spc="5">
                <a:latin typeface="宋体"/>
                <a:cs typeface="宋体"/>
              </a:rPr>
              <a:t>厂</a:t>
            </a:r>
            <a:r>
              <a:rPr dirty="0" sz="1000" spc="-5">
                <a:latin typeface="宋体"/>
                <a:cs typeface="宋体"/>
              </a:rPr>
              <a:t>发展</a:t>
            </a:r>
            <a:r>
              <a:rPr dirty="0" sz="1000" spc="5">
                <a:latin typeface="宋体"/>
                <a:cs typeface="宋体"/>
              </a:rPr>
              <a:t>态</a:t>
            </a:r>
            <a:r>
              <a:rPr dirty="0" sz="1000" spc="-5">
                <a:latin typeface="宋体"/>
                <a:cs typeface="宋体"/>
              </a:rPr>
              <a:t>势更</a:t>
            </a:r>
            <a:r>
              <a:rPr dirty="0" sz="1000" spc="5">
                <a:latin typeface="宋体"/>
                <a:cs typeface="宋体"/>
              </a:rPr>
              <a:t>好</a:t>
            </a:r>
            <a:r>
              <a:rPr dirty="0" sz="1000" spc="-5">
                <a:latin typeface="宋体"/>
                <a:cs typeface="宋体"/>
              </a:rPr>
              <a:t>，长</a:t>
            </a:r>
            <a:r>
              <a:rPr dirty="0" sz="1000" spc="5">
                <a:latin typeface="宋体"/>
                <a:cs typeface="宋体"/>
              </a:rPr>
              <a:t>期</a:t>
            </a:r>
            <a:r>
              <a:rPr dirty="0" sz="1000" spc="-5">
                <a:latin typeface="宋体"/>
                <a:cs typeface="宋体"/>
              </a:rPr>
              <a:t>来 </a:t>
            </a:r>
            <a:r>
              <a:rPr dirty="0" sz="1000" spc="5">
                <a:latin typeface="宋体"/>
                <a:cs typeface="宋体"/>
              </a:rPr>
              <a:t>看</a:t>
            </a:r>
            <a:r>
              <a:rPr dirty="0" sz="1000" spc="-5">
                <a:latin typeface="宋体"/>
                <a:cs typeface="宋体"/>
              </a:rPr>
              <a:t>是更</a:t>
            </a:r>
            <a:r>
              <a:rPr dirty="0" sz="1000" spc="5">
                <a:latin typeface="宋体"/>
                <a:cs typeface="宋体"/>
              </a:rPr>
              <a:t>优</a:t>
            </a:r>
            <a:r>
              <a:rPr dirty="0" sz="1000" spc="-5">
                <a:latin typeface="宋体"/>
                <a:cs typeface="宋体"/>
              </a:rPr>
              <a:t>选择。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544311" y="1517903"/>
            <a:ext cx="2825750" cy="303530"/>
          </a:xfrm>
          <a:custGeom>
            <a:avLst/>
            <a:gdLst/>
            <a:ahLst/>
            <a:cxnLst/>
            <a:rect l="l" t="t" r="r" b="b"/>
            <a:pathLst>
              <a:path w="2825750" h="303530">
                <a:moveTo>
                  <a:pt x="2673858" y="0"/>
                </a:moveTo>
                <a:lnTo>
                  <a:pt x="151637" y="0"/>
                </a:lnTo>
                <a:lnTo>
                  <a:pt x="103729" y="7735"/>
                </a:lnTo>
                <a:lnTo>
                  <a:pt x="62106" y="29272"/>
                </a:lnTo>
                <a:lnTo>
                  <a:pt x="29272" y="62106"/>
                </a:lnTo>
                <a:lnTo>
                  <a:pt x="7735" y="103729"/>
                </a:lnTo>
                <a:lnTo>
                  <a:pt x="0" y="151637"/>
                </a:lnTo>
                <a:lnTo>
                  <a:pt x="7735" y="199546"/>
                </a:lnTo>
                <a:lnTo>
                  <a:pt x="29272" y="241169"/>
                </a:lnTo>
                <a:lnTo>
                  <a:pt x="62106" y="274003"/>
                </a:lnTo>
                <a:lnTo>
                  <a:pt x="103729" y="295540"/>
                </a:lnTo>
                <a:lnTo>
                  <a:pt x="151637" y="303275"/>
                </a:lnTo>
                <a:lnTo>
                  <a:pt x="2673858" y="303275"/>
                </a:lnTo>
                <a:lnTo>
                  <a:pt x="2721766" y="295540"/>
                </a:lnTo>
                <a:lnTo>
                  <a:pt x="2763389" y="274003"/>
                </a:lnTo>
                <a:lnTo>
                  <a:pt x="2796223" y="241169"/>
                </a:lnTo>
                <a:lnTo>
                  <a:pt x="2817760" y="199546"/>
                </a:lnTo>
                <a:lnTo>
                  <a:pt x="2825495" y="151637"/>
                </a:lnTo>
                <a:lnTo>
                  <a:pt x="2817760" y="103729"/>
                </a:lnTo>
                <a:lnTo>
                  <a:pt x="2796223" y="62106"/>
                </a:lnTo>
                <a:lnTo>
                  <a:pt x="2763389" y="29272"/>
                </a:lnTo>
                <a:lnTo>
                  <a:pt x="2721766" y="7735"/>
                </a:lnTo>
                <a:lnTo>
                  <a:pt x="2673858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666613" y="1562480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成长能力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2504" y="3877055"/>
            <a:ext cx="317500" cy="1905000"/>
          </a:xfrm>
          <a:custGeom>
            <a:avLst/>
            <a:gdLst/>
            <a:ahLst/>
            <a:cxnLst/>
            <a:rect l="l" t="t" r="r" b="b"/>
            <a:pathLst>
              <a:path w="317500" h="1905000">
                <a:moveTo>
                  <a:pt x="0" y="1108710"/>
                </a:moveTo>
                <a:lnTo>
                  <a:pt x="0" y="1492758"/>
                </a:lnTo>
                <a:lnTo>
                  <a:pt x="155803" y="1905000"/>
                </a:lnTo>
                <a:lnTo>
                  <a:pt x="307769" y="1519936"/>
                </a:lnTo>
                <a:lnTo>
                  <a:pt x="155397" y="1519936"/>
                </a:lnTo>
                <a:lnTo>
                  <a:pt x="0" y="1108710"/>
                </a:lnTo>
                <a:close/>
              </a:path>
              <a:path w="317500" h="1905000">
                <a:moveTo>
                  <a:pt x="316991" y="1110488"/>
                </a:moveTo>
                <a:lnTo>
                  <a:pt x="155397" y="1519936"/>
                </a:lnTo>
                <a:lnTo>
                  <a:pt x="307769" y="1519936"/>
                </a:lnTo>
                <a:lnTo>
                  <a:pt x="316991" y="1496568"/>
                </a:lnTo>
                <a:lnTo>
                  <a:pt x="316991" y="1110488"/>
                </a:lnTo>
                <a:close/>
              </a:path>
              <a:path w="317500" h="1905000">
                <a:moveTo>
                  <a:pt x="0" y="629539"/>
                </a:moveTo>
                <a:lnTo>
                  <a:pt x="0" y="1013587"/>
                </a:lnTo>
                <a:lnTo>
                  <a:pt x="155803" y="1425702"/>
                </a:lnTo>
                <a:lnTo>
                  <a:pt x="307817" y="1040638"/>
                </a:lnTo>
                <a:lnTo>
                  <a:pt x="155409" y="1040638"/>
                </a:lnTo>
                <a:lnTo>
                  <a:pt x="0" y="629539"/>
                </a:lnTo>
                <a:close/>
              </a:path>
              <a:path w="317500" h="1905000">
                <a:moveTo>
                  <a:pt x="316991" y="631317"/>
                </a:moveTo>
                <a:lnTo>
                  <a:pt x="155409" y="1040638"/>
                </a:lnTo>
                <a:lnTo>
                  <a:pt x="307817" y="1040638"/>
                </a:lnTo>
                <a:lnTo>
                  <a:pt x="316991" y="1017397"/>
                </a:lnTo>
                <a:lnTo>
                  <a:pt x="316991" y="631317"/>
                </a:lnTo>
                <a:close/>
              </a:path>
              <a:path w="317500" h="1905000">
                <a:moveTo>
                  <a:pt x="316991" y="0"/>
                </a:moveTo>
                <a:lnTo>
                  <a:pt x="0" y="0"/>
                </a:lnTo>
                <a:lnTo>
                  <a:pt x="0" y="534289"/>
                </a:lnTo>
                <a:lnTo>
                  <a:pt x="155803" y="946531"/>
                </a:lnTo>
                <a:lnTo>
                  <a:pt x="316991" y="538099"/>
                </a:lnTo>
                <a:lnTo>
                  <a:pt x="316991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16408" y="1511808"/>
            <a:ext cx="323215" cy="254381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4508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35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弱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algn="just" marL="46990" marR="3873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重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要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algn="just" marL="4699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07263" y="934211"/>
            <a:ext cx="391795" cy="390525"/>
          </a:xfrm>
          <a:custGeom>
            <a:avLst/>
            <a:gdLst/>
            <a:ahLst/>
            <a:cxnLst/>
            <a:rect l="l" t="t" r="r" b="b"/>
            <a:pathLst>
              <a:path w="391795" h="390525">
                <a:moveTo>
                  <a:pt x="195833" y="0"/>
                </a:moveTo>
                <a:lnTo>
                  <a:pt x="150931" y="5154"/>
                </a:lnTo>
                <a:lnTo>
                  <a:pt x="109712" y="19834"/>
                </a:lnTo>
                <a:lnTo>
                  <a:pt x="73351" y="42867"/>
                </a:lnTo>
                <a:lnTo>
                  <a:pt x="43023" y="73080"/>
                </a:lnTo>
                <a:lnTo>
                  <a:pt x="19905" y="109301"/>
                </a:lnTo>
                <a:lnTo>
                  <a:pt x="5172" y="150356"/>
                </a:lnTo>
                <a:lnTo>
                  <a:pt x="0" y="195072"/>
                </a:lnTo>
                <a:lnTo>
                  <a:pt x="5172" y="239787"/>
                </a:lnTo>
                <a:lnTo>
                  <a:pt x="19905" y="280842"/>
                </a:lnTo>
                <a:lnTo>
                  <a:pt x="43023" y="317063"/>
                </a:lnTo>
                <a:lnTo>
                  <a:pt x="73351" y="347276"/>
                </a:lnTo>
                <a:lnTo>
                  <a:pt x="109712" y="370309"/>
                </a:lnTo>
                <a:lnTo>
                  <a:pt x="150931" y="384989"/>
                </a:lnTo>
                <a:lnTo>
                  <a:pt x="195833" y="390143"/>
                </a:lnTo>
                <a:lnTo>
                  <a:pt x="240736" y="384989"/>
                </a:lnTo>
                <a:lnTo>
                  <a:pt x="281955" y="370309"/>
                </a:lnTo>
                <a:lnTo>
                  <a:pt x="318316" y="347276"/>
                </a:lnTo>
                <a:lnTo>
                  <a:pt x="348644" y="317063"/>
                </a:lnTo>
                <a:lnTo>
                  <a:pt x="371762" y="280842"/>
                </a:lnTo>
                <a:lnTo>
                  <a:pt x="386495" y="239787"/>
                </a:lnTo>
                <a:lnTo>
                  <a:pt x="391667" y="195072"/>
                </a:lnTo>
                <a:lnTo>
                  <a:pt x="386495" y="150356"/>
                </a:lnTo>
                <a:lnTo>
                  <a:pt x="371762" y="109301"/>
                </a:lnTo>
                <a:lnTo>
                  <a:pt x="348644" y="73080"/>
                </a:lnTo>
                <a:lnTo>
                  <a:pt x="318316" y="42867"/>
                </a:lnTo>
                <a:lnTo>
                  <a:pt x="281955" y="19834"/>
                </a:lnTo>
                <a:lnTo>
                  <a:pt x="240736" y="5154"/>
                </a:lnTo>
                <a:lnTo>
                  <a:pt x="195833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89254" y="999489"/>
            <a:ext cx="66020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从合作</a:t>
            </a:r>
            <a:r>
              <a:rPr dirty="0" sz="1400" spc="-15" b="1">
                <a:latin typeface="明兰"/>
                <a:cs typeface="明兰"/>
              </a:rPr>
              <a:t>角</a:t>
            </a:r>
            <a:r>
              <a:rPr dirty="0" sz="1400" b="1">
                <a:latin typeface="明兰"/>
                <a:cs typeface="明兰"/>
              </a:rPr>
              <a:t>度来</a:t>
            </a:r>
            <a:r>
              <a:rPr dirty="0" sz="1400" spc="-15" b="1">
                <a:latin typeface="明兰"/>
                <a:cs typeface="明兰"/>
              </a:rPr>
              <a:t>看，</a:t>
            </a:r>
            <a:r>
              <a:rPr dirty="0" sz="1400" b="1">
                <a:latin typeface="明兰"/>
                <a:cs typeface="明兰"/>
              </a:rPr>
              <a:t>选择代</a:t>
            </a:r>
            <a:r>
              <a:rPr dirty="0" sz="1400" spc="-15" b="1">
                <a:latin typeface="明兰"/>
                <a:cs typeface="明兰"/>
              </a:rPr>
              <a:t>工</a:t>
            </a:r>
            <a:r>
              <a:rPr dirty="0" sz="1400" b="1">
                <a:latin typeface="明兰"/>
                <a:cs typeface="明兰"/>
              </a:rPr>
              <a:t>厂，</a:t>
            </a:r>
            <a:r>
              <a:rPr dirty="0" sz="1400" spc="-15" b="1">
                <a:latin typeface="明兰"/>
                <a:cs typeface="明兰"/>
              </a:rPr>
              <a:t>考量</a:t>
            </a:r>
            <a:r>
              <a:rPr dirty="0" sz="1400" b="1">
                <a:latin typeface="明兰"/>
                <a:cs typeface="明兰"/>
              </a:rPr>
              <a:t>的是代</a:t>
            </a:r>
            <a:r>
              <a:rPr dirty="0" sz="1400" spc="-15" b="1">
                <a:latin typeface="明兰"/>
                <a:cs typeface="明兰"/>
              </a:rPr>
              <a:t>工</a:t>
            </a:r>
            <a:r>
              <a:rPr dirty="0" sz="1400" b="1">
                <a:latin typeface="明兰"/>
                <a:cs typeface="明兰"/>
              </a:rPr>
              <a:t>厂的</a:t>
            </a:r>
            <a:r>
              <a:rPr dirty="0" sz="1400" spc="-15" b="1">
                <a:latin typeface="明兰"/>
                <a:cs typeface="明兰"/>
              </a:rPr>
              <a:t>整体</a:t>
            </a:r>
            <a:r>
              <a:rPr dirty="0" sz="1400" b="1">
                <a:latin typeface="明兰"/>
                <a:cs typeface="明兰"/>
              </a:rPr>
              <a:t>营运效</a:t>
            </a:r>
            <a:r>
              <a:rPr dirty="0" sz="1400" spc="-15" b="1">
                <a:latin typeface="明兰"/>
                <a:cs typeface="明兰"/>
              </a:rPr>
              <a:t>率</a:t>
            </a:r>
            <a:r>
              <a:rPr dirty="0" sz="1400" b="1">
                <a:latin typeface="明兰"/>
                <a:cs typeface="明兰"/>
              </a:rPr>
              <a:t>与企</a:t>
            </a:r>
            <a:r>
              <a:rPr dirty="0" sz="1400" spc="-15" b="1">
                <a:latin typeface="明兰"/>
                <a:cs typeface="明兰"/>
              </a:rPr>
              <a:t>业运</a:t>
            </a:r>
            <a:r>
              <a:rPr dirty="0" sz="1400" b="1">
                <a:latin typeface="明兰"/>
                <a:cs typeface="明兰"/>
              </a:rPr>
              <a:t>转的稳</a:t>
            </a:r>
            <a:r>
              <a:rPr dirty="0" sz="1400" spc="-15" b="1">
                <a:latin typeface="明兰"/>
                <a:cs typeface="明兰"/>
              </a:rPr>
              <a:t>定</a:t>
            </a:r>
            <a:r>
              <a:rPr dirty="0" sz="1400" b="1">
                <a:latin typeface="明兰"/>
                <a:cs typeface="明兰"/>
              </a:rPr>
              <a:t>性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97179" y="1013460"/>
            <a:ext cx="211836" cy="211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15576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评分体系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确定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563" y="5423712"/>
            <a:ext cx="8451850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注释：</a:t>
            </a:r>
            <a:endParaRPr sz="1400">
              <a:latin typeface="明兰"/>
              <a:cs typeface="明兰"/>
            </a:endParaRPr>
          </a:p>
          <a:p>
            <a:pPr marL="12700" marR="5080" indent="457200">
              <a:lnSpc>
                <a:spcPct val="100000"/>
              </a:lnSpc>
              <a:spcBef>
                <a:spcPts val="5"/>
              </a:spcBef>
            </a:pPr>
            <a:r>
              <a:rPr dirty="0" sz="1400" spc="10" b="1">
                <a:latin typeface="明兰"/>
                <a:cs typeface="明兰"/>
              </a:rPr>
              <a:t>经营活动现金</a:t>
            </a:r>
            <a:r>
              <a:rPr dirty="0" sz="1400" b="1">
                <a:latin typeface="明兰"/>
                <a:cs typeface="明兰"/>
              </a:rPr>
              <a:t>流量</a:t>
            </a:r>
            <a:r>
              <a:rPr dirty="0" sz="1400" spc="10" b="1">
                <a:latin typeface="明兰"/>
                <a:cs typeface="明兰"/>
              </a:rPr>
              <a:t>净</a:t>
            </a:r>
            <a:r>
              <a:rPr dirty="0" sz="1400" spc="30" b="1">
                <a:latin typeface="明兰"/>
                <a:cs typeface="明兰"/>
              </a:rPr>
              <a:t>额</a:t>
            </a:r>
            <a:r>
              <a:rPr dirty="0" sz="1400" spc="-10" b="1">
                <a:latin typeface="Arial"/>
                <a:cs typeface="Arial"/>
              </a:rPr>
              <a:t>/</a:t>
            </a:r>
            <a:r>
              <a:rPr dirty="0" sz="1400" spc="10" b="1">
                <a:latin typeface="明兰"/>
                <a:cs typeface="明兰"/>
              </a:rPr>
              <a:t>净利润：</a:t>
            </a:r>
            <a:r>
              <a:rPr dirty="0" sz="1400" spc="10">
                <a:latin typeface="宋体"/>
                <a:cs typeface="宋体"/>
              </a:rPr>
              <a:t>比</a:t>
            </a:r>
            <a:r>
              <a:rPr dirty="0" sz="1400">
                <a:latin typeface="宋体"/>
                <a:cs typeface="宋体"/>
              </a:rPr>
              <a:t>率</a:t>
            </a:r>
            <a:r>
              <a:rPr dirty="0" sz="1400" spc="10">
                <a:latin typeface="宋体"/>
                <a:cs typeface="宋体"/>
              </a:rPr>
              <a:t>值大于等</a:t>
            </a:r>
            <a:r>
              <a:rPr dirty="0" sz="1400" spc="15">
                <a:latin typeface="宋体"/>
                <a:cs typeface="宋体"/>
              </a:rPr>
              <a:t>于</a:t>
            </a:r>
            <a:r>
              <a:rPr dirty="0" sz="1400" spc="5">
                <a:latin typeface="Arial"/>
                <a:cs typeface="Arial"/>
              </a:rPr>
              <a:t>1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 spc="10">
                <a:latin typeface="宋体"/>
                <a:cs typeface="宋体"/>
              </a:rPr>
              <a:t>说</a:t>
            </a:r>
            <a:r>
              <a:rPr dirty="0" sz="1400">
                <a:latin typeface="宋体"/>
                <a:cs typeface="宋体"/>
              </a:rPr>
              <a:t>明</a:t>
            </a:r>
            <a:r>
              <a:rPr dirty="0" sz="1400" spc="10">
                <a:latin typeface="宋体"/>
                <a:cs typeface="宋体"/>
              </a:rPr>
              <a:t>收现能力较</a:t>
            </a:r>
            <a:r>
              <a:rPr dirty="0" sz="1400" spc="5">
                <a:latin typeface="宋体"/>
                <a:cs typeface="宋体"/>
              </a:rPr>
              <a:t>强</a:t>
            </a:r>
            <a:r>
              <a:rPr dirty="0" sz="1400" spc="10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利</a:t>
            </a:r>
            <a:r>
              <a:rPr dirty="0" sz="1400" spc="10">
                <a:latin typeface="宋体"/>
                <a:cs typeface="宋体"/>
              </a:rPr>
              <a:t>润质量较</a:t>
            </a:r>
            <a:r>
              <a:rPr dirty="0" sz="1400">
                <a:latin typeface="宋体"/>
                <a:cs typeface="宋体"/>
              </a:rPr>
              <a:t>好</a:t>
            </a:r>
            <a:r>
              <a:rPr dirty="0" sz="1400" spc="10">
                <a:latin typeface="宋体"/>
                <a:cs typeface="宋体"/>
              </a:rPr>
              <a:t>；若</a:t>
            </a:r>
            <a:r>
              <a:rPr dirty="0" sz="1400">
                <a:latin typeface="宋体"/>
                <a:cs typeface="宋体"/>
              </a:rPr>
              <a:t>小</a:t>
            </a:r>
            <a:r>
              <a:rPr dirty="0" sz="1400" spc="15">
                <a:latin typeface="宋体"/>
                <a:cs typeface="宋体"/>
              </a:rPr>
              <a:t>于</a:t>
            </a:r>
            <a:r>
              <a:rPr dirty="0" sz="1400" spc="5">
                <a:latin typeface="Arial"/>
                <a:cs typeface="Arial"/>
              </a:rPr>
              <a:t>1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说 明可能</a:t>
            </a:r>
            <a:r>
              <a:rPr dirty="0" sz="1400" spc="-15">
                <a:latin typeface="宋体"/>
                <a:cs typeface="宋体"/>
              </a:rPr>
              <a:t>受</a:t>
            </a:r>
            <a:r>
              <a:rPr dirty="0" sz="1400">
                <a:latin typeface="宋体"/>
                <a:cs typeface="宋体"/>
              </a:rPr>
              <a:t>到人</a:t>
            </a:r>
            <a:r>
              <a:rPr dirty="0" sz="1400" spc="-15">
                <a:latin typeface="宋体"/>
                <a:cs typeface="宋体"/>
              </a:rPr>
              <a:t>为操</a:t>
            </a:r>
            <a:r>
              <a:rPr dirty="0" sz="1400">
                <a:latin typeface="宋体"/>
                <a:cs typeface="宋体"/>
              </a:rPr>
              <a:t>纵或存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大量</a:t>
            </a:r>
            <a:r>
              <a:rPr dirty="0" sz="1400" spc="-15">
                <a:latin typeface="宋体"/>
                <a:cs typeface="宋体"/>
              </a:rPr>
              <a:t>应收</a:t>
            </a:r>
            <a:r>
              <a:rPr dirty="0" sz="1400">
                <a:latin typeface="宋体"/>
                <a:cs typeface="宋体"/>
              </a:rPr>
              <a:t>帐</a:t>
            </a:r>
            <a:r>
              <a:rPr dirty="0" sz="1400" spc="5">
                <a:latin typeface="宋体"/>
                <a:cs typeface="宋体"/>
              </a:rPr>
              <a:t>款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润质</a:t>
            </a:r>
            <a:r>
              <a:rPr dirty="0" sz="1400" spc="-15">
                <a:latin typeface="宋体"/>
                <a:cs typeface="宋体"/>
              </a:rPr>
              <a:t>量较</a:t>
            </a:r>
            <a:r>
              <a:rPr dirty="0" sz="1400">
                <a:latin typeface="宋体"/>
                <a:cs typeface="宋体"/>
              </a:rPr>
              <a:t>差。</a:t>
            </a:r>
            <a:endParaRPr sz="1400">
              <a:latin typeface="宋体"/>
              <a:cs typeface="宋体"/>
            </a:endParaRPr>
          </a:p>
          <a:p>
            <a:pPr marL="12700" marR="5080" indent="457200">
              <a:lnSpc>
                <a:spcPct val="100000"/>
              </a:lnSpc>
            </a:pPr>
            <a:r>
              <a:rPr dirty="0" sz="1400" spc="-10" b="1">
                <a:latin typeface="Arial"/>
                <a:cs typeface="Arial"/>
              </a:rPr>
              <a:t>EBITDA</a:t>
            </a:r>
            <a:r>
              <a:rPr dirty="0" sz="1400" spc="20" b="1">
                <a:latin typeface="明兰"/>
                <a:cs typeface="明兰"/>
              </a:rPr>
              <a:t>利</a:t>
            </a:r>
            <a:r>
              <a:rPr dirty="0" sz="1400" spc="10" b="1">
                <a:latin typeface="明兰"/>
                <a:cs typeface="明兰"/>
              </a:rPr>
              <a:t>润率</a:t>
            </a:r>
            <a:r>
              <a:rPr dirty="0" sz="1400" spc="15" b="1">
                <a:latin typeface="明兰"/>
                <a:cs typeface="明兰"/>
              </a:rPr>
              <a:t>：</a:t>
            </a:r>
            <a:r>
              <a:rPr dirty="0" sz="1400" spc="-15">
                <a:latin typeface="宋体"/>
                <a:cs typeface="宋体"/>
              </a:rPr>
              <a:t>企</a:t>
            </a:r>
            <a:r>
              <a:rPr dirty="0" sz="1400" spc="10">
                <a:latin typeface="宋体"/>
                <a:cs typeface="宋体"/>
              </a:rPr>
              <a:t>业</a:t>
            </a:r>
            <a:r>
              <a:rPr dirty="0" sz="1400">
                <a:latin typeface="宋体"/>
                <a:cs typeface="宋体"/>
              </a:rPr>
              <a:t>一</a:t>
            </a:r>
            <a:r>
              <a:rPr dirty="0" sz="1400" spc="10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时期</a:t>
            </a:r>
            <a:r>
              <a:rPr dirty="0" sz="1400" spc="10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息税</a:t>
            </a:r>
            <a:r>
              <a:rPr dirty="0" sz="1400" spc="10">
                <a:latin typeface="宋体"/>
                <a:cs typeface="宋体"/>
              </a:rPr>
              <a:t>前</a:t>
            </a:r>
            <a:r>
              <a:rPr dirty="0" sz="1400">
                <a:latin typeface="宋体"/>
                <a:cs typeface="宋体"/>
              </a:rPr>
              <a:t>利</a:t>
            </a:r>
            <a:r>
              <a:rPr dirty="0" sz="1400" spc="10">
                <a:latin typeface="宋体"/>
                <a:cs typeface="宋体"/>
              </a:rPr>
              <a:t>润</a:t>
            </a:r>
            <a:r>
              <a:rPr dirty="0" sz="1400">
                <a:latin typeface="宋体"/>
                <a:cs typeface="宋体"/>
              </a:rPr>
              <a:t>与折</a:t>
            </a:r>
            <a:r>
              <a:rPr dirty="0" sz="1400" spc="10">
                <a:latin typeface="宋体"/>
                <a:cs typeface="宋体"/>
              </a:rPr>
              <a:t>旧</a:t>
            </a:r>
            <a:r>
              <a:rPr dirty="0" sz="1400">
                <a:latin typeface="宋体"/>
                <a:cs typeface="宋体"/>
              </a:rPr>
              <a:t>和摊</a:t>
            </a:r>
            <a:r>
              <a:rPr dirty="0" sz="1400" spc="10">
                <a:latin typeface="宋体"/>
                <a:cs typeface="宋体"/>
              </a:rPr>
              <a:t>销</a:t>
            </a:r>
            <a:r>
              <a:rPr dirty="0" sz="1400">
                <a:latin typeface="宋体"/>
                <a:cs typeface="宋体"/>
              </a:rPr>
              <a:t>之</a:t>
            </a:r>
            <a:r>
              <a:rPr dirty="0" sz="1400" spc="20">
                <a:latin typeface="宋体"/>
                <a:cs typeface="宋体"/>
              </a:rPr>
              <a:t>和</a:t>
            </a:r>
            <a:r>
              <a:rPr dirty="0" sz="1400">
                <a:latin typeface="Arial"/>
                <a:cs typeface="Arial"/>
              </a:rPr>
              <a:t>(</a:t>
            </a:r>
            <a:r>
              <a:rPr dirty="0" sz="1400">
                <a:latin typeface="宋体"/>
                <a:cs typeface="宋体"/>
              </a:rPr>
              <a:t>即：</a:t>
            </a:r>
            <a:r>
              <a:rPr dirty="0" sz="1400" spc="10">
                <a:latin typeface="宋体"/>
                <a:cs typeface="宋体"/>
              </a:rPr>
              <a:t>息</a:t>
            </a:r>
            <a:r>
              <a:rPr dirty="0" sz="1400">
                <a:latin typeface="宋体"/>
                <a:cs typeface="宋体"/>
              </a:rPr>
              <a:t>税前</a:t>
            </a:r>
            <a:r>
              <a:rPr dirty="0" sz="1400" spc="10">
                <a:latin typeface="宋体"/>
                <a:cs typeface="宋体"/>
              </a:rPr>
              <a:t>利润</a:t>
            </a:r>
            <a:r>
              <a:rPr dirty="0" sz="1400" spc="-5">
                <a:latin typeface="Arial"/>
                <a:cs typeface="Arial"/>
              </a:rPr>
              <a:t>+</a:t>
            </a:r>
            <a:r>
              <a:rPr dirty="0" sz="1400">
                <a:latin typeface="宋体"/>
                <a:cs typeface="宋体"/>
              </a:rPr>
              <a:t>折</a:t>
            </a:r>
            <a:r>
              <a:rPr dirty="0" sz="1400" spc="10">
                <a:latin typeface="宋体"/>
                <a:cs typeface="宋体"/>
              </a:rPr>
              <a:t>旧</a:t>
            </a:r>
            <a:r>
              <a:rPr dirty="0" sz="1400" spc="-5">
                <a:latin typeface="Arial"/>
                <a:cs typeface="Arial"/>
              </a:rPr>
              <a:t>+</a:t>
            </a:r>
            <a:r>
              <a:rPr dirty="0" sz="1400">
                <a:latin typeface="宋体"/>
                <a:cs typeface="宋体"/>
              </a:rPr>
              <a:t>摊</a:t>
            </a:r>
            <a:r>
              <a:rPr dirty="0" sz="1400" spc="10">
                <a:latin typeface="宋体"/>
                <a:cs typeface="宋体"/>
              </a:rPr>
              <a:t>销</a:t>
            </a:r>
            <a:r>
              <a:rPr dirty="0" sz="1400">
                <a:latin typeface="Arial"/>
                <a:cs typeface="Arial"/>
              </a:rPr>
              <a:t>)</a:t>
            </a:r>
            <a:r>
              <a:rPr dirty="0" sz="1400">
                <a:latin typeface="宋体"/>
                <a:cs typeface="宋体"/>
              </a:rPr>
              <a:t>占</a:t>
            </a:r>
            <a:r>
              <a:rPr dirty="0" sz="1400" spc="10">
                <a:latin typeface="宋体"/>
                <a:cs typeface="宋体"/>
              </a:rPr>
              <a:t>这</a:t>
            </a:r>
            <a:r>
              <a:rPr dirty="0" sz="1400">
                <a:latin typeface="宋体"/>
                <a:cs typeface="宋体"/>
              </a:rPr>
              <a:t>一时 期的销</a:t>
            </a:r>
            <a:r>
              <a:rPr dirty="0" sz="1400" spc="-15">
                <a:latin typeface="宋体"/>
                <a:cs typeface="宋体"/>
              </a:rPr>
              <a:t>售</a:t>
            </a:r>
            <a:r>
              <a:rPr dirty="0" sz="1400">
                <a:latin typeface="宋体"/>
                <a:cs typeface="宋体"/>
              </a:rPr>
              <a:t>收入</a:t>
            </a:r>
            <a:r>
              <a:rPr dirty="0" sz="1400" spc="-15">
                <a:latin typeface="宋体"/>
                <a:cs typeface="宋体"/>
              </a:rPr>
              <a:t>净额</a:t>
            </a:r>
            <a:r>
              <a:rPr dirty="0" sz="1400">
                <a:latin typeface="宋体"/>
                <a:cs typeface="宋体"/>
              </a:rPr>
              <a:t>的比重。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7556" y="5408676"/>
            <a:ext cx="8608060" cy="1123315"/>
          </a:xfrm>
          <a:custGeom>
            <a:avLst/>
            <a:gdLst/>
            <a:ahLst/>
            <a:cxnLst/>
            <a:rect l="l" t="t" r="r" b="b"/>
            <a:pathLst>
              <a:path w="8608060" h="1123315">
                <a:moveTo>
                  <a:pt x="0" y="1123188"/>
                </a:moveTo>
                <a:lnTo>
                  <a:pt x="8607552" y="1123188"/>
                </a:lnTo>
                <a:lnTo>
                  <a:pt x="8607552" y="0"/>
                </a:lnTo>
                <a:lnTo>
                  <a:pt x="0" y="0"/>
                </a:lnTo>
                <a:lnTo>
                  <a:pt x="0" y="1123188"/>
                </a:lnTo>
                <a:close/>
              </a:path>
            </a:pathLst>
          </a:custGeom>
          <a:ln w="12192">
            <a:solidFill>
              <a:srgbClr val="4453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74191"/>
            <a:ext cx="9076944" cy="4730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95147"/>
            <a:ext cx="37077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电子制造服务业简介及参考样本选取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556" y="2205227"/>
            <a:ext cx="399034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dirty="0" sz="1200" spc="-5" b="1">
                <a:latin typeface="Arial"/>
                <a:cs typeface="Arial"/>
              </a:rPr>
              <a:t>2016</a:t>
            </a:r>
            <a:r>
              <a:rPr dirty="0" sz="1200" b="1">
                <a:latin typeface="明兰"/>
                <a:cs typeface="明兰"/>
              </a:rPr>
              <a:t>年电子制造服务业全球</a:t>
            </a:r>
            <a:r>
              <a:rPr dirty="0" sz="1200" spc="-10" b="1">
                <a:latin typeface="Arial"/>
                <a:cs typeface="Arial"/>
              </a:rPr>
              <a:t>TOP10</a:t>
            </a:r>
            <a:r>
              <a:rPr dirty="0" sz="1200" b="1">
                <a:latin typeface="明兰"/>
                <a:cs typeface="明兰"/>
              </a:rPr>
              <a:t>公司资产规模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124" y="6356096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56" y="1053083"/>
            <a:ext cx="8608060" cy="958850"/>
          </a:xfrm>
          <a:prstGeom prst="rect">
            <a:avLst/>
          </a:prstGeom>
          <a:ln w="12192">
            <a:solidFill>
              <a:srgbClr val="44536A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375"/>
              </a:spcBef>
            </a:pPr>
            <a:r>
              <a:rPr dirty="0" sz="1400" spc="45">
                <a:latin typeface="宋体"/>
                <a:cs typeface="宋体"/>
              </a:rPr>
              <a:t>电</a:t>
            </a:r>
            <a:r>
              <a:rPr dirty="0" sz="1400" spc="55">
                <a:latin typeface="宋体"/>
                <a:cs typeface="宋体"/>
              </a:rPr>
              <a:t>子</a:t>
            </a:r>
            <a:r>
              <a:rPr dirty="0" sz="1400" spc="45">
                <a:latin typeface="宋体"/>
                <a:cs typeface="宋体"/>
              </a:rPr>
              <a:t>制造服</a:t>
            </a:r>
            <a:r>
              <a:rPr dirty="0" sz="1400" spc="55">
                <a:latin typeface="宋体"/>
                <a:cs typeface="宋体"/>
              </a:rPr>
              <a:t>务</a:t>
            </a:r>
            <a:r>
              <a:rPr dirty="0" sz="1400" spc="45">
                <a:latin typeface="宋体"/>
                <a:cs typeface="宋体"/>
              </a:rPr>
              <a:t>业是为</a:t>
            </a:r>
            <a:r>
              <a:rPr dirty="0" sz="1400" spc="55">
                <a:latin typeface="宋体"/>
                <a:cs typeface="宋体"/>
              </a:rPr>
              <a:t>各</a:t>
            </a:r>
            <a:r>
              <a:rPr dirty="0" sz="1400" spc="45">
                <a:latin typeface="宋体"/>
                <a:cs typeface="宋体"/>
              </a:rPr>
              <a:t>类电子产</a:t>
            </a:r>
            <a:r>
              <a:rPr dirty="0" sz="1400" spc="55">
                <a:latin typeface="宋体"/>
                <a:cs typeface="宋体"/>
              </a:rPr>
              <a:t>品</a:t>
            </a:r>
            <a:r>
              <a:rPr dirty="0" sz="1400" spc="45">
                <a:latin typeface="宋体"/>
                <a:cs typeface="宋体"/>
              </a:rPr>
              <a:t>提供</a:t>
            </a:r>
            <a:r>
              <a:rPr dirty="0" sz="1400" spc="55">
                <a:latin typeface="宋体"/>
                <a:cs typeface="宋体"/>
              </a:rPr>
              <a:t>制</a:t>
            </a:r>
            <a:r>
              <a:rPr dirty="0" sz="1400" spc="45">
                <a:latin typeface="宋体"/>
                <a:cs typeface="宋体"/>
              </a:rPr>
              <a:t>造服务的</a:t>
            </a:r>
            <a:r>
              <a:rPr dirty="0" sz="1400" spc="55">
                <a:latin typeface="宋体"/>
                <a:cs typeface="宋体"/>
              </a:rPr>
              <a:t>产</a:t>
            </a:r>
            <a:r>
              <a:rPr dirty="0" sz="1400" spc="85">
                <a:latin typeface="宋体"/>
                <a:cs typeface="宋体"/>
              </a:rPr>
              <a:t>业</a:t>
            </a:r>
            <a:r>
              <a:rPr dirty="0" sz="1400" spc="45">
                <a:latin typeface="宋体"/>
                <a:cs typeface="宋体"/>
              </a:rPr>
              <a:t>，</a:t>
            </a:r>
            <a:r>
              <a:rPr dirty="0" sz="1400" spc="55">
                <a:latin typeface="宋体"/>
                <a:cs typeface="宋体"/>
              </a:rPr>
              <a:t>代</a:t>
            </a:r>
            <a:r>
              <a:rPr dirty="0" sz="1400" spc="45">
                <a:latin typeface="宋体"/>
                <a:cs typeface="宋体"/>
              </a:rPr>
              <a:t>表制造环</a:t>
            </a:r>
            <a:r>
              <a:rPr dirty="0" sz="1400" spc="55">
                <a:latin typeface="宋体"/>
                <a:cs typeface="宋体"/>
              </a:rPr>
              <a:t>节</a:t>
            </a:r>
            <a:r>
              <a:rPr dirty="0" sz="1400" spc="45">
                <a:latin typeface="宋体"/>
                <a:cs typeface="宋体"/>
              </a:rPr>
              <a:t>的外</a:t>
            </a:r>
            <a:r>
              <a:rPr dirty="0" sz="1400" spc="75">
                <a:latin typeface="宋体"/>
                <a:cs typeface="宋体"/>
              </a:rPr>
              <a:t>包</a:t>
            </a:r>
            <a:r>
              <a:rPr dirty="0" sz="1400" spc="60">
                <a:latin typeface="宋体"/>
                <a:cs typeface="宋体"/>
              </a:rPr>
              <a:t>。</a:t>
            </a:r>
            <a:r>
              <a:rPr dirty="0" sz="1400">
                <a:latin typeface="Arial"/>
                <a:cs typeface="Arial"/>
              </a:rPr>
              <a:t>2016</a:t>
            </a:r>
            <a:r>
              <a:rPr dirty="0" sz="1400" spc="55">
                <a:latin typeface="宋体"/>
                <a:cs typeface="宋体"/>
              </a:rPr>
              <a:t>年</a:t>
            </a:r>
            <a:r>
              <a:rPr dirty="0" sz="1400" spc="45">
                <a:latin typeface="宋体"/>
                <a:cs typeface="宋体"/>
              </a:rPr>
              <a:t>市场规</a:t>
            </a:r>
            <a:r>
              <a:rPr dirty="0" sz="1400" spc="55">
                <a:latin typeface="宋体"/>
                <a:cs typeface="宋体"/>
              </a:rPr>
              <a:t>模</a:t>
            </a:r>
            <a:r>
              <a:rPr dirty="0" sz="1400">
                <a:latin typeface="宋体"/>
                <a:cs typeface="宋体"/>
              </a:rPr>
              <a:t>达</a:t>
            </a:r>
            <a:endParaRPr sz="1400">
              <a:latin typeface="宋体"/>
              <a:cs typeface="宋体"/>
            </a:endParaRPr>
          </a:p>
          <a:p>
            <a:pPr marL="548005" marR="82550" indent="-457200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4843.5</a:t>
            </a:r>
            <a:r>
              <a:rPr dirty="0" sz="1400">
                <a:latin typeface="宋体"/>
                <a:cs typeface="宋体"/>
              </a:rPr>
              <a:t>亿美</a:t>
            </a:r>
            <a:r>
              <a:rPr dirty="0" sz="1400" spc="-10">
                <a:latin typeface="宋体"/>
                <a:cs typeface="宋体"/>
              </a:rPr>
              <a:t>元</a:t>
            </a:r>
            <a:r>
              <a:rPr dirty="0" sz="1400">
                <a:latin typeface="宋体"/>
                <a:cs typeface="宋体"/>
              </a:rPr>
              <a:t>，公</a:t>
            </a:r>
            <a:r>
              <a:rPr dirty="0" sz="1400" spc="-15">
                <a:latin typeface="宋体"/>
                <a:cs typeface="宋体"/>
              </a:rPr>
              <a:t>司</a:t>
            </a:r>
            <a:r>
              <a:rPr dirty="0" sz="1400">
                <a:latin typeface="宋体"/>
                <a:cs typeface="宋体"/>
              </a:rPr>
              <a:t>集中</a:t>
            </a:r>
            <a:r>
              <a:rPr dirty="0" sz="1400" spc="-15">
                <a:latin typeface="宋体"/>
                <a:cs typeface="宋体"/>
              </a:rPr>
              <a:t>度</a:t>
            </a:r>
            <a:r>
              <a:rPr dirty="0" sz="1400">
                <a:latin typeface="宋体"/>
                <a:cs typeface="宋体"/>
              </a:rPr>
              <a:t>很高</a:t>
            </a:r>
            <a:r>
              <a:rPr dirty="0" sz="1400" spc="-10">
                <a:latin typeface="宋体"/>
                <a:cs typeface="宋体"/>
              </a:rPr>
              <a:t>（</a:t>
            </a:r>
            <a:r>
              <a:rPr dirty="0" sz="1400" spc="-10">
                <a:latin typeface="Arial"/>
                <a:cs typeface="Arial"/>
              </a:rPr>
              <a:t>CR10</a:t>
            </a:r>
            <a:r>
              <a:rPr dirty="0" sz="1400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52.0%</a:t>
            </a:r>
            <a:r>
              <a:rPr dirty="0" sz="1400" spc="-5">
                <a:latin typeface="宋体"/>
                <a:cs typeface="宋体"/>
              </a:rPr>
              <a:t>）</a:t>
            </a:r>
            <a:r>
              <a:rPr dirty="0" sz="1400" spc="-15">
                <a:latin typeface="宋体"/>
                <a:cs typeface="宋体"/>
              </a:rPr>
              <a:t>。</a:t>
            </a:r>
            <a:r>
              <a:rPr dirty="0" sz="1400">
                <a:latin typeface="宋体"/>
                <a:cs typeface="宋体"/>
              </a:rPr>
              <a:t>龙头</a:t>
            </a:r>
            <a:r>
              <a:rPr dirty="0" sz="1400" spc="-15">
                <a:latin typeface="宋体"/>
                <a:cs typeface="宋体"/>
              </a:rPr>
              <a:t>公</a:t>
            </a:r>
            <a:r>
              <a:rPr dirty="0" sz="1400">
                <a:latin typeface="宋体"/>
                <a:cs typeface="宋体"/>
              </a:rPr>
              <a:t>司主</a:t>
            </a:r>
            <a:r>
              <a:rPr dirty="0" sz="1400" spc="-15">
                <a:latin typeface="宋体"/>
                <a:cs typeface="宋体"/>
              </a:rPr>
              <a:t>要</a:t>
            </a:r>
            <a:r>
              <a:rPr dirty="0" sz="1400">
                <a:latin typeface="宋体"/>
                <a:cs typeface="宋体"/>
              </a:rPr>
              <a:t>分布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美国</a:t>
            </a:r>
            <a:r>
              <a:rPr dirty="0" sz="1400" spc="-15">
                <a:latin typeface="宋体"/>
                <a:cs typeface="宋体"/>
              </a:rPr>
              <a:t>和</a:t>
            </a:r>
            <a:r>
              <a:rPr dirty="0" sz="1400">
                <a:latin typeface="宋体"/>
                <a:cs typeface="宋体"/>
              </a:rPr>
              <a:t>台</a:t>
            </a:r>
            <a:r>
              <a:rPr dirty="0" sz="1400" spc="5">
                <a:latin typeface="宋体"/>
                <a:cs typeface="宋体"/>
              </a:rPr>
              <a:t>湾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前十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别占</a:t>
            </a:r>
            <a:r>
              <a:rPr dirty="0" sz="1400" spc="-15">
                <a:latin typeface="宋体"/>
                <a:cs typeface="宋体"/>
              </a:rPr>
              <a:t>据</a:t>
            </a:r>
            <a:r>
              <a:rPr dirty="0" sz="1400" spc="-5">
                <a:latin typeface="Arial"/>
                <a:cs typeface="Arial"/>
              </a:rPr>
              <a:t>4</a:t>
            </a:r>
            <a:r>
              <a:rPr dirty="0" sz="1400">
                <a:latin typeface="宋体"/>
                <a:cs typeface="宋体"/>
              </a:rPr>
              <a:t>席。 </a:t>
            </a:r>
            <a:r>
              <a:rPr dirty="0" sz="1400" spc="20">
                <a:latin typeface="宋体"/>
                <a:cs typeface="宋体"/>
              </a:rPr>
              <a:t>为建</a:t>
            </a:r>
            <a:r>
              <a:rPr dirty="0" sz="1400" spc="10">
                <a:latin typeface="宋体"/>
                <a:cs typeface="宋体"/>
              </a:rPr>
              <a:t>立</a:t>
            </a:r>
            <a:r>
              <a:rPr dirty="0" sz="1400" spc="20">
                <a:latin typeface="宋体"/>
                <a:cs typeface="宋体"/>
              </a:rPr>
              <a:t>财</a:t>
            </a:r>
            <a:r>
              <a:rPr dirty="0" sz="1400" spc="10">
                <a:latin typeface="宋体"/>
                <a:cs typeface="宋体"/>
              </a:rPr>
              <a:t>务</a:t>
            </a:r>
            <a:r>
              <a:rPr dirty="0" sz="1400" spc="20">
                <a:latin typeface="宋体"/>
                <a:cs typeface="宋体"/>
              </a:rPr>
              <a:t>指标</a:t>
            </a:r>
            <a:r>
              <a:rPr dirty="0" sz="1400" spc="10">
                <a:latin typeface="宋体"/>
                <a:cs typeface="宋体"/>
              </a:rPr>
              <a:t>分</a:t>
            </a:r>
            <a:r>
              <a:rPr dirty="0" sz="1400" spc="20">
                <a:latin typeface="宋体"/>
                <a:cs typeface="宋体"/>
              </a:rPr>
              <a:t>析模</a:t>
            </a:r>
            <a:r>
              <a:rPr dirty="0" sz="1400" spc="25">
                <a:latin typeface="宋体"/>
                <a:cs typeface="宋体"/>
              </a:rPr>
              <a:t>型</a:t>
            </a:r>
            <a:r>
              <a:rPr dirty="0" sz="1400" spc="20">
                <a:latin typeface="宋体"/>
                <a:cs typeface="宋体"/>
              </a:rPr>
              <a:t>，</a:t>
            </a:r>
            <a:r>
              <a:rPr dirty="0" sz="1400" spc="10">
                <a:latin typeface="宋体"/>
                <a:cs typeface="宋体"/>
              </a:rPr>
              <a:t>我</a:t>
            </a:r>
            <a:r>
              <a:rPr dirty="0" sz="1400" spc="20">
                <a:latin typeface="宋体"/>
                <a:cs typeface="宋体"/>
              </a:rPr>
              <a:t>们选</a:t>
            </a:r>
            <a:r>
              <a:rPr dirty="0" sz="1400" spc="10">
                <a:latin typeface="宋体"/>
                <a:cs typeface="宋体"/>
              </a:rPr>
              <a:t>取</a:t>
            </a:r>
            <a:r>
              <a:rPr dirty="0" sz="1400" spc="20">
                <a:latin typeface="宋体"/>
                <a:cs typeface="宋体"/>
              </a:rPr>
              <a:t>行业</a:t>
            </a:r>
            <a:r>
              <a:rPr dirty="0" sz="1400" spc="10">
                <a:latin typeface="宋体"/>
                <a:cs typeface="宋体"/>
              </a:rPr>
              <a:t>排</a:t>
            </a:r>
            <a:r>
              <a:rPr dirty="0" sz="1400" spc="20">
                <a:latin typeface="宋体"/>
                <a:cs typeface="宋体"/>
              </a:rPr>
              <a:t>名</a:t>
            </a:r>
            <a:r>
              <a:rPr dirty="0" sz="1400" spc="35">
                <a:latin typeface="宋体"/>
                <a:cs typeface="宋体"/>
              </a:rPr>
              <a:t>前</a:t>
            </a:r>
            <a:r>
              <a:rPr dirty="0" sz="1400" spc="-5">
                <a:latin typeface="Arial"/>
                <a:cs typeface="Arial"/>
              </a:rPr>
              <a:t>25</a:t>
            </a:r>
            <a:r>
              <a:rPr dirty="0" sz="1400" spc="20">
                <a:latin typeface="宋体"/>
                <a:cs typeface="宋体"/>
              </a:rPr>
              <a:t>的</a:t>
            </a:r>
            <a:r>
              <a:rPr dirty="0" sz="1400" spc="10">
                <a:latin typeface="宋体"/>
                <a:cs typeface="宋体"/>
              </a:rPr>
              <a:t>公</a:t>
            </a:r>
            <a:r>
              <a:rPr dirty="0" sz="1400" spc="20">
                <a:latin typeface="宋体"/>
                <a:cs typeface="宋体"/>
              </a:rPr>
              <a:t>司作</a:t>
            </a:r>
            <a:r>
              <a:rPr dirty="0" sz="1400" spc="10">
                <a:latin typeface="宋体"/>
                <a:cs typeface="宋体"/>
              </a:rPr>
              <a:t>为</a:t>
            </a:r>
            <a:r>
              <a:rPr dirty="0" sz="1400" spc="20">
                <a:latin typeface="宋体"/>
                <a:cs typeface="宋体"/>
              </a:rPr>
              <a:t>参考，确</a:t>
            </a:r>
            <a:r>
              <a:rPr dirty="0" sz="1400" spc="10">
                <a:latin typeface="宋体"/>
                <a:cs typeface="宋体"/>
              </a:rPr>
              <a:t>定</a:t>
            </a:r>
            <a:r>
              <a:rPr dirty="0" sz="1400" spc="20">
                <a:latin typeface="宋体"/>
                <a:cs typeface="宋体"/>
              </a:rPr>
              <a:t>各财</a:t>
            </a:r>
            <a:r>
              <a:rPr dirty="0" sz="1400" spc="10">
                <a:latin typeface="宋体"/>
                <a:cs typeface="宋体"/>
              </a:rPr>
              <a:t>务</a:t>
            </a:r>
            <a:r>
              <a:rPr dirty="0" sz="1400" spc="20">
                <a:latin typeface="宋体"/>
                <a:cs typeface="宋体"/>
              </a:rPr>
              <a:t>指</a:t>
            </a:r>
            <a:r>
              <a:rPr dirty="0" sz="1400" spc="10">
                <a:latin typeface="宋体"/>
                <a:cs typeface="宋体"/>
              </a:rPr>
              <a:t>标</a:t>
            </a:r>
            <a:r>
              <a:rPr dirty="0" sz="1400" spc="20">
                <a:latin typeface="宋体"/>
                <a:cs typeface="宋体"/>
              </a:rPr>
              <a:t>的权</a:t>
            </a:r>
            <a:r>
              <a:rPr dirty="0" sz="1400" spc="10">
                <a:latin typeface="宋体"/>
                <a:cs typeface="宋体"/>
              </a:rPr>
              <a:t>重</a:t>
            </a:r>
            <a:r>
              <a:rPr dirty="0" sz="1400" spc="20">
                <a:latin typeface="宋体"/>
                <a:cs typeface="宋体"/>
              </a:rPr>
              <a:t>并加</a:t>
            </a:r>
            <a:r>
              <a:rPr dirty="0" sz="1400" spc="10">
                <a:latin typeface="宋体"/>
                <a:cs typeface="宋体"/>
              </a:rPr>
              <a:t>以</a:t>
            </a:r>
            <a:r>
              <a:rPr dirty="0" sz="1400">
                <a:latin typeface="宋体"/>
                <a:cs typeface="宋体"/>
              </a:rPr>
              <a:t>赋</a:t>
            </a:r>
            <a:endParaRPr sz="1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</a:pPr>
            <a:r>
              <a:rPr dirty="0" sz="1400">
                <a:latin typeface="宋体"/>
                <a:cs typeface="宋体"/>
              </a:rPr>
              <a:t>分。注</a:t>
            </a:r>
            <a:r>
              <a:rPr dirty="0" sz="1400" spc="-15">
                <a:latin typeface="宋体"/>
                <a:cs typeface="宋体"/>
              </a:rPr>
              <a:t>意</a:t>
            </a:r>
            <a:r>
              <a:rPr dirty="0" sz="1400">
                <a:latin typeface="宋体"/>
                <a:cs typeface="宋体"/>
              </a:rPr>
              <a:t>，由</a:t>
            </a:r>
            <a:r>
              <a:rPr dirty="0" sz="1400" spc="-10">
                <a:latin typeface="宋体"/>
                <a:cs typeface="宋体"/>
              </a:rPr>
              <a:t>于行</a:t>
            </a:r>
            <a:r>
              <a:rPr dirty="0" sz="1400">
                <a:latin typeface="宋体"/>
                <a:cs typeface="宋体"/>
              </a:rPr>
              <a:t>业龙头</a:t>
            </a:r>
            <a:r>
              <a:rPr dirty="0" sz="1400" spc="-10">
                <a:latin typeface="宋体"/>
                <a:cs typeface="宋体"/>
              </a:rPr>
              <a:t>鸿</a:t>
            </a:r>
            <a:r>
              <a:rPr dirty="0" sz="1400" spc="-15">
                <a:latin typeface="宋体"/>
                <a:cs typeface="宋体"/>
              </a:rPr>
              <a:t>海</a:t>
            </a:r>
            <a:r>
              <a:rPr dirty="0" sz="1400">
                <a:latin typeface="宋体"/>
                <a:cs typeface="宋体"/>
              </a:rPr>
              <a:t>（</a:t>
            </a:r>
            <a:r>
              <a:rPr dirty="0" sz="1400" spc="-15">
                <a:latin typeface="宋体"/>
                <a:cs typeface="宋体"/>
              </a:rPr>
              <a:t>富士</a:t>
            </a:r>
            <a:r>
              <a:rPr dirty="0" sz="1400">
                <a:latin typeface="宋体"/>
                <a:cs typeface="宋体"/>
              </a:rPr>
              <a:t>康）体</a:t>
            </a:r>
            <a:r>
              <a:rPr dirty="0" sz="1400" spc="-15">
                <a:latin typeface="宋体"/>
                <a:cs typeface="宋体"/>
              </a:rPr>
              <a:t>量</a:t>
            </a:r>
            <a:r>
              <a:rPr dirty="0" sz="1400">
                <a:latin typeface="宋体"/>
                <a:cs typeface="宋体"/>
              </a:rPr>
              <a:t>过大</a:t>
            </a:r>
            <a:r>
              <a:rPr dirty="0" sz="1400" spc="-15">
                <a:latin typeface="宋体"/>
                <a:cs typeface="宋体"/>
              </a:rPr>
              <a:t>，与</a:t>
            </a:r>
            <a:r>
              <a:rPr dirty="0" sz="1400">
                <a:latin typeface="宋体"/>
                <a:cs typeface="宋体"/>
              </a:rPr>
              <a:t>其他公</a:t>
            </a:r>
            <a:r>
              <a:rPr dirty="0" sz="1400" spc="-15">
                <a:latin typeface="宋体"/>
                <a:cs typeface="宋体"/>
              </a:rPr>
              <a:t>司</a:t>
            </a:r>
            <a:r>
              <a:rPr dirty="0" sz="1400">
                <a:latin typeface="宋体"/>
                <a:cs typeface="宋体"/>
              </a:rPr>
              <a:t>相比</a:t>
            </a:r>
            <a:r>
              <a:rPr dirty="0" sz="1400" spc="-15">
                <a:latin typeface="宋体"/>
                <a:cs typeface="宋体"/>
              </a:rPr>
              <a:t>缺少</a:t>
            </a:r>
            <a:r>
              <a:rPr dirty="0" sz="1400">
                <a:latin typeface="宋体"/>
                <a:cs typeface="宋体"/>
              </a:rPr>
              <a:t>可比性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故剔</a:t>
            </a:r>
            <a:r>
              <a:rPr dirty="0" sz="1400" spc="-15">
                <a:latin typeface="宋体"/>
                <a:cs typeface="宋体"/>
              </a:rPr>
              <a:t>除鸿</a:t>
            </a:r>
            <a:r>
              <a:rPr dirty="0" sz="1400">
                <a:latin typeface="宋体"/>
                <a:cs typeface="宋体"/>
              </a:rPr>
              <a:t>海再进</a:t>
            </a:r>
            <a:r>
              <a:rPr dirty="0" sz="1400" spc="-1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分析。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6611" y="2205227"/>
            <a:ext cx="3999229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dirty="0" sz="1200" spc="-5" b="1">
                <a:latin typeface="Arial"/>
                <a:cs typeface="Arial"/>
              </a:rPr>
              <a:t>2016</a:t>
            </a:r>
            <a:r>
              <a:rPr dirty="0" sz="1200" b="1">
                <a:latin typeface="明兰"/>
                <a:cs typeface="明兰"/>
              </a:rPr>
              <a:t>年电子制造服务业全球</a:t>
            </a:r>
            <a:r>
              <a:rPr dirty="0" sz="1200" spc="-10" b="1">
                <a:latin typeface="Arial"/>
                <a:cs typeface="Arial"/>
              </a:rPr>
              <a:t>TOP10</a:t>
            </a:r>
            <a:r>
              <a:rPr dirty="0" sz="1200" b="1">
                <a:latin typeface="明兰"/>
                <a:cs typeface="明兰"/>
              </a:rPr>
              <a:t>公司营收规模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1759" y="6330797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2519" y="3297935"/>
            <a:ext cx="151130" cy="2222500"/>
          </a:xfrm>
          <a:custGeom>
            <a:avLst/>
            <a:gdLst/>
            <a:ahLst/>
            <a:cxnLst/>
            <a:rect l="l" t="t" r="r" b="b"/>
            <a:pathLst>
              <a:path w="151130" h="2222500">
                <a:moveTo>
                  <a:pt x="150876" y="0"/>
                </a:moveTo>
                <a:lnTo>
                  <a:pt x="0" y="0"/>
                </a:lnTo>
                <a:lnTo>
                  <a:pt x="0" y="2221991"/>
                </a:lnTo>
                <a:lnTo>
                  <a:pt x="150876" y="2221991"/>
                </a:lnTo>
                <a:lnTo>
                  <a:pt x="150876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12747" y="5138928"/>
            <a:ext cx="149860" cy="381000"/>
          </a:xfrm>
          <a:custGeom>
            <a:avLst/>
            <a:gdLst/>
            <a:ahLst/>
            <a:cxnLst/>
            <a:rect l="l" t="t" r="r" b="b"/>
            <a:pathLst>
              <a:path w="149859" h="381000">
                <a:moveTo>
                  <a:pt x="149352" y="0"/>
                </a:moveTo>
                <a:lnTo>
                  <a:pt x="0" y="0"/>
                </a:lnTo>
                <a:lnTo>
                  <a:pt x="0" y="381000"/>
                </a:lnTo>
                <a:lnTo>
                  <a:pt x="149352" y="381000"/>
                </a:lnTo>
                <a:lnTo>
                  <a:pt x="14935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11451" y="5172455"/>
            <a:ext cx="149860" cy="347980"/>
          </a:xfrm>
          <a:custGeom>
            <a:avLst/>
            <a:gdLst/>
            <a:ahLst/>
            <a:cxnLst/>
            <a:rect l="l" t="t" r="r" b="b"/>
            <a:pathLst>
              <a:path w="149860" h="347979">
                <a:moveTo>
                  <a:pt x="149352" y="0"/>
                </a:moveTo>
                <a:lnTo>
                  <a:pt x="0" y="0"/>
                </a:lnTo>
                <a:lnTo>
                  <a:pt x="0" y="347472"/>
                </a:lnTo>
                <a:lnTo>
                  <a:pt x="149352" y="347472"/>
                </a:lnTo>
                <a:lnTo>
                  <a:pt x="14935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11679" y="5242559"/>
            <a:ext cx="149860" cy="277495"/>
          </a:xfrm>
          <a:custGeom>
            <a:avLst/>
            <a:gdLst/>
            <a:ahLst/>
            <a:cxnLst/>
            <a:rect l="l" t="t" r="r" b="b"/>
            <a:pathLst>
              <a:path w="149860" h="277495">
                <a:moveTo>
                  <a:pt x="149351" y="0"/>
                </a:moveTo>
                <a:lnTo>
                  <a:pt x="0" y="0"/>
                </a:lnTo>
                <a:lnTo>
                  <a:pt x="0" y="277367"/>
                </a:lnTo>
                <a:lnTo>
                  <a:pt x="149351" y="277367"/>
                </a:lnTo>
                <a:lnTo>
                  <a:pt x="14935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10383" y="5276088"/>
            <a:ext cx="149860" cy="243840"/>
          </a:xfrm>
          <a:custGeom>
            <a:avLst/>
            <a:gdLst/>
            <a:ahLst/>
            <a:cxnLst/>
            <a:rect l="l" t="t" r="r" b="b"/>
            <a:pathLst>
              <a:path w="149860" h="243839">
                <a:moveTo>
                  <a:pt x="149352" y="0"/>
                </a:moveTo>
                <a:lnTo>
                  <a:pt x="0" y="0"/>
                </a:lnTo>
                <a:lnTo>
                  <a:pt x="0" y="243840"/>
                </a:lnTo>
                <a:lnTo>
                  <a:pt x="149352" y="243840"/>
                </a:lnTo>
                <a:lnTo>
                  <a:pt x="14935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10611" y="5326379"/>
            <a:ext cx="149860" cy="193675"/>
          </a:xfrm>
          <a:custGeom>
            <a:avLst/>
            <a:gdLst/>
            <a:ahLst/>
            <a:cxnLst/>
            <a:rect l="l" t="t" r="r" b="b"/>
            <a:pathLst>
              <a:path w="149860" h="193675">
                <a:moveTo>
                  <a:pt x="149351" y="0"/>
                </a:moveTo>
                <a:lnTo>
                  <a:pt x="0" y="0"/>
                </a:lnTo>
                <a:lnTo>
                  <a:pt x="0" y="193548"/>
                </a:lnTo>
                <a:lnTo>
                  <a:pt x="149351" y="193548"/>
                </a:lnTo>
                <a:lnTo>
                  <a:pt x="14935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09316" y="5417820"/>
            <a:ext cx="149860" cy="102235"/>
          </a:xfrm>
          <a:custGeom>
            <a:avLst/>
            <a:gdLst/>
            <a:ahLst/>
            <a:cxnLst/>
            <a:rect l="l" t="t" r="r" b="b"/>
            <a:pathLst>
              <a:path w="149860" h="102235">
                <a:moveTo>
                  <a:pt x="149351" y="0"/>
                </a:moveTo>
                <a:lnTo>
                  <a:pt x="0" y="0"/>
                </a:lnTo>
                <a:lnTo>
                  <a:pt x="0" y="102107"/>
                </a:lnTo>
                <a:lnTo>
                  <a:pt x="149351" y="102107"/>
                </a:lnTo>
                <a:lnTo>
                  <a:pt x="149351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08020" y="5481828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76" y="0"/>
                </a:lnTo>
              </a:path>
            </a:pathLst>
          </a:custGeom>
          <a:ln w="76200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08247" y="5494782"/>
            <a:ext cx="149860" cy="0"/>
          </a:xfrm>
          <a:custGeom>
            <a:avLst/>
            <a:gdLst/>
            <a:ahLst/>
            <a:cxnLst/>
            <a:rect l="l" t="t" r="r" b="b"/>
            <a:pathLst>
              <a:path w="149860" h="0">
                <a:moveTo>
                  <a:pt x="0" y="0"/>
                </a:moveTo>
                <a:lnTo>
                  <a:pt x="149351" y="0"/>
                </a:lnTo>
              </a:path>
            </a:pathLst>
          </a:custGeom>
          <a:ln w="50291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06952" y="5491734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75" y="0"/>
                </a:lnTo>
              </a:path>
            </a:pathLst>
          </a:custGeom>
          <a:ln w="56387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37844" y="3019044"/>
            <a:ext cx="0" cy="2501265"/>
          </a:xfrm>
          <a:custGeom>
            <a:avLst/>
            <a:gdLst/>
            <a:ahLst/>
            <a:cxnLst/>
            <a:rect l="l" t="t" r="r" b="b"/>
            <a:pathLst>
              <a:path w="0" h="2501265">
                <a:moveTo>
                  <a:pt x="0" y="2500883"/>
                </a:moveTo>
                <a:lnTo>
                  <a:pt x="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37844" y="5519928"/>
            <a:ext cx="2994660" cy="0"/>
          </a:xfrm>
          <a:custGeom>
            <a:avLst/>
            <a:gdLst/>
            <a:ahLst/>
            <a:cxnLst/>
            <a:rect l="l" t="t" r="r" b="b"/>
            <a:pathLst>
              <a:path w="2994660" h="0">
                <a:moveTo>
                  <a:pt x="0" y="0"/>
                </a:moveTo>
                <a:lnTo>
                  <a:pt x="299466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5673" y="2808604"/>
            <a:ext cx="492125" cy="280416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200" spc="-5">
                <a:latin typeface="Arial"/>
                <a:cs typeface="Arial"/>
              </a:rPr>
              <a:t>9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 spc="-5">
                <a:latin typeface="Arial"/>
                <a:cs typeface="Arial"/>
              </a:rPr>
              <a:t>8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5">
                <a:latin typeface="Arial"/>
                <a:cs typeface="Arial"/>
              </a:rPr>
              <a:t>7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5">
                <a:latin typeface="Arial"/>
                <a:cs typeface="Arial"/>
              </a:rPr>
              <a:t>6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5">
                <a:latin typeface="Arial"/>
                <a:cs typeface="Arial"/>
              </a:rPr>
              <a:t>5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 spc="-5">
                <a:latin typeface="Arial"/>
                <a:cs typeface="Arial"/>
              </a:rPr>
              <a:t>4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5">
                <a:latin typeface="Arial"/>
                <a:cs typeface="Arial"/>
              </a:rPr>
              <a:t>3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 spc="-5">
                <a:latin typeface="Arial"/>
                <a:cs typeface="Arial"/>
              </a:rPr>
              <a:t>2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750"/>
              </a:spcBef>
            </a:pP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5419" y="5599887"/>
            <a:ext cx="2921635" cy="635000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317500">
              <a:lnSpc>
                <a:spcPct val="100000"/>
              </a:lnSpc>
              <a:spcBef>
                <a:spcPts val="170"/>
              </a:spcBef>
            </a:pPr>
            <a:r>
              <a:rPr dirty="0" sz="1200">
                <a:latin typeface="微软雅黑"/>
                <a:cs typeface="微软雅黑"/>
              </a:rPr>
              <a:t>鸿海</a:t>
            </a:r>
            <a:endParaRPr sz="1200">
              <a:latin typeface="微软雅黑"/>
              <a:cs typeface="微软雅黑"/>
            </a:endParaRPr>
          </a:p>
          <a:p>
            <a:pPr marL="165100" marR="5080" indent="152400">
              <a:lnSpc>
                <a:spcPts val="2360"/>
              </a:lnSpc>
              <a:spcBef>
                <a:spcPts val="225"/>
              </a:spcBef>
            </a:pPr>
            <a:r>
              <a:rPr dirty="0" sz="1200">
                <a:latin typeface="微软雅黑"/>
                <a:cs typeface="微软雅黑"/>
              </a:rPr>
              <a:t>和硕 伟创力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685"/>
              </a:spcBef>
            </a:pPr>
            <a:r>
              <a:rPr dirty="0" sz="1200">
                <a:latin typeface="微软雅黑"/>
                <a:cs typeface="微软雅黑"/>
              </a:rPr>
              <a:t>捷普</a:t>
            </a:r>
            <a:endParaRPr sz="1200">
              <a:latin typeface="微软雅黑"/>
              <a:cs typeface="微软雅黑"/>
            </a:endParaRPr>
          </a:p>
          <a:p>
            <a:pPr algn="just" marL="164465" marR="5080" indent="-152400">
              <a:lnSpc>
                <a:spcPct val="163600"/>
              </a:lnSpc>
              <a:spcBef>
                <a:spcPts val="5"/>
              </a:spcBef>
            </a:pPr>
            <a:r>
              <a:rPr dirty="0" sz="1200">
                <a:latin typeface="微软雅黑"/>
                <a:cs typeface="微软雅黑"/>
              </a:rPr>
              <a:t>纬创资通 富智康 新美亚</a:t>
            </a:r>
            <a:endParaRPr sz="1200">
              <a:latin typeface="微软雅黑"/>
              <a:cs typeface="微软雅黑"/>
            </a:endParaRPr>
          </a:p>
          <a:p>
            <a:pPr marL="164465" marR="5080" indent="152400">
              <a:lnSpc>
                <a:spcPct val="163700"/>
              </a:lnSpc>
            </a:pPr>
            <a:r>
              <a:rPr dirty="0" sz="1200">
                <a:latin typeface="微软雅黑"/>
                <a:cs typeface="微软雅黑"/>
              </a:rPr>
              <a:t>天弘 贝莱胜</a:t>
            </a:r>
            <a:endParaRPr sz="1200">
              <a:latin typeface="微软雅黑"/>
              <a:cs typeface="微软雅黑"/>
            </a:endParaRPr>
          </a:p>
          <a:p>
            <a:pPr marL="316865">
              <a:lnSpc>
                <a:spcPct val="100000"/>
              </a:lnSpc>
              <a:spcBef>
                <a:spcPts val="919"/>
              </a:spcBef>
            </a:pPr>
            <a:r>
              <a:rPr dirty="0" sz="1200">
                <a:latin typeface="微软雅黑"/>
                <a:cs typeface="微软雅黑"/>
              </a:rPr>
              <a:t>佰电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48611" y="2907792"/>
            <a:ext cx="78105" cy="76200"/>
          </a:xfrm>
          <a:custGeom>
            <a:avLst/>
            <a:gdLst/>
            <a:ahLst/>
            <a:cxnLst/>
            <a:rect l="l" t="t" r="r" b="b"/>
            <a:pathLst>
              <a:path w="78105" h="76200">
                <a:moveTo>
                  <a:pt x="0" y="76200"/>
                </a:moveTo>
                <a:lnTo>
                  <a:pt x="77724" y="76200"/>
                </a:lnTo>
                <a:lnTo>
                  <a:pt x="77724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46910" y="2838450"/>
            <a:ext cx="141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总资产（百万</a:t>
            </a:r>
            <a:r>
              <a:rPr dirty="0" sz="1200" spc="-5">
                <a:latin typeface="Arial"/>
                <a:cs typeface="Arial"/>
              </a:rPr>
              <a:t>US</a:t>
            </a:r>
            <a:r>
              <a:rPr dirty="0" sz="1200" spc="-10">
                <a:latin typeface="Arial"/>
                <a:cs typeface="Arial"/>
              </a:rPr>
              <a:t>D</a:t>
            </a:r>
            <a:r>
              <a:rPr dirty="0" sz="1200">
                <a:latin typeface="微软雅黑"/>
                <a:cs typeface="微软雅黑"/>
              </a:rPr>
              <a:t>）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15000" y="3374135"/>
            <a:ext cx="152400" cy="2176780"/>
          </a:xfrm>
          <a:custGeom>
            <a:avLst/>
            <a:gdLst/>
            <a:ahLst/>
            <a:cxnLst/>
            <a:rect l="l" t="t" r="r" b="b"/>
            <a:pathLst>
              <a:path w="152400" h="2176779">
                <a:moveTo>
                  <a:pt x="152400" y="0"/>
                </a:moveTo>
                <a:lnTo>
                  <a:pt x="0" y="0"/>
                </a:lnTo>
                <a:lnTo>
                  <a:pt x="0" y="2176272"/>
                </a:lnTo>
                <a:lnTo>
                  <a:pt x="152400" y="2176272"/>
                </a:lnTo>
                <a:lnTo>
                  <a:pt x="15240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18276" y="4968240"/>
            <a:ext cx="152400" cy="582295"/>
          </a:xfrm>
          <a:custGeom>
            <a:avLst/>
            <a:gdLst/>
            <a:ahLst/>
            <a:cxnLst/>
            <a:rect l="l" t="t" r="r" b="b"/>
            <a:pathLst>
              <a:path w="152400" h="582295">
                <a:moveTo>
                  <a:pt x="152400" y="0"/>
                </a:moveTo>
                <a:lnTo>
                  <a:pt x="0" y="0"/>
                </a:lnTo>
                <a:lnTo>
                  <a:pt x="0" y="582168"/>
                </a:lnTo>
                <a:lnTo>
                  <a:pt x="152400" y="582168"/>
                </a:lnTo>
                <a:lnTo>
                  <a:pt x="15240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21552" y="5163311"/>
            <a:ext cx="151130" cy="387350"/>
          </a:xfrm>
          <a:custGeom>
            <a:avLst/>
            <a:gdLst/>
            <a:ahLst/>
            <a:cxnLst/>
            <a:rect l="l" t="t" r="r" b="b"/>
            <a:pathLst>
              <a:path w="151129" h="387350">
                <a:moveTo>
                  <a:pt x="150875" y="0"/>
                </a:moveTo>
                <a:lnTo>
                  <a:pt x="0" y="0"/>
                </a:lnTo>
                <a:lnTo>
                  <a:pt x="0" y="387096"/>
                </a:lnTo>
                <a:lnTo>
                  <a:pt x="150875" y="387096"/>
                </a:lnTo>
                <a:lnTo>
                  <a:pt x="150875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24828" y="5253228"/>
            <a:ext cx="151130" cy="297180"/>
          </a:xfrm>
          <a:custGeom>
            <a:avLst/>
            <a:gdLst/>
            <a:ahLst/>
            <a:cxnLst/>
            <a:rect l="l" t="t" r="r" b="b"/>
            <a:pathLst>
              <a:path w="151129" h="297179">
                <a:moveTo>
                  <a:pt x="150875" y="0"/>
                </a:moveTo>
                <a:lnTo>
                  <a:pt x="0" y="0"/>
                </a:lnTo>
                <a:lnTo>
                  <a:pt x="0" y="297180"/>
                </a:lnTo>
                <a:lnTo>
                  <a:pt x="150875" y="297180"/>
                </a:lnTo>
                <a:lnTo>
                  <a:pt x="150875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28104" y="5265420"/>
            <a:ext cx="151130" cy="285115"/>
          </a:xfrm>
          <a:custGeom>
            <a:avLst/>
            <a:gdLst/>
            <a:ahLst/>
            <a:cxnLst/>
            <a:rect l="l" t="t" r="r" b="b"/>
            <a:pathLst>
              <a:path w="151129" h="285114">
                <a:moveTo>
                  <a:pt x="150875" y="0"/>
                </a:moveTo>
                <a:lnTo>
                  <a:pt x="0" y="0"/>
                </a:lnTo>
                <a:lnTo>
                  <a:pt x="0" y="284987"/>
                </a:lnTo>
                <a:lnTo>
                  <a:pt x="150875" y="284987"/>
                </a:lnTo>
                <a:lnTo>
                  <a:pt x="150875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31380" y="5448300"/>
            <a:ext cx="151130" cy="102235"/>
          </a:xfrm>
          <a:custGeom>
            <a:avLst/>
            <a:gdLst/>
            <a:ahLst/>
            <a:cxnLst/>
            <a:rect l="l" t="t" r="r" b="b"/>
            <a:pathLst>
              <a:path w="151129" h="102235">
                <a:moveTo>
                  <a:pt x="150875" y="0"/>
                </a:moveTo>
                <a:lnTo>
                  <a:pt x="0" y="0"/>
                </a:lnTo>
                <a:lnTo>
                  <a:pt x="0" y="102108"/>
                </a:lnTo>
                <a:lnTo>
                  <a:pt x="150875" y="102108"/>
                </a:lnTo>
                <a:lnTo>
                  <a:pt x="150875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33131" y="5445252"/>
            <a:ext cx="152400" cy="105410"/>
          </a:xfrm>
          <a:custGeom>
            <a:avLst/>
            <a:gdLst/>
            <a:ahLst/>
            <a:cxnLst/>
            <a:rect l="l" t="t" r="r" b="b"/>
            <a:pathLst>
              <a:path w="152400" h="105410">
                <a:moveTo>
                  <a:pt x="152400" y="0"/>
                </a:moveTo>
                <a:lnTo>
                  <a:pt x="0" y="0"/>
                </a:lnTo>
                <a:lnTo>
                  <a:pt x="0" y="105156"/>
                </a:lnTo>
                <a:lnTo>
                  <a:pt x="152400" y="105156"/>
                </a:lnTo>
                <a:lnTo>
                  <a:pt x="15240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36407" y="5452871"/>
            <a:ext cx="152400" cy="97790"/>
          </a:xfrm>
          <a:custGeom>
            <a:avLst/>
            <a:gdLst/>
            <a:ahLst/>
            <a:cxnLst/>
            <a:rect l="l" t="t" r="r" b="b"/>
            <a:pathLst>
              <a:path w="152400" h="97789">
                <a:moveTo>
                  <a:pt x="152400" y="0"/>
                </a:moveTo>
                <a:lnTo>
                  <a:pt x="0" y="0"/>
                </a:lnTo>
                <a:lnTo>
                  <a:pt x="0" y="97535"/>
                </a:lnTo>
                <a:lnTo>
                  <a:pt x="152400" y="97535"/>
                </a:lnTo>
                <a:lnTo>
                  <a:pt x="152400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139683" y="5529071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75" y="0"/>
                </a:lnTo>
              </a:path>
            </a:pathLst>
          </a:custGeom>
          <a:ln w="42671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442959" y="554583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75" y="0"/>
                </a:lnTo>
              </a:path>
            </a:pathLst>
          </a:custGeom>
          <a:ln w="9144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640323" y="2961132"/>
            <a:ext cx="0" cy="2589530"/>
          </a:xfrm>
          <a:custGeom>
            <a:avLst/>
            <a:gdLst/>
            <a:ahLst/>
            <a:cxnLst/>
            <a:rect l="l" t="t" r="r" b="b"/>
            <a:pathLst>
              <a:path w="0" h="2589529">
                <a:moveTo>
                  <a:pt x="0" y="2589276"/>
                </a:moveTo>
                <a:lnTo>
                  <a:pt x="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640323" y="5550408"/>
            <a:ext cx="3030220" cy="0"/>
          </a:xfrm>
          <a:custGeom>
            <a:avLst/>
            <a:gdLst/>
            <a:ahLst/>
            <a:cxnLst/>
            <a:rect l="l" t="t" r="r" b="b"/>
            <a:pathLst>
              <a:path w="3030220" h="0">
                <a:moveTo>
                  <a:pt x="0" y="0"/>
                </a:moveTo>
                <a:lnTo>
                  <a:pt x="3029711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369433" y="543499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87797" y="5111241"/>
            <a:ext cx="490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2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87797" y="4787645"/>
            <a:ext cx="490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4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87797" y="4463922"/>
            <a:ext cx="490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6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87797" y="4140200"/>
            <a:ext cx="490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8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0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03089" y="3816477"/>
            <a:ext cx="576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1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03089" y="3492754"/>
            <a:ext cx="576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15">
                <a:latin typeface="Arial"/>
                <a:cs typeface="Arial"/>
              </a:rPr>
              <a:t>2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03089" y="3168777"/>
            <a:ext cx="576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15">
                <a:latin typeface="Arial"/>
                <a:cs typeface="Arial"/>
              </a:rPr>
              <a:t>4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03089" y="2845053"/>
            <a:ext cx="576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 spc="-15">
                <a:latin typeface="Arial"/>
                <a:cs typeface="Arial"/>
              </a:rPr>
              <a:t>6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latin typeface="Arial"/>
                <a:cs typeface="Arial"/>
              </a:rPr>
              <a:t>0</a:t>
            </a:r>
            <a:r>
              <a:rPr dirty="0" sz="1200" spc="-5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79474" y="5630367"/>
            <a:ext cx="2954655" cy="635635"/>
          </a:xfrm>
          <a:prstGeom prst="rect">
            <a:avLst/>
          </a:prstGeom>
        </p:spPr>
        <p:txBody>
          <a:bodyPr wrap="square" lIns="0" tIns="21590" rIns="0" bIns="0" rtlCol="0" vert="vert270">
            <a:spAutoFit/>
          </a:bodyPr>
          <a:lstStyle/>
          <a:p>
            <a:pPr marL="317500">
              <a:lnSpc>
                <a:spcPct val="100000"/>
              </a:lnSpc>
              <a:spcBef>
                <a:spcPts val="170"/>
              </a:spcBef>
            </a:pPr>
            <a:r>
              <a:rPr dirty="0" sz="1200">
                <a:latin typeface="微软雅黑"/>
                <a:cs typeface="微软雅黑"/>
              </a:rPr>
              <a:t>鸿海</a:t>
            </a:r>
            <a:endParaRPr sz="1200">
              <a:latin typeface="微软雅黑"/>
              <a:cs typeface="微软雅黑"/>
            </a:endParaRPr>
          </a:p>
          <a:p>
            <a:pPr marL="165100" marR="5080" indent="152400">
              <a:lnSpc>
                <a:spcPts val="2390"/>
              </a:lnSpc>
              <a:spcBef>
                <a:spcPts val="229"/>
              </a:spcBef>
            </a:pPr>
            <a:r>
              <a:rPr dirty="0" sz="1200">
                <a:latin typeface="微软雅黑"/>
                <a:cs typeface="微软雅黑"/>
              </a:rPr>
              <a:t>和硕 伟创力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微软雅黑"/>
                <a:cs typeface="微软雅黑"/>
              </a:rPr>
              <a:t>捷普</a:t>
            </a:r>
            <a:endParaRPr sz="1200">
              <a:latin typeface="微软雅黑"/>
              <a:cs typeface="微软雅黑"/>
            </a:endParaRPr>
          </a:p>
          <a:p>
            <a:pPr algn="just" marL="165100" marR="5080" indent="-153035">
              <a:lnSpc>
                <a:spcPct val="165700"/>
              </a:lnSpc>
              <a:spcBef>
                <a:spcPts val="5"/>
              </a:spcBef>
            </a:pPr>
            <a:r>
              <a:rPr dirty="0" sz="1200">
                <a:latin typeface="微软雅黑"/>
                <a:cs typeface="微软雅黑"/>
              </a:rPr>
              <a:t>纬创资通 富智康 新美亚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944"/>
              </a:spcBef>
            </a:pPr>
            <a:r>
              <a:rPr dirty="0" sz="1200">
                <a:latin typeface="微软雅黑"/>
                <a:cs typeface="微软雅黑"/>
              </a:rPr>
              <a:t>天弘</a:t>
            </a:r>
            <a:endParaRPr sz="1200">
              <a:latin typeface="微软雅黑"/>
              <a:cs typeface="微软雅黑"/>
            </a:endParaRPr>
          </a:p>
          <a:p>
            <a:pPr marL="165100">
              <a:lnSpc>
                <a:spcPct val="100000"/>
              </a:lnSpc>
              <a:spcBef>
                <a:spcPts val="944"/>
              </a:spcBef>
            </a:pPr>
            <a:r>
              <a:rPr dirty="0" sz="1200" spc="-5">
                <a:latin typeface="微软雅黑"/>
                <a:cs typeface="微软雅黑"/>
              </a:rPr>
              <a:t>贝莱胜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950"/>
              </a:spcBef>
            </a:pPr>
            <a:r>
              <a:rPr dirty="0" sz="1200">
                <a:latin typeface="微软雅黑"/>
                <a:cs typeface="微软雅黑"/>
              </a:rPr>
              <a:t>佰电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224015" y="284530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322821" y="2776220"/>
            <a:ext cx="1566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营业收入（百万</a:t>
            </a:r>
            <a:r>
              <a:rPr dirty="0" sz="1200" spc="-5">
                <a:latin typeface="Arial"/>
                <a:cs typeface="Arial"/>
              </a:rPr>
              <a:t>USD</a:t>
            </a:r>
            <a:r>
              <a:rPr dirty="0" sz="1200" spc="-5">
                <a:latin typeface="微软雅黑"/>
                <a:cs typeface="微软雅黑"/>
              </a:rPr>
              <a:t>）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51676" y="1795272"/>
            <a:ext cx="2380487" cy="1924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50152" y="1807677"/>
            <a:ext cx="2382520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3345" marR="144145">
              <a:lnSpc>
                <a:spcPct val="107200"/>
              </a:lnSpc>
              <a:spcBef>
                <a:spcPts val="100"/>
              </a:spcBef>
            </a:pPr>
            <a:r>
              <a:rPr dirty="0" sz="1400" spc="5">
                <a:latin typeface="宋体"/>
                <a:cs typeface="宋体"/>
              </a:rPr>
              <a:t>层</a:t>
            </a:r>
            <a:r>
              <a:rPr dirty="0" sz="1400">
                <a:latin typeface="宋体"/>
                <a:cs typeface="宋体"/>
              </a:rPr>
              <a:t>次</a:t>
            </a:r>
            <a:r>
              <a:rPr dirty="0" sz="1400" spc="5">
                <a:latin typeface="宋体"/>
                <a:cs typeface="宋体"/>
              </a:rPr>
              <a:t>分</a:t>
            </a:r>
            <a:r>
              <a:rPr dirty="0" sz="1400" spc="-15">
                <a:latin typeface="宋体"/>
                <a:cs typeface="宋体"/>
              </a:rPr>
              <a:t>析</a:t>
            </a:r>
            <a:r>
              <a:rPr dirty="0" sz="1400" spc="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是</a:t>
            </a:r>
            <a:r>
              <a:rPr dirty="0" sz="1400" spc="-10">
                <a:latin typeface="宋体"/>
                <a:cs typeface="宋体"/>
              </a:rPr>
              <a:t>将与</a:t>
            </a:r>
            <a:r>
              <a:rPr dirty="0" sz="1400" spc="5">
                <a:latin typeface="宋体"/>
                <a:cs typeface="宋体"/>
              </a:rPr>
              <a:t>决</a:t>
            </a:r>
            <a:r>
              <a:rPr dirty="0" sz="1400">
                <a:latin typeface="宋体"/>
                <a:cs typeface="宋体"/>
              </a:rPr>
              <a:t>策</a:t>
            </a:r>
            <a:r>
              <a:rPr dirty="0" sz="1400" spc="5">
                <a:latin typeface="宋体"/>
                <a:cs typeface="宋体"/>
              </a:rPr>
              <a:t>总是 </a:t>
            </a:r>
            <a:r>
              <a:rPr dirty="0" sz="1400">
                <a:latin typeface="宋体"/>
                <a:cs typeface="宋体"/>
              </a:rPr>
              <a:t>有关的</a:t>
            </a:r>
            <a:r>
              <a:rPr dirty="0" sz="1400" spc="-15">
                <a:latin typeface="宋体"/>
                <a:cs typeface="宋体"/>
              </a:rPr>
              <a:t>元</a:t>
            </a:r>
            <a:r>
              <a:rPr dirty="0" sz="1400">
                <a:latin typeface="宋体"/>
                <a:cs typeface="宋体"/>
              </a:rPr>
              <a:t>素分</a:t>
            </a:r>
            <a:r>
              <a:rPr dirty="0" sz="1400" spc="-15">
                <a:latin typeface="宋体"/>
                <a:cs typeface="宋体"/>
              </a:rPr>
              <a:t>解成</a:t>
            </a:r>
            <a:r>
              <a:rPr dirty="0" sz="1400">
                <a:latin typeface="宋体"/>
                <a:cs typeface="宋体"/>
              </a:rPr>
              <a:t>目标、准 则、方</a:t>
            </a:r>
            <a:r>
              <a:rPr dirty="0" sz="1400" spc="-15">
                <a:latin typeface="宋体"/>
                <a:cs typeface="宋体"/>
              </a:rPr>
              <a:t>案</a:t>
            </a:r>
            <a:r>
              <a:rPr dirty="0" sz="1400">
                <a:latin typeface="宋体"/>
                <a:cs typeface="宋体"/>
              </a:rPr>
              <a:t>等层</a:t>
            </a:r>
            <a:r>
              <a:rPr dirty="0" sz="1400" spc="-15">
                <a:latin typeface="宋体"/>
                <a:cs typeface="宋体"/>
              </a:rPr>
              <a:t>次，</a:t>
            </a:r>
            <a:r>
              <a:rPr dirty="0" sz="1400">
                <a:latin typeface="宋体"/>
                <a:cs typeface="宋体"/>
              </a:rPr>
              <a:t>然后在此 基础上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行定</a:t>
            </a:r>
            <a:r>
              <a:rPr dirty="0" sz="1400" spc="-15">
                <a:latin typeface="宋体"/>
                <a:cs typeface="宋体"/>
              </a:rPr>
              <a:t>性与</a:t>
            </a:r>
            <a:r>
              <a:rPr dirty="0" sz="1400">
                <a:latin typeface="宋体"/>
                <a:cs typeface="宋体"/>
              </a:rPr>
              <a:t>定量分析 的决策</a:t>
            </a:r>
            <a:r>
              <a:rPr dirty="0" sz="1400" spc="-15">
                <a:latin typeface="宋体"/>
                <a:cs typeface="宋体"/>
              </a:rPr>
              <a:t>方</a:t>
            </a:r>
            <a:r>
              <a:rPr dirty="0" sz="1400">
                <a:latin typeface="宋体"/>
                <a:cs typeface="宋体"/>
              </a:rPr>
              <a:t>法。</a:t>
            </a:r>
            <a:r>
              <a:rPr dirty="0" sz="1400" spc="-15">
                <a:latin typeface="宋体"/>
                <a:cs typeface="宋体"/>
              </a:rPr>
              <a:t>一般</a:t>
            </a:r>
            <a:r>
              <a:rPr dirty="0" sz="1400">
                <a:latin typeface="宋体"/>
                <a:cs typeface="宋体"/>
              </a:rPr>
              <a:t>由三个步 骤组成</a:t>
            </a:r>
            <a:r>
              <a:rPr dirty="0" sz="1400" spc="-15">
                <a:latin typeface="宋体"/>
                <a:cs typeface="宋体"/>
              </a:rPr>
              <a:t>：</a:t>
            </a:r>
            <a:r>
              <a:rPr dirty="0" sz="1400">
                <a:latin typeface="宋体"/>
                <a:cs typeface="宋体"/>
              </a:rPr>
              <a:t>构造</a:t>
            </a:r>
            <a:r>
              <a:rPr dirty="0" sz="1400" spc="-15">
                <a:latin typeface="宋体"/>
                <a:cs typeface="宋体"/>
              </a:rPr>
              <a:t>判断</a:t>
            </a:r>
            <a:r>
              <a:rPr dirty="0" sz="1400">
                <a:latin typeface="宋体"/>
                <a:cs typeface="宋体"/>
              </a:rPr>
              <a:t>矩阵；层 </a:t>
            </a:r>
            <a:r>
              <a:rPr dirty="0" sz="1400" spc="5">
                <a:latin typeface="宋体"/>
                <a:cs typeface="宋体"/>
              </a:rPr>
              <a:t>次</a:t>
            </a:r>
            <a:r>
              <a:rPr dirty="0" sz="1400">
                <a:latin typeface="宋体"/>
                <a:cs typeface="宋体"/>
              </a:rPr>
              <a:t>单</a:t>
            </a:r>
            <a:r>
              <a:rPr dirty="0" sz="1400" spc="5">
                <a:latin typeface="宋体"/>
                <a:cs typeface="宋体"/>
              </a:rPr>
              <a:t>排</a:t>
            </a:r>
            <a:r>
              <a:rPr dirty="0" sz="1400" spc="-15">
                <a:latin typeface="宋体"/>
                <a:cs typeface="宋体"/>
              </a:rPr>
              <a:t>序</a:t>
            </a:r>
            <a:r>
              <a:rPr dirty="0" sz="1400" spc="5">
                <a:latin typeface="宋体"/>
                <a:cs typeface="宋体"/>
              </a:rPr>
              <a:t>及</a:t>
            </a:r>
            <a:r>
              <a:rPr dirty="0" sz="1400">
                <a:latin typeface="宋体"/>
                <a:cs typeface="宋体"/>
              </a:rPr>
              <a:t>一</a:t>
            </a:r>
            <a:r>
              <a:rPr dirty="0" sz="1400" spc="-10">
                <a:latin typeface="宋体"/>
                <a:cs typeface="宋体"/>
              </a:rPr>
              <a:t>致性</a:t>
            </a:r>
            <a:r>
              <a:rPr dirty="0" sz="1400" spc="5">
                <a:latin typeface="宋体"/>
                <a:cs typeface="宋体"/>
              </a:rPr>
              <a:t>检</a:t>
            </a:r>
            <a:r>
              <a:rPr dirty="0" sz="1400">
                <a:latin typeface="宋体"/>
                <a:cs typeface="宋体"/>
              </a:rPr>
              <a:t>验</a:t>
            </a:r>
            <a:r>
              <a:rPr dirty="0" sz="1400" spc="5">
                <a:latin typeface="宋体"/>
                <a:cs typeface="宋体"/>
              </a:rPr>
              <a:t>；计 </a:t>
            </a:r>
            <a:r>
              <a:rPr dirty="0" sz="1400">
                <a:latin typeface="宋体"/>
                <a:cs typeface="宋体"/>
              </a:rPr>
              <a:t>算组合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向量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22326"/>
            <a:ext cx="3489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7A2121"/>
                </a:solidFill>
                <a:latin typeface="Arial"/>
                <a:cs typeface="Arial"/>
              </a:rPr>
              <a:t>AHP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层次分析法</a:t>
            </a:r>
            <a:r>
              <a:rPr dirty="0" sz="1800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构造数据矩阵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51636" y="4183812"/>
            <a:ext cx="1999609" cy="2544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50152" y="3752088"/>
            <a:ext cx="2382520" cy="2762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254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35"/>
              </a:spcBef>
            </a:pPr>
            <a:r>
              <a:rPr dirty="0" sz="1200" spc="-15" b="1">
                <a:latin typeface="Arial"/>
                <a:cs typeface="Arial"/>
              </a:rPr>
              <a:t>AHP</a:t>
            </a:r>
            <a:r>
              <a:rPr dirty="0" sz="1200" spc="10" b="1">
                <a:latin typeface="明兰"/>
                <a:cs typeface="明兰"/>
              </a:rPr>
              <a:t>分析法思路图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71943" y="768095"/>
            <a:ext cx="1140460" cy="970915"/>
          </a:xfrm>
          <a:custGeom>
            <a:avLst/>
            <a:gdLst/>
            <a:ahLst/>
            <a:cxnLst/>
            <a:rect l="l" t="t" r="r" b="b"/>
            <a:pathLst>
              <a:path w="1140459" h="970914">
                <a:moveTo>
                  <a:pt x="304800" y="626744"/>
                </a:moveTo>
                <a:lnTo>
                  <a:pt x="39750" y="626744"/>
                </a:lnTo>
                <a:lnTo>
                  <a:pt x="24270" y="629866"/>
                </a:lnTo>
                <a:lnTo>
                  <a:pt x="11636" y="638381"/>
                </a:lnTo>
                <a:lnTo>
                  <a:pt x="3121" y="651015"/>
                </a:lnTo>
                <a:lnTo>
                  <a:pt x="0" y="666495"/>
                </a:lnTo>
                <a:lnTo>
                  <a:pt x="0" y="931037"/>
                </a:lnTo>
                <a:lnTo>
                  <a:pt x="3121" y="946517"/>
                </a:lnTo>
                <a:lnTo>
                  <a:pt x="11636" y="959151"/>
                </a:lnTo>
                <a:lnTo>
                  <a:pt x="24270" y="967666"/>
                </a:lnTo>
                <a:lnTo>
                  <a:pt x="39750" y="970788"/>
                </a:lnTo>
                <a:lnTo>
                  <a:pt x="304800" y="970788"/>
                </a:lnTo>
                <a:lnTo>
                  <a:pt x="320426" y="967666"/>
                </a:lnTo>
                <a:lnTo>
                  <a:pt x="333136" y="959151"/>
                </a:lnTo>
                <a:lnTo>
                  <a:pt x="341679" y="946517"/>
                </a:lnTo>
                <a:lnTo>
                  <a:pt x="344804" y="931037"/>
                </a:lnTo>
                <a:lnTo>
                  <a:pt x="344804" y="666495"/>
                </a:lnTo>
                <a:lnTo>
                  <a:pt x="341679" y="651015"/>
                </a:lnTo>
                <a:lnTo>
                  <a:pt x="333136" y="638381"/>
                </a:lnTo>
                <a:lnTo>
                  <a:pt x="320426" y="629866"/>
                </a:lnTo>
                <a:lnTo>
                  <a:pt x="304800" y="626744"/>
                </a:lnTo>
                <a:close/>
              </a:path>
              <a:path w="1140459" h="970914">
                <a:moveTo>
                  <a:pt x="702436" y="626744"/>
                </a:moveTo>
                <a:lnTo>
                  <a:pt x="437514" y="626744"/>
                </a:lnTo>
                <a:lnTo>
                  <a:pt x="422015" y="629866"/>
                </a:lnTo>
                <a:lnTo>
                  <a:pt x="409336" y="638381"/>
                </a:lnTo>
                <a:lnTo>
                  <a:pt x="400778" y="651015"/>
                </a:lnTo>
                <a:lnTo>
                  <a:pt x="397636" y="666495"/>
                </a:lnTo>
                <a:lnTo>
                  <a:pt x="397636" y="931037"/>
                </a:lnTo>
                <a:lnTo>
                  <a:pt x="400778" y="946517"/>
                </a:lnTo>
                <a:lnTo>
                  <a:pt x="409336" y="959151"/>
                </a:lnTo>
                <a:lnTo>
                  <a:pt x="422015" y="967666"/>
                </a:lnTo>
                <a:lnTo>
                  <a:pt x="437514" y="970788"/>
                </a:lnTo>
                <a:lnTo>
                  <a:pt x="702436" y="970788"/>
                </a:lnTo>
                <a:lnTo>
                  <a:pt x="717936" y="967666"/>
                </a:lnTo>
                <a:lnTo>
                  <a:pt x="730615" y="959151"/>
                </a:lnTo>
                <a:lnTo>
                  <a:pt x="739173" y="946517"/>
                </a:lnTo>
                <a:lnTo>
                  <a:pt x="742314" y="931037"/>
                </a:lnTo>
                <a:lnTo>
                  <a:pt x="742314" y="666495"/>
                </a:lnTo>
                <a:lnTo>
                  <a:pt x="739173" y="651015"/>
                </a:lnTo>
                <a:lnTo>
                  <a:pt x="730615" y="638381"/>
                </a:lnTo>
                <a:lnTo>
                  <a:pt x="717936" y="629866"/>
                </a:lnTo>
                <a:lnTo>
                  <a:pt x="702436" y="626744"/>
                </a:lnTo>
                <a:close/>
              </a:path>
              <a:path w="1140459" h="970914">
                <a:moveTo>
                  <a:pt x="1100201" y="626744"/>
                </a:moveTo>
                <a:lnTo>
                  <a:pt x="835151" y="626744"/>
                </a:lnTo>
                <a:lnTo>
                  <a:pt x="819525" y="629866"/>
                </a:lnTo>
                <a:lnTo>
                  <a:pt x="806815" y="638381"/>
                </a:lnTo>
                <a:lnTo>
                  <a:pt x="798272" y="651015"/>
                </a:lnTo>
                <a:lnTo>
                  <a:pt x="795147" y="666495"/>
                </a:lnTo>
                <a:lnTo>
                  <a:pt x="795147" y="931037"/>
                </a:lnTo>
                <a:lnTo>
                  <a:pt x="798272" y="946517"/>
                </a:lnTo>
                <a:lnTo>
                  <a:pt x="806815" y="959151"/>
                </a:lnTo>
                <a:lnTo>
                  <a:pt x="819525" y="967666"/>
                </a:lnTo>
                <a:lnTo>
                  <a:pt x="835151" y="970788"/>
                </a:lnTo>
                <a:lnTo>
                  <a:pt x="1100201" y="970788"/>
                </a:lnTo>
                <a:lnTo>
                  <a:pt x="1115681" y="967666"/>
                </a:lnTo>
                <a:lnTo>
                  <a:pt x="1128315" y="959151"/>
                </a:lnTo>
                <a:lnTo>
                  <a:pt x="1136830" y="946517"/>
                </a:lnTo>
                <a:lnTo>
                  <a:pt x="1139952" y="931037"/>
                </a:lnTo>
                <a:lnTo>
                  <a:pt x="1139952" y="666495"/>
                </a:lnTo>
                <a:lnTo>
                  <a:pt x="1136830" y="651015"/>
                </a:lnTo>
                <a:lnTo>
                  <a:pt x="1128315" y="638381"/>
                </a:lnTo>
                <a:lnTo>
                  <a:pt x="1115681" y="629866"/>
                </a:lnTo>
                <a:lnTo>
                  <a:pt x="1100201" y="626744"/>
                </a:lnTo>
                <a:close/>
              </a:path>
              <a:path w="1140459" h="970914">
                <a:moveTo>
                  <a:pt x="967485" y="440181"/>
                </a:moveTo>
                <a:lnTo>
                  <a:pt x="172465" y="440181"/>
                </a:lnTo>
                <a:lnTo>
                  <a:pt x="156966" y="443303"/>
                </a:lnTo>
                <a:lnTo>
                  <a:pt x="144287" y="451818"/>
                </a:lnTo>
                <a:lnTo>
                  <a:pt x="135729" y="464452"/>
                </a:lnTo>
                <a:lnTo>
                  <a:pt x="132587" y="479932"/>
                </a:lnTo>
                <a:lnTo>
                  <a:pt x="132587" y="626744"/>
                </a:lnTo>
                <a:lnTo>
                  <a:pt x="212216" y="626744"/>
                </a:lnTo>
                <a:lnTo>
                  <a:pt x="212216" y="519811"/>
                </a:lnTo>
                <a:lnTo>
                  <a:pt x="1007363" y="519811"/>
                </a:lnTo>
                <a:lnTo>
                  <a:pt x="1007363" y="479932"/>
                </a:lnTo>
                <a:lnTo>
                  <a:pt x="1004222" y="464452"/>
                </a:lnTo>
                <a:lnTo>
                  <a:pt x="995664" y="451818"/>
                </a:lnTo>
                <a:lnTo>
                  <a:pt x="982985" y="443303"/>
                </a:lnTo>
                <a:lnTo>
                  <a:pt x="967485" y="440181"/>
                </a:lnTo>
                <a:close/>
              </a:path>
              <a:path w="1140459" h="970914">
                <a:moveTo>
                  <a:pt x="609853" y="519811"/>
                </a:moveTo>
                <a:lnTo>
                  <a:pt x="530098" y="519811"/>
                </a:lnTo>
                <a:lnTo>
                  <a:pt x="530098" y="626744"/>
                </a:lnTo>
                <a:lnTo>
                  <a:pt x="609853" y="626744"/>
                </a:lnTo>
                <a:lnTo>
                  <a:pt x="609853" y="519811"/>
                </a:lnTo>
                <a:close/>
              </a:path>
              <a:path w="1140459" h="970914">
                <a:moveTo>
                  <a:pt x="1007363" y="519811"/>
                </a:moveTo>
                <a:lnTo>
                  <a:pt x="927734" y="519811"/>
                </a:lnTo>
                <a:lnTo>
                  <a:pt x="927734" y="626744"/>
                </a:lnTo>
                <a:lnTo>
                  <a:pt x="1007363" y="626744"/>
                </a:lnTo>
                <a:lnTo>
                  <a:pt x="1007363" y="519811"/>
                </a:lnTo>
                <a:close/>
              </a:path>
              <a:path w="1140459" h="970914">
                <a:moveTo>
                  <a:pt x="609853" y="344042"/>
                </a:moveTo>
                <a:lnTo>
                  <a:pt x="530098" y="344042"/>
                </a:lnTo>
                <a:lnTo>
                  <a:pt x="530098" y="440181"/>
                </a:lnTo>
                <a:lnTo>
                  <a:pt x="609853" y="440181"/>
                </a:lnTo>
                <a:lnTo>
                  <a:pt x="609853" y="344042"/>
                </a:lnTo>
                <a:close/>
              </a:path>
              <a:path w="1140459" h="970914">
                <a:moveTo>
                  <a:pt x="702436" y="0"/>
                </a:moveTo>
                <a:lnTo>
                  <a:pt x="437514" y="0"/>
                </a:lnTo>
                <a:lnTo>
                  <a:pt x="422015" y="3121"/>
                </a:lnTo>
                <a:lnTo>
                  <a:pt x="409336" y="11636"/>
                </a:lnTo>
                <a:lnTo>
                  <a:pt x="400778" y="24270"/>
                </a:lnTo>
                <a:lnTo>
                  <a:pt x="397636" y="39750"/>
                </a:lnTo>
                <a:lnTo>
                  <a:pt x="397636" y="304291"/>
                </a:lnTo>
                <a:lnTo>
                  <a:pt x="400778" y="319772"/>
                </a:lnTo>
                <a:lnTo>
                  <a:pt x="409336" y="332406"/>
                </a:lnTo>
                <a:lnTo>
                  <a:pt x="422015" y="340921"/>
                </a:lnTo>
                <a:lnTo>
                  <a:pt x="437514" y="344042"/>
                </a:lnTo>
                <a:lnTo>
                  <a:pt x="702436" y="344042"/>
                </a:lnTo>
                <a:lnTo>
                  <a:pt x="717936" y="340921"/>
                </a:lnTo>
                <a:lnTo>
                  <a:pt x="730615" y="332406"/>
                </a:lnTo>
                <a:lnTo>
                  <a:pt x="739173" y="319772"/>
                </a:lnTo>
                <a:lnTo>
                  <a:pt x="742314" y="304291"/>
                </a:lnTo>
                <a:lnTo>
                  <a:pt x="742314" y="39750"/>
                </a:lnTo>
                <a:lnTo>
                  <a:pt x="739173" y="24270"/>
                </a:lnTo>
                <a:lnTo>
                  <a:pt x="730615" y="11636"/>
                </a:lnTo>
                <a:lnTo>
                  <a:pt x="717936" y="3121"/>
                </a:lnTo>
                <a:lnTo>
                  <a:pt x="702436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0395" y="1056132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072" y="0"/>
                </a:moveTo>
                <a:lnTo>
                  <a:pt x="150344" y="5154"/>
                </a:lnTo>
                <a:lnTo>
                  <a:pt x="109284" y="19834"/>
                </a:lnTo>
                <a:lnTo>
                  <a:pt x="73064" y="42867"/>
                </a:lnTo>
                <a:lnTo>
                  <a:pt x="42855" y="73080"/>
                </a:lnTo>
                <a:lnTo>
                  <a:pt x="19827" y="109301"/>
                </a:lnTo>
                <a:lnTo>
                  <a:pt x="5152" y="150356"/>
                </a:lnTo>
                <a:lnTo>
                  <a:pt x="0" y="195071"/>
                </a:lnTo>
                <a:lnTo>
                  <a:pt x="5152" y="239787"/>
                </a:lnTo>
                <a:lnTo>
                  <a:pt x="19827" y="280842"/>
                </a:lnTo>
                <a:lnTo>
                  <a:pt x="42855" y="317063"/>
                </a:lnTo>
                <a:lnTo>
                  <a:pt x="73064" y="347276"/>
                </a:lnTo>
                <a:lnTo>
                  <a:pt x="109284" y="370309"/>
                </a:lnTo>
                <a:lnTo>
                  <a:pt x="150344" y="384989"/>
                </a:lnTo>
                <a:lnTo>
                  <a:pt x="195072" y="390143"/>
                </a:lnTo>
                <a:lnTo>
                  <a:pt x="239799" y="384989"/>
                </a:lnTo>
                <a:lnTo>
                  <a:pt x="280859" y="370309"/>
                </a:lnTo>
                <a:lnTo>
                  <a:pt x="317079" y="347276"/>
                </a:lnTo>
                <a:lnTo>
                  <a:pt x="347288" y="317063"/>
                </a:lnTo>
                <a:lnTo>
                  <a:pt x="370316" y="280842"/>
                </a:lnTo>
                <a:lnTo>
                  <a:pt x="384991" y="239787"/>
                </a:lnTo>
                <a:lnTo>
                  <a:pt x="390144" y="195071"/>
                </a:lnTo>
                <a:lnTo>
                  <a:pt x="384991" y="150356"/>
                </a:lnTo>
                <a:lnTo>
                  <a:pt x="370316" y="109301"/>
                </a:lnTo>
                <a:lnTo>
                  <a:pt x="347288" y="73080"/>
                </a:lnTo>
                <a:lnTo>
                  <a:pt x="317079" y="42867"/>
                </a:lnTo>
                <a:lnTo>
                  <a:pt x="280859" y="19834"/>
                </a:lnTo>
                <a:lnTo>
                  <a:pt x="239799" y="5154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5552" y="1138427"/>
            <a:ext cx="211835" cy="211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01472" y="1121409"/>
            <a:ext cx="4994275" cy="1093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构造判</a:t>
            </a:r>
            <a:r>
              <a:rPr dirty="0" sz="1400" spc="-15" b="1">
                <a:latin typeface="明兰"/>
                <a:cs typeface="明兰"/>
              </a:rPr>
              <a:t>断</a:t>
            </a:r>
            <a:r>
              <a:rPr dirty="0" sz="1400" b="1">
                <a:latin typeface="明兰"/>
                <a:cs typeface="明兰"/>
              </a:rPr>
              <a:t>矩阵</a:t>
            </a:r>
            <a:endParaRPr sz="1400">
              <a:latin typeface="明兰"/>
              <a:cs typeface="明兰"/>
            </a:endParaRPr>
          </a:p>
          <a:p>
            <a:pPr marL="358140" marR="5080" indent="-286385">
              <a:lnSpc>
                <a:spcPts val="1620"/>
              </a:lnSpc>
              <a:spcBef>
                <a:spcPts val="1225"/>
              </a:spcBef>
              <a:buClr>
                <a:srgbClr val="660000"/>
              </a:buClr>
              <a:buFont typeface="Wingdings"/>
              <a:buChar char=""/>
              <a:tabLst>
                <a:tab pos="358140" algn="l"/>
                <a:tab pos="358775" algn="l"/>
              </a:tabLst>
            </a:pPr>
            <a:r>
              <a:rPr dirty="0" sz="1400">
                <a:latin typeface="宋体"/>
                <a:cs typeface="宋体"/>
              </a:rPr>
              <a:t>新模糊</a:t>
            </a:r>
            <a:r>
              <a:rPr dirty="0" sz="1400" spc="-1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度法</a:t>
            </a:r>
            <a:r>
              <a:rPr dirty="0" sz="1400" spc="-15">
                <a:latin typeface="宋体"/>
                <a:cs typeface="宋体"/>
              </a:rPr>
              <a:t>“</a:t>
            </a:r>
            <a:r>
              <a:rPr dirty="0" sz="1400" spc="-15" b="1">
                <a:latin typeface="明兰"/>
                <a:cs typeface="明兰"/>
              </a:rPr>
              <a:t>等</a:t>
            </a:r>
            <a:r>
              <a:rPr dirty="0" sz="1400" b="1">
                <a:latin typeface="明兰"/>
                <a:cs typeface="明兰"/>
              </a:rPr>
              <a:t>距分级</a:t>
            </a:r>
            <a:r>
              <a:rPr dirty="0" sz="1400" spc="-15" b="1">
                <a:latin typeface="明兰"/>
                <a:cs typeface="明兰"/>
              </a:rPr>
              <a:t>，</a:t>
            </a:r>
            <a:r>
              <a:rPr dirty="0" sz="1400" b="1">
                <a:latin typeface="明兰"/>
                <a:cs typeface="明兰"/>
              </a:rPr>
              <a:t>等比</a:t>
            </a:r>
            <a:r>
              <a:rPr dirty="0" sz="1400" spc="-15" b="1">
                <a:latin typeface="明兰"/>
                <a:cs typeface="明兰"/>
              </a:rPr>
              <a:t>附</a:t>
            </a:r>
            <a:r>
              <a:rPr dirty="0" sz="1400" spc="-10" b="1">
                <a:latin typeface="明兰"/>
                <a:cs typeface="明兰"/>
              </a:rPr>
              <a:t>值</a:t>
            </a:r>
            <a:r>
              <a:rPr dirty="0" sz="1400">
                <a:latin typeface="宋体"/>
                <a:cs typeface="宋体"/>
              </a:rPr>
              <a:t>”，将</a:t>
            </a:r>
            <a:r>
              <a:rPr dirty="0" sz="1400" spc="-15">
                <a:latin typeface="宋体"/>
                <a:cs typeface="宋体"/>
              </a:rPr>
              <a:t>两</a:t>
            </a:r>
            <a:r>
              <a:rPr dirty="0" sz="1400">
                <a:latin typeface="宋体"/>
                <a:cs typeface="宋体"/>
              </a:rPr>
              <a:t>两指</a:t>
            </a:r>
            <a:r>
              <a:rPr dirty="0" sz="1400" spc="-15">
                <a:latin typeface="宋体"/>
                <a:cs typeface="宋体"/>
              </a:rPr>
              <a:t>标间</a:t>
            </a:r>
            <a:r>
              <a:rPr dirty="0" sz="1400">
                <a:latin typeface="宋体"/>
                <a:cs typeface="宋体"/>
              </a:rPr>
              <a:t>相互 比较，</a:t>
            </a:r>
            <a:r>
              <a:rPr dirty="0" sz="1400" spc="-15">
                <a:latin typeface="宋体"/>
                <a:cs typeface="宋体"/>
              </a:rPr>
              <a:t>并</a:t>
            </a:r>
            <a:r>
              <a:rPr dirty="0" sz="1400">
                <a:latin typeface="宋体"/>
                <a:cs typeface="宋体"/>
              </a:rPr>
              <a:t>将重</a:t>
            </a:r>
            <a:r>
              <a:rPr dirty="0" sz="1400" spc="-15">
                <a:latin typeface="宋体"/>
                <a:cs typeface="宋体"/>
              </a:rPr>
              <a:t>要性</a:t>
            </a:r>
            <a:r>
              <a:rPr dirty="0" sz="1400">
                <a:latin typeface="宋体"/>
                <a:cs typeface="宋体"/>
              </a:rPr>
              <a:t>程度量化</a:t>
            </a:r>
            <a:endParaRPr sz="1400">
              <a:latin typeface="宋体"/>
              <a:cs typeface="宋体"/>
            </a:endParaRPr>
          </a:p>
          <a:p>
            <a:pPr marL="1186180">
              <a:lnSpc>
                <a:spcPct val="100000"/>
              </a:lnSpc>
              <a:spcBef>
                <a:spcPts val="210"/>
              </a:spcBef>
            </a:pPr>
            <a:r>
              <a:rPr dirty="0" baseline="4273" sz="1950" spc="-15" i="1">
                <a:latin typeface="Times New Roman"/>
                <a:cs typeface="Times New Roman"/>
              </a:rPr>
              <a:t>a</a:t>
            </a:r>
            <a:r>
              <a:rPr dirty="0" baseline="51851" sz="1125" spc="-15" i="1">
                <a:latin typeface="Times New Roman"/>
                <a:cs typeface="Times New Roman"/>
              </a:rPr>
              <a:t>k</a:t>
            </a:r>
            <a:r>
              <a:rPr dirty="0" baseline="51851" sz="1125" spc="7" i="1">
                <a:latin typeface="Times New Roman"/>
                <a:cs typeface="Times New Roman"/>
              </a:rPr>
              <a:t> </a:t>
            </a:r>
            <a:r>
              <a:rPr dirty="0" baseline="4273" sz="1950" spc="-82">
                <a:latin typeface="Symbol"/>
                <a:cs typeface="Symbol"/>
              </a:rPr>
              <a:t></a:t>
            </a:r>
            <a:r>
              <a:rPr dirty="0" baseline="4273" sz="1950" spc="-195">
                <a:latin typeface="Times New Roman"/>
                <a:cs typeface="Times New Roman"/>
              </a:rPr>
              <a:t> </a:t>
            </a:r>
            <a:r>
              <a:rPr dirty="0" baseline="4273" sz="1950" spc="-15" i="1">
                <a:latin typeface="Times New Roman"/>
                <a:cs typeface="Times New Roman"/>
              </a:rPr>
              <a:t>a</a:t>
            </a:r>
            <a:r>
              <a:rPr dirty="0" baseline="51851" sz="1125" spc="-15" i="1">
                <a:latin typeface="Times New Roman"/>
                <a:cs typeface="Times New Roman"/>
              </a:rPr>
              <a:t>k</a:t>
            </a:r>
            <a:r>
              <a:rPr dirty="0" baseline="51851" sz="1125" spc="-150" i="1">
                <a:latin typeface="Times New Roman"/>
                <a:cs typeface="Times New Roman"/>
              </a:rPr>
              <a:t> </a:t>
            </a:r>
            <a:r>
              <a:rPr dirty="0" baseline="51851" sz="1125" spc="-75">
                <a:latin typeface="Symbol"/>
                <a:cs typeface="Symbol"/>
              </a:rPr>
              <a:t></a:t>
            </a:r>
            <a:r>
              <a:rPr dirty="0" baseline="51851" sz="1125" spc="-75">
                <a:latin typeface="Times New Roman"/>
                <a:cs typeface="Times New Roman"/>
              </a:rPr>
              <a:t>1</a:t>
            </a:r>
            <a:r>
              <a:rPr dirty="0" baseline="51851" sz="1125" spc="15">
                <a:latin typeface="Times New Roman"/>
                <a:cs typeface="Times New Roman"/>
              </a:rPr>
              <a:t> </a:t>
            </a:r>
            <a:r>
              <a:rPr dirty="0" baseline="4273" sz="1950" spc="-82">
                <a:latin typeface="Symbol"/>
                <a:cs typeface="Symbol"/>
              </a:rPr>
              <a:t></a:t>
            </a:r>
            <a:r>
              <a:rPr dirty="0" baseline="4273" sz="1950" spc="-89">
                <a:latin typeface="Times New Roman"/>
                <a:cs typeface="Times New Roman"/>
              </a:rPr>
              <a:t> </a:t>
            </a:r>
            <a:r>
              <a:rPr dirty="0" baseline="4273" sz="1950" spc="-15" i="1">
                <a:latin typeface="Times New Roman"/>
                <a:cs typeface="Times New Roman"/>
              </a:rPr>
              <a:t>a</a:t>
            </a:r>
            <a:r>
              <a:rPr dirty="0" baseline="51851" sz="1125" spc="-15" i="1">
                <a:latin typeface="Times New Roman"/>
                <a:cs typeface="Times New Roman"/>
              </a:rPr>
              <a:t>k</a:t>
            </a:r>
            <a:r>
              <a:rPr dirty="0" baseline="51851" sz="1125" spc="-150" i="1">
                <a:latin typeface="Times New Roman"/>
                <a:cs typeface="Times New Roman"/>
              </a:rPr>
              <a:t> </a:t>
            </a:r>
            <a:r>
              <a:rPr dirty="0" baseline="51851" sz="1125" spc="-75">
                <a:latin typeface="Symbol"/>
                <a:cs typeface="Symbol"/>
              </a:rPr>
              <a:t></a:t>
            </a:r>
            <a:r>
              <a:rPr dirty="0" baseline="51851" sz="1125" spc="-75">
                <a:latin typeface="Times New Roman"/>
                <a:cs typeface="Times New Roman"/>
              </a:rPr>
              <a:t>1</a:t>
            </a:r>
            <a:r>
              <a:rPr dirty="0" baseline="51851" sz="1125" spc="112">
                <a:latin typeface="Times New Roman"/>
                <a:cs typeface="Times New Roman"/>
              </a:rPr>
              <a:t> </a:t>
            </a:r>
            <a:r>
              <a:rPr dirty="0" baseline="4273" sz="1950" spc="-82">
                <a:latin typeface="Symbol"/>
                <a:cs typeface="Symbol"/>
              </a:rPr>
              <a:t></a:t>
            </a:r>
            <a:r>
              <a:rPr dirty="0" baseline="4273" sz="1950" spc="-202">
                <a:latin typeface="Times New Roman"/>
                <a:cs typeface="Times New Roman"/>
              </a:rPr>
              <a:t> </a:t>
            </a:r>
            <a:r>
              <a:rPr dirty="0" baseline="4273" sz="1950" spc="-15" i="1">
                <a:latin typeface="Times New Roman"/>
                <a:cs typeface="Times New Roman"/>
              </a:rPr>
              <a:t>a</a:t>
            </a:r>
            <a:r>
              <a:rPr dirty="0" baseline="51851" sz="1125" spc="-15" i="1">
                <a:latin typeface="Times New Roman"/>
                <a:cs typeface="Times New Roman"/>
              </a:rPr>
              <a:t>k</a:t>
            </a:r>
            <a:r>
              <a:rPr dirty="0" baseline="51851" sz="1125" spc="-150" i="1">
                <a:latin typeface="Times New Roman"/>
                <a:cs typeface="Times New Roman"/>
              </a:rPr>
              <a:t> </a:t>
            </a:r>
            <a:r>
              <a:rPr dirty="0" baseline="51851" sz="1125" spc="-22">
                <a:latin typeface="Symbol"/>
                <a:cs typeface="Symbol"/>
              </a:rPr>
              <a:t></a:t>
            </a:r>
            <a:r>
              <a:rPr dirty="0" baseline="51851" sz="1125" spc="-22">
                <a:latin typeface="Times New Roman"/>
                <a:cs typeface="Times New Roman"/>
              </a:rPr>
              <a:t>2</a:t>
            </a:r>
            <a:r>
              <a:rPr dirty="0" baseline="51851" sz="1125" spc="-120">
                <a:latin typeface="Times New Roman"/>
                <a:cs typeface="Times New Roman"/>
              </a:rPr>
              <a:t> </a:t>
            </a:r>
            <a:r>
              <a:rPr dirty="0" baseline="4273" sz="1950" spc="-37">
                <a:latin typeface="Times New Roman"/>
                <a:cs typeface="Times New Roman"/>
              </a:rPr>
              <a:t>,</a:t>
            </a:r>
            <a:r>
              <a:rPr dirty="0" baseline="4273" sz="1950" spc="-277">
                <a:latin typeface="Times New Roman"/>
                <a:cs typeface="Times New Roman"/>
              </a:rPr>
              <a:t> </a:t>
            </a:r>
            <a:r>
              <a:rPr dirty="0" baseline="4273" sz="1950" spc="-67" i="1">
                <a:latin typeface="Times New Roman"/>
                <a:cs typeface="Times New Roman"/>
              </a:rPr>
              <a:t>k</a:t>
            </a:r>
            <a:r>
              <a:rPr dirty="0" baseline="4273" sz="1950" spc="-142" i="1">
                <a:latin typeface="Times New Roman"/>
                <a:cs typeface="Times New Roman"/>
              </a:rPr>
              <a:t> </a:t>
            </a:r>
            <a:r>
              <a:rPr dirty="0" baseline="4273" sz="1950" spc="-142">
                <a:latin typeface="Symbol"/>
                <a:cs typeface="Symbol"/>
              </a:rPr>
              <a:t></a:t>
            </a:r>
            <a:r>
              <a:rPr dirty="0" sz="1700" spc="-95">
                <a:latin typeface="Symbol"/>
                <a:cs typeface="Symbol"/>
              </a:rPr>
              <a:t></a:t>
            </a:r>
            <a:r>
              <a:rPr dirty="0" baseline="4273" sz="1950" spc="-142">
                <a:latin typeface="Symbol"/>
                <a:cs typeface="Symbol"/>
              </a:rPr>
              <a:t></a:t>
            </a:r>
            <a:r>
              <a:rPr dirty="0" baseline="4273" sz="1950" spc="-142">
                <a:latin typeface="Times New Roman"/>
                <a:cs typeface="Times New Roman"/>
              </a:rPr>
              <a:t>3,</a:t>
            </a:r>
            <a:r>
              <a:rPr dirty="0" baseline="4273" sz="1950" spc="-277">
                <a:latin typeface="Times New Roman"/>
                <a:cs typeface="Times New Roman"/>
              </a:rPr>
              <a:t> </a:t>
            </a:r>
            <a:r>
              <a:rPr dirty="0" baseline="4273" sz="1950" spc="-82">
                <a:latin typeface="Symbol"/>
                <a:cs typeface="Symbol"/>
              </a:rPr>
              <a:t></a:t>
            </a:r>
            <a:r>
              <a:rPr dirty="0" baseline="4273" sz="1950" spc="-82">
                <a:latin typeface="Times New Roman"/>
                <a:cs typeface="Times New Roman"/>
              </a:rPr>
              <a:t>2,</a:t>
            </a:r>
            <a:r>
              <a:rPr dirty="0" baseline="4273" sz="1950" spc="-277">
                <a:latin typeface="Times New Roman"/>
                <a:cs typeface="Times New Roman"/>
              </a:rPr>
              <a:t> </a:t>
            </a:r>
            <a:r>
              <a:rPr dirty="0" baseline="4273" sz="1950" spc="-127">
                <a:latin typeface="Symbol"/>
                <a:cs typeface="Symbol"/>
              </a:rPr>
              <a:t></a:t>
            </a:r>
            <a:r>
              <a:rPr dirty="0" baseline="4273" sz="1950" spc="-127">
                <a:latin typeface="Times New Roman"/>
                <a:cs typeface="Times New Roman"/>
              </a:rPr>
              <a:t>1,</a:t>
            </a:r>
            <a:r>
              <a:rPr dirty="0" baseline="4273" sz="1950" spc="-300">
                <a:latin typeface="Times New Roman"/>
                <a:cs typeface="Times New Roman"/>
              </a:rPr>
              <a:t> </a:t>
            </a:r>
            <a:r>
              <a:rPr dirty="0" baseline="4273" sz="1950" spc="-112">
                <a:latin typeface="Times New Roman"/>
                <a:cs typeface="Times New Roman"/>
              </a:rPr>
              <a:t>0,1,</a:t>
            </a:r>
            <a:r>
              <a:rPr dirty="0" baseline="4273" sz="1950" spc="-277">
                <a:latin typeface="Times New Roman"/>
                <a:cs typeface="Times New Roman"/>
              </a:rPr>
              <a:t> </a:t>
            </a:r>
            <a:r>
              <a:rPr dirty="0" baseline="4273" sz="1950" spc="-52">
                <a:latin typeface="Times New Roman"/>
                <a:cs typeface="Times New Roman"/>
              </a:rPr>
              <a:t>2,3,</a:t>
            </a:r>
            <a:r>
              <a:rPr dirty="0" baseline="4273" sz="1950" spc="-277">
                <a:latin typeface="Times New Roman"/>
                <a:cs typeface="Times New Roman"/>
              </a:rPr>
              <a:t> </a:t>
            </a:r>
            <a:r>
              <a:rPr dirty="0" baseline="4273" sz="1950" spc="-150">
                <a:latin typeface="Times New Roman"/>
                <a:cs typeface="Times New Roman"/>
              </a:rPr>
              <a:t>4,5</a:t>
            </a:r>
            <a:r>
              <a:rPr dirty="0" sz="1700" spc="-100">
                <a:latin typeface="Symbol"/>
                <a:cs typeface="Symbol"/>
              </a:rPr>
              <a:t>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7351" y="2914904"/>
            <a:ext cx="5047526" cy="3154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7351" y="3564128"/>
            <a:ext cx="5047526" cy="3337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7351" y="4233164"/>
            <a:ext cx="5047488" cy="3337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1001" y="2915285"/>
            <a:ext cx="5060950" cy="0"/>
          </a:xfrm>
          <a:custGeom>
            <a:avLst/>
            <a:gdLst/>
            <a:ahLst/>
            <a:cxnLst/>
            <a:rect l="l" t="t" r="r" b="b"/>
            <a:pathLst>
              <a:path w="5060950" h="0">
                <a:moveTo>
                  <a:pt x="0" y="0"/>
                </a:moveTo>
                <a:lnTo>
                  <a:pt x="506073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1001" y="3230372"/>
            <a:ext cx="5060950" cy="0"/>
          </a:xfrm>
          <a:custGeom>
            <a:avLst/>
            <a:gdLst/>
            <a:ahLst/>
            <a:cxnLst/>
            <a:rect l="l" t="t" r="r" b="b"/>
            <a:pathLst>
              <a:path w="5060950" h="0">
                <a:moveTo>
                  <a:pt x="0" y="0"/>
                </a:moveTo>
                <a:lnTo>
                  <a:pt x="506073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1001" y="3564382"/>
            <a:ext cx="5060950" cy="0"/>
          </a:xfrm>
          <a:custGeom>
            <a:avLst/>
            <a:gdLst/>
            <a:ahLst/>
            <a:cxnLst/>
            <a:rect l="l" t="t" r="r" b="b"/>
            <a:pathLst>
              <a:path w="5060950" h="0">
                <a:moveTo>
                  <a:pt x="0" y="0"/>
                </a:moveTo>
                <a:lnTo>
                  <a:pt x="506073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1001" y="3898391"/>
            <a:ext cx="5060950" cy="0"/>
          </a:xfrm>
          <a:custGeom>
            <a:avLst/>
            <a:gdLst/>
            <a:ahLst/>
            <a:cxnLst/>
            <a:rect l="l" t="t" r="r" b="b"/>
            <a:pathLst>
              <a:path w="5060950" h="0">
                <a:moveTo>
                  <a:pt x="0" y="0"/>
                </a:moveTo>
                <a:lnTo>
                  <a:pt x="506073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01001" y="2346198"/>
          <a:ext cx="5067300" cy="2226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4125"/>
                <a:gridCol w="2524125"/>
              </a:tblGrid>
              <a:tr h="2611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标度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标度含义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60000"/>
                    </a:solidFill>
                  </a:tcPr>
                </a:tc>
              </a:tr>
              <a:tr h="308343">
                <a:tc rowSpan="5">
                  <a:txBody>
                    <a:bodyPr/>
                    <a:lstStyle/>
                    <a:p>
                      <a:pPr algn="ctr" marR="82550">
                        <a:lnSpc>
                          <a:spcPts val="1225"/>
                        </a:lnSpc>
                        <a:spcBef>
                          <a:spcPts val="290"/>
                        </a:spcBef>
                      </a:pPr>
                      <a:r>
                        <a:rPr dirty="0" sz="1300" spc="-15" i="1">
                          <a:latin typeface="Times New Roman"/>
                          <a:cs typeface="Times New Roman"/>
                        </a:rPr>
                        <a:t>d   </a:t>
                      </a:r>
                      <a:r>
                        <a:rPr dirty="0" sz="1300" spc="-2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44444" sz="1125" spc="22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baseline="44444" sz="1125" spc="32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2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5">
                          <a:latin typeface="Times New Roman"/>
                          <a:cs typeface="Times New Roman"/>
                        </a:rPr>
                        <a:t>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558165">
                        <a:lnSpc>
                          <a:spcPts val="565"/>
                        </a:lnSpc>
                      </a:pPr>
                      <a:r>
                        <a:rPr dirty="0" sz="750" spc="-10" i="1">
                          <a:latin typeface="Times New Roman"/>
                          <a:cs typeface="Times New Roman"/>
                        </a:rPr>
                        <a:t>ij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62965">
                        <a:lnSpc>
                          <a:spcPts val="1225"/>
                        </a:lnSpc>
                        <a:spcBef>
                          <a:spcPts val="590"/>
                        </a:spcBef>
                      </a:pPr>
                      <a:r>
                        <a:rPr dirty="0" sz="1300" spc="-35" i="1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3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44444" sz="1125" spc="-52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35">
                          <a:latin typeface="Times New Roman"/>
                          <a:cs typeface="Times New Roman"/>
                        </a:rPr>
                        <a:t>1.618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575945">
                        <a:lnSpc>
                          <a:spcPts val="565"/>
                        </a:lnSpc>
                      </a:pPr>
                      <a:r>
                        <a:rPr dirty="0" sz="750" spc="-15" i="1">
                          <a:latin typeface="Times New Roman"/>
                          <a:cs typeface="Times New Roman"/>
                        </a:rPr>
                        <a:t>ij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868680">
                        <a:lnSpc>
                          <a:spcPts val="1225"/>
                        </a:lnSpc>
                      </a:pPr>
                      <a:r>
                        <a:rPr dirty="0" sz="1300" spc="-35" i="1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44444" sz="1125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2.618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564515">
                        <a:lnSpc>
                          <a:spcPts val="565"/>
                        </a:lnSpc>
                      </a:pPr>
                      <a:r>
                        <a:rPr dirty="0" sz="750" spc="-15" i="1">
                          <a:latin typeface="Times New Roman"/>
                          <a:cs typeface="Times New Roman"/>
                        </a:rPr>
                        <a:t>ij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862965">
                        <a:lnSpc>
                          <a:spcPts val="1225"/>
                        </a:lnSpc>
                      </a:pPr>
                      <a:r>
                        <a:rPr dirty="0" sz="1300" spc="-35" i="1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44444" sz="1125" spc="-15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4.236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577215">
                        <a:lnSpc>
                          <a:spcPts val="565"/>
                        </a:lnSpc>
                      </a:pPr>
                      <a:r>
                        <a:rPr dirty="0" sz="750" spc="-15" i="1">
                          <a:latin typeface="Times New Roman"/>
                          <a:cs typeface="Times New Roman"/>
                        </a:rPr>
                        <a:t>ij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862965">
                        <a:lnSpc>
                          <a:spcPts val="1225"/>
                        </a:lnSpc>
                      </a:pPr>
                      <a:r>
                        <a:rPr dirty="0" sz="1300" spc="-35" i="1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44444" sz="1125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dirty="0" sz="1300" spc="-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3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6.854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577215">
                        <a:lnSpc>
                          <a:spcPts val="565"/>
                        </a:lnSpc>
                      </a:pPr>
                      <a:r>
                        <a:rPr dirty="0" sz="750" spc="-15" i="1">
                          <a:latin typeface="Times New Roman"/>
                          <a:cs typeface="Times New Roman"/>
                        </a:rPr>
                        <a:t>ij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对该指标而言，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和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同样重要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316717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>
                          <a:latin typeface="宋体"/>
                          <a:cs typeface="宋体"/>
                        </a:rPr>
                        <a:t>对该指标而言，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比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 spc="-5">
                          <a:latin typeface="宋体"/>
                          <a:cs typeface="宋体"/>
                        </a:rPr>
                        <a:t>稍微重要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</a:tr>
              <a:tr h="32946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对该指标而言，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比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重要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</a:tr>
              <a:tr h="33407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对该指标而言，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比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明显重要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</a:tr>
              <a:tr h="3302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对该指标而言，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比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很重要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4009">
                <a:tc gridSpan="2">
                  <a:txBody>
                    <a:bodyPr/>
                    <a:lstStyle/>
                    <a:p>
                      <a:pPr marL="7874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200">
                          <a:latin typeface="宋体"/>
                          <a:cs typeface="宋体"/>
                        </a:rPr>
                        <a:t>对该指标而言</a:t>
                      </a:r>
                      <a:r>
                        <a:rPr dirty="0" sz="1200" spc="-10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比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宋体"/>
                          <a:cs typeface="宋体"/>
                        </a:rPr>
                        <a:t>的重要性程度为上述标度的倒数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519666" y="5419105"/>
            <a:ext cx="14478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15">
                <a:latin typeface="Times New Roman"/>
                <a:cs typeface="Times New Roman"/>
              </a:rPr>
              <a:t>-</a:t>
            </a:r>
            <a:r>
              <a:rPr dirty="0" sz="1100" spc="2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8366" y="5425682"/>
            <a:ext cx="13843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40">
                <a:latin typeface="Times New Roman"/>
                <a:cs typeface="Times New Roman"/>
              </a:rPr>
              <a:t>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0996" y="5425682"/>
            <a:ext cx="13843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40">
                <a:latin typeface="Times New Roman"/>
                <a:cs typeface="Times New Roman"/>
              </a:rPr>
              <a:t>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12917" y="5281399"/>
            <a:ext cx="123189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44119" y="5590368"/>
            <a:ext cx="61341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55">
                <a:latin typeface="Times New Roman"/>
                <a:cs typeface="Times New Roman"/>
              </a:rPr>
              <a:t>X=</a:t>
            </a:r>
            <a:r>
              <a:rPr dirty="0" sz="1900" spc="-200">
                <a:latin typeface="Times New Roman"/>
                <a:cs typeface="Times New Roman"/>
              </a:rPr>
              <a:t> </a:t>
            </a:r>
            <a:r>
              <a:rPr dirty="0" baseline="17543" sz="2850" spc="104">
                <a:latin typeface="Symbol"/>
                <a:cs typeface="Symbol"/>
              </a:rPr>
              <a:t></a:t>
            </a:r>
            <a:r>
              <a:rPr dirty="0" baseline="38011" sz="2850" spc="104">
                <a:latin typeface="Times New Roman"/>
                <a:cs typeface="Times New Roman"/>
              </a:rPr>
              <a:t>a</a:t>
            </a:r>
            <a:endParaRPr baseline="38011"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77532" y="5516295"/>
            <a:ext cx="123189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12917" y="5683538"/>
            <a:ext cx="37973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16081" sz="2850" spc="135">
                <a:latin typeface="Symbol"/>
                <a:cs typeface="Symbol"/>
              </a:rPr>
              <a:t></a:t>
            </a:r>
            <a:r>
              <a:rPr dirty="0" baseline="-24853" sz="2850" spc="27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-</a:t>
            </a:r>
            <a:r>
              <a:rPr dirty="0" sz="1100" spc="25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89270" y="5683538"/>
            <a:ext cx="41148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24853" sz="2850" spc="97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-2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baseline="-16081" sz="2850" spc="52">
                <a:latin typeface="Symbol"/>
                <a:cs typeface="Symbol"/>
              </a:rPr>
              <a:t></a:t>
            </a:r>
            <a:endParaRPr baseline="-16081" sz="28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2917" y="5986128"/>
            <a:ext cx="123189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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77532" y="5986128"/>
            <a:ext cx="123189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2563" y="4974335"/>
            <a:ext cx="2065020" cy="14782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02563" y="4988153"/>
            <a:ext cx="2065020" cy="139763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19"/>
              </a:spcBef>
            </a:pPr>
            <a:r>
              <a:rPr dirty="0" sz="1400" spc="10">
                <a:latin typeface="宋体"/>
                <a:cs typeface="宋体"/>
              </a:rPr>
              <a:t>若指</a:t>
            </a:r>
            <a:r>
              <a:rPr dirty="0" sz="1400">
                <a:latin typeface="宋体"/>
                <a:cs typeface="宋体"/>
              </a:rPr>
              <a:t>标数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A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-5">
                <a:latin typeface="Arial"/>
                <a:cs typeface="Arial"/>
              </a:rPr>
              <a:t>B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C</a:t>
            </a:r>
            <a:r>
              <a:rPr dirty="0" sz="1400">
                <a:latin typeface="宋体"/>
                <a:cs typeface="宋体"/>
              </a:rPr>
              <a:t>、</a:t>
            </a:r>
            <a:endParaRPr sz="1400">
              <a:latin typeface="宋体"/>
              <a:cs typeface="宋体"/>
            </a:endParaRPr>
          </a:p>
          <a:p>
            <a:pPr algn="just" marL="90805" marR="123189">
              <a:lnSpc>
                <a:spcPct val="107100"/>
              </a:lnSpc>
            </a:pPr>
            <a:r>
              <a:rPr dirty="0" sz="1400">
                <a:latin typeface="Arial"/>
                <a:cs typeface="Arial"/>
              </a:rPr>
              <a:t>D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10">
                <a:latin typeface="宋体"/>
                <a:cs typeface="宋体"/>
              </a:rPr>
              <a:t>将</a:t>
            </a:r>
            <a:r>
              <a:rPr dirty="0" sz="1400">
                <a:latin typeface="宋体"/>
                <a:cs typeface="宋体"/>
              </a:rPr>
              <a:t>指标间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相对标 度统一</a:t>
            </a:r>
            <a:r>
              <a:rPr dirty="0" sz="1400" spc="-15">
                <a:latin typeface="宋体"/>
                <a:cs typeface="宋体"/>
              </a:rPr>
              <a:t>写</a:t>
            </a:r>
            <a:r>
              <a:rPr dirty="0" sz="1400">
                <a:latin typeface="宋体"/>
                <a:cs typeface="宋体"/>
              </a:rPr>
              <a:t>在矩</a:t>
            </a:r>
            <a:r>
              <a:rPr dirty="0" sz="1400" spc="-15">
                <a:latin typeface="宋体"/>
                <a:cs typeface="宋体"/>
              </a:rPr>
              <a:t>阵中</a:t>
            </a:r>
            <a:r>
              <a:rPr dirty="0" sz="1400">
                <a:latin typeface="宋体"/>
                <a:cs typeface="宋体"/>
              </a:rPr>
              <a:t>，举 例来说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矩阵</a:t>
            </a:r>
            <a:r>
              <a:rPr dirty="0" sz="1400" spc="-15">
                <a:latin typeface="宋体"/>
                <a:cs typeface="宋体"/>
              </a:rPr>
              <a:t>中第</a:t>
            </a:r>
            <a:r>
              <a:rPr dirty="0" sz="1400">
                <a:latin typeface="宋体"/>
                <a:cs typeface="宋体"/>
              </a:rPr>
              <a:t>一行 </a:t>
            </a:r>
            <a:r>
              <a:rPr dirty="0" sz="1400" spc="10">
                <a:latin typeface="宋体"/>
                <a:cs typeface="宋体"/>
              </a:rPr>
              <a:t>指标</a:t>
            </a:r>
            <a:r>
              <a:rPr dirty="0" sz="1400">
                <a:latin typeface="宋体"/>
                <a:cs typeface="宋体"/>
              </a:rPr>
              <a:t>分别</a:t>
            </a:r>
            <a:r>
              <a:rPr dirty="0" sz="1400" spc="-15">
                <a:latin typeface="宋体"/>
                <a:cs typeface="宋体"/>
              </a:rPr>
              <a:t>代</a:t>
            </a:r>
            <a:r>
              <a:rPr dirty="0" sz="1400">
                <a:latin typeface="宋体"/>
                <a:cs typeface="宋体"/>
              </a:rPr>
              <a:t>表</a:t>
            </a:r>
            <a:r>
              <a:rPr dirty="0" sz="1400" spc="-5">
                <a:latin typeface="Arial"/>
                <a:cs typeface="Arial"/>
              </a:rPr>
              <a:t>A</a:t>
            </a:r>
            <a:r>
              <a:rPr dirty="0" sz="1400">
                <a:latin typeface="宋体"/>
                <a:cs typeface="宋体"/>
              </a:rPr>
              <a:t>相</a:t>
            </a:r>
            <a:r>
              <a:rPr dirty="0" sz="1400" spc="-15">
                <a:latin typeface="宋体"/>
                <a:cs typeface="宋体"/>
              </a:rPr>
              <a:t>对</a:t>
            </a:r>
            <a:r>
              <a:rPr dirty="0" sz="1400" spc="-5">
                <a:latin typeface="Arial"/>
                <a:cs typeface="Arial"/>
              </a:rPr>
              <a:t>A</a:t>
            </a:r>
            <a:r>
              <a:rPr dirty="0" sz="1400">
                <a:latin typeface="宋体"/>
                <a:cs typeface="宋体"/>
              </a:rPr>
              <a:t>、</a:t>
            </a:r>
            <a:endParaRPr sz="1400">
              <a:latin typeface="宋体"/>
              <a:cs typeface="宋体"/>
            </a:endParaRPr>
          </a:p>
          <a:p>
            <a:pPr algn="just" marL="90805">
              <a:lnSpc>
                <a:spcPct val="100000"/>
              </a:lnSpc>
              <a:spcBef>
                <a:spcPts val="120"/>
              </a:spcBef>
            </a:pPr>
            <a:r>
              <a:rPr dirty="0" sz="1400" spc="-5">
                <a:latin typeface="Arial"/>
                <a:cs typeface="Arial"/>
              </a:rPr>
              <a:t>B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C</a:t>
            </a:r>
            <a:r>
              <a:rPr dirty="0" sz="1400" spc="15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D</a:t>
            </a:r>
            <a:r>
              <a:rPr dirty="0" sz="1400" spc="10">
                <a:latin typeface="宋体"/>
                <a:cs typeface="宋体"/>
              </a:rPr>
              <a:t>的</a:t>
            </a:r>
            <a:r>
              <a:rPr dirty="0" sz="1400" spc="5">
                <a:latin typeface="宋体"/>
                <a:cs typeface="宋体"/>
              </a:rPr>
              <a:t>重</a:t>
            </a:r>
            <a:r>
              <a:rPr dirty="0" sz="1400" spc="-15">
                <a:latin typeface="宋体"/>
                <a:cs typeface="宋体"/>
              </a:rPr>
              <a:t>要</a:t>
            </a:r>
            <a:r>
              <a:rPr dirty="0" sz="1400" spc="5">
                <a:latin typeface="宋体"/>
                <a:cs typeface="宋体"/>
              </a:rPr>
              <a:t>程度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12917" y="4580280"/>
            <a:ext cx="2385695" cy="190690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880"/>
              </a:spcBef>
              <a:tabLst>
                <a:tab pos="625475" algn="l"/>
                <a:tab pos="1096645" algn="l"/>
                <a:tab pos="1617345" algn="l"/>
              </a:tabLst>
            </a:pPr>
            <a:r>
              <a:rPr dirty="0" baseline="1543" sz="2700">
                <a:solidFill>
                  <a:srgbClr val="660000"/>
                </a:solidFill>
                <a:latin typeface="Arial"/>
                <a:cs typeface="Arial"/>
              </a:rPr>
              <a:t>A	B	</a:t>
            </a:r>
            <a:r>
              <a:rPr dirty="0" baseline="1543" sz="2700" spc="-7">
                <a:solidFill>
                  <a:srgbClr val="660000"/>
                </a:solidFill>
                <a:latin typeface="Arial"/>
                <a:cs typeface="Arial"/>
              </a:rPr>
              <a:t>C	</a:t>
            </a:r>
            <a:r>
              <a:rPr dirty="0" sz="1800" spc="-5">
                <a:solidFill>
                  <a:srgbClr val="660000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0"/>
              </a:lnSpc>
              <a:spcBef>
                <a:spcPts val="860"/>
              </a:spcBef>
              <a:tabLst>
                <a:tab pos="628650" algn="l"/>
                <a:tab pos="1104265" algn="l"/>
                <a:tab pos="1661795" algn="l"/>
                <a:tab pos="2207260" algn="l"/>
              </a:tabLst>
            </a:pPr>
            <a:r>
              <a:rPr dirty="0" baseline="2923" sz="2850" spc="52">
                <a:latin typeface="Symbol"/>
                <a:cs typeface="Symbol"/>
              </a:rPr>
              <a:t></a:t>
            </a:r>
            <a:r>
              <a:rPr dirty="0" baseline="2923" sz="2850" spc="232">
                <a:latin typeface="Times New Roman"/>
                <a:cs typeface="Times New Roman"/>
              </a:rPr>
              <a:t> </a:t>
            </a:r>
            <a:r>
              <a:rPr dirty="0" sz="1900" spc="45">
                <a:latin typeface="Times New Roman"/>
                <a:cs typeface="Times New Roman"/>
              </a:rPr>
              <a:t>1	</a:t>
            </a:r>
            <a:r>
              <a:rPr dirty="0" sz="1900" spc="95">
                <a:latin typeface="Times New Roman"/>
                <a:cs typeface="Times New Roman"/>
              </a:rPr>
              <a:t>a</a:t>
            </a:r>
            <a:r>
              <a:rPr dirty="0" baseline="45454" sz="1650" spc="142">
                <a:latin typeface="Times New Roman"/>
                <a:cs typeface="Times New Roman"/>
              </a:rPr>
              <a:t>3	</a:t>
            </a:r>
            <a:r>
              <a:rPr dirty="0" sz="1900" spc="114">
                <a:latin typeface="Times New Roman"/>
                <a:cs typeface="Times New Roman"/>
              </a:rPr>
              <a:t>a</a:t>
            </a:r>
            <a:r>
              <a:rPr dirty="0" baseline="45454" sz="1650" spc="172">
                <a:latin typeface="Times New Roman"/>
                <a:cs typeface="Times New Roman"/>
              </a:rPr>
              <a:t>2	</a:t>
            </a:r>
            <a:r>
              <a:rPr dirty="0" sz="1900" spc="45">
                <a:latin typeface="Times New Roman"/>
                <a:cs typeface="Times New Roman"/>
              </a:rPr>
              <a:t>1</a:t>
            </a:r>
            <a:r>
              <a:rPr dirty="0" sz="1900" spc="220">
                <a:latin typeface="Times New Roman"/>
                <a:cs typeface="Times New Roman"/>
              </a:rPr>
              <a:t> </a:t>
            </a:r>
            <a:r>
              <a:rPr dirty="0" baseline="2923" sz="2850" spc="52">
                <a:latin typeface="Symbol"/>
                <a:cs typeface="Symbol"/>
              </a:rPr>
              <a:t></a:t>
            </a:r>
            <a:r>
              <a:rPr dirty="0" baseline="2923" sz="2850" spc="52">
                <a:latin typeface="Times New Roman"/>
                <a:cs typeface="Times New Roman"/>
              </a:rPr>
              <a:t>	</a:t>
            </a:r>
            <a:r>
              <a:rPr dirty="0" sz="1800">
                <a:solidFill>
                  <a:srgbClr val="660000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249554">
              <a:lnSpc>
                <a:spcPts val="2150"/>
              </a:lnSpc>
              <a:tabLst>
                <a:tab pos="675640" algn="l"/>
                <a:tab pos="1722120" algn="l"/>
                <a:tab pos="2202815" algn="l"/>
              </a:tabLst>
            </a:pPr>
            <a:r>
              <a:rPr dirty="0" sz="1100" spc="5">
                <a:latin typeface="Times New Roman"/>
                <a:cs typeface="Times New Roman"/>
              </a:rPr>
              <a:t>-3	</a:t>
            </a:r>
            <a:r>
              <a:rPr dirty="0" baseline="-24853" sz="2850" spc="67">
                <a:latin typeface="Times New Roman"/>
                <a:cs typeface="Times New Roman"/>
              </a:rPr>
              <a:t>1	</a:t>
            </a:r>
            <a:r>
              <a:rPr dirty="0" sz="1100" spc="5">
                <a:latin typeface="Times New Roman"/>
                <a:cs typeface="Times New Roman"/>
              </a:rPr>
              <a:t>-3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baseline="7309" sz="2850" spc="52">
                <a:latin typeface="Symbol"/>
                <a:cs typeface="Symbol"/>
              </a:rPr>
              <a:t></a:t>
            </a:r>
            <a:r>
              <a:rPr dirty="0" baseline="7309" sz="2850" spc="52">
                <a:latin typeface="Times New Roman"/>
                <a:cs typeface="Times New Roman"/>
              </a:rPr>
              <a:t>	</a:t>
            </a:r>
            <a:r>
              <a:rPr dirty="0" baseline="-27777" sz="2700">
                <a:solidFill>
                  <a:srgbClr val="660000"/>
                </a:solidFill>
                <a:latin typeface="Arial"/>
                <a:cs typeface="Arial"/>
              </a:rPr>
              <a:t>B</a:t>
            </a:r>
            <a:endParaRPr baseline="-27777" sz="2700">
              <a:latin typeface="Arial"/>
              <a:cs typeface="Arial"/>
            </a:endParaRPr>
          </a:p>
          <a:p>
            <a:pPr marL="637540">
              <a:lnSpc>
                <a:spcPct val="100000"/>
              </a:lnSpc>
              <a:spcBef>
                <a:spcPts val="1510"/>
              </a:spcBef>
              <a:tabLst>
                <a:tab pos="1155700" algn="l"/>
                <a:tab pos="2207260" algn="l"/>
              </a:tabLst>
            </a:pPr>
            <a:r>
              <a:rPr dirty="0" baseline="1461" sz="2850" spc="112">
                <a:latin typeface="Times New Roman"/>
                <a:cs typeface="Times New Roman"/>
              </a:rPr>
              <a:t>a</a:t>
            </a:r>
            <a:r>
              <a:rPr dirty="0" baseline="45454" sz="1650" spc="37">
                <a:latin typeface="Times New Roman"/>
                <a:cs typeface="Times New Roman"/>
              </a:rPr>
              <a:t>1</a:t>
            </a:r>
            <a:r>
              <a:rPr dirty="0" baseline="45454" sz="1650">
                <a:latin typeface="Times New Roman"/>
                <a:cs typeface="Times New Roman"/>
              </a:rPr>
              <a:t>	</a:t>
            </a:r>
            <a:r>
              <a:rPr dirty="0" baseline="1461" sz="2850" spc="67">
                <a:latin typeface="Times New Roman"/>
                <a:cs typeface="Times New Roman"/>
              </a:rPr>
              <a:t>1</a:t>
            </a:r>
            <a:r>
              <a:rPr dirty="0" baseline="1461" sz="2850">
                <a:latin typeface="Times New Roman"/>
                <a:cs typeface="Times New Roman"/>
              </a:rPr>
              <a:t>	</a:t>
            </a:r>
            <a:r>
              <a:rPr dirty="0" sz="1800" spc="-5">
                <a:solidFill>
                  <a:srgbClr val="66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628650" algn="l"/>
                <a:tab pos="1104265" algn="l"/>
                <a:tab pos="1661795" algn="l"/>
                <a:tab pos="2202815" algn="l"/>
              </a:tabLst>
            </a:pPr>
            <a:r>
              <a:rPr dirty="0" baseline="-11695" sz="2850" spc="52">
                <a:latin typeface="Symbol"/>
                <a:cs typeface="Symbol"/>
              </a:rPr>
              <a:t></a:t>
            </a:r>
            <a:r>
              <a:rPr dirty="0" baseline="-11695" sz="2850" spc="232">
                <a:latin typeface="Times New Roman"/>
                <a:cs typeface="Times New Roman"/>
              </a:rPr>
              <a:t> </a:t>
            </a:r>
            <a:r>
              <a:rPr dirty="0" baseline="1461" sz="2850" spc="67">
                <a:latin typeface="Times New Roman"/>
                <a:cs typeface="Times New Roman"/>
              </a:rPr>
              <a:t>1</a:t>
            </a:r>
            <a:r>
              <a:rPr dirty="0" baseline="1461" sz="2850">
                <a:latin typeface="Times New Roman"/>
                <a:cs typeface="Times New Roman"/>
              </a:rPr>
              <a:t>	</a:t>
            </a:r>
            <a:r>
              <a:rPr dirty="0" baseline="1461" sz="2850" spc="247">
                <a:latin typeface="Times New Roman"/>
                <a:cs typeface="Times New Roman"/>
              </a:rPr>
              <a:t>a</a:t>
            </a:r>
            <a:r>
              <a:rPr dirty="0" baseline="45454" sz="1650" spc="37">
                <a:latin typeface="Times New Roman"/>
                <a:cs typeface="Times New Roman"/>
              </a:rPr>
              <a:t>3</a:t>
            </a:r>
            <a:r>
              <a:rPr dirty="0" baseline="45454" sz="1650">
                <a:latin typeface="Times New Roman"/>
                <a:cs typeface="Times New Roman"/>
              </a:rPr>
              <a:t>	</a:t>
            </a:r>
            <a:r>
              <a:rPr dirty="0" baseline="1461" sz="2850" spc="307">
                <a:latin typeface="Times New Roman"/>
                <a:cs typeface="Times New Roman"/>
              </a:rPr>
              <a:t>a</a:t>
            </a:r>
            <a:r>
              <a:rPr dirty="0" baseline="45454" sz="1650" spc="37">
                <a:latin typeface="Times New Roman"/>
                <a:cs typeface="Times New Roman"/>
              </a:rPr>
              <a:t>2</a:t>
            </a:r>
            <a:r>
              <a:rPr dirty="0" baseline="45454" sz="1650">
                <a:latin typeface="Times New Roman"/>
                <a:cs typeface="Times New Roman"/>
              </a:rPr>
              <a:t>	</a:t>
            </a:r>
            <a:r>
              <a:rPr dirty="0" baseline="1461" sz="2850" spc="67">
                <a:latin typeface="Times New Roman"/>
                <a:cs typeface="Times New Roman"/>
              </a:rPr>
              <a:t>1</a:t>
            </a:r>
            <a:r>
              <a:rPr dirty="0" baseline="1461" sz="2850" spc="330">
                <a:latin typeface="Times New Roman"/>
                <a:cs typeface="Times New Roman"/>
              </a:rPr>
              <a:t> </a:t>
            </a:r>
            <a:r>
              <a:rPr dirty="0" baseline="-11695" sz="2850" spc="52">
                <a:latin typeface="Symbol"/>
                <a:cs typeface="Symbol"/>
              </a:rPr>
              <a:t></a:t>
            </a:r>
            <a:r>
              <a:rPr dirty="0" baseline="-11695" sz="2850">
                <a:latin typeface="Times New Roman"/>
                <a:cs typeface="Times New Roman"/>
              </a:rPr>
              <a:t>	</a:t>
            </a:r>
            <a:r>
              <a:rPr dirty="0" sz="1800" spc="-5">
                <a:solidFill>
                  <a:srgbClr val="660000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9626" y="4728717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指标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24955" y="649223"/>
            <a:ext cx="0" cy="6205220"/>
          </a:xfrm>
          <a:custGeom>
            <a:avLst/>
            <a:gdLst/>
            <a:ahLst/>
            <a:cxnLst/>
            <a:rect l="l" t="t" r="r" b="b"/>
            <a:pathLst>
              <a:path w="0" h="6205220">
                <a:moveTo>
                  <a:pt x="0" y="0"/>
                </a:moveTo>
                <a:lnTo>
                  <a:pt x="0" y="6205124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25540" y="1932432"/>
            <a:ext cx="2610612" cy="1708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25540" y="1945995"/>
            <a:ext cx="2611120" cy="1626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91440" marR="195580">
              <a:lnSpc>
                <a:spcPct val="107200"/>
              </a:lnSpc>
              <a:spcBef>
                <a:spcPts val="95"/>
              </a:spcBef>
            </a:pPr>
            <a:r>
              <a:rPr dirty="0" sz="1400">
                <a:latin typeface="宋体"/>
                <a:cs typeface="宋体"/>
              </a:rPr>
              <a:t>层次分</a:t>
            </a:r>
            <a:r>
              <a:rPr dirty="0" sz="1400" spc="-10">
                <a:latin typeface="宋体"/>
                <a:cs typeface="宋体"/>
              </a:rPr>
              <a:t>析</a:t>
            </a:r>
            <a:r>
              <a:rPr dirty="0" sz="1400">
                <a:latin typeface="宋体"/>
                <a:cs typeface="宋体"/>
              </a:rPr>
              <a:t>法是</a:t>
            </a:r>
            <a:r>
              <a:rPr dirty="0" sz="1400" spc="-10">
                <a:latin typeface="宋体"/>
                <a:cs typeface="宋体"/>
              </a:rPr>
              <a:t>将与</a:t>
            </a:r>
            <a:r>
              <a:rPr dirty="0" sz="1400">
                <a:latin typeface="宋体"/>
                <a:cs typeface="宋体"/>
              </a:rPr>
              <a:t>决策总</a:t>
            </a:r>
            <a:r>
              <a:rPr dirty="0" sz="1400" spc="-10">
                <a:latin typeface="宋体"/>
                <a:cs typeface="宋体"/>
              </a:rPr>
              <a:t>是</a:t>
            </a:r>
            <a:r>
              <a:rPr dirty="0" sz="1400">
                <a:latin typeface="宋体"/>
                <a:cs typeface="宋体"/>
              </a:rPr>
              <a:t>有 关的元</a:t>
            </a:r>
            <a:r>
              <a:rPr dirty="0" sz="1400" spc="-10">
                <a:latin typeface="宋体"/>
                <a:cs typeface="宋体"/>
              </a:rPr>
              <a:t>素</a:t>
            </a:r>
            <a:r>
              <a:rPr dirty="0" sz="1400">
                <a:latin typeface="宋体"/>
                <a:cs typeface="宋体"/>
              </a:rPr>
              <a:t>分解</a:t>
            </a:r>
            <a:r>
              <a:rPr dirty="0" sz="1400" spc="-10">
                <a:latin typeface="宋体"/>
                <a:cs typeface="宋体"/>
              </a:rPr>
              <a:t>成目</a:t>
            </a:r>
            <a:r>
              <a:rPr dirty="0" sz="1400">
                <a:latin typeface="宋体"/>
                <a:cs typeface="宋体"/>
              </a:rPr>
              <a:t>标、准</a:t>
            </a:r>
            <a:r>
              <a:rPr dirty="0" sz="1400" spc="-10">
                <a:latin typeface="宋体"/>
                <a:cs typeface="宋体"/>
              </a:rPr>
              <a:t>则</a:t>
            </a:r>
            <a:r>
              <a:rPr dirty="0" sz="1400">
                <a:latin typeface="宋体"/>
                <a:cs typeface="宋体"/>
              </a:rPr>
              <a:t>、 方案等</a:t>
            </a:r>
            <a:r>
              <a:rPr dirty="0" sz="1400" spc="-10">
                <a:latin typeface="宋体"/>
                <a:cs typeface="宋体"/>
              </a:rPr>
              <a:t>层</a:t>
            </a:r>
            <a:r>
              <a:rPr dirty="0" sz="1400">
                <a:latin typeface="宋体"/>
                <a:cs typeface="宋体"/>
              </a:rPr>
              <a:t>次，</a:t>
            </a:r>
            <a:r>
              <a:rPr dirty="0" sz="1400" spc="-10">
                <a:latin typeface="宋体"/>
                <a:cs typeface="宋体"/>
              </a:rPr>
              <a:t>然后</a:t>
            </a:r>
            <a:r>
              <a:rPr dirty="0" sz="1400">
                <a:latin typeface="宋体"/>
                <a:cs typeface="宋体"/>
              </a:rPr>
              <a:t>在此基</a:t>
            </a:r>
            <a:r>
              <a:rPr dirty="0" sz="1400" spc="-10">
                <a:latin typeface="宋体"/>
                <a:cs typeface="宋体"/>
              </a:rPr>
              <a:t>础</a:t>
            </a:r>
            <a:r>
              <a:rPr dirty="0" sz="1400">
                <a:latin typeface="宋体"/>
                <a:cs typeface="宋体"/>
              </a:rPr>
              <a:t>上 进行定</a:t>
            </a:r>
            <a:r>
              <a:rPr dirty="0" sz="1400" spc="-10">
                <a:latin typeface="宋体"/>
                <a:cs typeface="宋体"/>
              </a:rPr>
              <a:t>性</a:t>
            </a:r>
            <a:r>
              <a:rPr dirty="0" sz="1400">
                <a:latin typeface="宋体"/>
                <a:cs typeface="宋体"/>
              </a:rPr>
              <a:t>与定</a:t>
            </a:r>
            <a:r>
              <a:rPr dirty="0" sz="1400" spc="-10">
                <a:latin typeface="宋体"/>
                <a:cs typeface="宋体"/>
              </a:rPr>
              <a:t>量分</a:t>
            </a:r>
            <a:r>
              <a:rPr dirty="0" sz="1400">
                <a:latin typeface="宋体"/>
                <a:cs typeface="宋体"/>
              </a:rPr>
              <a:t>析的决</a:t>
            </a:r>
            <a:r>
              <a:rPr dirty="0" sz="1400" spc="-10">
                <a:latin typeface="宋体"/>
                <a:cs typeface="宋体"/>
              </a:rPr>
              <a:t>策</a:t>
            </a:r>
            <a:r>
              <a:rPr dirty="0" sz="1400">
                <a:latin typeface="宋体"/>
                <a:cs typeface="宋体"/>
              </a:rPr>
              <a:t>方 法。一</a:t>
            </a:r>
            <a:r>
              <a:rPr dirty="0" sz="1400" spc="-10">
                <a:latin typeface="宋体"/>
                <a:cs typeface="宋体"/>
              </a:rPr>
              <a:t>般</a:t>
            </a:r>
            <a:r>
              <a:rPr dirty="0" sz="1400">
                <a:latin typeface="宋体"/>
                <a:cs typeface="宋体"/>
              </a:rPr>
              <a:t>由三</a:t>
            </a:r>
            <a:r>
              <a:rPr dirty="0" sz="1400" spc="-10">
                <a:latin typeface="宋体"/>
                <a:cs typeface="宋体"/>
              </a:rPr>
              <a:t>个步</a:t>
            </a:r>
            <a:r>
              <a:rPr dirty="0" sz="1400">
                <a:latin typeface="宋体"/>
                <a:cs typeface="宋体"/>
              </a:rPr>
              <a:t>骤组成</a:t>
            </a:r>
            <a:r>
              <a:rPr dirty="0" sz="1400" spc="-10">
                <a:latin typeface="宋体"/>
                <a:cs typeface="宋体"/>
              </a:rPr>
              <a:t>：</a:t>
            </a:r>
            <a:r>
              <a:rPr dirty="0" sz="1400">
                <a:latin typeface="宋体"/>
                <a:cs typeface="宋体"/>
              </a:rPr>
              <a:t>构 </a:t>
            </a:r>
            <a:r>
              <a:rPr dirty="0" sz="1400" spc="5">
                <a:latin typeface="宋体"/>
                <a:cs typeface="宋体"/>
              </a:rPr>
              <a:t>造判断</a:t>
            </a:r>
            <a:r>
              <a:rPr dirty="0" sz="1400" spc="-10">
                <a:latin typeface="宋体"/>
                <a:cs typeface="宋体"/>
              </a:rPr>
              <a:t>矩</a:t>
            </a:r>
            <a:r>
              <a:rPr dirty="0" sz="1400" spc="5">
                <a:latin typeface="宋体"/>
                <a:cs typeface="宋体"/>
              </a:rPr>
              <a:t>阵；</a:t>
            </a:r>
            <a:r>
              <a:rPr dirty="0" sz="1400" spc="-10">
                <a:latin typeface="宋体"/>
                <a:cs typeface="宋体"/>
              </a:rPr>
              <a:t>层次</a:t>
            </a:r>
            <a:r>
              <a:rPr dirty="0" sz="1400" spc="5">
                <a:latin typeface="宋体"/>
                <a:cs typeface="宋体"/>
              </a:rPr>
              <a:t>单排序</a:t>
            </a:r>
            <a:r>
              <a:rPr dirty="0" sz="1400" spc="-10">
                <a:latin typeface="宋体"/>
                <a:cs typeface="宋体"/>
              </a:rPr>
              <a:t>及</a:t>
            </a:r>
            <a:r>
              <a:rPr dirty="0" sz="1400">
                <a:latin typeface="宋体"/>
                <a:cs typeface="宋体"/>
              </a:rPr>
              <a:t>一 </a:t>
            </a:r>
            <a:r>
              <a:rPr dirty="0" sz="1400">
                <a:latin typeface="宋体"/>
                <a:cs typeface="宋体"/>
              </a:rPr>
              <a:t>致性检</a:t>
            </a:r>
            <a:r>
              <a:rPr dirty="0" sz="1400" spc="-10">
                <a:latin typeface="宋体"/>
                <a:cs typeface="宋体"/>
              </a:rPr>
              <a:t>验</a:t>
            </a:r>
            <a:r>
              <a:rPr dirty="0" sz="1400">
                <a:latin typeface="宋体"/>
                <a:cs typeface="宋体"/>
              </a:rPr>
              <a:t>；计</a:t>
            </a:r>
            <a:r>
              <a:rPr dirty="0" sz="1400" spc="-10">
                <a:latin typeface="宋体"/>
                <a:cs typeface="宋体"/>
              </a:rPr>
              <a:t>算组</a:t>
            </a:r>
            <a:r>
              <a:rPr dirty="0" sz="1400">
                <a:latin typeface="宋体"/>
                <a:cs typeface="宋体"/>
              </a:rPr>
              <a:t>合权向量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9444" y="3852671"/>
            <a:ext cx="2632075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dirty="0" sz="1200" b="1">
                <a:latin typeface="明兰"/>
                <a:cs typeface="明兰"/>
              </a:rPr>
              <a:t>组合权向量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96100" y="833627"/>
            <a:ext cx="1140460" cy="970915"/>
          </a:xfrm>
          <a:custGeom>
            <a:avLst/>
            <a:gdLst/>
            <a:ahLst/>
            <a:cxnLst/>
            <a:rect l="l" t="t" r="r" b="b"/>
            <a:pathLst>
              <a:path w="1140459" h="970914">
                <a:moveTo>
                  <a:pt x="304800" y="626745"/>
                </a:moveTo>
                <a:lnTo>
                  <a:pt x="39750" y="626745"/>
                </a:lnTo>
                <a:lnTo>
                  <a:pt x="24270" y="629866"/>
                </a:lnTo>
                <a:lnTo>
                  <a:pt x="11636" y="638381"/>
                </a:lnTo>
                <a:lnTo>
                  <a:pt x="3121" y="651015"/>
                </a:lnTo>
                <a:lnTo>
                  <a:pt x="0" y="666496"/>
                </a:lnTo>
                <a:lnTo>
                  <a:pt x="0" y="931037"/>
                </a:lnTo>
                <a:lnTo>
                  <a:pt x="3121" y="946517"/>
                </a:lnTo>
                <a:lnTo>
                  <a:pt x="11636" y="959151"/>
                </a:lnTo>
                <a:lnTo>
                  <a:pt x="24270" y="967666"/>
                </a:lnTo>
                <a:lnTo>
                  <a:pt x="39750" y="970788"/>
                </a:lnTo>
                <a:lnTo>
                  <a:pt x="304800" y="970788"/>
                </a:lnTo>
                <a:lnTo>
                  <a:pt x="320426" y="967666"/>
                </a:lnTo>
                <a:lnTo>
                  <a:pt x="333136" y="959151"/>
                </a:lnTo>
                <a:lnTo>
                  <a:pt x="341679" y="946517"/>
                </a:lnTo>
                <a:lnTo>
                  <a:pt x="344804" y="931037"/>
                </a:lnTo>
                <a:lnTo>
                  <a:pt x="344804" y="666496"/>
                </a:lnTo>
                <a:lnTo>
                  <a:pt x="341679" y="651015"/>
                </a:lnTo>
                <a:lnTo>
                  <a:pt x="333136" y="638381"/>
                </a:lnTo>
                <a:lnTo>
                  <a:pt x="320426" y="629866"/>
                </a:lnTo>
                <a:lnTo>
                  <a:pt x="304800" y="626745"/>
                </a:lnTo>
                <a:close/>
              </a:path>
              <a:path w="1140459" h="970914">
                <a:moveTo>
                  <a:pt x="702436" y="626745"/>
                </a:moveTo>
                <a:lnTo>
                  <a:pt x="437515" y="626745"/>
                </a:lnTo>
                <a:lnTo>
                  <a:pt x="422015" y="629866"/>
                </a:lnTo>
                <a:lnTo>
                  <a:pt x="409336" y="638381"/>
                </a:lnTo>
                <a:lnTo>
                  <a:pt x="400778" y="651015"/>
                </a:lnTo>
                <a:lnTo>
                  <a:pt x="397636" y="666496"/>
                </a:lnTo>
                <a:lnTo>
                  <a:pt x="397636" y="931037"/>
                </a:lnTo>
                <a:lnTo>
                  <a:pt x="400778" y="946517"/>
                </a:lnTo>
                <a:lnTo>
                  <a:pt x="409336" y="959151"/>
                </a:lnTo>
                <a:lnTo>
                  <a:pt x="422015" y="967666"/>
                </a:lnTo>
                <a:lnTo>
                  <a:pt x="437515" y="970788"/>
                </a:lnTo>
                <a:lnTo>
                  <a:pt x="702436" y="970788"/>
                </a:lnTo>
                <a:lnTo>
                  <a:pt x="717936" y="967666"/>
                </a:lnTo>
                <a:lnTo>
                  <a:pt x="730615" y="959151"/>
                </a:lnTo>
                <a:lnTo>
                  <a:pt x="739173" y="946517"/>
                </a:lnTo>
                <a:lnTo>
                  <a:pt x="742315" y="931037"/>
                </a:lnTo>
                <a:lnTo>
                  <a:pt x="742315" y="666496"/>
                </a:lnTo>
                <a:lnTo>
                  <a:pt x="739173" y="651015"/>
                </a:lnTo>
                <a:lnTo>
                  <a:pt x="730615" y="638381"/>
                </a:lnTo>
                <a:lnTo>
                  <a:pt x="717936" y="629866"/>
                </a:lnTo>
                <a:lnTo>
                  <a:pt x="702436" y="626745"/>
                </a:lnTo>
                <a:close/>
              </a:path>
              <a:path w="1140459" h="970914">
                <a:moveTo>
                  <a:pt x="1100201" y="626745"/>
                </a:moveTo>
                <a:lnTo>
                  <a:pt x="835151" y="626745"/>
                </a:lnTo>
                <a:lnTo>
                  <a:pt x="819525" y="629866"/>
                </a:lnTo>
                <a:lnTo>
                  <a:pt x="806815" y="638381"/>
                </a:lnTo>
                <a:lnTo>
                  <a:pt x="798272" y="651015"/>
                </a:lnTo>
                <a:lnTo>
                  <a:pt x="795147" y="666496"/>
                </a:lnTo>
                <a:lnTo>
                  <a:pt x="795147" y="931037"/>
                </a:lnTo>
                <a:lnTo>
                  <a:pt x="798272" y="946517"/>
                </a:lnTo>
                <a:lnTo>
                  <a:pt x="806815" y="959151"/>
                </a:lnTo>
                <a:lnTo>
                  <a:pt x="819525" y="967666"/>
                </a:lnTo>
                <a:lnTo>
                  <a:pt x="835151" y="970788"/>
                </a:lnTo>
                <a:lnTo>
                  <a:pt x="1100201" y="970788"/>
                </a:lnTo>
                <a:lnTo>
                  <a:pt x="1115681" y="967666"/>
                </a:lnTo>
                <a:lnTo>
                  <a:pt x="1128315" y="959151"/>
                </a:lnTo>
                <a:lnTo>
                  <a:pt x="1136830" y="946517"/>
                </a:lnTo>
                <a:lnTo>
                  <a:pt x="1139952" y="931037"/>
                </a:lnTo>
                <a:lnTo>
                  <a:pt x="1139952" y="666496"/>
                </a:lnTo>
                <a:lnTo>
                  <a:pt x="1136830" y="651015"/>
                </a:lnTo>
                <a:lnTo>
                  <a:pt x="1128315" y="638381"/>
                </a:lnTo>
                <a:lnTo>
                  <a:pt x="1115681" y="629866"/>
                </a:lnTo>
                <a:lnTo>
                  <a:pt x="1100201" y="626745"/>
                </a:lnTo>
                <a:close/>
              </a:path>
              <a:path w="1140459" h="970914">
                <a:moveTo>
                  <a:pt x="967485" y="440182"/>
                </a:moveTo>
                <a:lnTo>
                  <a:pt x="172466" y="440182"/>
                </a:lnTo>
                <a:lnTo>
                  <a:pt x="156966" y="443303"/>
                </a:lnTo>
                <a:lnTo>
                  <a:pt x="144287" y="451818"/>
                </a:lnTo>
                <a:lnTo>
                  <a:pt x="135729" y="464452"/>
                </a:lnTo>
                <a:lnTo>
                  <a:pt x="132588" y="479933"/>
                </a:lnTo>
                <a:lnTo>
                  <a:pt x="132588" y="626745"/>
                </a:lnTo>
                <a:lnTo>
                  <a:pt x="212217" y="626745"/>
                </a:lnTo>
                <a:lnTo>
                  <a:pt x="212217" y="519811"/>
                </a:lnTo>
                <a:lnTo>
                  <a:pt x="1007364" y="519811"/>
                </a:lnTo>
                <a:lnTo>
                  <a:pt x="1007364" y="479933"/>
                </a:lnTo>
                <a:lnTo>
                  <a:pt x="1004222" y="464452"/>
                </a:lnTo>
                <a:lnTo>
                  <a:pt x="995664" y="451818"/>
                </a:lnTo>
                <a:lnTo>
                  <a:pt x="982985" y="443303"/>
                </a:lnTo>
                <a:lnTo>
                  <a:pt x="967485" y="440182"/>
                </a:lnTo>
                <a:close/>
              </a:path>
              <a:path w="1140459" h="970914">
                <a:moveTo>
                  <a:pt x="609853" y="519811"/>
                </a:moveTo>
                <a:lnTo>
                  <a:pt x="530098" y="519811"/>
                </a:lnTo>
                <a:lnTo>
                  <a:pt x="530098" y="626745"/>
                </a:lnTo>
                <a:lnTo>
                  <a:pt x="609853" y="626745"/>
                </a:lnTo>
                <a:lnTo>
                  <a:pt x="609853" y="519811"/>
                </a:lnTo>
                <a:close/>
              </a:path>
              <a:path w="1140459" h="970914">
                <a:moveTo>
                  <a:pt x="1007364" y="519811"/>
                </a:moveTo>
                <a:lnTo>
                  <a:pt x="927734" y="519811"/>
                </a:lnTo>
                <a:lnTo>
                  <a:pt x="927734" y="626745"/>
                </a:lnTo>
                <a:lnTo>
                  <a:pt x="1007364" y="626745"/>
                </a:lnTo>
                <a:lnTo>
                  <a:pt x="1007364" y="519811"/>
                </a:lnTo>
                <a:close/>
              </a:path>
              <a:path w="1140459" h="970914">
                <a:moveTo>
                  <a:pt x="609853" y="344043"/>
                </a:moveTo>
                <a:lnTo>
                  <a:pt x="530098" y="344043"/>
                </a:lnTo>
                <a:lnTo>
                  <a:pt x="530098" y="440182"/>
                </a:lnTo>
                <a:lnTo>
                  <a:pt x="609853" y="440182"/>
                </a:lnTo>
                <a:lnTo>
                  <a:pt x="609853" y="344043"/>
                </a:lnTo>
                <a:close/>
              </a:path>
              <a:path w="1140459" h="970914">
                <a:moveTo>
                  <a:pt x="702436" y="0"/>
                </a:moveTo>
                <a:lnTo>
                  <a:pt x="437515" y="0"/>
                </a:lnTo>
                <a:lnTo>
                  <a:pt x="422015" y="3121"/>
                </a:lnTo>
                <a:lnTo>
                  <a:pt x="409336" y="11636"/>
                </a:lnTo>
                <a:lnTo>
                  <a:pt x="400778" y="24270"/>
                </a:lnTo>
                <a:lnTo>
                  <a:pt x="397636" y="39750"/>
                </a:lnTo>
                <a:lnTo>
                  <a:pt x="397636" y="304292"/>
                </a:lnTo>
                <a:lnTo>
                  <a:pt x="400778" y="319772"/>
                </a:lnTo>
                <a:lnTo>
                  <a:pt x="409336" y="332406"/>
                </a:lnTo>
                <a:lnTo>
                  <a:pt x="422015" y="340921"/>
                </a:lnTo>
                <a:lnTo>
                  <a:pt x="437515" y="344043"/>
                </a:lnTo>
                <a:lnTo>
                  <a:pt x="702436" y="344043"/>
                </a:lnTo>
                <a:lnTo>
                  <a:pt x="717936" y="340921"/>
                </a:lnTo>
                <a:lnTo>
                  <a:pt x="730615" y="332406"/>
                </a:lnTo>
                <a:lnTo>
                  <a:pt x="739173" y="319772"/>
                </a:lnTo>
                <a:lnTo>
                  <a:pt x="742315" y="304292"/>
                </a:lnTo>
                <a:lnTo>
                  <a:pt x="742315" y="39750"/>
                </a:lnTo>
                <a:lnTo>
                  <a:pt x="739173" y="24270"/>
                </a:lnTo>
                <a:lnTo>
                  <a:pt x="730615" y="11636"/>
                </a:lnTo>
                <a:lnTo>
                  <a:pt x="717936" y="3121"/>
                </a:lnTo>
                <a:lnTo>
                  <a:pt x="702436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0395" y="1056132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072" y="0"/>
                </a:moveTo>
                <a:lnTo>
                  <a:pt x="150344" y="5154"/>
                </a:lnTo>
                <a:lnTo>
                  <a:pt x="109284" y="19834"/>
                </a:lnTo>
                <a:lnTo>
                  <a:pt x="73064" y="42867"/>
                </a:lnTo>
                <a:lnTo>
                  <a:pt x="42855" y="73080"/>
                </a:lnTo>
                <a:lnTo>
                  <a:pt x="19827" y="109301"/>
                </a:lnTo>
                <a:lnTo>
                  <a:pt x="5152" y="150356"/>
                </a:lnTo>
                <a:lnTo>
                  <a:pt x="0" y="195071"/>
                </a:lnTo>
                <a:lnTo>
                  <a:pt x="5152" y="239787"/>
                </a:lnTo>
                <a:lnTo>
                  <a:pt x="19827" y="280842"/>
                </a:lnTo>
                <a:lnTo>
                  <a:pt x="42855" y="317063"/>
                </a:lnTo>
                <a:lnTo>
                  <a:pt x="73064" y="347276"/>
                </a:lnTo>
                <a:lnTo>
                  <a:pt x="109284" y="370309"/>
                </a:lnTo>
                <a:lnTo>
                  <a:pt x="150344" y="384989"/>
                </a:lnTo>
                <a:lnTo>
                  <a:pt x="195072" y="390143"/>
                </a:lnTo>
                <a:lnTo>
                  <a:pt x="239799" y="384989"/>
                </a:lnTo>
                <a:lnTo>
                  <a:pt x="280859" y="370309"/>
                </a:lnTo>
                <a:lnTo>
                  <a:pt x="317079" y="347276"/>
                </a:lnTo>
                <a:lnTo>
                  <a:pt x="347288" y="317063"/>
                </a:lnTo>
                <a:lnTo>
                  <a:pt x="370316" y="280842"/>
                </a:lnTo>
                <a:lnTo>
                  <a:pt x="384991" y="239787"/>
                </a:lnTo>
                <a:lnTo>
                  <a:pt x="390144" y="195071"/>
                </a:lnTo>
                <a:lnTo>
                  <a:pt x="384991" y="150356"/>
                </a:lnTo>
                <a:lnTo>
                  <a:pt x="370316" y="109301"/>
                </a:lnTo>
                <a:lnTo>
                  <a:pt x="347288" y="73080"/>
                </a:lnTo>
                <a:lnTo>
                  <a:pt x="317079" y="42867"/>
                </a:lnTo>
                <a:lnTo>
                  <a:pt x="280859" y="19834"/>
                </a:lnTo>
                <a:lnTo>
                  <a:pt x="239799" y="5154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5552" y="1138427"/>
            <a:ext cx="211835" cy="211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739" y="322326"/>
            <a:ext cx="5452745" cy="139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414905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solidFill>
                  <a:srgbClr val="7A2121"/>
                </a:solidFill>
                <a:latin typeface="Arial"/>
                <a:cs typeface="Arial"/>
              </a:rPr>
              <a:t>A</a:t>
            </a:r>
            <a:r>
              <a:rPr dirty="0" sz="1800" spc="-5" b="1">
                <a:solidFill>
                  <a:srgbClr val="7A2121"/>
                </a:solidFill>
                <a:latin typeface="Arial"/>
                <a:cs typeface="Arial"/>
              </a:rPr>
              <a:t>H</a:t>
            </a:r>
            <a:r>
              <a:rPr dirty="0" sz="1800" spc="-10" b="1">
                <a:solidFill>
                  <a:srgbClr val="7A2121"/>
                </a:solidFill>
                <a:latin typeface="Arial"/>
                <a:cs typeface="Arial"/>
              </a:rPr>
              <a:t>P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层次分析法</a:t>
            </a:r>
            <a:r>
              <a:rPr dirty="0" sz="1800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权重确定</a:t>
            </a:r>
            <a:endParaRPr sz="1800">
              <a:latin typeface="明兰"/>
              <a:cs typeface="明兰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535305">
              <a:lnSpc>
                <a:spcPct val="100000"/>
              </a:lnSpc>
            </a:pPr>
            <a:r>
              <a:rPr dirty="0" sz="1400" b="1">
                <a:latin typeface="明兰"/>
                <a:cs typeface="明兰"/>
              </a:rPr>
              <a:t>层次单</a:t>
            </a:r>
            <a:r>
              <a:rPr dirty="0" sz="1400" spc="-15" b="1">
                <a:latin typeface="明兰"/>
                <a:cs typeface="明兰"/>
              </a:rPr>
              <a:t>排</a:t>
            </a:r>
            <a:r>
              <a:rPr dirty="0" sz="1400" b="1">
                <a:latin typeface="明兰"/>
                <a:cs typeface="明兰"/>
              </a:rPr>
              <a:t>序及</a:t>
            </a:r>
            <a:r>
              <a:rPr dirty="0" sz="1400" spc="-15" b="1">
                <a:latin typeface="明兰"/>
                <a:cs typeface="明兰"/>
              </a:rPr>
              <a:t>一致</a:t>
            </a:r>
            <a:r>
              <a:rPr dirty="0" sz="1400" b="1">
                <a:latin typeface="明兰"/>
                <a:cs typeface="明兰"/>
              </a:rPr>
              <a:t>性检验</a:t>
            </a:r>
            <a:endParaRPr sz="1400">
              <a:latin typeface="明兰"/>
              <a:cs typeface="明兰"/>
            </a:endParaRPr>
          </a:p>
          <a:p>
            <a:pPr marL="782320" indent="-287020">
              <a:lnSpc>
                <a:spcPct val="100000"/>
              </a:lnSpc>
              <a:spcBef>
                <a:spcPts val="1120"/>
              </a:spcBef>
              <a:buClr>
                <a:srgbClr val="660000"/>
              </a:buClr>
              <a:buFont typeface="Wingdings"/>
              <a:buChar char=""/>
              <a:tabLst>
                <a:tab pos="781685" algn="l"/>
                <a:tab pos="782320" algn="l"/>
              </a:tabLst>
            </a:pPr>
            <a:r>
              <a:rPr dirty="0" sz="1400" spc="10">
                <a:latin typeface="宋体"/>
                <a:cs typeface="宋体"/>
              </a:rPr>
              <a:t>对求</a:t>
            </a:r>
            <a:r>
              <a:rPr dirty="0" sz="1400" spc="5">
                <a:latin typeface="宋体"/>
                <a:cs typeface="宋体"/>
              </a:rPr>
              <a:t>得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0">
                <a:latin typeface="宋体"/>
                <a:cs typeface="宋体"/>
              </a:rPr>
              <a:t>判</a:t>
            </a:r>
            <a:r>
              <a:rPr dirty="0" sz="1400" spc="5">
                <a:latin typeface="宋体"/>
                <a:cs typeface="宋体"/>
              </a:rPr>
              <a:t>断</a:t>
            </a:r>
            <a:r>
              <a:rPr dirty="0" sz="1400">
                <a:latin typeface="宋体"/>
                <a:cs typeface="宋体"/>
              </a:rPr>
              <a:t>矩</a:t>
            </a:r>
            <a:r>
              <a:rPr dirty="0" sz="1400" spc="-10">
                <a:latin typeface="宋体"/>
                <a:cs typeface="宋体"/>
              </a:rPr>
              <a:t>阵</a:t>
            </a:r>
            <a:r>
              <a:rPr dirty="0" sz="1400" spc="5">
                <a:latin typeface="宋体"/>
                <a:cs typeface="宋体"/>
              </a:rPr>
              <a:t>求</a:t>
            </a:r>
            <a:r>
              <a:rPr dirty="0" sz="1400">
                <a:latin typeface="宋体"/>
                <a:cs typeface="宋体"/>
              </a:rPr>
              <a:t>其</a:t>
            </a:r>
            <a:r>
              <a:rPr dirty="0" sz="1400" spc="-10">
                <a:latin typeface="宋体"/>
                <a:cs typeface="宋体"/>
              </a:rPr>
              <a:t>特</a:t>
            </a:r>
            <a:r>
              <a:rPr dirty="0" sz="1400" spc="5">
                <a:latin typeface="宋体"/>
                <a:cs typeface="宋体"/>
              </a:rPr>
              <a:t>征</a:t>
            </a:r>
            <a:r>
              <a:rPr dirty="0" sz="1400">
                <a:latin typeface="宋体"/>
                <a:cs typeface="宋体"/>
              </a:rPr>
              <a:t>值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</a:t>
            </a:r>
            <a:r>
              <a:rPr dirty="0" sz="1400" spc="-25">
                <a:latin typeface="Arial"/>
                <a:cs typeface="Arial"/>
              </a:rPr>
              <a:t>T.L.Saaty</a:t>
            </a:r>
            <a:r>
              <a:rPr dirty="0" sz="1400" spc="10">
                <a:latin typeface="宋体"/>
                <a:cs typeface="宋体"/>
              </a:rPr>
              <a:t>一</a:t>
            </a:r>
            <a:r>
              <a:rPr dirty="0" sz="1400" spc="5">
                <a:latin typeface="宋体"/>
                <a:cs typeface="宋体"/>
              </a:rPr>
              <a:t>致</a:t>
            </a:r>
            <a:r>
              <a:rPr dirty="0" sz="1400">
                <a:latin typeface="宋体"/>
                <a:cs typeface="宋体"/>
              </a:rPr>
              <a:t>性</a:t>
            </a:r>
            <a:r>
              <a:rPr dirty="0" sz="1400" spc="-10">
                <a:latin typeface="宋体"/>
                <a:cs typeface="宋体"/>
              </a:rPr>
              <a:t>检</a:t>
            </a:r>
            <a:r>
              <a:rPr dirty="0" sz="1400" spc="5">
                <a:latin typeface="宋体"/>
                <a:cs typeface="宋体"/>
              </a:rPr>
              <a:t>验：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848" y="2405633"/>
            <a:ext cx="49110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对应</a:t>
            </a:r>
            <a:r>
              <a:rPr dirty="0" sz="1400">
                <a:latin typeface="宋体"/>
                <a:cs typeface="宋体"/>
              </a:rPr>
              <a:t>的指</a:t>
            </a:r>
            <a:r>
              <a:rPr dirty="0" sz="1400" spc="-1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数量</a:t>
            </a:r>
            <a:r>
              <a:rPr dirty="0" sz="1400" spc="-355">
                <a:latin typeface="宋体"/>
                <a:cs typeface="宋体"/>
              </a:rPr>
              <a:t> </a:t>
            </a:r>
            <a:r>
              <a:rPr dirty="0" sz="1400" spc="5">
                <a:latin typeface="Arial"/>
                <a:cs typeface="Arial"/>
              </a:rPr>
              <a:t>n</a:t>
            </a:r>
            <a:r>
              <a:rPr dirty="0" sz="1400" spc="5">
                <a:latin typeface="宋体"/>
                <a:cs typeface="宋体"/>
              </a:rPr>
              <a:t>（</a:t>
            </a:r>
            <a:r>
              <a:rPr dirty="0" sz="1400" spc="10">
                <a:latin typeface="宋体"/>
                <a:cs typeface="宋体"/>
              </a:rPr>
              <a:t>即</a:t>
            </a:r>
            <a:r>
              <a:rPr dirty="0" sz="1400">
                <a:latin typeface="宋体"/>
                <a:cs typeface="宋体"/>
              </a:rPr>
              <a:t>矩</a:t>
            </a:r>
            <a:r>
              <a:rPr dirty="0" sz="1400" spc="-15">
                <a:latin typeface="宋体"/>
                <a:cs typeface="宋体"/>
              </a:rPr>
              <a:t>阵</a:t>
            </a:r>
            <a:r>
              <a:rPr dirty="0" sz="1400">
                <a:latin typeface="宋体"/>
                <a:cs typeface="宋体"/>
              </a:rPr>
              <a:t>行数</a:t>
            </a:r>
            <a:r>
              <a:rPr dirty="0" sz="1400" spc="-15">
                <a:latin typeface="宋体"/>
                <a:cs typeface="宋体"/>
              </a:rPr>
              <a:t>）</a:t>
            </a:r>
            <a:r>
              <a:rPr dirty="0" sz="1400">
                <a:latin typeface="宋体"/>
                <a:cs typeface="宋体"/>
              </a:rPr>
              <a:t>代入</a:t>
            </a:r>
            <a:r>
              <a:rPr dirty="0" sz="1400" spc="-15">
                <a:latin typeface="宋体"/>
                <a:cs typeface="宋体"/>
              </a:rPr>
              <a:t>下</a:t>
            </a:r>
            <a:r>
              <a:rPr dirty="0" sz="1400">
                <a:latin typeface="宋体"/>
                <a:cs typeface="宋体"/>
              </a:rPr>
              <a:t>表，</a:t>
            </a:r>
            <a:r>
              <a:rPr dirty="0" sz="1400" spc="-15">
                <a:latin typeface="宋体"/>
                <a:cs typeface="宋体"/>
              </a:rPr>
              <a:t>查</a:t>
            </a:r>
            <a:r>
              <a:rPr dirty="0" sz="1400">
                <a:latin typeface="宋体"/>
                <a:cs typeface="宋体"/>
              </a:rPr>
              <a:t>找相</a:t>
            </a:r>
            <a:r>
              <a:rPr dirty="0" sz="1400" spc="-5">
                <a:latin typeface="宋体"/>
                <a:cs typeface="宋体"/>
              </a:rPr>
              <a:t>应</a:t>
            </a:r>
            <a:r>
              <a:rPr dirty="0" sz="1400">
                <a:latin typeface="Arial"/>
                <a:cs typeface="Arial"/>
              </a:rPr>
              <a:t>RI</a:t>
            </a:r>
            <a:r>
              <a:rPr dirty="0" sz="1400">
                <a:latin typeface="宋体"/>
                <a:cs typeface="宋体"/>
              </a:rPr>
              <a:t>值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05946" y="2049313"/>
            <a:ext cx="816610" cy="0"/>
          </a:xfrm>
          <a:custGeom>
            <a:avLst/>
            <a:gdLst/>
            <a:ahLst/>
            <a:cxnLst/>
            <a:rect l="l" t="t" r="r" b="b"/>
            <a:pathLst>
              <a:path w="816610" h="0">
                <a:moveTo>
                  <a:pt x="0" y="0"/>
                </a:moveTo>
                <a:lnTo>
                  <a:pt x="816340" y="0"/>
                </a:lnTo>
              </a:path>
            </a:pathLst>
          </a:custGeom>
          <a:ln w="1038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90232" y="1881353"/>
            <a:ext cx="38290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55" i="1">
                <a:latin typeface="Times New Roman"/>
                <a:cs typeface="Times New Roman"/>
              </a:rPr>
              <a:t>CI</a:t>
            </a:r>
            <a:r>
              <a:rPr dirty="0" sz="1600" spc="20" i="1">
                <a:latin typeface="Times New Roman"/>
                <a:cs typeface="Times New Roman"/>
              </a:rPr>
              <a:t> </a:t>
            </a:r>
            <a:r>
              <a:rPr dirty="0" sz="1600" spc="-65">
                <a:latin typeface="Symbol"/>
                <a:cs typeface="Symbol"/>
              </a:rPr>
              <a:t>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807" y="1881353"/>
            <a:ext cx="40576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65">
                <a:latin typeface="Symbol"/>
                <a:cs typeface="Symbol"/>
              </a:rPr>
              <a:t></a:t>
            </a:r>
            <a:r>
              <a:rPr dirty="0" sz="1600" spc="-155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0.1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2340" y="1693570"/>
            <a:ext cx="803910" cy="62293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459"/>
              </a:spcBef>
            </a:pPr>
            <a:r>
              <a:rPr dirty="0" sz="1700" spc="-204" i="1">
                <a:latin typeface="Symbol"/>
                <a:cs typeface="Symbol"/>
              </a:rPr>
              <a:t></a:t>
            </a:r>
            <a:r>
              <a:rPr dirty="0" baseline="-23391" sz="1425" spc="-307">
                <a:latin typeface="Times New Roman"/>
                <a:cs typeface="Times New Roman"/>
              </a:rPr>
              <a:t>max </a:t>
            </a:r>
            <a:r>
              <a:rPr dirty="0" sz="1600" spc="-65">
                <a:latin typeface="Symbol"/>
                <a:cs typeface="Symbol"/>
              </a:rPr>
              <a:t></a:t>
            </a:r>
            <a:r>
              <a:rPr dirty="0" sz="1600" spc="-175">
                <a:latin typeface="Times New Roman"/>
                <a:cs typeface="Times New Roman"/>
              </a:rPr>
              <a:t> </a:t>
            </a:r>
            <a:r>
              <a:rPr dirty="0" sz="1600" spc="-55" i="1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1600" spc="-30">
                <a:latin typeface="Times New Roman"/>
                <a:cs typeface="Times New Roman"/>
              </a:rPr>
              <a:t>(</a:t>
            </a:r>
            <a:r>
              <a:rPr dirty="0" sz="1600" spc="-30" i="1">
                <a:latin typeface="Times New Roman"/>
                <a:cs typeface="Times New Roman"/>
              </a:rPr>
              <a:t>n</a:t>
            </a:r>
            <a:r>
              <a:rPr dirty="0" sz="1600" spc="-165" i="1">
                <a:latin typeface="Times New Roman"/>
                <a:cs typeface="Times New Roman"/>
              </a:rPr>
              <a:t> </a:t>
            </a:r>
            <a:r>
              <a:rPr dirty="0" sz="1600" spc="-60">
                <a:latin typeface="Symbol"/>
                <a:cs typeface="Symbol"/>
              </a:rPr>
              <a:t></a:t>
            </a:r>
            <a:r>
              <a:rPr dirty="0" sz="1600" spc="-60">
                <a:latin typeface="Times New Roman"/>
                <a:cs typeface="Times New Roman"/>
              </a:rPr>
              <a:t>1)</a:t>
            </a:r>
            <a:r>
              <a:rPr dirty="0" sz="1600" spc="-254">
                <a:latin typeface="Times New Roman"/>
                <a:cs typeface="Times New Roman"/>
              </a:rPr>
              <a:t> </a:t>
            </a:r>
            <a:r>
              <a:rPr dirty="0" sz="1600" spc="-55">
                <a:latin typeface="Times New Roman"/>
                <a:cs typeface="Times New Roman"/>
              </a:rPr>
              <a:t>*</a:t>
            </a:r>
            <a:r>
              <a:rPr dirty="0" sz="1600" spc="-204">
                <a:latin typeface="Times New Roman"/>
                <a:cs typeface="Times New Roman"/>
              </a:rPr>
              <a:t> </a:t>
            </a:r>
            <a:r>
              <a:rPr dirty="0" sz="1600" spc="-55" i="1">
                <a:latin typeface="Times New Roman"/>
                <a:cs typeface="Times New Roman"/>
              </a:rPr>
              <a:t>RI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2548" y="3095625"/>
            <a:ext cx="4536986" cy="3017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6198" y="3096132"/>
            <a:ext cx="4550410" cy="0"/>
          </a:xfrm>
          <a:custGeom>
            <a:avLst/>
            <a:gdLst/>
            <a:ahLst/>
            <a:cxnLst/>
            <a:rect l="l" t="t" r="r" b="b"/>
            <a:pathLst>
              <a:path w="4550410" h="0">
                <a:moveTo>
                  <a:pt x="0" y="0"/>
                </a:moveTo>
                <a:lnTo>
                  <a:pt x="4550067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26198" y="2828670"/>
          <a:ext cx="4556760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150"/>
                <a:gridCol w="743585"/>
                <a:gridCol w="743585"/>
                <a:gridCol w="743584"/>
                <a:gridCol w="743585"/>
                <a:gridCol w="743585"/>
              </a:tblGrid>
              <a:tr h="2611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RI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0.58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0.9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1.12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1.24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1.32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61848" y="3625977"/>
            <a:ext cx="4933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求最大</a:t>
            </a:r>
            <a:r>
              <a:rPr dirty="0" sz="1400" spc="-15">
                <a:latin typeface="宋体"/>
                <a:cs typeface="宋体"/>
              </a:rPr>
              <a:t>特</a:t>
            </a:r>
            <a:r>
              <a:rPr dirty="0" sz="1400">
                <a:latin typeface="宋体"/>
                <a:cs typeface="宋体"/>
              </a:rPr>
              <a:t>征值</a:t>
            </a:r>
            <a:r>
              <a:rPr dirty="0" sz="1400" spc="-15">
                <a:latin typeface="宋体"/>
                <a:cs typeface="宋体"/>
              </a:rPr>
              <a:t>对应</a:t>
            </a:r>
            <a:r>
              <a:rPr dirty="0" sz="1400">
                <a:latin typeface="宋体"/>
                <a:cs typeface="宋体"/>
              </a:rPr>
              <a:t>的特征</a:t>
            </a:r>
            <a:r>
              <a:rPr dirty="0" sz="1400" spc="-15">
                <a:latin typeface="宋体"/>
                <a:cs typeface="宋体"/>
              </a:rPr>
              <a:t>向</a:t>
            </a:r>
            <a:r>
              <a:rPr dirty="0" sz="1400">
                <a:latin typeface="宋体"/>
                <a:cs typeface="宋体"/>
              </a:rPr>
              <a:t>量，</a:t>
            </a:r>
            <a:r>
              <a:rPr dirty="0" sz="1400" spc="-15">
                <a:latin typeface="宋体"/>
                <a:cs typeface="宋体"/>
              </a:rPr>
              <a:t>即为</a:t>
            </a:r>
            <a:r>
              <a:rPr dirty="0" sz="1400">
                <a:latin typeface="宋体"/>
                <a:cs typeface="宋体"/>
              </a:rPr>
              <a:t>该级各</a:t>
            </a:r>
            <a:r>
              <a:rPr dirty="0" sz="1400" spc="-1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标对</a:t>
            </a:r>
            <a:r>
              <a:rPr dirty="0" sz="1400" spc="-15">
                <a:latin typeface="宋体"/>
                <a:cs typeface="宋体"/>
              </a:rPr>
              <a:t>应的</a:t>
            </a:r>
            <a:r>
              <a:rPr dirty="0" sz="1400">
                <a:latin typeface="宋体"/>
                <a:cs typeface="宋体"/>
              </a:rPr>
              <a:t>权重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3114" y="4088615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17390" y="4088615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>
                <a:latin typeface="Times New Roman"/>
                <a:cs typeface="Times New Roman"/>
              </a:rPr>
              <a:t>4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08660" y="3773654"/>
            <a:ext cx="14097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28455" sz="3075" spc="-390">
                <a:latin typeface="Symbol"/>
                <a:cs typeface="Symbol"/>
              </a:rPr>
              <a:t></a:t>
            </a:r>
            <a:r>
              <a:rPr dirty="0" sz="850" spc="5" i="1">
                <a:latin typeface="Times New Roman"/>
                <a:cs typeface="Times New Roman"/>
              </a:rPr>
              <a:t>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9597" y="3959145"/>
            <a:ext cx="8312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  <a:tab pos="691515" algn="l"/>
              </a:tabLst>
            </a:pPr>
            <a:r>
              <a:rPr dirty="0" sz="1500" spc="-75" i="1">
                <a:latin typeface="Times New Roman"/>
                <a:cs typeface="Times New Roman"/>
              </a:rPr>
              <a:t>w</a:t>
            </a:r>
            <a:r>
              <a:rPr dirty="0" baseline="-26143" sz="1275" spc="7">
                <a:latin typeface="Times New Roman"/>
                <a:cs typeface="Times New Roman"/>
              </a:rPr>
              <a:t>2</a:t>
            </a:r>
            <a:r>
              <a:rPr dirty="0" baseline="-26143" sz="1275">
                <a:latin typeface="Times New Roman"/>
                <a:cs typeface="Times New Roman"/>
              </a:rPr>
              <a:t>	</a:t>
            </a:r>
            <a:r>
              <a:rPr dirty="0" sz="1500" spc="-105" i="1">
                <a:latin typeface="Times New Roman"/>
                <a:cs typeface="Times New Roman"/>
              </a:rPr>
              <a:t>w</a:t>
            </a:r>
            <a:r>
              <a:rPr dirty="0" baseline="-26143" sz="1275" spc="7">
                <a:latin typeface="Times New Roman"/>
                <a:cs typeface="Times New Roman"/>
              </a:rPr>
              <a:t>3</a:t>
            </a:r>
            <a:r>
              <a:rPr dirty="0" baseline="-26143" sz="1275">
                <a:latin typeface="Times New Roman"/>
                <a:cs typeface="Times New Roman"/>
              </a:rPr>
              <a:t>	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65605" y="3889700"/>
            <a:ext cx="68326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0" i="1">
                <a:latin typeface="Times New Roman"/>
                <a:cs typeface="Times New Roman"/>
              </a:rPr>
              <a:t>W </a:t>
            </a:r>
            <a:r>
              <a:rPr dirty="0" sz="1500" spc="-10">
                <a:latin typeface="Symbol"/>
                <a:cs typeface="Symbol"/>
              </a:rPr>
              <a:t>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baseline="-4065" sz="3075" spc="-292">
                <a:latin typeface="Symbol"/>
                <a:cs typeface="Symbol"/>
              </a:rPr>
              <a:t></a:t>
            </a:r>
            <a:r>
              <a:rPr dirty="0" baseline="-4065" sz="3075" spc="-104">
                <a:latin typeface="Times New Roman"/>
                <a:cs typeface="Times New Roman"/>
              </a:rPr>
              <a:t> 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0395" y="4261103"/>
            <a:ext cx="390525" cy="391795"/>
          </a:xfrm>
          <a:custGeom>
            <a:avLst/>
            <a:gdLst/>
            <a:ahLst/>
            <a:cxnLst/>
            <a:rect l="l" t="t" r="r" b="b"/>
            <a:pathLst>
              <a:path w="390525" h="391795">
                <a:moveTo>
                  <a:pt x="195072" y="0"/>
                </a:moveTo>
                <a:lnTo>
                  <a:pt x="150344" y="5169"/>
                </a:lnTo>
                <a:lnTo>
                  <a:pt x="109284" y="19896"/>
                </a:lnTo>
                <a:lnTo>
                  <a:pt x="73064" y="43007"/>
                </a:lnTo>
                <a:lnTo>
                  <a:pt x="42855" y="73329"/>
                </a:lnTo>
                <a:lnTo>
                  <a:pt x="19827" y="109690"/>
                </a:lnTo>
                <a:lnTo>
                  <a:pt x="5152" y="150915"/>
                </a:lnTo>
                <a:lnTo>
                  <a:pt x="0" y="195834"/>
                </a:lnTo>
                <a:lnTo>
                  <a:pt x="5152" y="240752"/>
                </a:lnTo>
                <a:lnTo>
                  <a:pt x="19827" y="281977"/>
                </a:lnTo>
                <a:lnTo>
                  <a:pt x="42855" y="318338"/>
                </a:lnTo>
                <a:lnTo>
                  <a:pt x="73064" y="348660"/>
                </a:lnTo>
                <a:lnTo>
                  <a:pt x="109284" y="371771"/>
                </a:lnTo>
                <a:lnTo>
                  <a:pt x="150344" y="386498"/>
                </a:lnTo>
                <a:lnTo>
                  <a:pt x="195072" y="391668"/>
                </a:lnTo>
                <a:lnTo>
                  <a:pt x="239799" y="386498"/>
                </a:lnTo>
                <a:lnTo>
                  <a:pt x="280859" y="371771"/>
                </a:lnTo>
                <a:lnTo>
                  <a:pt x="317079" y="348660"/>
                </a:lnTo>
                <a:lnTo>
                  <a:pt x="347288" y="318338"/>
                </a:lnTo>
                <a:lnTo>
                  <a:pt x="370316" y="281977"/>
                </a:lnTo>
                <a:lnTo>
                  <a:pt x="384991" y="240752"/>
                </a:lnTo>
                <a:lnTo>
                  <a:pt x="390144" y="195834"/>
                </a:lnTo>
                <a:lnTo>
                  <a:pt x="384991" y="150915"/>
                </a:lnTo>
                <a:lnTo>
                  <a:pt x="370316" y="109690"/>
                </a:lnTo>
                <a:lnTo>
                  <a:pt x="347288" y="73329"/>
                </a:lnTo>
                <a:lnTo>
                  <a:pt x="317079" y="43007"/>
                </a:lnTo>
                <a:lnTo>
                  <a:pt x="280859" y="19896"/>
                </a:lnTo>
                <a:lnTo>
                  <a:pt x="239799" y="5169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5552" y="4343400"/>
            <a:ext cx="211835" cy="213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61848" y="4327652"/>
            <a:ext cx="4933950" cy="826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计算组</a:t>
            </a:r>
            <a:r>
              <a:rPr dirty="0" sz="1400" spc="-15" b="1">
                <a:latin typeface="明兰"/>
                <a:cs typeface="明兰"/>
              </a:rPr>
              <a:t>合</a:t>
            </a:r>
            <a:r>
              <a:rPr dirty="0" sz="1400" b="1">
                <a:latin typeface="明兰"/>
                <a:cs typeface="明兰"/>
              </a:rPr>
              <a:t>权向量</a:t>
            </a:r>
            <a:endParaRPr sz="1400">
              <a:latin typeface="明兰"/>
              <a:cs typeface="明兰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299085" marR="5080" indent="-286385">
              <a:lnSpc>
                <a:spcPts val="1620"/>
              </a:lnSpc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按照前</a:t>
            </a:r>
            <a:r>
              <a:rPr dirty="0" sz="1400" spc="-15">
                <a:latin typeface="宋体"/>
                <a:cs typeface="宋体"/>
              </a:rPr>
              <a:t>两</a:t>
            </a:r>
            <a:r>
              <a:rPr dirty="0" sz="1400">
                <a:latin typeface="宋体"/>
                <a:cs typeface="宋体"/>
              </a:rPr>
              <a:t>步进</a:t>
            </a:r>
            <a:r>
              <a:rPr dirty="0" sz="1400" spc="-15">
                <a:latin typeface="宋体"/>
                <a:cs typeface="宋体"/>
              </a:rPr>
              <a:t>行下</a:t>
            </a:r>
            <a:r>
              <a:rPr dirty="0" sz="1400">
                <a:latin typeface="宋体"/>
                <a:cs typeface="宋体"/>
              </a:rPr>
              <a:t>一层次</a:t>
            </a:r>
            <a:r>
              <a:rPr dirty="0" sz="1400" spc="-15">
                <a:latin typeface="宋体"/>
                <a:cs typeface="宋体"/>
              </a:rPr>
              <a:t>细</a:t>
            </a:r>
            <a:r>
              <a:rPr dirty="0" sz="1400">
                <a:latin typeface="宋体"/>
                <a:cs typeface="宋体"/>
              </a:rPr>
              <a:t>分指</a:t>
            </a:r>
            <a:r>
              <a:rPr dirty="0" sz="1400" spc="-15">
                <a:latin typeface="宋体"/>
                <a:cs typeface="宋体"/>
              </a:rPr>
              <a:t>标的</a:t>
            </a:r>
            <a:r>
              <a:rPr dirty="0" sz="1400">
                <a:latin typeface="宋体"/>
                <a:cs typeface="宋体"/>
              </a:rPr>
              <a:t>权重计</a:t>
            </a:r>
            <a:r>
              <a:rPr dirty="0" sz="1400" spc="-15">
                <a:latin typeface="宋体"/>
                <a:cs typeface="宋体"/>
              </a:rPr>
              <a:t>算</a:t>
            </a:r>
            <a:r>
              <a:rPr dirty="0" sz="1400">
                <a:latin typeface="宋体"/>
                <a:cs typeface="宋体"/>
              </a:rPr>
              <a:t>，得</a:t>
            </a:r>
            <a:r>
              <a:rPr dirty="0" sz="1400" spc="-15">
                <a:latin typeface="宋体"/>
                <a:cs typeface="宋体"/>
              </a:rPr>
              <a:t>到下</a:t>
            </a:r>
            <a:r>
              <a:rPr dirty="0" sz="1400">
                <a:latin typeface="宋体"/>
                <a:cs typeface="宋体"/>
              </a:rPr>
              <a:t>一层 次的细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指标</a:t>
            </a:r>
            <a:r>
              <a:rPr dirty="0" sz="1400" spc="-15">
                <a:latin typeface="宋体"/>
                <a:cs typeface="宋体"/>
              </a:rPr>
              <a:t>对应</a:t>
            </a:r>
            <a:r>
              <a:rPr dirty="0" sz="1400">
                <a:latin typeface="宋体"/>
                <a:cs typeface="宋体"/>
              </a:rPr>
              <a:t>的权重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31629" y="5256738"/>
            <a:ext cx="8763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-180">
                <a:latin typeface="Symbol"/>
                <a:cs typeface="Symbol"/>
              </a:rPr>
              <a:t>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16776" y="5303591"/>
            <a:ext cx="45720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48376" y="5124601"/>
            <a:ext cx="14033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29166" sz="3000" spc="-367">
                <a:latin typeface="Symbol"/>
                <a:cs typeface="Symbol"/>
              </a:rPr>
              <a:t></a:t>
            </a:r>
            <a:r>
              <a:rPr dirty="0" sz="850" spc="5" i="1">
                <a:latin typeface="Times New Roman"/>
                <a:cs typeface="Times New Roman"/>
              </a:rPr>
              <a:t>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19056" y="5438107"/>
            <a:ext cx="1106170" cy="1574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038225" algn="l"/>
              </a:tabLst>
            </a:pPr>
            <a:r>
              <a:rPr dirty="0" sz="850" spc="5" i="1">
                <a:latin typeface="Times New Roman"/>
                <a:cs typeface="Times New Roman"/>
              </a:rPr>
              <a:t>a</a:t>
            </a:r>
            <a:r>
              <a:rPr dirty="0" sz="850" spc="5" i="1">
                <a:latin typeface="Times New Roman"/>
                <a:cs typeface="Times New Roman"/>
              </a:rPr>
              <a:t>	</a:t>
            </a:r>
            <a:r>
              <a:rPr dirty="0" sz="850" spc="5" i="1">
                <a:latin typeface="Times New Roman"/>
                <a:cs typeface="Times New Roman"/>
              </a:rPr>
              <a:t>d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47334" y="5309234"/>
            <a:ext cx="8312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691515" algn="l"/>
              </a:tabLst>
            </a:pPr>
            <a:r>
              <a:rPr dirty="0" sz="1500" spc="-105" i="1">
                <a:latin typeface="Times New Roman"/>
                <a:cs typeface="Times New Roman"/>
              </a:rPr>
              <a:t>w</a:t>
            </a:r>
            <a:r>
              <a:rPr dirty="0" baseline="-26143" sz="1275" spc="7" i="1">
                <a:latin typeface="Times New Roman"/>
                <a:cs typeface="Times New Roman"/>
              </a:rPr>
              <a:t>b</a:t>
            </a:r>
            <a:r>
              <a:rPr dirty="0" baseline="-26143" sz="1275" i="1">
                <a:latin typeface="Times New Roman"/>
                <a:cs typeface="Times New Roman"/>
              </a:rPr>
              <a:t>	</a:t>
            </a:r>
            <a:r>
              <a:rPr dirty="0" sz="1500" spc="-85" i="1">
                <a:latin typeface="Times New Roman"/>
                <a:cs typeface="Times New Roman"/>
              </a:rPr>
              <a:t>w</a:t>
            </a:r>
            <a:r>
              <a:rPr dirty="0" baseline="-26143" sz="1275" spc="7" i="1">
                <a:latin typeface="Times New Roman"/>
                <a:cs typeface="Times New Roman"/>
              </a:rPr>
              <a:t>c</a:t>
            </a:r>
            <a:r>
              <a:rPr dirty="0" baseline="-26143" sz="1275" i="1">
                <a:latin typeface="Times New Roman"/>
                <a:cs typeface="Times New Roman"/>
              </a:rPr>
              <a:t>	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27503" y="5309234"/>
            <a:ext cx="72517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6105" algn="l"/>
              </a:tabLst>
            </a:pPr>
            <a:r>
              <a:rPr dirty="0" sz="1500" spc="-10" i="1">
                <a:latin typeface="Times New Roman"/>
                <a:cs typeface="Times New Roman"/>
              </a:rPr>
              <a:t>W</a:t>
            </a:r>
            <a:r>
              <a:rPr dirty="0" sz="1500" spc="-10" i="1">
                <a:latin typeface="Times New Roman"/>
                <a:cs typeface="Times New Roman"/>
              </a:rPr>
              <a:t> </a:t>
            </a:r>
            <a:r>
              <a:rPr dirty="0" sz="1500" spc="125" i="1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Symbol"/>
                <a:cs typeface="Symbol"/>
              </a:rPr>
              <a:t></a:t>
            </a:r>
            <a:r>
              <a:rPr dirty="0" sz="1500">
                <a:latin typeface="Times New Roman"/>
                <a:cs typeface="Times New Roman"/>
              </a:rPr>
              <a:t>	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1848" y="5737352"/>
            <a:ext cx="4933950" cy="445134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99085" marR="5080" indent="-286385">
              <a:lnSpc>
                <a:spcPts val="1620"/>
              </a:lnSpc>
              <a:spcBef>
                <a:spcPts val="204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如右图</a:t>
            </a:r>
            <a:r>
              <a:rPr dirty="0" sz="1400" spc="-15">
                <a:latin typeface="宋体"/>
                <a:cs typeface="宋体"/>
              </a:rPr>
              <a:t>所</a:t>
            </a:r>
            <a:r>
              <a:rPr dirty="0" sz="1400">
                <a:latin typeface="宋体"/>
                <a:cs typeface="宋体"/>
              </a:rPr>
              <a:t>示，</a:t>
            </a:r>
            <a:r>
              <a:rPr dirty="0" sz="1400" spc="-15">
                <a:latin typeface="宋体"/>
                <a:cs typeface="宋体"/>
              </a:rPr>
              <a:t>层次</a:t>
            </a:r>
            <a:r>
              <a:rPr dirty="0" sz="1400">
                <a:latin typeface="宋体"/>
                <a:cs typeface="宋体"/>
              </a:rPr>
              <a:t>二在指</a:t>
            </a:r>
            <a:r>
              <a:rPr dirty="0" sz="1400" spc="-1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一下</a:t>
            </a:r>
            <a:r>
              <a:rPr dirty="0" sz="1400" spc="-15">
                <a:latin typeface="宋体"/>
                <a:cs typeface="宋体"/>
              </a:rPr>
              <a:t>的各</a:t>
            </a:r>
            <a:r>
              <a:rPr dirty="0" sz="1400">
                <a:latin typeface="宋体"/>
                <a:cs typeface="宋体"/>
              </a:rPr>
              <a:t>细分指</a:t>
            </a:r>
            <a:r>
              <a:rPr dirty="0" sz="1400" spc="-1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组合</a:t>
            </a:r>
            <a:r>
              <a:rPr dirty="0" sz="1400" spc="-15">
                <a:latin typeface="宋体"/>
                <a:cs typeface="宋体"/>
              </a:rPr>
              <a:t>权重</a:t>
            </a:r>
            <a:r>
              <a:rPr dirty="0" sz="1400">
                <a:latin typeface="宋体"/>
                <a:cs typeface="宋体"/>
              </a:rPr>
              <a:t>向量 为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51220" y="4177284"/>
            <a:ext cx="3192779" cy="25328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633487" y="6064389"/>
            <a:ext cx="8763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195">
                <a:latin typeface="Symbol"/>
                <a:cs typeface="Symbol"/>
              </a:rPr>
              <a:t>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77963" y="6111459"/>
            <a:ext cx="4572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13880" y="6246599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96441" y="5931638"/>
            <a:ext cx="14097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28455" sz="3075" spc="-390">
                <a:latin typeface="Symbol"/>
                <a:cs typeface="Symbol"/>
              </a:rPr>
              <a:t></a:t>
            </a:r>
            <a:r>
              <a:rPr dirty="0" sz="850" spc="5" i="1">
                <a:latin typeface="Times New Roman"/>
                <a:cs typeface="Times New Roman"/>
              </a:rPr>
              <a:t>T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21277" y="6246599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 i="1">
                <a:latin typeface="Times New Roman"/>
                <a:cs typeface="Times New Roman"/>
              </a:rPr>
              <a:t>a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64622" y="6246599"/>
            <a:ext cx="41783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56235" algn="l"/>
              </a:tabLst>
            </a:pPr>
            <a:r>
              <a:rPr dirty="0" sz="850" spc="5" i="1">
                <a:latin typeface="Times New Roman"/>
                <a:cs typeface="Times New Roman"/>
              </a:rPr>
              <a:t>b</a:t>
            </a:r>
            <a:r>
              <a:rPr dirty="0" sz="850" spc="5" i="1">
                <a:latin typeface="Times New Roman"/>
                <a:cs typeface="Times New Roman"/>
              </a:rPr>
              <a:t>	</a:t>
            </a:r>
            <a:r>
              <a:rPr dirty="0" sz="850" spc="5" i="1">
                <a:latin typeface="Times New Roman"/>
                <a:cs typeface="Times New Roman"/>
              </a:rPr>
              <a:t>c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49728" y="6117128"/>
            <a:ext cx="4940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330" algn="l"/>
              </a:tabLst>
            </a:pPr>
            <a:r>
              <a:rPr dirty="0" sz="1500" spc="-10" i="1">
                <a:latin typeface="Times New Roman"/>
                <a:cs typeface="Times New Roman"/>
              </a:rPr>
              <a:t>w</a:t>
            </a:r>
            <a:r>
              <a:rPr dirty="0" sz="1500" spc="-10" i="1">
                <a:latin typeface="Times New Roman"/>
                <a:cs typeface="Times New Roman"/>
              </a:rPr>
              <a:t>	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88468" y="6117128"/>
            <a:ext cx="96646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6769" algn="l"/>
              </a:tabLst>
            </a:pPr>
            <a:r>
              <a:rPr dirty="0" sz="1500" spc="-10" i="1">
                <a:latin typeface="Times New Roman"/>
                <a:cs typeface="Times New Roman"/>
              </a:rPr>
              <a:t>W</a:t>
            </a:r>
            <a:r>
              <a:rPr dirty="0" sz="1500" spc="-10" i="1">
                <a:latin typeface="Times New Roman"/>
                <a:cs typeface="Times New Roman"/>
              </a:rPr>
              <a:t> </a:t>
            </a:r>
            <a:r>
              <a:rPr dirty="0" sz="1500" spc="130" i="1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Symbol"/>
                <a:cs typeface="Symbol"/>
              </a:rPr>
              <a:t>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r>
              <a:rPr dirty="0" sz="1500" i="1">
                <a:latin typeface="Times New Roman"/>
                <a:cs typeface="Times New Roman"/>
              </a:rPr>
              <a:t>	</a:t>
            </a:r>
            <a:r>
              <a:rPr dirty="0" sz="1500" spc="-10" i="1">
                <a:latin typeface="Times New Roman"/>
                <a:cs typeface="Times New Roman"/>
              </a:rPr>
              <a:t>w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95659" y="6100153"/>
            <a:ext cx="757920" cy="32198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85103" y="690372"/>
            <a:ext cx="0" cy="6167755"/>
          </a:xfrm>
          <a:custGeom>
            <a:avLst/>
            <a:gdLst/>
            <a:ahLst/>
            <a:cxnLst/>
            <a:rect l="l" t="t" r="r" b="b"/>
            <a:pathLst>
              <a:path w="0" h="6167755">
                <a:moveTo>
                  <a:pt x="0" y="0"/>
                </a:moveTo>
                <a:lnTo>
                  <a:pt x="0" y="61676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22326"/>
            <a:ext cx="3720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7A2121"/>
                </a:solidFill>
                <a:latin typeface="Arial"/>
                <a:cs typeface="Arial"/>
              </a:rPr>
              <a:t>AHP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层次分析法</a:t>
            </a:r>
            <a:r>
              <a:rPr dirty="0" sz="1800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代工</a:t>
            </a:r>
            <a:r>
              <a:rPr dirty="0" sz="1800" spc="15" b="1">
                <a:solidFill>
                  <a:srgbClr val="7A2121"/>
                </a:solidFill>
                <a:latin typeface="明兰"/>
                <a:cs typeface="明兰"/>
              </a:rPr>
              <a:t>厂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实例分析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3113" y="4408677"/>
            <a:ext cx="560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宋体"/>
                <a:cs typeface="宋体"/>
              </a:rPr>
              <a:t>层次一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189" y="5527954"/>
            <a:ext cx="560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宋体"/>
                <a:cs typeface="宋体"/>
              </a:rPr>
              <a:t>层次二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056132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072" y="0"/>
                </a:moveTo>
                <a:lnTo>
                  <a:pt x="150344" y="5154"/>
                </a:lnTo>
                <a:lnTo>
                  <a:pt x="109284" y="19834"/>
                </a:lnTo>
                <a:lnTo>
                  <a:pt x="73064" y="42867"/>
                </a:lnTo>
                <a:lnTo>
                  <a:pt x="42855" y="73080"/>
                </a:lnTo>
                <a:lnTo>
                  <a:pt x="19827" y="109301"/>
                </a:lnTo>
                <a:lnTo>
                  <a:pt x="5152" y="150356"/>
                </a:lnTo>
                <a:lnTo>
                  <a:pt x="0" y="195071"/>
                </a:lnTo>
                <a:lnTo>
                  <a:pt x="5152" y="239787"/>
                </a:lnTo>
                <a:lnTo>
                  <a:pt x="19827" y="280842"/>
                </a:lnTo>
                <a:lnTo>
                  <a:pt x="42855" y="317063"/>
                </a:lnTo>
                <a:lnTo>
                  <a:pt x="73064" y="347276"/>
                </a:lnTo>
                <a:lnTo>
                  <a:pt x="109284" y="370309"/>
                </a:lnTo>
                <a:lnTo>
                  <a:pt x="150344" y="384989"/>
                </a:lnTo>
                <a:lnTo>
                  <a:pt x="195072" y="390143"/>
                </a:lnTo>
                <a:lnTo>
                  <a:pt x="239799" y="384989"/>
                </a:lnTo>
                <a:lnTo>
                  <a:pt x="280859" y="370309"/>
                </a:lnTo>
                <a:lnTo>
                  <a:pt x="317079" y="347276"/>
                </a:lnTo>
                <a:lnTo>
                  <a:pt x="347288" y="317063"/>
                </a:lnTo>
                <a:lnTo>
                  <a:pt x="370316" y="280842"/>
                </a:lnTo>
                <a:lnTo>
                  <a:pt x="384991" y="239787"/>
                </a:lnTo>
                <a:lnTo>
                  <a:pt x="390144" y="195071"/>
                </a:lnTo>
                <a:lnTo>
                  <a:pt x="384991" y="150356"/>
                </a:lnTo>
                <a:lnTo>
                  <a:pt x="370316" y="109301"/>
                </a:lnTo>
                <a:lnTo>
                  <a:pt x="347288" y="73080"/>
                </a:lnTo>
                <a:lnTo>
                  <a:pt x="317079" y="42867"/>
                </a:lnTo>
                <a:lnTo>
                  <a:pt x="280859" y="19834"/>
                </a:lnTo>
                <a:lnTo>
                  <a:pt x="239799" y="5154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5552" y="1138427"/>
            <a:ext cx="211835" cy="211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1472" y="1121409"/>
            <a:ext cx="739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划分层次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472" y="1583563"/>
            <a:ext cx="5607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层次一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16835" y="1360932"/>
            <a:ext cx="1427988" cy="1360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84526" y="1215389"/>
            <a:ext cx="294640" cy="292735"/>
          </a:xfrm>
          <a:custGeom>
            <a:avLst/>
            <a:gdLst/>
            <a:ahLst/>
            <a:cxnLst/>
            <a:rect l="l" t="t" r="r" b="b"/>
            <a:pathLst>
              <a:path w="294639" h="292734">
                <a:moveTo>
                  <a:pt x="147066" y="0"/>
                </a:moveTo>
                <a:lnTo>
                  <a:pt x="100559" y="7461"/>
                </a:lnTo>
                <a:lnTo>
                  <a:pt x="60185" y="28236"/>
                </a:lnTo>
                <a:lnTo>
                  <a:pt x="28358" y="59911"/>
                </a:lnTo>
                <a:lnTo>
                  <a:pt x="7491" y="100071"/>
                </a:lnTo>
                <a:lnTo>
                  <a:pt x="0" y="146304"/>
                </a:lnTo>
                <a:lnTo>
                  <a:pt x="7491" y="192536"/>
                </a:lnTo>
                <a:lnTo>
                  <a:pt x="28358" y="232696"/>
                </a:lnTo>
                <a:lnTo>
                  <a:pt x="60185" y="264371"/>
                </a:lnTo>
                <a:lnTo>
                  <a:pt x="100559" y="285146"/>
                </a:lnTo>
                <a:lnTo>
                  <a:pt x="147066" y="292608"/>
                </a:lnTo>
                <a:lnTo>
                  <a:pt x="193572" y="285146"/>
                </a:lnTo>
                <a:lnTo>
                  <a:pt x="233946" y="264371"/>
                </a:lnTo>
                <a:lnTo>
                  <a:pt x="265773" y="232696"/>
                </a:lnTo>
                <a:lnTo>
                  <a:pt x="286640" y="192536"/>
                </a:lnTo>
                <a:lnTo>
                  <a:pt x="294131" y="146304"/>
                </a:lnTo>
                <a:lnTo>
                  <a:pt x="286640" y="100071"/>
                </a:lnTo>
                <a:lnTo>
                  <a:pt x="265773" y="59911"/>
                </a:lnTo>
                <a:lnTo>
                  <a:pt x="233946" y="28236"/>
                </a:lnTo>
                <a:lnTo>
                  <a:pt x="193572" y="7461"/>
                </a:lnTo>
                <a:lnTo>
                  <a:pt x="147066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84526" y="1215389"/>
            <a:ext cx="294640" cy="292735"/>
          </a:xfrm>
          <a:custGeom>
            <a:avLst/>
            <a:gdLst/>
            <a:ahLst/>
            <a:cxnLst/>
            <a:rect l="l" t="t" r="r" b="b"/>
            <a:pathLst>
              <a:path w="294639" h="292734">
                <a:moveTo>
                  <a:pt x="0" y="146304"/>
                </a:moveTo>
                <a:lnTo>
                  <a:pt x="7491" y="100071"/>
                </a:lnTo>
                <a:lnTo>
                  <a:pt x="28358" y="59911"/>
                </a:lnTo>
                <a:lnTo>
                  <a:pt x="60185" y="28236"/>
                </a:lnTo>
                <a:lnTo>
                  <a:pt x="100559" y="7461"/>
                </a:lnTo>
                <a:lnTo>
                  <a:pt x="147066" y="0"/>
                </a:lnTo>
                <a:lnTo>
                  <a:pt x="193572" y="7461"/>
                </a:lnTo>
                <a:lnTo>
                  <a:pt x="233946" y="28236"/>
                </a:lnTo>
                <a:lnTo>
                  <a:pt x="265773" y="59911"/>
                </a:lnTo>
                <a:lnTo>
                  <a:pt x="286640" y="100071"/>
                </a:lnTo>
                <a:lnTo>
                  <a:pt x="294131" y="146304"/>
                </a:lnTo>
                <a:lnTo>
                  <a:pt x="286640" y="192536"/>
                </a:lnTo>
                <a:lnTo>
                  <a:pt x="265773" y="232696"/>
                </a:lnTo>
                <a:lnTo>
                  <a:pt x="233946" y="264371"/>
                </a:lnTo>
                <a:lnTo>
                  <a:pt x="193572" y="285146"/>
                </a:lnTo>
                <a:lnTo>
                  <a:pt x="147066" y="292608"/>
                </a:lnTo>
                <a:lnTo>
                  <a:pt x="100559" y="285146"/>
                </a:lnTo>
                <a:lnTo>
                  <a:pt x="60185" y="264371"/>
                </a:lnTo>
                <a:lnTo>
                  <a:pt x="28358" y="232696"/>
                </a:lnTo>
                <a:lnTo>
                  <a:pt x="7491" y="192536"/>
                </a:lnTo>
                <a:lnTo>
                  <a:pt x="0" y="14630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44723" y="1278636"/>
            <a:ext cx="172212" cy="1645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52826" y="1004062"/>
            <a:ext cx="586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660000"/>
                </a:solidFill>
                <a:latin typeface="明兰"/>
                <a:cs typeface="明兰"/>
              </a:rPr>
              <a:t>营运能力</a:t>
            </a:r>
            <a:endParaRPr sz="1100">
              <a:latin typeface="明兰"/>
              <a:cs typeface="明兰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77946" y="1748789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146303" y="0"/>
                </a:moveTo>
                <a:lnTo>
                  <a:pt x="100071" y="7461"/>
                </a:lnTo>
                <a:lnTo>
                  <a:pt x="59911" y="28236"/>
                </a:lnTo>
                <a:lnTo>
                  <a:pt x="28236" y="59911"/>
                </a:lnTo>
                <a:lnTo>
                  <a:pt x="7461" y="100071"/>
                </a:lnTo>
                <a:lnTo>
                  <a:pt x="0" y="146304"/>
                </a:lnTo>
                <a:lnTo>
                  <a:pt x="7461" y="192536"/>
                </a:lnTo>
                <a:lnTo>
                  <a:pt x="28236" y="232696"/>
                </a:lnTo>
                <a:lnTo>
                  <a:pt x="59911" y="264371"/>
                </a:lnTo>
                <a:lnTo>
                  <a:pt x="100071" y="285146"/>
                </a:lnTo>
                <a:lnTo>
                  <a:pt x="146303" y="292608"/>
                </a:lnTo>
                <a:lnTo>
                  <a:pt x="192536" y="285146"/>
                </a:lnTo>
                <a:lnTo>
                  <a:pt x="232696" y="264371"/>
                </a:lnTo>
                <a:lnTo>
                  <a:pt x="264371" y="232696"/>
                </a:lnTo>
                <a:lnTo>
                  <a:pt x="285146" y="192536"/>
                </a:lnTo>
                <a:lnTo>
                  <a:pt x="292607" y="146304"/>
                </a:lnTo>
                <a:lnTo>
                  <a:pt x="285146" y="100071"/>
                </a:lnTo>
                <a:lnTo>
                  <a:pt x="264371" y="59911"/>
                </a:lnTo>
                <a:lnTo>
                  <a:pt x="232696" y="28236"/>
                </a:lnTo>
                <a:lnTo>
                  <a:pt x="192536" y="7461"/>
                </a:lnTo>
                <a:lnTo>
                  <a:pt x="146303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77946" y="1748789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0" y="146304"/>
                </a:moveTo>
                <a:lnTo>
                  <a:pt x="7461" y="100071"/>
                </a:lnTo>
                <a:lnTo>
                  <a:pt x="28236" y="59911"/>
                </a:lnTo>
                <a:lnTo>
                  <a:pt x="59911" y="28236"/>
                </a:lnTo>
                <a:lnTo>
                  <a:pt x="100071" y="7461"/>
                </a:lnTo>
                <a:lnTo>
                  <a:pt x="146303" y="0"/>
                </a:lnTo>
                <a:lnTo>
                  <a:pt x="192536" y="7461"/>
                </a:lnTo>
                <a:lnTo>
                  <a:pt x="232696" y="28236"/>
                </a:lnTo>
                <a:lnTo>
                  <a:pt x="264371" y="59911"/>
                </a:lnTo>
                <a:lnTo>
                  <a:pt x="285146" y="100071"/>
                </a:lnTo>
                <a:lnTo>
                  <a:pt x="292607" y="146304"/>
                </a:lnTo>
                <a:lnTo>
                  <a:pt x="285146" y="192536"/>
                </a:lnTo>
                <a:lnTo>
                  <a:pt x="264371" y="232696"/>
                </a:lnTo>
                <a:lnTo>
                  <a:pt x="232696" y="264371"/>
                </a:lnTo>
                <a:lnTo>
                  <a:pt x="192536" y="285146"/>
                </a:lnTo>
                <a:lnTo>
                  <a:pt x="146303" y="292608"/>
                </a:lnTo>
                <a:lnTo>
                  <a:pt x="100071" y="285146"/>
                </a:lnTo>
                <a:lnTo>
                  <a:pt x="59911" y="264371"/>
                </a:lnTo>
                <a:lnTo>
                  <a:pt x="28236" y="232696"/>
                </a:lnTo>
                <a:lnTo>
                  <a:pt x="7461" y="192536"/>
                </a:lnTo>
                <a:lnTo>
                  <a:pt x="0" y="14630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37890" y="1812035"/>
            <a:ext cx="170942" cy="1661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718305" y="1765554"/>
            <a:ext cx="586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BA8E51"/>
                </a:solidFill>
                <a:latin typeface="明兰"/>
                <a:cs typeface="明兰"/>
              </a:rPr>
              <a:t>偿债能力</a:t>
            </a:r>
            <a:endParaRPr sz="1100">
              <a:latin typeface="明兰"/>
              <a:cs typeface="明兰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53005" y="1748789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146304" y="0"/>
                </a:moveTo>
                <a:lnTo>
                  <a:pt x="100071" y="7461"/>
                </a:lnTo>
                <a:lnTo>
                  <a:pt x="59911" y="28236"/>
                </a:lnTo>
                <a:lnTo>
                  <a:pt x="28236" y="59911"/>
                </a:lnTo>
                <a:lnTo>
                  <a:pt x="7461" y="100071"/>
                </a:lnTo>
                <a:lnTo>
                  <a:pt x="0" y="146304"/>
                </a:lnTo>
                <a:lnTo>
                  <a:pt x="7461" y="192536"/>
                </a:lnTo>
                <a:lnTo>
                  <a:pt x="28236" y="232696"/>
                </a:lnTo>
                <a:lnTo>
                  <a:pt x="59911" y="264371"/>
                </a:lnTo>
                <a:lnTo>
                  <a:pt x="100071" y="285146"/>
                </a:lnTo>
                <a:lnTo>
                  <a:pt x="146304" y="292608"/>
                </a:lnTo>
                <a:lnTo>
                  <a:pt x="192536" y="285146"/>
                </a:lnTo>
                <a:lnTo>
                  <a:pt x="232696" y="264371"/>
                </a:lnTo>
                <a:lnTo>
                  <a:pt x="264371" y="232696"/>
                </a:lnTo>
                <a:lnTo>
                  <a:pt x="285146" y="192536"/>
                </a:lnTo>
                <a:lnTo>
                  <a:pt x="292607" y="146304"/>
                </a:lnTo>
                <a:lnTo>
                  <a:pt x="285146" y="100071"/>
                </a:lnTo>
                <a:lnTo>
                  <a:pt x="264371" y="59911"/>
                </a:lnTo>
                <a:lnTo>
                  <a:pt x="232696" y="28236"/>
                </a:lnTo>
                <a:lnTo>
                  <a:pt x="192536" y="7461"/>
                </a:lnTo>
                <a:lnTo>
                  <a:pt x="146304" y="0"/>
                </a:lnTo>
                <a:close/>
              </a:path>
            </a:pathLst>
          </a:custGeom>
          <a:solidFill>
            <a:srgbClr val="BA8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53005" y="1748789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0" y="146304"/>
                </a:moveTo>
                <a:lnTo>
                  <a:pt x="7461" y="100071"/>
                </a:lnTo>
                <a:lnTo>
                  <a:pt x="28236" y="59911"/>
                </a:lnTo>
                <a:lnTo>
                  <a:pt x="59911" y="28236"/>
                </a:lnTo>
                <a:lnTo>
                  <a:pt x="100071" y="7461"/>
                </a:lnTo>
                <a:lnTo>
                  <a:pt x="146304" y="0"/>
                </a:lnTo>
                <a:lnTo>
                  <a:pt x="192536" y="7461"/>
                </a:lnTo>
                <a:lnTo>
                  <a:pt x="232696" y="28236"/>
                </a:lnTo>
                <a:lnTo>
                  <a:pt x="264371" y="59911"/>
                </a:lnTo>
                <a:lnTo>
                  <a:pt x="285146" y="100071"/>
                </a:lnTo>
                <a:lnTo>
                  <a:pt x="292607" y="146304"/>
                </a:lnTo>
                <a:lnTo>
                  <a:pt x="285146" y="192536"/>
                </a:lnTo>
                <a:lnTo>
                  <a:pt x="264371" y="232696"/>
                </a:lnTo>
                <a:lnTo>
                  <a:pt x="232696" y="264371"/>
                </a:lnTo>
                <a:lnTo>
                  <a:pt x="192536" y="285146"/>
                </a:lnTo>
                <a:lnTo>
                  <a:pt x="146304" y="292608"/>
                </a:lnTo>
                <a:lnTo>
                  <a:pt x="100071" y="285146"/>
                </a:lnTo>
                <a:lnTo>
                  <a:pt x="59911" y="264371"/>
                </a:lnTo>
                <a:lnTo>
                  <a:pt x="28236" y="232696"/>
                </a:lnTo>
                <a:lnTo>
                  <a:pt x="7461" y="192536"/>
                </a:lnTo>
                <a:lnTo>
                  <a:pt x="0" y="14630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13204" y="1813051"/>
            <a:ext cx="172212" cy="1651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49121" y="1792605"/>
            <a:ext cx="586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BA8E51"/>
                </a:solidFill>
                <a:latin typeface="明兰"/>
                <a:cs typeface="明兰"/>
              </a:rPr>
              <a:t>成长能力</a:t>
            </a:r>
            <a:endParaRPr sz="1100">
              <a:latin typeface="明兰"/>
              <a:cs typeface="明兰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61538" y="2556510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146303" y="0"/>
                </a:moveTo>
                <a:lnTo>
                  <a:pt x="100071" y="7461"/>
                </a:lnTo>
                <a:lnTo>
                  <a:pt x="59911" y="28236"/>
                </a:lnTo>
                <a:lnTo>
                  <a:pt x="28236" y="59911"/>
                </a:lnTo>
                <a:lnTo>
                  <a:pt x="7461" y="100071"/>
                </a:lnTo>
                <a:lnTo>
                  <a:pt x="0" y="146303"/>
                </a:lnTo>
                <a:lnTo>
                  <a:pt x="7461" y="192536"/>
                </a:lnTo>
                <a:lnTo>
                  <a:pt x="28236" y="232696"/>
                </a:lnTo>
                <a:lnTo>
                  <a:pt x="59911" y="264371"/>
                </a:lnTo>
                <a:lnTo>
                  <a:pt x="100071" y="285146"/>
                </a:lnTo>
                <a:lnTo>
                  <a:pt x="146303" y="292607"/>
                </a:lnTo>
                <a:lnTo>
                  <a:pt x="192536" y="285146"/>
                </a:lnTo>
                <a:lnTo>
                  <a:pt x="232696" y="264371"/>
                </a:lnTo>
                <a:lnTo>
                  <a:pt x="264371" y="232696"/>
                </a:lnTo>
                <a:lnTo>
                  <a:pt x="285146" y="192536"/>
                </a:lnTo>
                <a:lnTo>
                  <a:pt x="292608" y="146303"/>
                </a:lnTo>
                <a:lnTo>
                  <a:pt x="285146" y="100071"/>
                </a:lnTo>
                <a:lnTo>
                  <a:pt x="264371" y="59911"/>
                </a:lnTo>
                <a:lnTo>
                  <a:pt x="232696" y="28236"/>
                </a:lnTo>
                <a:lnTo>
                  <a:pt x="192536" y="7461"/>
                </a:lnTo>
                <a:lnTo>
                  <a:pt x="146303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61538" y="2556510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0" y="146303"/>
                </a:moveTo>
                <a:lnTo>
                  <a:pt x="7461" y="100071"/>
                </a:lnTo>
                <a:lnTo>
                  <a:pt x="28236" y="59911"/>
                </a:lnTo>
                <a:lnTo>
                  <a:pt x="59911" y="28236"/>
                </a:lnTo>
                <a:lnTo>
                  <a:pt x="100071" y="7461"/>
                </a:lnTo>
                <a:lnTo>
                  <a:pt x="146303" y="0"/>
                </a:lnTo>
                <a:lnTo>
                  <a:pt x="192536" y="7461"/>
                </a:lnTo>
                <a:lnTo>
                  <a:pt x="232696" y="28236"/>
                </a:lnTo>
                <a:lnTo>
                  <a:pt x="264371" y="59911"/>
                </a:lnTo>
                <a:lnTo>
                  <a:pt x="285146" y="100071"/>
                </a:lnTo>
                <a:lnTo>
                  <a:pt x="292608" y="146303"/>
                </a:lnTo>
                <a:lnTo>
                  <a:pt x="285146" y="192536"/>
                </a:lnTo>
                <a:lnTo>
                  <a:pt x="264371" y="232696"/>
                </a:lnTo>
                <a:lnTo>
                  <a:pt x="232696" y="264371"/>
                </a:lnTo>
                <a:lnTo>
                  <a:pt x="192536" y="285146"/>
                </a:lnTo>
                <a:lnTo>
                  <a:pt x="146303" y="292607"/>
                </a:lnTo>
                <a:lnTo>
                  <a:pt x="100071" y="285146"/>
                </a:lnTo>
                <a:lnTo>
                  <a:pt x="59911" y="264371"/>
                </a:lnTo>
                <a:lnTo>
                  <a:pt x="28236" y="232696"/>
                </a:lnTo>
                <a:lnTo>
                  <a:pt x="7461" y="192536"/>
                </a:lnTo>
                <a:lnTo>
                  <a:pt x="0" y="14630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21735" y="2619755"/>
            <a:ext cx="170687" cy="1645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11422" y="2578354"/>
            <a:ext cx="586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A6A6A6"/>
                </a:solidFill>
                <a:latin typeface="明兰"/>
                <a:cs typeface="明兰"/>
              </a:rPr>
              <a:t>盈利能力</a:t>
            </a:r>
            <a:endParaRPr sz="1100">
              <a:latin typeface="明兰"/>
              <a:cs typeface="明兰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66366" y="2542794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146303" y="0"/>
                </a:moveTo>
                <a:lnTo>
                  <a:pt x="100071" y="7461"/>
                </a:lnTo>
                <a:lnTo>
                  <a:pt x="59911" y="28236"/>
                </a:lnTo>
                <a:lnTo>
                  <a:pt x="28236" y="59911"/>
                </a:lnTo>
                <a:lnTo>
                  <a:pt x="7461" y="100071"/>
                </a:lnTo>
                <a:lnTo>
                  <a:pt x="0" y="146303"/>
                </a:lnTo>
                <a:lnTo>
                  <a:pt x="7461" y="192536"/>
                </a:lnTo>
                <a:lnTo>
                  <a:pt x="28236" y="232696"/>
                </a:lnTo>
                <a:lnTo>
                  <a:pt x="59911" y="264371"/>
                </a:lnTo>
                <a:lnTo>
                  <a:pt x="100071" y="285146"/>
                </a:lnTo>
                <a:lnTo>
                  <a:pt x="146303" y="292607"/>
                </a:lnTo>
                <a:lnTo>
                  <a:pt x="192536" y="285146"/>
                </a:lnTo>
                <a:lnTo>
                  <a:pt x="232696" y="264371"/>
                </a:lnTo>
                <a:lnTo>
                  <a:pt x="264371" y="232696"/>
                </a:lnTo>
                <a:lnTo>
                  <a:pt x="285146" y="192536"/>
                </a:lnTo>
                <a:lnTo>
                  <a:pt x="292607" y="146303"/>
                </a:lnTo>
                <a:lnTo>
                  <a:pt x="285146" y="100071"/>
                </a:lnTo>
                <a:lnTo>
                  <a:pt x="264371" y="59911"/>
                </a:lnTo>
                <a:lnTo>
                  <a:pt x="232696" y="28236"/>
                </a:lnTo>
                <a:lnTo>
                  <a:pt x="192536" y="7461"/>
                </a:lnTo>
                <a:lnTo>
                  <a:pt x="146303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66366" y="2542794"/>
            <a:ext cx="292735" cy="292735"/>
          </a:xfrm>
          <a:custGeom>
            <a:avLst/>
            <a:gdLst/>
            <a:ahLst/>
            <a:cxnLst/>
            <a:rect l="l" t="t" r="r" b="b"/>
            <a:pathLst>
              <a:path w="292735" h="292735">
                <a:moveTo>
                  <a:pt x="0" y="146303"/>
                </a:moveTo>
                <a:lnTo>
                  <a:pt x="7461" y="100071"/>
                </a:lnTo>
                <a:lnTo>
                  <a:pt x="28236" y="59911"/>
                </a:lnTo>
                <a:lnTo>
                  <a:pt x="59911" y="28236"/>
                </a:lnTo>
                <a:lnTo>
                  <a:pt x="100071" y="7461"/>
                </a:lnTo>
                <a:lnTo>
                  <a:pt x="146303" y="0"/>
                </a:lnTo>
                <a:lnTo>
                  <a:pt x="192536" y="7461"/>
                </a:lnTo>
                <a:lnTo>
                  <a:pt x="232696" y="28236"/>
                </a:lnTo>
                <a:lnTo>
                  <a:pt x="264371" y="59911"/>
                </a:lnTo>
                <a:lnTo>
                  <a:pt x="285146" y="100071"/>
                </a:lnTo>
                <a:lnTo>
                  <a:pt x="292607" y="146303"/>
                </a:lnTo>
                <a:lnTo>
                  <a:pt x="285146" y="192536"/>
                </a:lnTo>
                <a:lnTo>
                  <a:pt x="264371" y="232696"/>
                </a:lnTo>
                <a:lnTo>
                  <a:pt x="232696" y="264371"/>
                </a:lnTo>
                <a:lnTo>
                  <a:pt x="192536" y="285146"/>
                </a:lnTo>
                <a:lnTo>
                  <a:pt x="146303" y="292607"/>
                </a:lnTo>
                <a:lnTo>
                  <a:pt x="100071" y="285146"/>
                </a:lnTo>
                <a:lnTo>
                  <a:pt x="59911" y="264371"/>
                </a:lnTo>
                <a:lnTo>
                  <a:pt x="28236" y="232696"/>
                </a:lnTo>
                <a:lnTo>
                  <a:pt x="7461" y="192536"/>
                </a:lnTo>
                <a:lnTo>
                  <a:pt x="0" y="146303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26564" y="2606039"/>
            <a:ext cx="172212" cy="1661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543050" y="2578354"/>
            <a:ext cx="586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A6A6A6"/>
                </a:solidFill>
                <a:latin typeface="明兰"/>
                <a:cs typeface="明兰"/>
              </a:rPr>
              <a:t>公司规模</a:t>
            </a:r>
            <a:endParaRPr sz="1100">
              <a:latin typeface="明兰"/>
              <a:cs typeface="明兰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2970276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301996" y="1924811"/>
            <a:ext cx="3555492" cy="737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301996" y="1954783"/>
            <a:ext cx="355600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 marR="151765">
              <a:lnSpc>
                <a:spcPct val="100000"/>
              </a:lnSpc>
              <a:spcBef>
                <a:spcPts val="105"/>
              </a:spcBef>
            </a:pPr>
            <a:r>
              <a:rPr dirty="0" sz="1400" spc="10">
                <a:latin typeface="宋体"/>
                <a:cs typeface="宋体"/>
              </a:rPr>
              <a:t>将层</a:t>
            </a:r>
            <a:r>
              <a:rPr dirty="0" sz="1400">
                <a:latin typeface="宋体"/>
                <a:cs typeface="宋体"/>
              </a:rPr>
              <a:t>次一</a:t>
            </a:r>
            <a:r>
              <a:rPr dirty="0" sz="1400" spc="-10">
                <a:latin typeface="宋体"/>
                <a:cs typeface="宋体"/>
              </a:rPr>
              <a:t>的</a:t>
            </a:r>
            <a:r>
              <a:rPr dirty="0" sz="1400" spc="-5">
                <a:latin typeface="Arial"/>
                <a:cs typeface="Arial"/>
              </a:rPr>
              <a:t>5</a:t>
            </a:r>
            <a:r>
              <a:rPr dirty="0" sz="1400">
                <a:latin typeface="宋体"/>
                <a:cs typeface="宋体"/>
              </a:rPr>
              <a:t>个</a:t>
            </a:r>
            <a:r>
              <a:rPr dirty="0" sz="1400" spc="-1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指标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别再</a:t>
            </a:r>
            <a:r>
              <a:rPr dirty="0" sz="1400" spc="-15">
                <a:latin typeface="宋体"/>
                <a:cs typeface="宋体"/>
              </a:rPr>
              <a:t>进</a:t>
            </a:r>
            <a:r>
              <a:rPr dirty="0" sz="1400">
                <a:latin typeface="宋体"/>
                <a:cs typeface="宋体"/>
              </a:rPr>
              <a:t>行层</a:t>
            </a:r>
            <a:r>
              <a:rPr dirty="0" sz="1400" spc="-15">
                <a:latin typeface="宋体"/>
                <a:cs typeface="宋体"/>
              </a:rPr>
              <a:t>次</a:t>
            </a:r>
            <a:r>
              <a:rPr dirty="0" sz="1400">
                <a:latin typeface="宋体"/>
                <a:cs typeface="宋体"/>
              </a:rPr>
              <a:t>分析 </a:t>
            </a:r>
            <a:r>
              <a:rPr dirty="0" sz="1400" spc="10">
                <a:latin typeface="宋体"/>
                <a:cs typeface="宋体"/>
              </a:rPr>
              <a:t>法，</a:t>
            </a:r>
            <a:r>
              <a:rPr dirty="0" sz="1400">
                <a:latin typeface="宋体"/>
                <a:cs typeface="宋体"/>
              </a:rPr>
              <a:t>确定</a:t>
            </a:r>
            <a:r>
              <a:rPr dirty="0" sz="1400" spc="-10">
                <a:latin typeface="宋体"/>
                <a:cs typeface="宋体"/>
              </a:rPr>
              <a:t>了</a:t>
            </a:r>
            <a:r>
              <a:rPr dirty="0" sz="1400" spc="-5">
                <a:latin typeface="Arial"/>
                <a:cs typeface="Arial"/>
              </a:rPr>
              <a:t>5</a:t>
            </a:r>
            <a:r>
              <a:rPr dirty="0" sz="1400">
                <a:latin typeface="宋体"/>
                <a:cs typeface="宋体"/>
              </a:rPr>
              <a:t>个</a:t>
            </a:r>
            <a:r>
              <a:rPr dirty="0" sz="1400" spc="-15">
                <a:latin typeface="宋体"/>
                <a:cs typeface="宋体"/>
              </a:rPr>
              <a:t>层</a:t>
            </a:r>
            <a:r>
              <a:rPr dirty="0" sz="1400">
                <a:latin typeface="宋体"/>
                <a:cs typeface="宋体"/>
              </a:rPr>
              <a:t>次二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分别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spc="-5">
                <a:latin typeface="Arial"/>
                <a:cs typeface="Arial"/>
              </a:rPr>
              <a:t>B1</a:t>
            </a:r>
            <a:r>
              <a:rPr dirty="0" sz="1400">
                <a:latin typeface="宋体"/>
                <a:cs typeface="宋体"/>
              </a:rPr>
              <a:t>、</a:t>
            </a:r>
            <a:r>
              <a:rPr dirty="0" sz="1400" spc="-10">
                <a:latin typeface="Arial"/>
                <a:cs typeface="Arial"/>
              </a:rPr>
              <a:t>B2</a:t>
            </a:r>
            <a:r>
              <a:rPr dirty="0" sz="1400">
                <a:latin typeface="宋体"/>
                <a:cs typeface="宋体"/>
              </a:rPr>
              <a:t>、</a:t>
            </a:r>
            <a:endParaRPr sz="14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dirty="0" sz="1400" spc="-5">
                <a:latin typeface="Arial"/>
                <a:cs typeface="Arial"/>
              </a:rPr>
              <a:t>B3</a:t>
            </a:r>
            <a:r>
              <a:rPr dirty="0" sz="1400" spc="15">
                <a:latin typeface="宋体"/>
                <a:cs typeface="宋体"/>
              </a:rPr>
              <a:t>、</a:t>
            </a:r>
            <a:r>
              <a:rPr dirty="0" sz="1400" spc="-5">
                <a:latin typeface="Arial"/>
                <a:cs typeface="Arial"/>
              </a:rPr>
              <a:t>B4</a:t>
            </a:r>
            <a:r>
              <a:rPr dirty="0" sz="1400" spc="10">
                <a:latin typeface="宋体"/>
                <a:cs typeface="宋体"/>
              </a:rPr>
              <a:t>、</a:t>
            </a:r>
            <a:r>
              <a:rPr dirty="0" sz="1400" spc="-5">
                <a:latin typeface="Arial"/>
                <a:cs typeface="Arial"/>
              </a:rPr>
              <a:t>B5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53609" y="1534413"/>
            <a:ext cx="5607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层次二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569707" y="726948"/>
            <a:ext cx="1132840" cy="861060"/>
          </a:xfrm>
          <a:custGeom>
            <a:avLst/>
            <a:gdLst/>
            <a:ahLst/>
            <a:cxnLst/>
            <a:rect l="l" t="t" r="r" b="b"/>
            <a:pathLst>
              <a:path w="1132840" h="861060">
                <a:moveTo>
                  <a:pt x="1036701" y="725042"/>
                </a:moveTo>
                <a:lnTo>
                  <a:pt x="965708" y="725042"/>
                </a:lnTo>
                <a:lnTo>
                  <a:pt x="961771" y="725804"/>
                </a:lnTo>
                <a:lnTo>
                  <a:pt x="960247" y="731901"/>
                </a:lnTo>
                <a:lnTo>
                  <a:pt x="958723" y="735711"/>
                </a:lnTo>
                <a:lnTo>
                  <a:pt x="957961" y="739521"/>
                </a:lnTo>
                <a:lnTo>
                  <a:pt x="954913" y="745616"/>
                </a:lnTo>
                <a:lnTo>
                  <a:pt x="953389" y="745616"/>
                </a:lnTo>
                <a:lnTo>
                  <a:pt x="947293" y="748664"/>
                </a:lnTo>
                <a:lnTo>
                  <a:pt x="940435" y="750951"/>
                </a:lnTo>
                <a:lnTo>
                  <a:pt x="933576" y="754126"/>
                </a:lnTo>
                <a:lnTo>
                  <a:pt x="912876" y="763269"/>
                </a:lnTo>
                <a:lnTo>
                  <a:pt x="905238" y="766327"/>
                </a:lnTo>
                <a:lnTo>
                  <a:pt x="891540" y="773938"/>
                </a:lnTo>
                <a:lnTo>
                  <a:pt x="887730" y="776224"/>
                </a:lnTo>
                <a:lnTo>
                  <a:pt x="883793" y="778510"/>
                </a:lnTo>
                <a:lnTo>
                  <a:pt x="880745" y="781557"/>
                </a:lnTo>
                <a:lnTo>
                  <a:pt x="870839" y="822832"/>
                </a:lnTo>
                <a:lnTo>
                  <a:pt x="902819" y="828270"/>
                </a:lnTo>
                <a:lnTo>
                  <a:pt x="930655" y="840517"/>
                </a:lnTo>
                <a:lnTo>
                  <a:pt x="958778" y="853479"/>
                </a:lnTo>
                <a:lnTo>
                  <a:pt x="991616" y="861060"/>
                </a:lnTo>
                <a:lnTo>
                  <a:pt x="973327" y="836549"/>
                </a:lnTo>
                <a:lnTo>
                  <a:pt x="1001649" y="759460"/>
                </a:lnTo>
                <a:lnTo>
                  <a:pt x="993140" y="741044"/>
                </a:lnTo>
                <a:lnTo>
                  <a:pt x="1044600" y="741044"/>
                </a:lnTo>
                <a:lnTo>
                  <a:pt x="1043686" y="739521"/>
                </a:lnTo>
                <a:lnTo>
                  <a:pt x="1042924" y="735711"/>
                </a:lnTo>
                <a:lnTo>
                  <a:pt x="1039876" y="726566"/>
                </a:lnTo>
                <a:lnTo>
                  <a:pt x="1036701" y="725042"/>
                </a:lnTo>
                <a:close/>
              </a:path>
              <a:path w="1132840" h="861060">
                <a:moveTo>
                  <a:pt x="1044600" y="741044"/>
                </a:moveTo>
                <a:lnTo>
                  <a:pt x="1010031" y="741044"/>
                </a:lnTo>
                <a:lnTo>
                  <a:pt x="1001649" y="759460"/>
                </a:lnTo>
                <a:lnTo>
                  <a:pt x="1029843" y="836549"/>
                </a:lnTo>
                <a:lnTo>
                  <a:pt x="1012317" y="860298"/>
                </a:lnTo>
                <a:lnTo>
                  <a:pt x="1042034" y="852193"/>
                </a:lnTo>
                <a:lnTo>
                  <a:pt x="1075181" y="839565"/>
                </a:lnTo>
                <a:lnTo>
                  <a:pt x="1106900" y="827936"/>
                </a:lnTo>
                <a:lnTo>
                  <a:pt x="1132332" y="822832"/>
                </a:lnTo>
                <a:lnTo>
                  <a:pt x="1122426" y="781557"/>
                </a:lnTo>
                <a:lnTo>
                  <a:pt x="1116330" y="775462"/>
                </a:lnTo>
                <a:lnTo>
                  <a:pt x="1112393" y="773938"/>
                </a:lnTo>
                <a:lnTo>
                  <a:pt x="1096908" y="766317"/>
                </a:lnTo>
                <a:lnTo>
                  <a:pt x="1081373" y="759348"/>
                </a:lnTo>
                <a:lnTo>
                  <a:pt x="1065672" y="752774"/>
                </a:lnTo>
                <a:lnTo>
                  <a:pt x="1049782" y="746378"/>
                </a:lnTo>
                <a:lnTo>
                  <a:pt x="1048258" y="745616"/>
                </a:lnTo>
                <a:lnTo>
                  <a:pt x="1045972" y="744854"/>
                </a:lnTo>
                <a:lnTo>
                  <a:pt x="1045972" y="743330"/>
                </a:lnTo>
                <a:lnTo>
                  <a:pt x="1044600" y="741044"/>
                </a:lnTo>
                <a:close/>
              </a:path>
              <a:path w="1132840" h="861060">
                <a:moveTo>
                  <a:pt x="1026795" y="575944"/>
                </a:moveTo>
                <a:lnTo>
                  <a:pt x="1022223" y="575944"/>
                </a:lnTo>
                <a:lnTo>
                  <a:pt x="1015365" y="577468"/>
                </a:lnTo>
                <a:lnTo>
                  <a:pt x="1009269" y="578357"/>
                </a:lnTo>
                <a:lnTo>
                  <a:pt x="968756" y="594360"/>
                </a:lnTo>
                <a:lnTo>
                  <a:pt x="956437" y="614934"/>
                </a:lnTo>
                <a:lnTo>
                  <a:pt x="955675" y="620267"/>
                </a:lnTo>
                <a:lnTo>
                  <a:pt x="955675" y="644778"/>
                </a:lnTo>
                <a:lnTo>
                  <a:pt x="954913" y="646302"/>
                </a:lnTo>
                <a:lnTo>
                  <a:pt x="954151" y="647064"/>
                </a:lnTo>
                <a:lnTo>
                  <a:pt x="951102" y="647826"/>
                </a:lnTo>
                <a:lnTo>
                  <a:pt x="951102" y="652399"/>
                </a:lnTo>
                <a:lnTo>
                  <a:pt x="951865" y="654685"/>
                </a:lnTo>
                <a:lnTo>
                  <a:pt x="951865" y="657732"/>
                </a:lnTo>
                <a:lnTo>
                  <a:pt x="952626" y="663066"/>
                </a:lnTo>
                <a:lnTo>
                  <a:pt x="954151" y="667765"/>
                </a:lnTo>
                <a:lnTo>
                  <a:pt x="955675" y="672338"/>
                </a:lnTo>
                <a:lnTo>
                  <a:pt x="956437" y="676148"/>
                </a:lnTo>
                <a:lnTo>
                  <a:pt x="958723" y="679196"/>
                </a:lnTo>
                <a:lnTo>
                  <a:pt x="959485" y="683005"/>
                </a:lnTo>
                <a:lnTo>
                  <a:pt x="960247" y="690626"/>
                </a:lnTo>
                <a:lnTo>
                  <a:pt x="963422" y="696722"/>
                </a:lnTo>
                <a:lnTo>
                  <a:pt x="967994" y="702055"/>
                </a:lnTo>
                <a:lnTo>
                  <a:pt x="968756" y="702817"/>
                </a:lnTo>
                <a:lnTo>
                  <a:pt x="969518" y="704341"/>
                </a:lnTo>
                <a:lnTo>
                  <a:pt x="969518" y="705865"/>
                </a:lnTo>
                <a:lnTo>
                  <a:pt x="967232" y="721994"/>
                </a:lnTo>
                <a:lnTo>
                  <a:pt x="967232" y="723518"/>
                </a:lnTo>
                <a:lnTo>
                  <a:pt x="966470" y="725042"/>
                </a:lnTo>
                <a:lnTo>
                  <a:pt x="1035939" y="725042"/>
                </a:lnTo>
                <a:lnTo>
                  <a:pt x="1035913" y="721994"/>
                </a:lnTo>
                <a:lnTo>
                  <a:pt x="1035690" y="715450"/>
                </a:lnTo>
                <a:lnTo>
                  <a:pt x="1035669" y="708406"/>
                </a:lnTo>
                <a:lnTo>
                  <a:pt x="1036956" y="701647"/>
                </a:lnTo>
                <a:lnTo>
                  <a:pt x="1040638" y="695198"/>
                </a:lnTo>
                <a:lnTo>
                  <a:pt x="1040638" y="694436"/>
                </a:lnTo>
                <a:lnTo>
                  <a:pt x="1041400" y="694436"/>
                </a:lnTo>
                <a:lnTo>
                  <a:pt x="1043364" y="688042"/>
                </a:lnTo>
                <a:lnTo>
                  <a:pt x="1045114" y="681577"/>
                </a:lnTo>
                <a:lnTo>
                  <a:pt x="1047293" y="675255"/>
                </a:lnTo>
                <a:lnTo>
                  <a:pt x="1050544" y="669289"/>
                </a:lnTo>
                <a:lnTo>
                  <a:pt x="1050637" y="667765"/>
                </a:lnTo>
                <a:lnTo>
                  <a:pt x="1051306" y="662304"/>
                </a:lnTo>
                <a:lnTo>
                  <a:pt x="1052068" y="656971"/>
                </a:lnTo>
                <a:lnTo>
                  <a:pt x="1052830" y="650875"/>
                </a:lnTo>
                <a:lnTo>
                  <a:pt x="1052830" y="650113"/>
                </a:lnTo>
                <a:lnTo>
                  <a:pt x="1051306" y="648588"/>
                </a:lnTo>
                <a:lnTo>
                  <a:pt x="1048258" y="647826"/>
                </a:lnTo>
                <a:lnTo>
                  <a:pt x="1048258" y="645540"/>
                </a:lnTo>
                <a:lnTo>
                  <a:pt x="1049020" y="643254"/>
                </a:lnTo>
                <a:lnTo>
                  <a:pt x="1049020" y="630301"/>
                </a:lnTo>
                <a:lnTo>
                  <a:pt x="1048358" y="620267"/>
                </a:lnTo>
                <a:lnTo>
                  <a:pt x="1048258" y="612648"/>
                </a:lnTo>
                <a:lnTo>
                  <a:pt x="1046734" y="606551"/>
                </a:lnTo>
                <a:lnTo>
                  <a:pt x="1041400" y="601979"/>
                </a:lnTo>
                <a:lnTo>
                  <a:pt x="1035939" y="597407"/>
                </a:lnTo>
                <a:lnTo>
                  <a:pt x="1029843" y="592074"/>
                </a:lnTo>
                <a:lnTo>
                  <a:pt x="1024509" y="587501"/>
                </a:lnTo>
                <a:lnTo>
                  <a:pt x="1021461" y="585215"/>
                </a:lnTo>
                <a:lnTo>
                  <a:pt x="1021461" y="582929"/>
                </a:lnTo>
                <a:lnTo>
                  <a:pt x="1025271" y="579119"/>
                </a:lnTo>
                <a:lnTo>
                  <a:pt x="1026795" y="578357"/>
                </a:lnTo>
                <a:lnTo>
                  <a:pt x="1028319" y="577468"/>
                </a:lnTo>
                <a:lnTo>
                  <a:pt x="1026795" y="575944"/>
                </a:lnTo>
                <a:close/>
              </a:path>
              <a:path w="1132840" h="861060">
                <a:moveTo>
                  <a:pt x="601726" y="725042"/>
                </a:moveTo>
                <a:lnTo>
                  <a:pt x="529971" y="725042"/>
                </a:lnTo>
                <a:lnTo>
                  <a:pt x="526034" y="725804"/>
                </a:lnTo>
                <a:lnTo>
                  <a:pt x="524510" y="731901"/>
                </a:lnTo>
                <a:lnTo>
                  <a:pt x="523748" y="735711"/>
                </a:lnTo>
                <a:lnTo>
                  <a:pt x="522224" y="739521"/>
                </a:lnTo>
                <a:lnTo>
                  <a:pt x="520700" y="742568"/>
                </a:lnTo>
                <a:lnTo>
                  <a:pt x="520700" y="744092"/>
                </a:lnTo>
                <a:lnTo>
                  <a:pt x="519175" y="745616"/>
                </a:lnTo>
                <a:lnTo>
                  <a:pt x="518414" y="745616"/>
                </a:lnTo>
                <a:lnTo>
                  <a:pt x="511556" y="748664"/>
                </a:lnTo>
                <a:lnTo>
                  <a:pt x="504698" y="750951"/>
                </a:lnTo>
                <a:lnTo>
                  <a:pt x="498601" y="754126"/>
                </a:lnTo>
                <a:lnTo>
                  <a:pt x="490855" y="757174"/>
                </a:lnTo>
                <a:lnTo>
                  <a:pt x="470263" y="766327"/>
                </a:lnTo>
                <a:lnTo>
                  <a:pt x="463423" y="770127"/>
                </a:lnTo>
                <a:lnTo>
                  <a:pt x="456438" y="773938"/>
                </a:lnTo>
                <a:lnTo>
                  <a:pt x="451866" y="776224"/>
                </a:lnTo>
                <a:lnTo>
                  <a:pt x="448056" y="778510"/>
                </a:lnTo>
                <a:lnTo>
                  <a:pt x="445008" y="781557"/>
                </a:lnTo>
                <a:lnTo>
                  <a:pt x="435101" y="822832"/>
                </a:lnTo>
                <a:lnTo>
                  <a:pt x="467082" y="828270"/>
                </a:lnTo>
                <a:lnTo>
                  <a:pt x="494919" y="840517"/>
                </a:lnTo>
                <a:lnTo>
                  <a:pt x="523041" y="853479"/>
                </a:lnTo>
                <a:lnTo>
                  <a:pt x="555878" y="861060"/>
                </a:lnTo>
                <a:lnTo>
                  <a:pt x="538352" y="836549"/>
                </a:lnTo>
                <a:lnTo>
                  <a:pt x="565912" y="759460"/>
                </a:lnTo>
                <a:lnTo>
                  <a:pt x="557402" y="741044"/>
                </a:lnTo>
                <a:lnTo>
                  <a:pt x="609320" y="741044"/>
                </a:lnTo>
                <a:lnTo>
                  <a:pt x="607187" y="735711"/>
                </a:lnTo>
                <a:lnTo>
                  <a:pt x="606425" y="731138"/>
                </a:lnTo>
                <a:lnTo>
                  <a:pt x="604901" y="726566"/>
                </a:lnTo>
                <a:lnTo>
                  <a:pt x="601726" y="725042"/>
                </a:lnTo>
                <a:close/>
              </a:path>
              <a:path w="1132840" h="861060">
                <a:moveTo>
                  <a:pt x="609320" y="741044"/>
                </a:moveTo>
                <a:lnTo>
                  <a:pt x="575056" y="741044"/>
                </a:lnTo>
                <a:lnTo>
                  <a:pt x="565912" y="759460"/>
                </a:lnTo>
                <a:lnTo>
                  <a:pt x="594106" y="836549"/>
                </a:lnTo>
                <a:lnTo>
                  <a:pt x="576580" y="860298"/>
                </a:lnTo>
                <a:lnTo>
                  <a:pt x="606631" y="852193"/>
                </a:lnTo>
                <a:lnTo>
                  <a:pt x="639826" y="839565"/>
                </a:lnTo>
                <a:lnTo>
                  <a:pt x="671591" y="827936"/>
                </a:lnTo>
                <a:lnTo>
                  <a:pt x="697357" y="822832"/>
                </a:lnTo>
                <a:lnTo>
                  <a:pt x="687451" y="781557"/>
                </a:lnTo>
                <a:lnTo>
                  <a:pt x="684402" y="778510"/>
                </a:lnTo>
                <a:lnTo>
                  <a:pt x="680593" y="775462"/>
                </a:lnTo>
                <a:lnTo>
                  <a:pt x="676783" y="773938"/>
                </a:lnTo>
                <a:lnTo>
                  <a:pt x="661546" y="766317"/>
                </a:lnTo>
                <a:lnTo>
                  <a:pt x="645937" y="759348"/>
                </a:lnTo>
                <a:lnTo>
                  <a:pt x="630045" y="752774"/>
                </a:lnTo>
                <a:lnTo>
                  <a:pt x="614045" y="746378"/>
                </a:lnTo>
                <a:lnTo>
                  <a:pt x="610997" y="744854"/>
                </a:lnTo>
                <a:lnTo>
                  <a:pt x="610235" y="743330"/>
                </a:lnTo>
                <a:lnTo>
                  <a:pt x="609320" y="741044"/>
                </a:lnTo>
                <a:close/>
              </a:path>
              <a:path w="1132840" h="861060">
                <a:moveTo>
                  <a:pt x="591820" y="575944"/>
                </a:moveTo>
                <a:lnTo>
                  <a:pt x="586486" y="575944"/>
                </a:lnTo>
                <a:lnTo>
                  <a:pt x="580390" y="577468"/>
                </a:lnTo>
                <a:lnTo>
                  <a:pt x="573532" y="578357"/>
                </a:lnTo>
                <a:lnTo>
                  <a:pt x="567436" y="579881"/>
                </a:lnTo>
                <a:lnTo>
                  <a:pt x="558373" y="581929"/>
                </a:lnTo>
                <a:lnTo>
                  <a:pt x="549703" y="584834"/>
                </a:lnTo>
                <a:lnTo>
                  <a:pt x="520700" y="614934"/>
                </a:lnTo>
                <a:lnTo>
                  <a:pt x="520700" y="644778"/>
                </a:lnTo>
                <a:lnTo>
                  <a:pt x="519938" y="646302"/>
                </a:lnTo>
                <a:lnTo>
                  <a:pt x="519175" y="647064"/>
                </a:lnTo>
                <a:lnTo>
                  <a:pt x="516127" y="647826"/>
                </a:lnTo>
                <a:lnTo>
                  <a:pt x="515366" y="650113"/>
                </a:lnTo>
                <a:lnTo>
                  <a:pt x="516127" y="652399"/>
                </a:lnTo>
                <a:lnTo>
                  <a:pt x="516127" y="656209"/>
                </a:lnTo>
                <a:lnTo>
                  <a:pt x="516890" y="657732"/>
                </a:lnTo>
                <a:lnTo>
                  <a:pt x="517651" y="663066"/>
                </a:lnTo>
                <a:lnTo>
                  <a:pt x="519175" y="667765"/>
                </a:lnTo>
                <a:lnTo>
                  <a:pt x="519938" y="672338"/>
                </a:lnTo>
                <a:lnTo>
                  <a:pt x="521462" y="676148"/>
                </a:lnTo>
                <a:lnTo>
                  <a:pt x="522986" y="679196"/>
                </a:lnTo>
                <a:lnTo>
                  <a:pt x="525272" y="690626"/>
                </a:lnTo>
                <a:lnTo>
                  <a:pt x="527558" y="696722"/>
                </a:lnTo>
                <a:lnTo>
                  <a:pt x="532257" y="702055"/>
                </a:lnTo>
                <a:lnTo>
                  <a:pt x="533781" y="702817"/>
                </a:lnTo>
                <a:lnTo>
                  <a:pt x="533781" y="711326"/>
                </a:lnTo>
                <a:lnTo>
                  <a:pt x="532257" y="721994"/>
                </a:lnTo>
                <a:lnTo>
                  <a:pt x="532257" y="723518"/>
                </a:lnTo>
                <a:lnTo>
                  <a:pt x="530733" y="725042"/>
                </a:lnTo>
                <a:lnTo>
                  <a:pt x="600964" y="725042"/>
                </a:lnTo>
                <a:lnTo>
                  <a:pt x="600201" y="723518"/>
                </a:lnTo>
                <a:lnTo>
                  <a:pt x="600176" y="721994"/>
                </a:lnTo>
                <a:lnTo>
                  <a:pt x="599953" y="715450"/>
                </a:lnTo>
                <a:lnTo>
                  <a:pt x="599932" y="708406"/>
                </a:lnTo>
                <a:lnTo>
                  <a:pt x="601219" y="701647"/>
                </a:lnTo>
                <a:lnTo>
                  <a:pt x="604901" y="695198"/>
                </a:lnTo>
                <a:lnTo>
                  <a:pt x="605663" y="695198"/>
                </a:lnTo>
                <a:lnTo>
                  <a:pt x="605663" y="694436"/>
                </a:lnTo>
                <a:lnTo>
                  <a:pt x="608068" y="688042"/>
                </a:lnTo>
                <a:lnTo>
                  <a:pt x="610044" y="681577"/>
                </a:lnTo>
                <a:lnTo>
                  <a:pt x="612306" y="675255"/>
                </a:lnTo>
                <a:lnTo>
                  <a:pt x="615569" y="669289"/>
                </a:lnTo>
                <a:lnTo>
                  <a:pt x="615662" y="667765"/>
                </a:lnTo>
                <a:lnTo>
                  <a:pt x="616237" y="663066"/>
                </a:lnTo>
                <a:lnTo>
                  <a:pt x="616331" y="656971"/>
                </a:lnTo>
                <a:lnTo>
                  <a:pt x="617093" y="650875"/>
                </a:lnTo>
                <a:lnTo>
                  <a:pt x="617093" y="650113"/>
                </a:lnTo>
                <a:lnTo>
                  <a:pt x="616331" y="649351"/>
                </a:lnTo>
                <a:lnTo>
                  <a:pt x="616331" y="648588"/>
                </a:lnTo>
                <a:lnTo>
                  <a:pt x="613283" y="647826"/>
                </a:lnTo>
                <a:lnTo>
                  <a:pt x="613283" y="612648"/>
                </a:lnTo>
                <a:lnTo>
                  <a:pt x="610997" y="606551"/>
                </a:lnTo>
                <a:lnTo>
                  <a:pt x="606425" y="601979"/>
                </a:lnTo>
                <a:lnTo>
                  <a:pt x="600964" y="597407"/>
                </a:lnTo>
                <a:lnTo>
                  <a:pt x="594868" y="592074"/>
                </a:lnTo>
                <a:lnTo>
                  <a:pt x="588772" y="587501"/>
                </a:lnTo>
                <a:lnTo>
                  <a:pt x="586486" y="585215"/>
                </a:lnTo>
                <a:lnTo>
                  <a:pt x="585724" y="582929"/>
                </a:lnTo>
                <a:lnTo>
                  <a:pt x="588772" y="580643"/>
                </a:lnTo>
                <a:lnTo>
                  <a:pt x="589534" y="579119"/>
                </a:lnTo>
                <a:lnTo>
                  <a:pt x="591058" y="578357"/>
                </a:lnTo>
                <a:lnTo>
                  <a:pt x="592582" y="577468"/>
                </a:lnTo>
                <a:lnTo>
                  <a:pt x="592582" y="576706"/>
                </a:lnTo>
                <a:lnTo>
                  <a:pt x="591820" y="576706"/>
                </a:lnTo>
                <a:lnTo>
                  <a:pt x="591820" y="575944"/>
                </a:lnTo>
                <a:close/>
              </a:path>
              <a:path w="1132840" h="861060">
                <a:moveTo>
                  <a:pt x="165862" y="725042"/>
                </a:moveTo>
                <a:lnTo>
                  <a:pt x="94869" y="725042"/>
                </a:lnTo>
                <a:lnTo>
                  <a:pt x="90932" y="725804"/>
                </a:lnTo>
                <a:lnTo>
                  <a:pt x="89408" y="731901"/>
                </a:lnTo>
                <a:lnTo>
                  <a:pt x="87884" y="735711"/>
                </a:lnTo>
                <a:lnTo>
                  <a:pt x="87122" y="739521"/>
                </a:lnTo>
                <a:lnTo>
                  <a:pt x="84074" y="745616"/>
                </a:lnTo>
                <a:lnTo>
                  <a:pt x="82550" y="745616"/>
                </a:lnTo>
                <a:lnTo>
                  <a:pt x="76453" y="748664"/>
                </a:lnTo>
                <a:lnTo>
                  <a:pt x="69596" y="750951"/>
                </a:lnTo>
                <a:lnTo>
                  <a:pt x="62738" y="754126"/>
                </a:lnTo>
                <a:lnTo>
                  <a:pt x="42037" y="763269"/>
                </a:lnTo>
                <a:lnTo>
                  <a:pt x="0" y="822832"/>
                </a:lnTo>
                <a:lnTo>
                  <a:pt x="31980" y="828270"/>
                </a:lnTo>
                <a:lnTo>
                  <a:pt x="59817" y="840517"/>
                </a:lnTo>
                <a:lnTo>
                  <a:pt x="87939" y="853479"/>
                </a:lnTo>
                <a:lnTo>
                  <a:pt x="120776" y="861060"/>
                </a:lnTo>
                <a:lnTo>
                  <a:pt x="102489" y="836549"/>
                </a:lnTo>
                <a:lnTo>
                  <a:pt x="130683" y="759460"/>
                </a:lnTo>
                <a:lnTo>
                  <a:pt x="122300" y="741044"/>
                </a:lnTo>
                <a:lnTo>
                  <a:pt x="173761" y="741044"/>
                </a:lnTo>
                <a:lnTo>
                  <a:pt x="172847" y="739521"/>
                </a:lnTo>
                <a:lnTo>
                  <a:pt x="172085" y="735711"/>
                </a:lnTo>
                <a:lnTo>
                  <a:pt x="170561" y="731138"/>
                </a:lnTo>
                <a:lnTo>
                  <a:pt x="169672" y="728852"/>
                </a:lnTo>
                <a:lnTo>
                  <a:pt x="168910" y="726566"/>
                </a:lnTo>
                <a:lnTo>
                  <a:pt x="165862" y="725042"/>
                </a:lnTo>
                <a:close/>
              </a:path>
              <a:path w="1132840" h="861060">
                <a:moveTo>
                  <a:pt x="173761" y="741044"/>
                </a:moveTo>
                <a:lnTo>
                  <a:pt x="139192" y="741044"/>
                </a:lnTo>
                <a:lnTo>
                  <a:pt x="130683" y="759460"/>
                </a:lnTo>
                <a:lnTo>
                  <a:pt x="159003" y="836549"/>
                </a:lnTo>
                <a:lnTo>
                  <a:pt x="141477" y="860298"/>
                </a:lnTo>
                <a:lnTo>
                  <a:pt x="171196" y="852193"/>
                </a:lnTo>
                <a:lnTo>
                  <a:pt x="204343" y="839565"/>
                </a:lnTo>
                <a:lnTo>
                  <a:pt x="236061" y="827936"/>
                </a:lnTo>
                <a:lnTo>
                  <a:pt x="261493" y="822832"/>
                </a:lnTo>
                <a:lnTo>
                  <a:pt x="251587" y="781557"/>
                </a:lnTo>
                <a:lnTo>
                  <a:pt x="249300" y="778510"/>
                </a:lnTo>
                <a:lnTo>
                  <a:pt x="245364" y="775462"/>
                </a:lnTo>
                <a:lnTo>
                  <a:pt x="241553" y="773938"/>
                </a:lnTo>
                <a:lnTo>
                  <a:pt x="226069" y="766317"/>
                </a:lnTo>
                <a:lnTo>
                  <a:pt x="210534" y="759348"/>
                </a:lnTo>
                <a:lnTo>
                  <a:pt x="194833" y="752774"/>
                </a:lnTo>
                <a:lnTo>
                  <a:pt x="178943" y="746378"/>
                </a:lnTo>
                <a:lnTo>
                  <a:pt x="177419" y="745616"/>
                </a:lnTo>
                <a:lnTo>
                  <a:pt x="175133" y="744854"/>
                </a:lnTo>
                <a:lnTo>
                  <a:pt x="175133" y="743330"/>
                </a:lnTo>
                <a:lnTo>
                  <a:pt x="173761" y="741044"/>
                </a:lnTo>
                <a:close/>
              </a:path>
              <a:path w="1132840" h="861060">
                <a:moveTo>
                  <a:pt x="178181" y="635635"/>
                </a:moveTo>
                <a:lnTo>
                  <a:pt x="85598" y="635635"/>
                </a:lnTo>
                <a:lnTo>
                  <a:pt x="84836" y="643254"/>
                </a:lnTo>
                <a:lnTo>
                  <a:pt x="84836" y="644778"/>
                </a:lnTo>
                <a:lnTo>
                  <a:pt x="84074" y="646302"/>
                </a:lnTo>
                <a:lnTo>
                  <a:pt x="83312" y="647064"/>
                </a:lnTo>
                <a:lnTo>
                  <a:pt x="80264" y="647826"/>
                </a:lnTo>
                <a:lnTo>
                  <a:pt x="80264" y="652399"/>
                </a:lnTo>
                <a:lnTo>
                  <a:pt x="81025" y="654685"/>
                </a:lnTo>
                <a:lnTo>
                  <a:pt x="81025" y="657732"/>
                </a:lnTo>
                <a:lnTo>
                  <a:pt x="82550" y="663066"/>
                </a:lnTo>
                <a:lnTo>
                  <a:pt x="83312" y="667765"/>
                </a:lnTo>
                <a:lnTo>
                  <a:pt x="84836" y="672338"/>
                </a:lnTo>
                <a:lnTo>
                  <a:pt x="85598" y="676148"/>
                </a:lnTo>
                <a:lnTo>
                  <a:pt x="87884" y="679196"/>
                </a:lnTo>
                <a:lnTo>
                  <a:pt x="88646" y="683005"/>
                </a:lnTo>
                <a:lnTo>
                  <a:pt x="89408" y="690626"/>
                </a:lnTo>
                <a:lnTo>
                  <a:pt x="92456" y="696722"/>
                </a:lnTo>
                <a:lnTo>
                  <a:pt x="97155" y="702055"/>
                </a:lnTo>
                <a:lnTo>
                  <a:pt x="97917" y="702817"/>
                </a:lnTo>
                <a:lnTo>
                  <a:pt x="98678" y="704341"/>
                </a:lnTo>
                <a:lnTo>
                  <a:pt x="98678" y="705865"/>
                </a:lnTo>
                <a:lnTo>
                  <a:pt x="96393" y="721994"/>
                </a:lnTo>
                <a:lnTo>
                  <a:pt x="96393" y="723518"/>
                </a:lnTo>
                <a:lnTo>
                  <a:pt x="95631" y="725042"/>
                </a:lnTo>
                <a:lnTo>
                  <a:pt x="165100" y="725042"/>
                </a:lnTo>
                <a:lnTo>
                  <a:pt x="165073" y="721994"/>
                </a:lnTo>
                <a:lnTo>
                  <a:pt x="164849" y="715450"/>
                </a:lnTo>
                <a:lnTo>
                  <a:pt x="164814" y="708406"/>
                </a:lnTo>
                <a:lnTo>
                  <a:pt x="166064" y="701647"/>
                </a:lnTo>
                <a:lnTo>
                  <a:pt x="169672" y="695198"/>
                </a:lnTo>
                <a:lnTo>
                  <a:pt x="169672" y="694436"/>
                </a:lnTo>
                <a:lnTo>
                  <a:pt x="170561" y="694436"/>
                </a:lnTo>
                <a:lnTo>
                  <a:pt x="172525" y="688042"/>
                </a:lnTo>
                <a:lnTo>
                  <a:pt x="174275" y="681577"/>
                </a:lnTo>
                <a:lnTo>
                  <a:pt x="176454" y="675255"/>
                </a:lnTo>
                <a:lnTo>
                  <a:pt x="179705" y="669289"/>
                </a:lnTo>
                <a:lnTo>
                  <a:pt x="179798" y="667765"/>
                </a:lnTo>
                <a:lnTo>
                  <a:pt x="180467" y="662304"/>
                </a:lnTo>
                <a:lnTo>
                  <a:pt x="181228" y="656971"/>
                </a:lnTo>
                <a:lnTo>
                  <a:pt x="181991" y="650875"/>
                </a:lnTo>
                <a:lnTo>
                  <a:pt x="181991" y="650113"/>
                </a:lnTo>
                <a:lnTo>
                  <a:pt x="180467" y="648588"/>
                </a:lnTo>
                <a:lnTo>
                  <a:pt x="177419" y="647826"/>
                </a:lnTo>
                <a:lnTo>
                  <a:pt x="178181" y="645540"/>
                </a:lnTo>
                <a:lnTo>
                  <a:pt x="178181" y="635635"/>
                </a:lnTo>
                <a:close/>
              </a:path>
              <a:path w="1132840" h="861060">
                <a:moveTo>
                  <a:pt x="155956" y="575944"/>
                </a:moveTo>
                <a:lnTo>
                  <a:pt x="151384" y="575944"/>
                </a:lnTo>
                <a:lnTo>
                  <a:pt x="144525" y="577468"/>
                </a:lnTo>
                <a:lnTo>
                  <a:pt x="138430" y="578357"/>
                </a:lnTo>
                <a:lnTo>
                  <a:pt x="97917" y="594360"/>
                </a:lnTo>
                <a:lnTo>
                  <a:pt x="85598" y="614934"/>
                </a:lnTo>
                <a:lnTo>
                  <a:pt x="84836" y="620267"/>
                </a:lnTo>
                <a:lnTo>
                  <a:pt x="84836" y="637159"/>
                </a:lnTo>
                <a:lnTo>
                  <a:pt x="85598" y="635635"/>
                </a:lnTo>
                <a:lnTo>
                  <a:pt x="178181" y="635635"/>
                </a:lnTo>
                <a:lnTo>
                  <a:pt x="178181" y="612648"/>
                </a:lnTo>
                <a:lnTo>
                  <a:pt x="175895" y="606551"/>
                </a:lnTo>
                <a:lnTo>
                  <a:pt x="170561" y="601979"/>
                </a:lnTo>
                <a:lnTo>
                  <a:pt x="165100" y="597407"/>
                </a:lnTo>
                <a:lnTo>
                  <a:pt x="159003" y="592074"/>
                </a:lnTo>
                <a:lnTo>
                  <a:pt x="153670" y="587501"/>
                </a:lnTo>
                <a:lnTo>
                  <a:pt x="150622" y="585215"/>
                </a:lnTo>
                <a:lnTo>
                  <a:pt x="150622" y="582929"/>
                </a:lnTo>
                <a:lnTo>
                  <a:pt x="154432" y="579119"/>
                </a:lnTo>
                <a:lnTo>
                  <a:pt x="155956" y="578357"/>
                </a:lnTo>
                <a:lnTo>
                  <a:pt x="157480" y="577468"/>
                </a:lnTo>
                <a:lnTo>
                  <a:pt x="155956" y="575944"/>
                </a:lnTo>
                <a:close/>
              </a:path>
              <a:path w="1132840" h="861060">
                <a:moveTo>
                  <a:pt x="1006983" y="417956"/>
                </a:moveTo>
                <a:lnTo>
                  <a:pt x="125475" y="417956"/>
                </a:lnTo>
                <a:lnTo>
                  <a:pt x="125475" y="517271"/>
                </a:lnTo>
                <a:lnTo>
                  <a:pt x="136144" y="517271"/>
                </a:lnTo>
                <a:lnTo>
                  <a:pt x="136144" y="428625"/>
                </a:lnTo>
                <a:lnTo>
                  <a:pt x="1006983" y="428625"/>
                </a:lnTo>
                <a:lnTo>
                  <a:pt x="1006983" y="417956"/>
                </a:lnTo>
                <a:close/>
              </a:path>
              <a:path w="1132840" h="861060">
                <a:moveTo>
                  <a:pt x="1006983" y="428625"/>
                </a:moveTo>
                <a:lnTo>
                  <a:pt x="996315" y="428625"/>
                </a:lnTo>
                <a:lnTo>
                  <a:pt x="996315" y="517271"/>
                </a:lnTo>
                <a:lnTo>
                  <a:pt x="1006983" y="517271"/>
                </a:lnTo>
                <a:lnTo>
                  <a:pt x="1006983" y="428625"/>
                </a:lnTo>
                <a:close/>
              </a:path>
              <a:path w="1132840" h="861060">
                <a:moveTo>
                  <a:pt x="580390" y="371982"/>
                </a:moveTo>
                <a:lnTo>
                  <a:pt x="570484" y="371982"/>
                </a:lnTo>
                <a:lnTo>
                  <a:pt x="570484" y="417956"/>
                </a:lnTo>
                <a:lnTo>
                  <a:pt x="580390" y="417956"/>
                </a:lnTo>
                <a:lnTo>
                  <a:pt x="580390" y="371982"/>
                </a:lnTo>
                <a:close/>
              </a:path>
              <a:path w="1132840" h="861060">
                <a:moveTo>
                  <a:pt x="566547" y="226187"/>
                </a:moveTo>
                <a:lnTo>
                  <a:pt x="536701" y="307213"/>
                </a:lnTo>
                <a:lnTo>
                  <a:pt x="545973" y="319404"/>
                </a:lnTo>
                <a:lnTo>
                  <a:pt x="552069" y="320166"/>
                </a:lnTo>
                <a:lnTo>
                  <a:pt x="558926" y="320928"/>
                </a:lnTo>
                <a:lnTo>
                  <a:pt x="573405" y="320928"/>
                </a:lnTo>
                <a:lnTo>
                  <a:pt x="580263" y="320166"/>
                </a:lnTo>
                <a:lnTo>
                  <a:pt x="586359" y="319404"/>
                </a:lnTo>
                <a:lnTo>
                  <a:pt x="595630" y="307213"/>
                </a:lnTo>
                <a:lnTo>
                  <a:pt x="566547" y="226187"/>
                </a:lnTo>
                <a:close/>
              </a:path>
              <a:path w="1132840" h="861060">
                <a:moveTo>
                  <a:pt x="565912" y="0"/>
                </a:moveTo>
                <a:lnTo>
                  <a:pt x="515115" y="8184"/>
                </a:lnTo>
                <a:lnTo>
                  <a:pt x="471011" y="30975"/>
                </a:lnTo>
                <a:lnTo>
                  <a:pt x="436240" y="65727"/>
                </a:lnTo>
                <a:lnTo>
                  <a:pt x="413442" y="109793"/>
                </a:lnTo>
                <a:lnTo>
                  <a:pt x="405257" y="160527"/>
                </a:lnTo>
                <a:lnTo>
                  <a:pt x="407473" y="186844"/>
                </a:lnTo>
                <a:lnTo>
                  <a:pt x="413845" y="211709"/>
                </a:lnTo>
                <a:lnTo>
                  <a:pt x="423955" y="234858"/>
                </a:lnTo>
                <a:lnTo>
                  <a:pt x="437388" y="256031"/>
                </a:lnTo>
                <a:lnTo>
                  <a:pt x="438912" y="249936"/>
                </a:lnTo>
                <a:lnTo>
                  <a:pt x="441960" y="246887"/>
                </a:lnTo>
                <a:lnTo>
                  <a:pt x="445770" y="243839"/>
                </a:lnTo>
                <a:lnTo>
                  <a:pt x="458089" y="237616"/>
                </a:lnTo>
                <a:lnTo>
                  <a:pt x="464947" y="233806"/>
                </a:lnTo>
                <a:lnTo>
                  <a:pt x="472567" y="229997"/>
                </a:lnTo>
                <a:lnTo>
                  <a:pt x="479425" y="226949"/>
                </a:lnTo>
                <a:lnTo>
                  <a:pt x="494792" y="220852"/>
                </a:lnTo>
                <a:lnTo>
                  <a:pt x="515366" y="211709"/>
                </a:lnTo>
                <a:lnTo>
                  <a:pt x="516890" y="211709"/>
                </a:lnTo>
                <a:lnTo>
                  <a:pt x="518414" y="208661"/>
                </a:lnTo>
                <a:lnTo>
                  <a:pt x="521462" y="201040"/>
                </a:lnTo>
                <a:lnTo>
                  <a:pt x="522224" y="197230"/>
                </a:lnTo>
                <a:lnTo>
                  <a:pt x="523748" y="194055"/>
                </a:lnTo>
                <a:lnTo>
                  <a:pt x="523748" y="191007"/>
                </a:lnTo>
                <a:lnTo>
                  <a:pt x="528320" y="190246"/>
                </a:lnTo>
                <a:lnTo>
                  <a:pt x="529082" y="190246"/>
                </a:lnTo>
                <a:lnTo>
                  <a:pt x="529971" y="187960"/>
                </a:lnTo>
                <a:lnTo>
                  <a:pt x="530733" y="187198"/>
                </a:lnTo>
                <a:lnTo>
                  <a:pt x="531495" y="181101"/>
                </a:lnTo>
                <a:lnTo>
                  <a:pt x="531495" y="175767"/>
                </a:lnTo>
                <a:lnTo>
                  <a:pt x="532257" y="169672"/>
                </a:lnTo>
                <a:lnTo>
                  <a:pt x="532257" y="168148"/>
                </a:lnTo>
                <a:lnTo>
                  <a:pt x="531495" y="166624"/>
                </a:lnTo>
                <a:lnTo>
                  <a:pt x="530733" y="165862"/>
                </a:lnTo>
                <a:lnTo>
                  <a:pt x="525272" y="159765"/>
                </a:lnTo>
                <a:lnTo>
                  <a:pt x="522986" y="153669"/>
                </a:lnTo>
                <a:lnTo>
                  <a:pt x="520700" y="142112"/>
                </a:lnTo>
                <a:lnTo>
                  <a:pt x="517651" y="134492"/>
                </a:lnTo>
                <a:lnTo>
                  <a:pt x="516127" y="129921"/>
                </a:lnTo>
                <a:lnTo>
                  <a:pt x="515366" y="124587"/>
                </a:lnTo>
                <a:lnTo>
                  <a:pt x="513842" y="119252"/>
                </a:lnTo>
                <a:lnTo>
                  <a:pt x="513842" y="115442"/>
                </a:lnTo>
                <a:lnTo>
                  <a:pt x="513080" y="113918"/>
                </a:lnTo>
                <a:lnTo>
                  <a:pt x="513080" y="108457"/>
                </a:lnTo>
                <a:lnTo>
                  <a:pt x="516127" y="107696"/>
                </a:lnTo>
                <a:lnTo>
                  <a:pt x="517651" y="107696"/>
                </a:lnTo>
                <a:lnTo>
                  <a:pt x="518414" y="105410"/>
                </a:lnTo>
                <a:lnTo>
                  <a:pt x="518414" y="74167"/>
                </a:lnTo>
                <a:lnTo>
                  <a:pt x="519809" y="67641"/>
                </a:lnTo>
                <a:lnTo>
                  <a:pt x="548655" y="42322"/>
                </a:lnTo>
                <a:lnTo>
                  <a:pt x="581151" y="34416"/>
                </a:lnTo>
                <a:lnTo>
                  <a:pt x="587248" y="32892"/>
                </a:lnTo>
                <a:lnTo>
                  <a:pt x="661724" y="32892"/>
                </a:lnTo>
                <a:lnTo>
                  <a:pt x="647464" y="21919"/>
                </a:lnTo>
                <a:lnTo>
                  <a:pt x="608903" y="5734"/>
                </a:lnTo>
                <a:lnTo>
                  <a:pt x="565912" y="0"/>
                </a:lnTo>
                <a:close/>
              </a:path>
              <a:path w="1132840" h="861060">
                <a:moveTo>
                  <a:pt x="661724" y="32892"/>
                </a:moveTo>
                <a:lnTo>
                  <a:pt x="593344" y="32892"/>
                </a:lnTo>
                <a:lnTo>
                  <a:pt x="593344" y="34416"/>
                </a:lnTo>
                <a:lnTo>
                  <a:pt x="594106" y="34416"/>
                </a:lnTo>
                <a:lnTo>
                  <a:pt x="592582" y="35940"/>
                </a:lnTo>
                <a:lnTo>
                  <a:pt x="589534" y="37464"/>
                </a:lnTo>
                <a:lnTo>
                  <a:pt x="587248" y="40512"/>
                </a:lnTo>
                <a:lnTo>
                  <a:pt x="587248" y="42037"/>
                </a:lnTo>
                <a:lnTo>
                  <a:pt x="590296" y="45085"/>
                </a:lnTo>
                <a:lnTo>
                  <a:pt x="596392" y="49656"/>
                </a:lnTo>
                <a:lnTo>
                  <a:pt x="602615" y="54990"/>
                </a:lnTo>
                <a:lnTo>
                  <a:pt x="608711" y="60325"/>
                </a:lnTo>
                <a:lnTo>
                  <a:pt x="614045" y="64897"/>
                </a:lnTo>
                <a:lnTo>
                  <a:pt x="615569" y="71119"/>
                </a:lnTo>
                <a:lnTo>
                  <a:pt x="615569" y="108457"/>
                </a:lnTo>
                <a:lnTo>
                  <a:pt x="618617" y="110109"/>
                </a:lnTo>
                <a:lnTo>
                  <a:pt x="619378" y="110109"/>
                </a:lnTo>
                <a:lnTo>
                  <a:pt x="620141" y="111632"/>
                </a:lnTo>
                <a:lnTo>
                  <a:pt x="620141" y="112394"/>
                </a:lnTo>
                <a:lnTo>
                  <a:pt x="617950" y="129921"/>
                </a:lnTo>
                <a:lnTo>
                  <a:pt x="617855" y="131444"/>
                </a:lnTo>
                <a:lnTo>
                  <a:pt x="614592" y="137531"/>
                </a:lnTo>
                <a:lnTo>
                  <a:pt x="612330" y="144129"/>
                </a:lnTo>
                <a:lnTo>
                  <a:pt x="610354" y="150893"/>
                </a:lnTo>
                <a:lnTo>
                  <a:pt x="607949" y="157479"/>
                </a:lnTo>
                <a:lnTo>
                  <a:pt x="607949" y="158241"/>
                </a:lnTo>
                <a:lnTo>
                  <a:pt x="607187" y="158241"/>
                </a:lnTo>
                <a:lnTo>
                  <a:pt x="603513" y="165230"/>
                </a:lnTo>
                <a:lnTo>
                  <a:pt x="602186" y="172434"/>
                </a:lnTo>
                <a:lnTo>
                  <a:pt x="601860" y="186844"/>
                </a:lnTo>
                <a:lnTo>
                  <a:pt x="601852" y="187960"/>
                </a:lnTo>
                <a:lnTo>
                  <a:pt x="602615" y="189484"/>
                </a:lnTo>
                <a:lnTo>
                  <a:pt x="603376" y="190246"/>
                </a:lnTo>
                <a:lnTo>
                  <a:pt x="606425" y="191007"/>
                </a:lnTo>
                <a:lnTo>
                  <a:pt x="607187" y="194055"/>
                </a:lnTo>
                <a:lnTo>
                  <a:pt x="607949" y="196468"/>
                </a:lnTo>
                <a:lnTo>
                  <a:pt x="609473" y="201040"/>
                </a:lnTo>
                <a:lnTo>
                  <a:pt x="610997" y="204850"/>
                </a:lnTo>
                <a:lnTo>
                  <a:pt x="612521" y="209423"/>
                </a:lnTo>
                <a:lnTo>
                  <a:pt x="613283" y="210947"/>
                </a:lnTo>
                <a:lnTo>
                  <a:pt x="615569" y="211709"/>
                </a:lnTo>
                <a:lnTo>
                  <a:pt x="617093" y="212471"/>
                </a:lnTo>
                <a:lnTo>
                  <a:pt x="633729" y="218926"/>
                </a:lnTo>
                <a:lnTo>
                  <a:pt x="650271" y="225821"/>
                </a:lnTo>
                <a:lnTo>
                  <a:pt x="666670" y="233312"/>
                </a:lnTo>
                <a:lnTo>
                  <a:pt x="682878" y="241553"/>
                </a:lnTo>
                <a:lnTo>
                  <a:pt x="686689" y="243077"/>
                </a:lnTo>
                <a:lnTo>
                  <a:pt x="690499" y="246125"/>
                </a:lnTo>
                <a:lnTo>
                  <a:pt x="693547" y="249174"/>
                </a:lnTo>
                <a:lnTo>
                  <a:pt x="695071" y="256031"/>
                </a:lnTo>
                <a:lnTo>
                  <a:pt x="708503" y="234858"/>
                </a:lnTo>
                <a:lnTo>
                  <a:pt x="718613" y="211709"/>
                </a:lnTo>
                <a:lnTo>
                  <a:pt x="724985" y="186844"/>
                </a:lnTo>
                <a:lnTo>
                  <a:pt x="727201" y="160527"/>
                </a:lnTo>
                <a:lnTo>
                  <a:pt x="721463" y="117857"/>
                </a:lnTo>
                <a:lnTo>
                  <a:pt x="705254" y="79511"/>
                </a:lnTo>
                <a:lnTo>
                  <a:pt x="680085" y="47021"/>
                </a:lnTo>
                <a:lnTo>
                  <a:pt x="661724" y="32892"/>
                </a:lnTo>
                <a:close/>
              </a:path>
              <a:path w="1132840" h="861060">
                <a:moveTo>
                  <a:pt x="575056" y="207010"/>
                </a:moveTo>
                <a:lnTo>
                  <a:pt x="557276" y="207010"/>
                </a:lnTo>
                <a:lnTo>
                  <a:pt x="565785" y="226187"/>
                </a:lnTo>
                <a:lnTo>
                  <a:pt x="575056" y="20701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98548" y="3006851"/>
            <a:ext cx="7045451" cy="385114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71094" y="3218434"/>
            <a:ext cx="4025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宋体"/>
                <a:cs typeface="宋体"/>
              </a:rPr>
              <a:t>注</a:t>
            </a:r>
            <a:r>
              <a:rPr dirty="0" sz="1200" spc="-5">
                <a:latin typeface="宋体"/>
                <a:cs typeface="宋体"/>
              </a:rPr>
              <a:t>：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 spc="-5">
                <a:latin typeface="Arial"/>
                <a:cs typeface="Arial"/>
              </a:rPr>
              <a:t>2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 spc="-5">
                <a:latin typeface="Arial"/>
                <a:cs typeface="Arial"/>
              </a:rPr>
              <a:t>3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>
                <a:latin typeface="Arial"/>
                <a:cs typeface="Arial"/>
              </a:rPr>
              <a:t>4</a:t>
            </a:r>
            <a:r>
              <a:rPr dirty="0" sz="1200">
                <a:latin typeface="宋体"/>
                <a:cs typeface="宋体"/>
              </a:rPr>
              <a:t>分别代表重要性排序，数字越小代表越重要</a:t>
            </a:r>
            <a:endParaRPr sz="1200">
              <a:latin typeface="宋体"/>
              <a:cs typeface="宋体"/>
            </a:endParaRPr>
          </a:p>
          <a:p>
            <a:pPr marL="31242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B1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 spc="-5">
                <a:latin typeface="Arial"/>
                <a:cs typeface="Arial"/>
              </a:rPr>
              <a:t>B2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 spc="-10">
                <a:latin typeface="Arial"/>
                <a:cs typeface="Arial"/>
              </a:rPr>
              <a:t>B3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 spc="-10">
                <a:latin typeface="Arial"/>
                <a:cs typeface="Arial"/>
              </a:rPr>
              <a:t>B4</a:t>
            </a:r>
            <a:r>
              <a:rPr dirty="0" sz="1200">
                <a:latin typeface="宋体"/>
                <a:cs typeface="宋体"/>
              </a:rPr>
              <a:t>、</a:t>
            </a:r>
            <a:r>
              <a:rPr dirty="0" sz="1200" spc="-10">
                <a:latin typeface="Arial"/>
                <a:cs typeface="Arial"/>
              </a:rPr>
              <a:t>B5</a:t>
            </a:r>
            <a:r>
              <a:rPr dirty="0" sz="1200">
                <a:latin typeface="宋体"/>
                <a:cs typeface="宋体"/>
              </a:rPr>
              <a:t>代表各个子版块层次</a:t>
            </a:r>
            <a:endParaRPr sz="1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22326"/>
            <a:ext cx="37198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7A2121"/>
                </a:solidFill>
                <a:latin typeface="Arial"/>
                <a:cs typeface="Arial"/>
              </a:rPr>
              <a:t>AHP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层次分析法</a:t>
            </a:r>
            <a:r>
              <a:rPr dirty="0" sz="1800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代工厂实例分析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0395" y="990600"/>
            <a:ext cx="390525" cy="391795"/>
          </a:xfrm>
          <a:custGeom>
            <a:avLst/>
            <a:gdLst/>
            <a:ahLst/>
            <a:cxnLst/>
            <a:rect l="l" t="t" r="r" b="b"/>
            <a:pathLst>
              <a:path w="390525" h="391794">
                <a:moveTo>
                  <a:pt x="195072" y="0"/>
                </a:moveTo>
                <a:lnTo>
                  <a:pt x="150344" y="5169"/>
                </a:lnTo>
                <a:lnTo>
                  <a:pt x="109284" y="19896"/>
                </a:lnTo>
                <a:lnTo>
                  <a:pt x="73064" y="43007"/>
                </a:lnTo>
                <a:lnTo>
                  <a:pt x="42855" y="73329"/>
                </a:lnTo>
                <a:lnTo>
                  <a:pt x="19827" y="109690"/>
                </a:lnTo>
                <a:lnTo>
                  <a:pt x="5152" y="150915"/>
                </a:lnTo>
                <a:lnTo>
                  <a:pt x="0" y="195834"/>
                </a:lnTo>
                <a:lnTo>
                  <a:pt x="5152" y="240752"/>
                </a:lnTo>
                <a:lnTo>
                  <a:pt x="19827" y="281977"/>
                </a:lnTo>
                <a:lnTo>
                  <a:pt x="42855" y="318338"/>
                </a:lnTo>
                <a:lnTo>
                  <a:pt x="73064" y="348660"/>
                </a:lnTo>
                <a:lnTo>
                  <a:pt x="109284" y="371771"/>
                </a:lnTo>
                <a:lnTo>
                  <a:pt x="150344" y="386498"/>
                </a:lnTo>
                <a:lnTo>
                  <a:pt x="195072" y="391667"/>
                </a:lnTo>
                <a:lnTo>
                  <a:pt x="239799" y="386498"/>
                </a:lnTo>
                <a:lnTo>
                  <a:pt x="280859" y="371771"/>
                </a:lnTo>
                <a:lnTo>
                  <a:pt x="317079" y="348660"/>
                </a:lnTo>
                <a:lnTo>
                  <a:pt x="347288" y="318338"/>
                </a:lnTo>
                <a:lnTo>
                  <a:pt x="370316" y="281977"/>
                </a:lnTo>
                <a:lnTo>
                  <a:pt x="384991" y="240752"/>
                </a:lnTo>
                <a:lnTo>
                  <a:pt x="390144" y="195834"/>
                </a:lnTo>
                <a:lnTo>
                  <a:pt x="384991" y="150915"/>
                </a:lnTo>
                <a:lnTo>
                  <a:pt x="370316" y="109690"/>
                </a:lnTo>
                <a:lnTo>
                  <a:pt x="347288" y="73329"/>
                </a:lnTo>
                <a:lnTo>
                  <a:pt x="317079" y="43007"/>
                </a:lnTo>
                <a:lnTo>
                  <a:pt x="280859" y="19896"/>
                </a:lnTo>
                <a:lnTo>
                  <a:pt x="239799" y="5169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5552" y="1074419"/>
            <a:ext cx="211835" cy="211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1472" y="1056894"/>
            <a:ext cx="1625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计算权</a:t>
            </a:r>
            <a:r>
              <a:rPr dirty="0" sz="1400" spc="-15" b="1">
                <a:latin typeface="明兰"/>
                <a:cs typeface="明兰"/>
              </a:rPr>
              <a:t>重</a:t>
            </a:r>
            <a:r>
              <a:rPr dirty="0" sz="1400" b="1">
                <a:latin typeface="明兰"/>
                <a:cs typeface="明兰"/>
              </a:rPr>
              <a:t>（层</a:t>
            </a:r>
            <a:r>
              <a:rPr dirty="0" sz="1400" spc="-15" b="1">
                <a:latin typeface="明兰"/>
                <a:cs typeface="明兰"/>
              </a:rPr>
              <a:t>次一</a:t>
            </a:r>
            <a:r>
              <a:rPr dirty="0" sz="1400" b="1">
                <a:latin typeface="明兰"/>
                <a:cs typeface="明兰"/>
              </a:rPr>
              <a:t>）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00" y="1488694"/>
            <a:ext cx="42240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根据前</a:t>
            </a:r>
            <a:r>
              <a:rPr dirty="0" sz="1400" spc="-15">
                <a:latin typeface="宋体"/>
                <a:cs typeface="宋体"/>
              </a:rPr>
              <a:t>述</a:t>
            </a:r>
            <a:r>
              <a:rPr dirty="0" sz="1400">
                <a:latin typeface="宋体"/>
                <a:cs typeface="宋体"/>
              </a:rPr>
              <a:t>重要</a:t>
            </a:r>
            <a:r>
              <a:rPr dirty="0" sz="1400" spc="-15">
                <a:latin typeface="宋体"/>
                <a:cs typeface="宋体"/>
              </a:rPr>
              <a:t>性的</a:t>
            </a:r>
            <a:r>
              <a:rPr dirty="0" sz="1400">
                <a:latin typeface="宋体"/>
                <a:cs typeface="宋体"/>
              </a:rPr>
              <a:t>判断，</a:t>
            </a:r>
            <a:r>
              <a:rPr dirty="0" sz="1400" spc="-15">
                <a:latin typeface="宋体"/>
                <a:cs typeface="宋体"/>
              </a:rPr>
              <a:t>罗</a:t>
            </a:r>
            <a:r>
              <a:rPr dirty="0" sz="1400">
                <a:latin typeface="宋体"/>
                <a:cs typeface="宋体"/>
              </a:rPr>
              <a:t>列第</a:t>
            </a:r>
            <a:r>
              <a:rPr dirty="0" sz="1400" spc="-15">
                <a:latin typeface="宋体"/>
                <a:cs typeface="宋体"/>
              </a:rPr>
              <a:t>一层</a:t>
            </a:r>
            <a:r>
              <a:rPr dirty="0" sz="1400">
                <a:latin typeface="宋体"/>
                <a:cs typeface="宋体"/>
              </a:rPr>
              <a:t>次的判</a:t>
            </a:r>
            <a:r>
              <a:rPr dirty="0" sz="1400" spc="-15">
                <a:latin typeface="宋体"/>
                <a:cs typeface="宋体"/>
              </a:rPr>
              <a:t>断</a:t>
            </a:r>
            <a:r>
              <a:rPr dirty="0" sz="1400">
                <a:latin typeface="宋体"/>
                <a:cs typeface="宋体"/>
              </a:rPr>
              <a:t>矩阵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5981" y="2901189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8750" y="2621479"/>
            <a:ext cx="1206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 i="1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4052" y="2906851"/>
            <a:ext cx="1206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 i="1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2267" y="2906851"/>
            <a:ext cx="1206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 i="1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7998" y="2615817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4455" y="2615817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9574" y="1964997"/>
            <a:ext cx="1405255" cy="1395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95"/>
              </a:spcBef>
              <a:tabLst>
                <a:tab pos="779145" algn="l"/>
                <a:tab pos="1200785" algn="l"/>
              </a:tabLst>
            </a:pPr>
            <a:r>
              <a:rPr dirty="0" baseline="-25925" sz="2250" spc="-7" i="1">
                <a:latin typeface="Times New Roman"/>
                <a:cs typeface="Times New Roman"/>
              </a:rPr>
              <a:t>a</a:t>
            </a:r>
            <a:r>
              <a:rPr dirty="0" sz="850" spc="-5">
                <a:latin typeface="Times New Roman"/>
                <a:cs typeface="Times New Roman"/>
              </a:rPr>
              <a:t>1	</a:t>
            </a:r>
            <a:r>
              <a:rPr dirty="0" baseline="-25925" sz="2250" spc="60" i="1">
                <a:latin typeface="Times New Roman"/>
                <a:cs typeface="Times New Roman"/>
              </a:rPr>
              <a:t>a</a:t>
            </a:r>
            <a:r>
              <a:rPr dirty="0" sz="850" spc="40">
                <a:latin typeface="Times New Roman"/>
                <a:cs typeface="Times New Roman"/>
              </a:rPr>
              <a:t>2	</a:t>
            </a:r>
            <a:r>
              <a:rPr dirty="0" baseline="-25925" sz="2250" spc="37" i="1">
                <a:latin typeface="Times New Roman"/>
                <a:cs typeface="Times New Roman"/>
              </a:rPr>
              <a:t>a</a:t>
            </a:r>
            <a:r>
              <a:rPr dirty="0" sz="850" spc="25">
                <a:latin typeface="Times New Roman"/>
                <a:cs typeface="Times New Roman"/>
              </a:rPr>
              <a:t>3</a:t>
            </a:r>
            <a:endParaRPr sz="850">
              <a:latin typeface="Times New Roman"/>
              <a:cs typeface="Times New Roman"/>
            </a:endParaRPr>
          </a:p>
          <a:p>
            <a:pPr algn="ctr" marL="351155">
              <a:lnSpc>
                <a:spcPct val="100000"/>
              </a:lnSpc>
              <a:spcBef>
                <a:spcPts val="1125"/>
              </a:spcBef>
              <a:tabLst>
                <a:tab pos="742315" algn="l"/>
                <a:tab pos="1149350" algn="l"/>
              </a:tabLst>
            </a:pPr>
            <a:r>
              <a:rPr dirty="0" sz="1500" spc="-5">
                <a:latin typeface="Times New Roman"/>
                <a:cs typeface="Times New Roman"/>
              </a:rPr>
              <a:t>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baseline="45751" sz="1275" spc="-7">
                <a:latin typeface="Times New Roman"/>
                <a:cs typeface="Times New Roman"/>
              </a:rPr>
              <a:t>1	</a:t>
            </a:r>
            <a:r>
              <a:rPr dirty="0" sz="1500" spc="40" i="1">
                <a:latin typeface="Times New Roman"/>
                <a:cs typeface="Times New Roman"/>
              </a:rPr>
              <a:t>a</a:t>
            </a:r>
            <a:r>
              <a:rPr dirty="0" baseline="45751" sz="1275" spc="60">
                <a:latin typeface="Times New Roman"/>
                <a:cs typeface="Times New Roman"/>
              </a:rPr>
              <a:t>2</a:t>
            </a:r>
            <a:endParaRPr baseline="45751" sz="1275">
              <a:latin typeface="Times New Roman"/>
              <a:cs typeface="Times New Roman"/>
            </a:endParaRPr>
          </a:p>
          <a:p>
            <a:pPr marL="820419">
              <a:lnSpc>
                <a:spcPts val="1685"/>
              </a:lnSpc>
              <a:spcBef>
                <a:spcPts val="445"/>
              </a:spcBef>
              <a:tabLst>
                <a:tab pos="1207135" algn="l"/>
              </a:tabLst>
            </a:pPr>
            <a:r>
              <a:rPr dirty="0" sz="1500" spc="-5">
                <a:latin typeface="Times New Roman"/>
                <a:cs typeface="Times New Roman"/>
              </a:rPr>
              <a:t>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baseline="45751" sz="1275" spc="-7">
                <a:latin typeface="Times New Roman"/>
                <a:cs typeface="Times New Roman"/>
              </a:rPr>
              <a:t>1</a:t>
            </a:r>
            <a:endParaRPr baseline="45751" sz="1275">
              <a:latin typeface="Times New Roman"/>
              <a:cs typeface="Times New Roman"/>
            </a:endParaRPr>
          </a:p>
          <a:p>
            <a:pPr marL="12700">
              <a:lnSpc>
                <a:spcPts val="1685"/>
              </a:lnSpc>
              <a:tabLst>
                <a:tab pos="327025" algn="l"/>
                <a:tab pos="753745" algn="l"/>
                <a:tab pos="1238250" algn="l"/>
              </a:tabLst>
            </a:pPr>
            <a:r>
              <a:rPr dirty="0" sz="850" spc="5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3	</a:t>
            </a:r>
            <a:r>
              <a:rPr dirty="0" baseline="-25925" sz="2250" spc="44" i="1">
                <a:latin typeface="Times New Roman"/>
                <a:cs typeface="Times New Roman"/>
              </a:rPr>
              <a:t>a</a:t>
            </a:r>
            <a:r>
              <a:rPr dirty="0" sz="850" spc="30">
                <a:latin typeface="Symbol"/>
                <a:cs typeface="Symbol"/>
              </a:rPr>
              <a:t></a:t>
            </a:r>
            <a:r>
              <a:rPr dirty="0" sz="850" spc="30">
                <a:latin typeface="Times New Roman"/>
                <a:cs typeface="Times New Roman"/>
              </a:rPr>
              <a:t>2	</a:t>
            </a:r>
            <a:r>
              <a:rPr dirty="0" baseline="-25925" sz="2250" spc="44" i="1">
                <a:latin typeface="Times New Roman"/>
                <a:cs typeface="Times New Roman"/>
              </a:rPr>
              <a:t>a</a:t>
            </a:r>
            <a:r>
              <a:rPr dirty="0" sz="850" spc="30">
                <a:latin typeface="Symbol"/>
                <a:cs typeface="Symbol"/>
              </a:rPr>
              <a:t></a:t>
            </a:r>
            <a:r>
              <a:rPr dirty="0" sz="850" spc="30">
                <a:latin typeface="Times New Roman"/>
                <a:cs typeface="Times New Roman"/>
              </a:rPr>
              <a:t>1	</a:t>
            </a:r>
            <a:r>
              <a:rPr dirty="0" baseline="-25925" sz="2250" spc="-7">
                <a:latin typeface="Times New Roman"/>
                <a:cs typeface="Times New Roman"/>
              </a:rPr>
              <a:t>1</a:t>
            </a:r>
            <a:endParaRPr baseline="-25925" sz="2250">
              <a:latin typeface="Times New Roman"/>
              <a:cs typeface="Times New Roman"/>
            </a:endParaRPr>
          </a:p>
          <a:p>
            <a:pPr algn="ctr" marL="316230">
              <a:lnSpc>
                <a:spcPct val="100000"/>
              </a:lnSpc>
              <a:spcBef>
                <a:spcPts val="450"/>
              </a:spcBef>
              <a:tabLst>
                <a:tab pos="736600" algn="l"/>
                <a:tab pos="1158240" algn="l"/>
              </a:tabLst>
            </a:pPr>
            <a:r>
              <a:rPr dirty="0" baseline="-25925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3</a:t>
            </a:r>
            <a:r>
              <a:rPr dirty="0" sz="850">
                <a:latin typeface="Times New Roman"/>
                <a:cs typeface="Times New Roman"/>
              </a:rPr>
              <a:t>	</a:t>
            </a:r>
            <a:r>
              <a:rPr dirty="0" baseline="-25925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2</a:t>
            </a:r>
            <a:r>
              <a:rPr dirty="0" sz="850">
                <a:latin typeface="Times New Roman"/>
                <a:cs typeface="Times New Roman"/>
              </a:rPr>
              <a:t>	</a:t>
            </a:r>
            <a:r>
              <a:rPr dirty="0" baseline="-25925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0766" y="2050736"/>
            <a:ext cx="27368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703" sz="2250" spc="-7">
                <a:latin typeface="Symbol"/>
                <a:cs typeface="Symbol"/>
              </a:rPr>
              <a:t></a:t>
            </a:r>
            <a:r>
              <a:rPr dirty="0" baseline="3703" sz="2250" spc="254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2030" y="2050736"/>
            <a:ext cx="28956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40" i="1">
                <a:latin typeface="Times New Roman"/>
                <a:cs typeface="Times New Roman"/>
              </a:rPr>
              <a:t>a</a:t>
            </a:r>
            <a:r>
              <a:rPr dirty="0" baseline="45751" sz="1275" spc="60">
                <a:latin typeface="Times New Roman"/>
                <a:cs typeface="Times New Roman"/>
              </a:rPr>
              <a:t>4</a:t>
            </a:r>
            <a:r>
              <a:rPr dirty="0" baseline="45751" sz="1275" spc="-60">
                <a:latin typeface="Times New Roman"/>
                <a:cs typeface="Times New Roman"/>
              </a:rPr>
              <a:t> </a:t>
            </a:r>
            <a:r>
              <a:rPr dirty="0" baseline="3703" sz="2250" spc="-7">
                <a:latin typeface="Symbol"/>
                <a:cs typeface="Symbol"/>
              </a:rPr>
              <a:t></a:t>
            </a:r>
            <a:endParaRPr baseline="3703"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0766" y="2250369"/>
            <a:ext cx="33274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7407" sz="2250" spc="142">
                <a:latin typeface="Symbol"/>
                <a:cs typeface="Symbol"/>
              </a:rPr>
              <a:t></a:t>
            </a:r>
            <a:r>
              <a:rPr dirty="0" baseline="-25925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5342" y="2224953"/>
            <a:ext cx="28638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33333" sz="2250" spc="44" i="1">
                <a:latin typeface="Times New Roman"/>
                <a:cs typeface="Times New Roman"/>
              </a:rPr>
              <a:t>a</a:t>
            </a:r>
            <a:r>
              <a:rPr dirty="0" baseline="-13071" sz="1275" spc="44">
                <a:latin typeface="Times New Roman"/>
                <a:cs typeface="Times New Roman"/>
              </a:rPr>
              <a:t>3</a:t>
            </a:r>
            <a:r>
              <a:rPr dirty="0" baseline="-13071" sz="1275" spc="-60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0766" y="2408714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7600" y="2408714"/>
            <a:ext cx="184150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7790">
              <a:lnSpc>
                <a:spcPts val="1725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944"/>
              </a:lnSpc>
            </a:pPr>
            <a:r>
              <a:rPr dirty="0" sz="850" spc="5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7275" y="2606395"/>
            <a:ext cx="45593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=</a:t>
            </a:r>
            <a:r>
              <a:rPr dirty="0" sz="1500" spc="-204">
                <a:latin typeface="Times New Roman"/>
                <a:cs typeface="Times New Roman"/>
              </a:rPr>
              <a:t> </a:t>
            </a:r>
            <a:r>
              <a:rPr dirty="0" baseline="3703" sz="2250" spc="44">
                <a:latin typeface="Symbol"/>
                <a:cs typeface="Symbol"/>
              </a:rPr>
              <a:t></a:t>
            </a:r>
            <a:r>
              <a:rPr dirty="0" baseline="-3703" sz="2250" spc="44" i="1">
                <a:latin typeface="Times New Roman"/>
                <a:cs typeface="Times New Roman"/>
              </a:rPr>
              <a:t>a</a:t>
            </a:r>
            <a:endParaRPr baseline="-3703" sz="22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71929" y="2592487"/>
            <a:ext cx="28956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9259" sz="2250" spc="-7" i="1">
                <a:latin typeface="Times New Roman"/>
                <a:cs typeface="Times New Roman"/>
              </a:rPr>
              <a:t>a</a:t>
            </a:r>
            <a:r>
              <a:rPr dirty="0" baseline="-9259" sz="2250" spc="434" i="1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0766" y="2776260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2867" y="2776260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0766" y="2960020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62867" y="2960020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0766" y="3106484"/>
            <a:ext cx="32829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1111" sz="2250" spc="-869">
                <a:latin typeface="Symbol"/>
                <a:cs typeface="Symbol"/>
              </a:rPr>
              <a:t></a:t>
            </a:r>
            <a:r>
              <a:rPr dirty="0" baseline="-38888" sz="2250" spc="89">
                <a:latin typeface="Symbol"/>
                <a:cs typeface="Symbol"/>
              </a:rPr>
              <a:t></a:t>
            </a:r>
            <a:r>
              <a:rPr dirty="0" baseline="-25925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4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13273" y="3143794"/>
            <a:ext cx="24828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4814" sz="2250" spc="-7">
                <a:latin typeface="Times New Roman"/>
                <a:cs typeface="Times New Roman"/>
              </a:rPr>
              <a:t>1</a:t>
            </a:r>
            <a:r>
              <a:rPr dirty="0" baseline="-14814" sz="2250" spc="-37">
                <a:latin typeface="Times New Roman"/>
                <a:cs typeface="Times New Roman"/>
              </a:rPr>
              <a:t> </a:t>
            </a:r>
            <a:r>
              <a:rPr dirty="0" sz="1500" spc="-290">
                <a:latin typeface="Symbol"/>
                <a:cs typeface="Symbol"/>
              </a:rPr>
              <a:t></a:t>
            </a:r>
            <a:r>
              <a:rPr dirty="0" baseline="-27777" sz="2250" spc="-434">
                <a:latin typeface="Symbol"/>
                <a:cs typeface="Symbol"/>
              </a:rPr>
              <a:t></a:t>
            </a:r>
            <a:endParaRPr baseline="-27777" sz="22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9700" y="3627882"/>
            <a:ext cx="386905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计算得</a:t>
            </a:r>
            <a:r>
              <a:rPr dirty="0" sz="1400" spc="-15">
                <a:latin typeface="宋体"/>
                <a:cs typeface="宋体"/>
              </a:rPr>
              <a:t>判</a:t>
            </a:r>
            <a:r>
              <a:rPr dirty="0" sz="1400">
                <a:latin typeface="宋体"/>
                <a:cs typeface="宋体"/>
              </a:rPr>
              <a:t>断矩</a:t>
            </a:r>
            <a:r>
              <a:rPr dirty="0" sz="1400" spc="-15">
                <a:latin typeface="宋体"/>
                <a:cs typeface="宋体"/>
              </a:rPr>
              <a:t>阵的</a:t>
            </a:r>
            <a:r>
              <a:rPr dirty="0" sz="1400">
                <a:latin typeface="宋体"/>
                <a:cs typeface="宋体"/>
              </a:rPr>
              <a:t>特征值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并进</a:t>
            </a:r>
            <a:r>
              <a:rPr dirty="0" sz="1400" spc="-15">
                <a:latin typeface="宋体"/>
                <a:cs typeface="宋体"/>
              </a:rPr>
              <a:t>行一</a:t>
            </a:r>
            <a:r>
              <a:rPr dirty="0" sz="1400">
                <a:latin typeface="宋体"/>
                <a:cs typeface="宋体"/>
              </a:rPr>
              <a:t>致性检验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75680" y="3996008"/>
            <a:ext cx="431800" cy="349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13227" sz="3150" spc="-284" i="1">
                <a:latin typeface="Symbol"/>
                <a:cs typeface="Symbol"/>
              </a:rPr>
              <a:t></a:t>
            </a:r>
            <a:r>
              <a:rPr dirty="0" sz="1150" spc="-190">
                <a:latin typeface="Times New Roman"/>
                <a:cs typeface="Times New Roman"/>
              </a:rPr>
              <a:t>max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74252" y="3943636"/>
            <a:ext cx="34353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5">
                <a:latin typeface="Symbol"/>
                <a:cs typeface="Symbol"/>
              </a:rPr>
              <a:t></a:t>
            </a:r>
            <a:r>
              <a:rPr dirty="0" sz="2000" spc="-190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03631" y="4695518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3941" y="0"/>
                </a:lnTo>
              </a:path>
            </a:pathLst>
          </a:custGeom>
          <a:ln w="115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608742" y="4346678"/>
            <a:ext cx="68834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-220" i="1">
                <a:latin typeface="Symbol"/>
                <a:cs typeface="Symbol"/>
              </a:rPr>
              <a:t></a:t>
            </a:r>
            <a:r>
              <a:rPr dirty="0" baseline="-26455" sz="1575" spc="-330">
                <a:latin typeface="Times New Roman"/>
                <a:cs typeface="Times New Roman"/>
              </a:rPr>
              <a:t>max </a:t>
            </a:r>
            <a:r>
              <a:rPr dirty="0" sz="1850" spc="-95">
                <a:latin typeface="Symbol"/>
                <a:cs typeface="Symbol"/>
              </a:rPr>
              <a:t>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90" i="1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3955" y="4507363"/>
            <a:ext cx="42989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85" i="1">
                <a:latin typeface="Times New Roman"/>
                <a:cs typeface="Times New Roman"/>
              </a:rPr>
              <a:t>CI</a:t>
            </a:r>
            <a:r>
              <a:rPr dirty="0" sz="1850" spc="25" i="1">
                <a:latin typeface="Times New Roman"/>
                <a:cs typeface="Times New Roman"/>
              </a:rPr>
              <a:t> </a:t>
            </a:r>
            <a:r>
              <a:rPr dirty="0" sz="1850" spc="-9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61667" y="4507363"/>
            <a:ext cx="84963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95">
                <a:latin typeface="Symbol"/>
                <a:cs typeface="Symbol"/>
              </a:rPr>
              <a:t></a:t>
            </a:r>
            <a:r>
              <a:rPr dirty="0" sz="1850" spc="-95">
                <a:latin typeface="Times New Roman"/>
                <a:cs typeface="Times New Roman"/>
              </a:rPr>
              <a:t> </a:t>
            </a:r>
            <a:r>
              <a:rPr dirty="0" sz="1850" spc="-90">
                <a:latin typeface="Times New Roman"/>
                <a:cs typeface="Times New Roman"/>
              </a:rPr>
              <a:t>0 </a:t>
            </a:r>
            <a:r>
              <a:rPr dirty="0" sz="1850" spc="-100">
                <a:latin typeface="Times New Roman"/>
                <a:cs typeface="Times New Roman"/>
              </a:rPr>
              <a:t>&lt;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 spc="-75">
                <a:latin typeface="Times New Roman"/>
                <a:cs typeface="Times New Roman"/>
              </a:rPr>
              <a:t>0.1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00921" y="4690468"/>
            <a:ext cx="89725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5">
                <a:latin typeface="Times New Roman"/>
                <a:cs typeface="Times New Roman"/>
              </a:rPr>
              <a:t>(</a:t>
            </a:r>
            <a:r>
              <a:rPr dirty="0" sz="1850" spc="-55" i="1">
                <a:latin typeface="Times New Roman"/>
                <a:cs typeface="Times New Roman"/>
              </a:rPr>
              <a:t>n</a:t>
            </a:r>
            <a:r>
              <a:rPr dirty="0" sz="1850" spc="-200" i="1">
                <a:latin typeface="Times New Roman"/>
                <a:cs typeface="Times New Roman"/>
              </a:rPr>
              <a:t> </a:t>
            </a:r>
            <a:r>
              <a:rPr dirty="0" sz="1850" spc="-95">
                <a:latin typeface="Symbol"/>
                <a:cs typeface="Symbol"/>
              </a:rPr>
              <a:t></a:t>
            </a:r>
            <a:r>
              <a:rPr dirty="0" sz="1850" spc="-95">
                <a:latin typeface="Times New Roman"/>
                <a:cs typeface="Times New Roman"/>
              </a:rPr>
              <a:t>1)</a:t>
            </a:r>
            <a:r>
              <a:rPr dirty="0" sz="1850" spc="-305">
                <a:latin typeface="Times New Roman"/>
                <a:cs typeface="Times New Roman"/>
              </a:rPr>
              <a:t> </a:t>
            </a:r>
            <a:r>
              <a:rPr dirty="0" sz="1850" spc="-90">
                <a:latin typeface="Times New Roman"/>
                <a:cs typeface="Times New Roman"/>
              </a:rPr>
              <a:t>*</a:t>
            </a:r>
            <a:r>
              <a:rPr dirty="0" sz="1850" spc="-240">
                <a:latin typeface="Times New Roman"/>
                <a:cs typeface="Times New Roman"/>
              </a:rPr>
              <a:t> </a:t>
            </a:r>
            <a:r>
              <a:rPr dirty="0" sz="1850" spc="-85" i="1">
                <a:latin typeface="Times New Roman"/>
                <a:cs typeface="Times New Roman"/>
              </a:rPr>
              <a:t>RI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9700" y="5127497"/>
            <a:ext cx="4375150" cy="1429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计算最</a:t>
            </a:r>
            <a:r>
              <a:rPr dirty="0" sz="1400" spc="-1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特征</a:t>
            </a:r>
            <a:r>
              <a:rPr dirty="0" sz="1400" spc="-15">
                <a:latin typeface="宋体"/>
                <a:cs typeface="宋体"/>
              </a:rPr>
              <a:t>值对</a:t>
            </a:r>
            <a:r>
              <a:rPr dirty="0" sz="1400">
                <a:latin typeface="宋体"/>
                <a:cs typeface="宋体"/>
              </a:rPr>
              <a:t>应的特</a:t>
            </a:r>
            <a:r>
              <a:rPr dirty="0" sz="1400" spc="-15">
                <a:latin typeface="宋体"/>
                <a:cs typeface="宋体"/>
              </a:rPr>
              <a:t>征</a:t>
            </a:r>
            <a:r>
              <a:rPr dirty="0" sz="1400">
                <a:latin typeface="宋体"/>
                <a:cs typeface="宋体"/>
              </a:rPr>
              <a:t>向量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tabLst>
                <a:tab pos="1419860" algn="l"/>
                <a:tab pos="2213610" algn="l"/>
                <a:tab pos="3022600" algn="l"/>
                <a:tab pos="3696335" algn="l"/>
              </a:tabLst>
            </a:pPr>
            <a:r>
              <a:rPr dirty="0" sz="1500" spc="-270" i="1">
                <a:latin typeface="Symbol"/>
                <a:cs typeface="Symbol"/>
              </a:rPr>
              <a:t></a:t>
            </a:r>
            <a:r>
              <a:rPr dirty="0" baseline="45138" sz="1200" spc="104" i="1">
                <a:latin typeface="Times New Roman"/>
                <a:cs typeface="Times New Roman"/>
              </a:rPr>
              <a:t>A</a:t>
            </a:r>
            <a:r>
              <a:rPr dirty="0" baseline="45138" sz="1200" i="1">
                <a:latin typeface="Times New Roman"/>
                <a:cs typeface="Times New Roman"/>
              </a:rPr>
              <a:t>  </a:t>
            </a:r>
            <a:r>
              <a:rPr dirty="0" baseline="45138" sz="1200" spc="-135" i="1">
                <a:latin typeface="Times New Roman"/>
                <a:cs typeface="Times New Roman"/>
              </a:rPr>
              <a:t> </a:t>
            </a:r>
            <a:r>
              <a:rPr dirty="0" sz="1400" spc="105">
                <a:latin typeface="Symbol"/>
                <a:cs typeface="Symbol"/>
              </a:rPr>
              <a:t>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baseline="-3003" sz="2775" spc="60">
                <a:latin typeface="Symbol"/>
                <a:cs typeface="Symbol"/>
              </a:rPr>
              <a:t></a:t>
            </a:r>
            <a:r>
              <a:rPr dirty="0" sz="1400" spc="95">
                <a:latin typeface="Times New Roman"/>
                <a:cs typeface="Times New Roman"/>
              </a:rPr>
              <a:t>41.98%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95">
                <a:latin typeface="Times New Roman"/>
                <a:cs typeface="Times New Roman"/>
              </a:rPr>
              <a:t>25.95%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95">
                <a:latin typeface="Times New Roman"/>
                <a:cs typeface="Times New Roman"/>
              </a:rPr>
              <a:t>16.04%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95">
                <a:latin typeface="Times New Roman"/>
                <a:cs typeface="Times New Roman"/>
              </a:rPr>
              <a:t>9.91%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80">
                <a:latin typeface="Times New Roman"/>
                <a:cs typeface="Times New Roman"/>
              </a:rPr>
              <a:t>6.13</a:t>
            </a:r>
            <a:r>
              <a:rPr dirty="0" sz="1400" spc="270">
                <a:latin typeface="Times New Roman"/>
                <a:cs typeface="Times New Roman"/>
              </a:rPr>
              <a:t>%</a:t>
            </a:r>
            <a:r>
              <a:rPr dirty="0" baseline="-3003" sz="2775" spc="-172">
                <a:latin typeface="Symbol"/>
                <a:cs typeface="Symbol"/>
              </a:rPr>
              <a:t></a:t>
            </a:r>
            <a:r>
              <a:rPr dirty="0" baseline="59027" sz="1200" spc="97" i="1">
                <a:latin typeface="Times New Roman"/>
                <a:cs typeface="Times New Roman"/>
              </a:rPr>
              <a:t>T</a:t>
            </a:r>
            <a:endParaRPr baseline="59027" sz="1200">
              <a:latin typeface="Times New Roman"/>
              <a:cs typeface="Times New Roman"/>
            </a:endParaRPr>
          </a:p>
          <a:p>
            <a:pPr marL="75565" marR="23495">
              <a:lnSpc>
                <a:spcPts val="1620"/>
              </a:lnSpc>
              <a:spcBef>
                <a:spcPts val="1750"/>
              </a:spcBef>
            </a:pPr>
            <a:r>
              <a:rPr dirty="0" sz="1400">
                <a:latin typeface="宋体"/>
                <a:cs typeface="宋体"/>
              </a:rPr>
              <a:t>按顺序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别</a:t>
            </a:r>
            <a:r>
              <a:rPr dirty="0" sz="1400" spc="-10">
                <a:latin typeface="宋体"/>
                <a:cs typeface="宋体"/>
              </a:rPr>
              <a:t>为</a:t>
            </a:r>
            <a:r>
              <a:rPr dirty="0" sz="1400" b="1">
                <a:latin typeface="明兰"/>
                <a:cs typeface="明兰"/>
              </a:rPr>
              <a:t>运</a:t>
            </a:r>
            <a:r>
              <a:rPr dirty="0" sz="1400" spc="-15" b="1">
                <a:latin typeface="明兰"/>
                <a:cs typeface="明兰"/>
              </a:rPr>
              <a:t>营</a:t>
            </a:r>
            <a:r>
              <a:rPr dirty="0" sz="1400" b="1">
                <a:latin typeface="明兰"/>
                <a:cs typeface="明兰"/>
              </a:rPr>
              <a:t>能力、</a:t>
            </a:r>
            <a:r>
              <a:rPr dirty="0" sz="1400" spc="-15" b="1">
                <a:latin typeface="明兰"/>
                <a:cs typeface="明兰"/>
              </a:rPr>
              <a:t>偿</a:t>
            </a:r>
            <a:r>
              <a:rPr dirty="0" sz="1400" b="1">
                <a:latin typeface="明兰"/>
                <a:cs typeface="明兰"/>
              </a:rPr>
              <a:t>债能</a:t>
            </a:r>
            <a:r>
              <a:rPr dirty="0" sz="1400" spc="-15" b="1">
                <a:latin typeface="明兰"/>
                <a:cs typeface="明兰"/>
              </a:rPr>
              <a:t>力、</a:t>
            </a:r>
            <a:r>
              <a:rPr dirty="0" sz="1400" b="1">
                <a:latin typeface="明兰"/>
                <a:cs typeface="明兰"/>
              </a:rPr>
              <a:t>盈利能</a:t>
            </a:r>
            <a:r>
              <a:rPr dirty="0" sz="1400" spc="-15" b="1">
                <a:latin typeface="明兰"/>
                <a:cs typeface="明兰"/>
              </a:rPr>
              <a:t>力</a:t>
            </a:r>
            <a:r>
              <a:rPr dirty="0" sz="1400" b="1">
                <a:latin typeface="明兰"/>
                <a:cs typeface="明兰"/>
              </a:rPr>
              <a:t>、公</a:t>
            </a:r>
            <a:r>
              <a:rPr dirty="0" sz="1400" spc="-15" b="1">
                <a:latin typeface="明兰"/>
                <a:cs typeface="明兰"/>
              </a:rPr>
              <a:t>司</a:t>
            </a:r>
            <a:r>
              <a:rPr dirty="0" sz="1400" b="1">
                <a:latin typeface="明兰"/>
                <a:cs typeface="明兰"/>
              </a:rPr>
              <a:t>规 模和成</a:t>
            </a:r>
            <a:r>
              <a:rPr dirty="0" sz="1400" spc="-15" b="1">
                <a:latin typeface="明兰"/>
                <a:cs typeface="明兰"/>
              </a:rPr>
              <a:t>长</a:t>
            </a:r>
            <a:r>
              <a:rPr dirty="0" sz="1400" b="1">
                <a:latin typeface="明兰"/>
                <a:cs typeface="明兰"/>
              </a:rPr>
              <a:t>能力</a:t>
            </a:r>
            <a:r>
              <a:rPr dirty="0" sz="1400" spc="-15">
                <a:latin typeface="宋体"/>
                <a:cs typeface="宋体"/>
              </a:rPr>
              <a:t>的权重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579620" y="789431"/>
            <a:ext cx="0" cy="6041390"/>
          </a:xfrm>
          <a:custGeom>
            <a:avLst/>
            <a:gdLst/>
            <a:ahLst/>
            <a:cxnLst/>
            <a:rect l="l" t="t" r="r" b="b"/>
            <a:pathLst>
              <a:path w="0" h="6041390">
                <a:moveTo>
                  <a:pt x="0" y="0"/>
                </a:moveTo>
                <a:lnTo>
                  <a:pt x="0" y="6041111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669535" y="990600"/>
            <a:ext cx="391795" cy="391795"/>
          </a:xfrm>
          <a:custGeom>
            <a:avLst/>
            <a:gdLst/>
            <a:ahLst/>
            <a:cxnLst/>
            <a:rect l="l" t="t" r="r" b="b"/>
            <a:pathLst>
              <a:path w="391795" h="391794">
                <a:moveTo>
                  <a:pt x="195834" y="0"/>
                </a:moveTo>
                <a:lnTo>
                  <a:pt x="150915" y="5169"/>
                </a:lnTo>
                <a:lnTo>
                  <a:pt x="109690" y="19896"/>
                </a:lnTo>
                <a:lnTo>
                  <a:pt x="73329" y="43007"/>
                </a:lnTo>
                <a:lnTo>
                  <a:pt x="43007" y="73329"/>
                </a:lnTo>
                <a:lnTo>
                  <a:pt x="19896" y="109690"/>
                </a:lnTo>
                <a:lnTo>
                  <a:pt x="5169" y="150915"/>
                </a:lnTo>
                <a:lnTo>
                  <a:pt x="0" y="195834"/>
                </a:lnTo>
                <a:lnTo>
                  <a:pt x="5169" y="240752"/>
                </a:lnTo>
                <a:lnTo>
                  <a:pt x="19896" y="281977"/>
                </a:lnTo>
                <a:lnTo>
                  <a:pt x="43007" y="318338"/>
                </a:lnTo>
                <a:lnTo>
                  <a:pt x="73329" y="348660"/>
                </a:lnTo>
                <a:lnTo>
                  <a:pt x="109690" y="371771"/>
                </a:lnTo>
                <a:lnTo>
                  <a:pt x="150915" y="386498"/>
                </a:lnTo>
                <a:lnTo>
                  <a:pt x="195834" y="391667"/>
                </a:lnTo>
                <a:lnTo>
                  <a:pt x="240752" y="386498"/>
                </a:lnTo>
                <a:lnTo>
                  <a:pt x="281977" y="371771"/>
                </a:lnTo>
                <a:lnTo>
                  <a:pt x="318338" y="348660"/>
                </a:lnTo>
                <a:lnTo>
                  <a:pt x="348660" y="318338"/>
                </a:lnTo>
                <a:lnTo>
                  <a:pt x="371771" y="281977"/>
                </a:lnTo>
                <a:lnTo>
                  <a:pt x="386498" y="240752"/>
                </a:lnTo>
                <a:lnTo>
                  <a:pt x="391667" y="195834"/>
                </a:lnTo>
                <a:lnTo>
                  <a:pt x="386498" y="150915"/>
                </a:lnTo>
                <a:lnTo>
                  <a:pt x="371771" y="109690"/>
                </a:lnTo>
                <a:lnTo>
                  <a:pt x="348660" y="73329"/>
                </a:lnTo>
                <a:lnTo>
                  <a:pt x="318338" y="43007"/>
                </a:lnTo>
                <a:lnTo>
                  <a:pt x="281977" y="19896"/>
                </a:lnTo>
                <a:lnTo>
                  <a:pt x="240752" y="5169"/>
                </a:lnTo>
                <a:lnTo>
                  <a:pt x="19583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774691" y="1074419"/>
            <a:ext cx="213360" cy="211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151882" y="1056894"/>
            <a:ext cx="1625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计算权</a:t>
            </a:r>
            <a:r>
              <a:rPr dirty="0" sz="1400" spc="-15" b="1">
                <a:latin typeface="明兰"/>
                <a:cs typeface="明兰"/>
              </a:rPr>
              <a:t>重</a:t>
            </a:r>
            <a:r>
              <a:rPr dirty="0" sz="1400" b="1">
                <a:latin typeface="明兰"/>
                <a:cs typeface="明兰"/>
              </a:rPr>
              <a:t>（层</a:t>
            </a:r>
            <a:r>
              <a:rPr dirty="0" sz="1400" spc="-15" b="1">
                <a:latin typeface="明兰"/>
                <a:cs typeface="明兰"/>
              </a:rPr>
              <a:t>次二</a:t>
            </a:r>
            <a:r>
              <a:rPr dirty="0" sz="1400" b="1">
                <a:latin typeface="明兰"/>
                <a:cs typeface="明兰"/>
              </a:rPr>
              <a:t>）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76013" y="4901310"/>
            <a:ext cx="386905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计算得</a:t>
            </a:r>
            <a:r>
              <a:rPr dirty="0" sz="1400" spc="-15">
                <a:latin typeface="宋体"/>
                <a:cs typeface="宋体"/>
              </a:rPr>
              <a:t>判</a:t>
            </a:r>
            <a:r>
              <a:rPr dirty="0" sz="1400">
                <a:latin typeface="宋体"/>
                <a:cs typeface="宋体"/>
              </a:rPr>
              <a:t>断矩</a:t>
            </a:r>
            <a:r>
              <a:rPr dirty="0" sz="1400" spc="-15">
                <a:latin typeface="宋体"/>
                <a:cs typeface="宋体"/>
              </a:rPr>
              <a:t>阵的</a:t>
            </a:r>
            <a:r>
              <a:rPr dirty="0" sz="1400">
                <a:latin typeface="宋体"/>
                <a:cs typeface="宋体"/>
              </a:rPr>
              <a:t>特征值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并进</a:t>
            </a:r>
            <a:r>
              <a:rPr dirty="0" sz="1400" spc="-15">
                <a:latin typeface="宋体"/>
                <a:cs typeface="宋体"/>
              </a:rPr>
              <a:t>行一</a:t>
            </a:r>
            <a:r>
              <a:rPr dirty="0" sz="1400">
                <a:latin typeface="宋体"/>
                <a:cs typeface="宋体"/>
              </a:rPr>
              <a:t>致性检验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71596" y="2698150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64914" y="3012301"/>
            <a:ext cx="1206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 i="1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73287" y="2435760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81574" y="2156001"/>
            <a:ext cx="27368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703" sz="2250" spc="-7">
                <a:latin typeface="Symbol"/>
                <a:cs typeface="Symbol"/>
              </a:rPr>
              <a:t></a:t>
            </a:r>
            <a:r>
              <a:rPr dirty="0" baseline="3703" sz="2250" spc="254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1574" y="2329868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54123" y="2568866"/>
            <a:ext cx="53467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Times New Roman"/>
                <a:cs typeface="Times New Roman"/>
              </a:rPr>
              <a:t>B =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baseline="16666" sz="2250" spc="67">
                <a:latin typeface="Symbol"/>
                <a:cs typeface="Symbol"/>
              </a:rPr>
              <a:t></a:t>
            </a:r>
            <a:r>
              <a:rPr dirty="0" baseline="37037" sz="2250" spc="67" i="1">
                <a:latin typeface="Times New Roman"/>
                <a:cs typeface="Times New Roman"/>
              </a:rPr>
              <a:t>a</a:t>
            </a:r>
            <a:endParaRPr baseline="37037" sz="22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1574" y="2641106"/>
            <a:ext cx="32829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6666" sz="2250" spc="89">
                <a:latin typeface="Symbol"/>
                <a:cs typeface="Symbol"/>
              </a:rPr>
              <a:t></a:t>
            </a:r>
            <a:r>
              <a:rPr dirty="0" baseline="-25925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70510" y="2070270"/>
            <a:ext cx="1440815" cy="1110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300">
              <a:lnSpc>
                <a:spcPct val="100000"/>
              </a:lnSpc>
              <a:spcBef>
                <a:spcPts val="95"/>
              </a:spcBef>
              <a:tabLst>
                <a:tab pos="775335" algn="l"/>
              </a:tabLst>
            </a:pPr>
            <a:r>
              <a:rPr dirty="0" baseline="-25925" sz="2250" spc="-7" i="1">
                <a:latin typeface="Times New Roman"/>
                <a:cs typeface="Times New Roman"/>
              </a:rPr>
              <a:t>a</a:t>
            </a:r>
            <a:r>
              <a:rPr dirty="0" sz="850" spc="-5">
                <a:latin typeface="Times New Roman"/>
                <a:cs typeface="Times New Roman"/>
              </a:rPr>
              <a:t>1	</a:t>
            </a:r>
            <a:r>
              <a:rPr dirty="0" baseline="-25925" sz="2250" spc="60" i="1">
                <a:latin typeface="Times New Roman"/>
                <a:cs typeface="Times New Roman"/>
              </a:rPr>
              <a:t>a</a:t>
            </a:r>
            <a:r>
              <a:rPr dirty="0" sz="850" spc="4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  <a:p>
            <a:pPr marL="398780">
              <a:lnSpc>
                <a:spcPts val="1685"/>
              </a:lnSpc>
              <a:spcBef>
                <a:spcPts val="1125"/>
              </a:spcBef>
              <a:tabLst>
                <a:tab pos="785495" algn="l"/>
                <a:tab pos="1163320" algn="l"/>
              </a:tabLst>
            </a:pPr>
            <a:r>
              <a:rPr dirty="0" sz="1500" spc="-5">
                <a:latin typeface="Times New Roman"/>
                <a:cs typeface="Times New Roman"/>
              </a:rPr>
              <a:t>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baseline="45751" sz="1275" spc="-7">
                <a:latin typeface="Times New Roman"/>
                <a:cs typeface="Times New Roman"/>
              </a:rPr>
              <a:t>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sz="1500" spc="280" i="1">
                <a:latin typeface="Times New Roman"/>
                <a:cs typeface="Times New Roman"/>
              </a:rPr>
              <a:t> </a:t>
            </a:r>
            <a:r>
              <a:rPr dirty="0" baseline="-20370" sz="2250" spc="-7">
                <a:latin typeface="Symbol"/>
                <a:cs typeface="Symbol"/>
              </a:rPr>
              <a:t></a:t>
            </a:r>
            <a:endParaRPr baseline="-20370" sz="2250">
              <a:latin typeface="Symbol"/>
              <a:cs typeface="Symbol"/>
            </a:endParaRPr>
          </a:p>
          <a:p>
            <a:pPr marL="331470">
              <a:lnSpc>
                <a:spcPts val="1685"/>
              </a:lnSpc>
              <a:tabLst>
                <a:tab pos="816610" algn="l"/>
                <a:tab pos="1173480" algn="l"/>
              </a:tabLst>
            </a:pPr>
            <a:r>
              <a:rPr dirty="0" baseline="-25925" sz="2250" spc="44" i="1">
                <a:latin typeface="Times New Roman"/>
                <a:cs typeface="Times New Roman"/>
              </a:rPr>
              <a:t>a</a:t>
            </a:r>
            <a:r>
              <a:rPr dirty="0" sz="850" spc="30">
                <a:latin typeface="Symbol"/>
                <a:cs typeface="Symbol"/>
              </a:rPr>
              <a:t></a:t>
            </a:r>
            <a:r>
              <a:rPr dirty="0" sz="850" spc="30">
                <a:latin typeface="Times New Roman"/>
                <a:cs typeface="Times New Roman"/>
              </a:rPr>
              <a:t>1	</a:t>
            </a:r>
            <a:r>
              <a:rPr dirty="0" baseline="-25925" sz="2250" spc="-7">
                <a:latin typeface="Times New Roman"/>
                <a:cs typeface="Times New Roman"/>
              </a:rPr>
              <a:t>1	</a:t>
            </a:r>
            <a:r>
              <a:rPr dirty="0" baseline="-25925" sz="2250" spc="-7" i="1">
                <a:latin typeface="Times New Roman"/>
                <a:cs typeface="Times New Roman"/>
              </a:rPr>
              <a:t>a</a:t>
            </a:r>
            <a:r>
              <a:rPr dirty="0" sz="850" spc="-5">
                <a:latin typeface="Times New Roman"/>
                <a:cs typeface="Times New Roman"/>
              </a:rPr>
              <a:t>1</a:t>
            </a:r>
            <a:r>
              <a:rPr dirty="0" sz="850" spc="-55">
                <a:latin typeface="Times New Roman"/>
                <a:cs typeface="Times New Roman"/>
              </a:rPr>
              <a:t> </a:t>
            </a:r>
            <a:r>
              <a:rPr dirty="0" baseline="-16666" sz="2250" spc="-7">
                <a:latin typeface="Symbol"/>
                <a:cs typeface="Symbol"/>
              </a:rPr>
              <a:t></a:t>
            </a:r>
            <a:endParaRPr baseline="-16666" sz="22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327025" algn="l"/>
                <a:tab pos="749300" algn="l"/>
              </a:tabLst>
            </a:pPr>
            <a:r>
              <a:rPr dirty="0" sz="850" spc="5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3	</a:t>
            </a:r>
            <a:r>
              <a:rPr dirty="0" baseline="-25925" sz="2250" spc="44" i="1">
                <a:latin typeface="Times New Roman"/>
                <a:cs typeface="Times New Roman"/>
              </a:rPr>
              <a:t>a</a:t>
            </a:r>
            <a:r>
              <a:rPr dirty="0" sz="850" spc="30">
                <a:latin typeface="Symbol"/>
                <a:cs typeface="Symbol"/>
              </a:rPr>
              <a:t></a:t>
            </a:r>
            <a:r>
              <a:rPr dirty="0" sz="850" spc="30">
                <a:latin typeface="Times New Roman"/>
                <a:cs typeface="Times New Roman"/>
              </a:rPr>
              <a:t>2	</a:t>
            </a:r>
            <a:r>
              <a:rPr dirty="0" baseline="-25925" sz="2250" spc="44" i="1">
                <a:latin typeface="Times New Roman"/>
                <a:cs typeface="Times New Roman"/>
              </a:rPr>
              <a:t>a</a:t>
            </a:r>
            <a:r>
              <a:rPr dirty="0" sz="850" spc="30">
                <a:latin typeface="Symbol"/>
                <a:cs typeface="Symbol"/>
              </a:rPr>
              <a:t></a:t>
            </a:r>
            <a:r>
              <a:rPr dirty="0" sz="850" spc="3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12452" y="2881293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81574" y="2881293"/>
            <a:ext cx="98425" cy="429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59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1590"/>
              </a:lnSpc>
            </a:pPr>
            <a:r>
              <a:rPr dirty="0" sz="1500" spc="-5">
                <a:latin typeface="Symbol"/>
                <a:cs typeface="Symbol"/>
              </a:rPr>
              <a:t>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62783" y="3012301"/>
            <a:ext cx="24828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Times New Roman"/>
                <a:cs typeface="Times New Roman"/>
              </a:rPr>
              <a:t>1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baseline="-12962" sz="2250" spc="-7">
                <a:latin typeface="Symbol"/>
                <a:cs typeface="Symbol"/>
              </a:rPr>
              <a:t></a:t>
            </a:r>
            <a:endParaRPr baseline="-12962" sz="225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90364" y="1488694"/>
            <a:ext cx="4045585" cy="593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与层次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计算</a:t>
            </a:r>
            <a:r>
              <a:rPr dirty="0" sz="1400" spc="-15">
                <a:latin typeface="宋体"/>
                <a:cs typeface="宋体"/>
              </a:rPr>
              <a:t>相同</a:t>
            </a:r>
            <a:r>
              <a:rPr dirty="0" sz="1400">
                <a:latin typeface="宋体"/>
                <a:cs typeface="宋体"/>
              </a:rPr>
              <a:t>，罗列</a:t>
            </a:r>
            <a:r>
              <a:rPr dirty="0" sz="1400" spc="-15">
                <a:latin typeface="宋体"/>
                <a:cs typeface="宋体"/>
              </a:rPr>
              <a:t>各</a:t>
            </a:r>
            <a:r>
              <a:rPr dirty="0" sz="1400">
                <a:latin typeface="宋体"/>
                <a:cs typeface="宋体"/>
              </a:rPr>
              <a:t>个子</a:t>
            </a:r>
            <a:r>
              <a:rPr dirty="0" sz="1400" spc="-15">
                <a:latin typeface="宋体"/>
                <a:cs typeface="宋体"/>
              </a:rPr>
              <a:t>版块</a:t>
            </a:r>
            <a:r>
              <a:rPr dirty="0" sz="1400">
                <a:latin typeface="宋体"/>
                <a:cs typeface="宋体"/>
              </a:rPr>
              <a:t>的判断</a:t>
            </a:r>
            <a:r>
              <a:rPr dirty="0" sz="1400" spc="-15">
                <a:latin typeface="宋体"/>
                <a:cs typeface="宋体"/>
              </a:rPr>
              <a:t>矩</a:t>
            </a:r>
            <a:r>
              <a:rPr dirty="0" sz="1400">
                <a:latin typeface="宋体"/>
                <a:cs typeface="宋体"/>
              </a:rPr>
              <a:t>阵</a:t>
            </a:r>
            <a:endParaRPr sz="1400">
              <a:latin typeface="宋体"/>
              <a:cs typeface="宋体"/>
            </a:endParaRPr>
          </a:p>
          <a:p>
            <a:pPr marL="803275">
              <a:lnSpc>
                <a:spcPct val="100000"/>
              </a:lnSpc>
              <a:spcBef>
                <a:spcPts val="1105"/>
              </a:spcBef>
              <a:tabLst>
                <a:tab pos="3050540" algn="l"/>
              </a:tabLst>
            </a:pPr>
            <a:r>
              <a:rPr dirty="0" sz="1400">
                <a:latin typeface="宋体"/>
                <a:cs typeface="宋体"/>
              </a:rPr>
              <a:t>营运能力	盈利能力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03431" y="2686702"/>
            <a:ext cx="8064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5">
                <a:latin typeface="Times New Roman"/>
                <a:cs typeface="Times New Roman"/>
              </a:rPr>
              <a:t>3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10120" y="2424641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05768" y="2994763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27808" y="2994763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341587" y="2994763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25088" y="2156001"/>
            <a:ext cx="116713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5510" algn="l"/>
              </a:tabLst>
            </a:pPr>
            <a:r>
              <a:rPr dirty="0" sz="1500" spc="30" i="1">
                <a:latin typeface="Times New Roman"/>
                <a:cs typeface="Times New Roman"/>
              </a:rPr>
              <a:t>a</a:t>
            </a:r>
            <a:r>
              <a:rPr dirty="0" baseline="45751" sz="1275" spc="44">
                <a:latin typeface="Times New Roman"/>
                <a:cs typeface="Times New Roman"/>
              </a:rPr>
              <a:t>3</a:t>
            </a:r>
            <a:r>
              <a:rPr dirty="0" baseline="45751" sz="1275" spc="37">
                <a:latin typeface="Times New Roman"/>
                <a:cs typeface="Times New Roman"/>
              </a:rPr>
              <a:t> </a:t>
            </a:r>
            <a:r>
              <a:rPr dirty="0" baseline="3703" sz="2250" spc="-7">
                <a:latin typeface="Symbol"/>
                <a:cs typeface="Symbol"/>
              </a:rPr>
              <a:t></a:t>
            </a:r>
            <a:r>
              <a:rPr dirty="0" baseline="3703" sz="2250" spc="-7">
                <a:latin typeface="Times New Roman"/>
                <a:cs typeface="Times New Roman"/>
              </a:rPr>
              <a:t>	</a:t>
            </a:r>
            <a:r>
              <a:rPr dirty="0" baseline="5555" sz="2250" spc="-7">
                <a:latin typeface="Symbol"/>
                <a:cs typeface="Symbol"/>
              </a:rPr>
              <a:t></a:t>
            </a:r>
            <a:r>
              <a:rPr dirty="0" baseline="5555" sz="2250" spc="254">
                <a:latin typeface="Times New Roman"/>
                <a:cs typeface="Times New Roman"/>
              </a:rPr>
              <a:t> </a:t>
            </a:r>
            <a:r>
              <a:rPr dirty="0" baseline="3703" sz="2250" spc="-7">
                <a:latin typeface="Times New Roman"/>
                <a:cs typeface="Times New Roman"/>
              </a:rPr>
              <a:t>1</a:t>
            </a:r>
            <a:endParaRPr baseline="3703" sz="22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649858" y="2145233"/>
            <a:ext cx="28956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40" i="1">
                <a:latin typeface="Times New Roman"/>
                <a:cs typeface="Times New Roman"/>
              </a:rPr>
              <a:t>a</a:t>
            </a:r>
            <a:r>
              <a:rPr dirty="0" baseline="42483" sz="1275" spc="60">
                <a:latin typeface="Times New Roman"/>
                <a:cs typeface="Times New Roman"/>
              </a:rPr>
              <a:t>2</a:t>
            </a:r>
            <a:r>
              <a:rPr dirty="0" baseline="42483" sz="1275" spc="-67">
                <a:latin typeface="Times New Roman"/>
                <a:cs typeface="Times New Roman"/>
              </a:rPr>
              <a:t> </a:t>
            </a:r>
            <a:r>
              <a:rPr dirty="0" baseline="3703" sz="2250" spc="-7">
                <a:latin typeface="Symbol"/>
                <a:cs typeface="Symbol"/>
              </a:rPr>
              <a:t></a:t>
            </a:r>
            <a:endParaRPr baseline="3703" sz="225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27224" y="2329868"/>
            <a:ext cx="890269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3910" algn="l"/>
              </a:tabLst>
            </a:pPr>
            <a:r>
              <a:rPr dirty="0" baseline="-13071" sz="1275" spc="7">
                <a:latin typeface="Times New Roman"/>
                <a:cs typeface="Times New Roman"/>
              </a:rPr>
              <a:t>2</a:t>
            </a:r>
            <a:r>
              <a:rPr dirty="0" baseline="-13071" sz="1275" spc="30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Symbol"/>
                <a:cs typeface="Symbol"/>
              </a:rPr>
              <a:t></a:t>
            </a:r>
            <a:r>
              <a:rPr dirty="0" sz="1500">
                <a:latin typeface="Times New Roman"/>
                <a:cs typeface="Times New Roman"/>
              </a:rPr>
              <a:t>	</a:t>
            </a:r>
            <a:r>
              <a:rPr dirty="0" baseline="3703" sz="2250" spc="-7">
                <a:latin typeface="Symbol"/>
                <a:cs typeface="Symbol"/>
              </a:rPr>
              <a:t></a:t>
            </a:r>
            <a:endParaRPr baseline="3703" sz="225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754065" y="2318882"/>
            <a:ext cx="1854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3071" sz="1275" spc="7">
                <a:latin typeface="Times New Roman"/>
                <a:cs typeface="Times New Roman"/>
              </a:rPr>
              <a:t>1</a:t>
            </a:r>
            <a:r>
              <a:rPr dirty="0" baseline="-13071" sz="1275" spc="-52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77633" y="2557580"/>
            <a:ext cx="54800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Times New Roman"/>
                <a:cs typeface="Times New Roman"/>
              </a:rPr>
              <a:t>B =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baseline="16666" sz="2250" spc="67">
                <a:latin typeface="Symbol"/>
                <a:cs typeface="Symbol"/>
              </a:rPr>
              <a:t></a:t>
            </a:r>
            <a:r>
              <a:rPr dirty="0" baseline="37037" sz="2250" spc="67" i="1">
                <a:latin typeface="Times New Roman"/>
                <a:cs typeface="Times New Roman"/>
              </a:rPr>
              <a:t>a</a:t>
            </a:r>
            <a:endParaRPr baseline="37037" sz="22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318494" y="2629730"/>
            <a:ext cx="33274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6666" sz="2250" spc="142">
                <a:latin typeface="Symbol"/>
                <a:cs typeface="Symbol"/>
              </a:rPr>
              <a:t></a:t>
            </a:r>
            <a:r>
              <a:rPr dirty="0" baseline="-24074" sz="2250" spc="112" i="1">
                <a:latin typeface="Times New Roman"/>
                <a:cs typeface="Times New Roman"/>
              </a:rPr>
              <a:t>a</a:t>
            </a: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858504" y="2059608"/>
            <a:ext cx="1080770" cy="9093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6084" algn="l"/>
              </a:tabLst>
            </a:pPr>
            <a:r>
              <a:rPr dirty="0" baseline="-24074" sz="2250" spc="-7" i="1">
                <a:latin typeface="Times New Roman"/>
                <a:cs typeface="Times New Roman"/>
              </a:rPr>
              <a:t>a</a:t>
            </a:r>
            <a:r>
              <a:rPr dirty="0" sz="850" spc="-5">
                <a:latin typeface="Times New Roman"/>
                <a:cs typeface="Times New Roman"/>
              </a:rPr>
              <a:t>1	</a:t>
            </a:r>
            <a:r>
              <a:rPr dirty="0" baseline="-24074" sz="2250" spc="-7" i="1">
                <a:latin typeface="Times New Roman"/>
                <a:cs typeface="Times New Roman"/>
              </a:rPr>
              <a:t>a</a:t>
            </a:r>
            <a:r>
              <a:rPr dirty="0" sz="850" spc="-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1120"/>
              </a:spcBef>
              <a:tabLst>
                <a:tab pos="456565" algn="l"/>
                <a:tab pos="814069" algn="l"/>
              </a:tabLst>
            </a:pPr>
            <a:r>
              <a:rPr dirty="0" sz="1500" spc="-5">
                <a:latin typeface="Times New Roman"/>
                <a:cs typeface="Times New Roman"/>
              </a:rPr>
              <a:t>1	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sz="1500" spc="200" i="1">
                <a:latin typeface="Times New Roman"/>
                <a:cs typeface="Times New Roman"/>
              </a:rPr>
              <a:t> </a:t>
            </a:r>
            <a:r>
              <a:rPr dirty="0" baseline="-20370" sz="2250" spc="-7">
                <a:latin typeface="Symbol"/>
                <a:cs typeface="Symbol"/>
              </a:rPr>
              <a:t></a:t>
            </a:r>
            <a:endParaRPr baseline="-20370" sz="2250">
              <a:latin typeface="Symbol"/>
              <a:cs typeface="Symbol"/>
            </a:endParaRPr>
          </a:p>
          <a:p>
            <a:pPr marL="43180">
              <a:lnSpc>
                <a:spcPct val="100000"/>
              </a:lnSpc>
              <a:spcBef>
                <a:spcPts val="445"/>
              </a:spcBef>
              <a:tabLst>
                <a:tab pos="456565" algn="l"/>
                <a:tab pos="814069" algn="l"/>
              </a:tabLst>
            </a:pPr>
            <a:r>
              <a:rPr dirty="0" sz="1500" spc="-5">
                <a:latin typeface="Times New Roman"/>
                <a:cs typeface="Times New Roman"/>
              </a:rPr>
              <a:t>1	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baseline="42483" sz="1275" spc="-7">
                <a:latin typeface="Times New Roman"/>
                <a:cs typeface="Times New Roman"/>
              </a:rPr>
              <a:t>1</a:t>
            </a:r>
            <a:r>
              <a:rPr dirty="0" baseline="42483" sz="1275" spc="-89">
                <a:latin typeface="Times New Roman"/>
                <a:cs typeface="Times New Roman"/>
              </a:rPr>
              <a:t> </a:t>
            </a:r>
            <a:r>
              <a:rPr dirty="0" baseline="9259" sz="2250" spc="-7">
                <a:latin typeface="Symbol"/>
                <a:cs typeface="Symbol"/>
              </a:rPr>
              <a:t></a:t>
            </a:r>
            <a:endParaRPr baseline="9259" sz="2250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318494" y="2869616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840599" y="2869616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18494" y="3000460"/>
            <a:ext cx="16205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255" algn="l"/>
                <a:tab pos="929640" algn="l"/>
                <a:tab pos="1384935" algn="l"/>
              </a:tabLst>
            </a:pPr>
            <a:r>
              <a:rPr dirty="0" baseline="-12962" sz="2250" spc="44">
                <a:latin typeface="Symbol"/>
                <a:cs typeface="Symbol"/>
              </a:rPr>
              <a:t></a:t>
            </a:r>
            <a:r>
              <a:rPr dirty="0" sz="1500" spc="30" i="1">
                <a:latin typeface="Times New Roman"/>
                <a:cs typeface="Times New Roman"/>
              </a:rPr>
              <a:t>a	</a:t>
            </a:r>
            <a:r>
              <a:rPr dirty="0" sz="1500" spc="-5" i="1">
                <a:latin typeface="Times New Roman"/>
                <a:cs typeface="Times New Roman"/>
              </a:rPr>
              <a:t>a	a	</a:t>
            </a:r>
            <a:r>
              <a:rPr dirty="0" sz="1500" spc="-5">
                <a:latin typeface="Times New Roman"/>
                <a:cs typeface="Times New Roman"/>
              </a:rPr>
              <a:t>1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baseline="-12962" sz="2250" spc="-7">
                <a:latin typeface="Symbol"/>
                <a:cs typeface="Symbol"/>
              </a:rPr>
              <a:t></a:t>
            </a:r>
            <a:endParaRPr baseline="-12962" sz="2250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359146" y="3739997"/>
            <a:ext cx="739140" cy="711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>
                <a:latin typeface="宋体"/>
                <a:cs typeface="宋体"/>
              </a:rPr>
              <a:t>偿债能力 公司规模 </a:t>
            </a:r>
            <a:r>
              <a:rPr dirty="0" sz="1400">
                <a:latin typeface="宋体"/>
                <a:cs typeface="宋体"/>
              </a:rPr>
              <a:t>成长能力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723255" y="3956946"/>
            <a:ext cx="1409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latin typeface="Symbol"/>
                <a:cs typeface="Symbol"/>
              </a:rPr>
              <a:t></a:t>
            </a:r>
            <a:r>
              <a:rPr dirty="0" sz="850" spc="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31575" y="3677289"/>
            <a:ext cx="27368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1851" sz="2250" spc="-7">
                <a:latin typeface="Symbol"/>
                <a:cs typeface="Symbol"/>
              </a:rPr>
              <a:t></a:t>
            </a:r>
            <a:r>
              <a:rPr dirty="0" baseline="1851" sz="2250" spc="254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449591" y="3677289"/>
            <a:ext cx="28956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40" i="1">
                <a:latin typeface="Times New Roman"/>
                <a:cs typeface="Times New Roman"/>
              </a:rPr>
              <a:t>a</a:t>
            </a:r>
            <a:r>
              <a:rPr dirty="0" baseline="42483" sz="1275" spc="60">
                <a:latin typeface="Times New Roman"/>
                <a:cs typeface="Times New Roman"/>
              </a:rPr>
              <a:t>2</a:t>
            </a:r>
            <a:r>
              <a:rPr dirty="0" baseline="42483" sz="1275" spc="-60">
                <a:latin typeface="Times New Roman"/>
                <a:cs typeface="Times New Roman"/>
              </a:rPr>
              <a:t> </a:t>
            </a:r>
            <a:r>
              <a:rPr dirty="0" baseline="1851" sz="2250" spc="-7">
                <a:latin typeface="Symbol"/>
                <a:cs typeface="Symbol"/>
              </a:rPr>
              <a:t></a:t>
            </a:r>
            <a:endParaRPr baseline="1851" sz="2250">
              <a:latin typeface="Symbol"/>
              <a:cs typeface="Symbo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31575" y="3851507"/>
            <a:ext cx="984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553614" y="3851507"/>
            <a:ext cx="1854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13071" sz="1275" spc="7">
                <a:latin typeface="Times New Roman"/>
                <a:cs typeface="Times New Roman"/>
              </a:rPr>
              <a:t>1</a:t>
            </a:r>
            <a:r>
              <a:rPr dirty="0" baseline="-13071" sz="1275" spc="-44">
                <a:latin typeface="Times New Roman"/>
                <a:cs typeface="Times New Roman"/>
              </a:rPr>
              <a:t> </a:t>
            </a:r>
            <a:r>
              <a:rPr dirty="0" sz="1500" spc="-5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553968" y="3962615"/>
            <a:ext cx="118427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10">
                <a:latin typeface="Times New Roman"/>
                <a:cs typeface="Times New Roman"/>
              </a:rPr>
              <a:t>B</a:t>
            </a:r>
            <a:r>
              <a:rPr dirty="0" baseline="-26143" sz="1275" spc="15">
                <a:latin typeface="Times New Roman"/>
                <a:cs typeface="Times New Roman"/>
              </a:rPr>
              <a:t>2 </a:t>
            </a:r>
            <a:r>
              <a:rPr dirty="0" sz="1500" spc="5">
                <a:latin typeface="Times New Roman"/>
                <a:cs typeface="Times New Roman"/>
              </a:rPr>
              <a:t>=B</a:t>
            </a:r>
            <a:r>
              <a:rPr dirty="0" baseline="-26143" sz="1275" spc="7">
                <a:latin typeface="Times New Roman"/>
                <a:cs typeface="Times New Roman"/>
              </a:rPr>
              <a:t>4 </a:t>
            </a:r>
            <a:r>
              <a:rPr dirty="0" sz="1500" spc="-5">
                <a:latin typeface="Times New Roman"/>
                <a:cs typeface="Times New Roman"/>
              </a:rPr>
              <a:t>=B</a:t>
            </a:r>
            <a:r>
              <a:rPr dirty="0" baseline="-26143" sz="1275" spc="-7">
                <a:latin typeface="Times New Roman"/>
                <a:cs typeface="Times New Roman"/>
              </a:rPr>
              <a:t>5 </a:t>
            </a:r>
            <a:r>
              <a:rPr dirty="0" sz="1500" spc="-5">
                <a:latin typeface="Times New Roman"/>
                <a:cs typeface="Times New Roman"/>
              </a:rPr>
              <a:t>=</a:t>
            </a:r>
            <a:r>
              <a:rPr dirty="0" sz="1500" spc="-254">
                <a:latin typeface="Times New Roman"/>
                <a:cs typeface="Times New Roman"/>
              </a:rPr>
              <a:t> </a:t>
            </a:r>
            <a:r>
              <a:rPr dirty="0" baseline="-20370" sz="2250" spc="67">
                <a:latin typeface="Symbol"/>
                <a:cs typeface="Symbol"/>
              </a:rPr>
              <a:t></a:t>
            </a:r>
            <a:r>
              <a:rPr dirty="0" sz="1500" spc="45" i="1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531575" y="3591574"/>
            <a:ext cx="1207135" cy="824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6990">
              <a:lnSpc>
                <a:spcPct val="100000"/>
              </a:lnSpc>
              <a:spcBef>
                <a:spcPts val="95"/>
              </a:spcBef>
            </a:pPr>
            <a:r>
              <a:rPr dirty="0" baseline="-24074" sz="2250" spc="-7" i="1">
                <a:latin typeface="Times New Roman"/>
                <a:cs typeface="Times New Roman"/>
              </a:rPr>
              <a:t>a</a:t>
            </a:r>
            <a:r>
              <a:rPr dirty="0" sz="850" spc="-5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  <a:p>
            <a:pPr marL="582295">
              <a:lnSpc>
                <a:spcPts val="1685"/>
              </a:lnSpc>
              <a:spcBef>
                <a:spcPts val="1125"/>
              </a:spcBef>
              <a:tabLst>
                <a:tab pos="940435" algn="l"/>
              </a:tabLst>
            </a:pPr>
            <a:r>
              <a:rPr dirty="0" sz="1500" spc="-5">
                <a:latin typeface="Times New Roman"/>
                <a:cs typeface="Times New Roman"/>
              </a:rPr>
              <a:t>1	</a:t>
            </a:r>
            <a:r>
              <a:rPr dirty="0" sz="1500" spc="-5" i="1">
                <a:latin typeface="Times New Roman"/>
                <a:cs typeface="Times New Roman"/>
              </a:rPr>
              <a:t>a</a:t>
            </a:r>
            <a:r>
              <a:rPr dirty="0" sz="1500" spc="200" i="1">
                <a:latin typeface="Times New Roman"/>
                <a:cs typeface="Times New Roman"/>
              </a:rPr>
              <a:t> </a:t>
            </a:r>
            <a:r>
              <a:rPr dirty="0" baseline="-20370" sz="2250" spc="-7">
                <a:latin typeface="Symbol"/>
                <a:cs typeface="Symbol"/>
              </a:rPr>
              <a:t></a:t>
            </a:r>
            <a:endParaRPr baseline="-20370" sz="2250">
              <a:latin typeface="Symbol"/>
              <a:cs typeface="Symbol"/>
            </a:endParaRPr>
          </a:p>
          <a:p>
            <a:pPr algn="ctr">
              <a:lnSpc>
                <a:spcPts val="1685"/>
              </a:lnSpc>
              <a:tabLst>
                <a:tab pos="503555" algn="l"/>
                <a:tab pos="958850" algn="l"/>
              </a:tabLst>
            </a:pPr>
            <a:r>
              <a:rPr dirty="0" baseline="-16666" sz="2250" spc="-127">
                <a:latin typeface="Symbol"/>
                <a:cs typeface="Symbol"/>
              </a:rPr>
              <a:t></a:t>
            </a:r>
            <a:r>
              <a:rPr dirty="0" baseline="-46296" sz="2250" spc="-127">
                <a:latin typeface="Symbol"/>
                <a:cs typeface="Symbol"/>
              </a:rPr>
              <a:t></a:t>
            </a:r>
            <a:r>
              <a:rPr dirty="0" baseline="-24074" sz="2250" spc="-127" i="1">
                <a:latin typeface="Times New Roman"/>
                <a:cs typeface="Times New Roman"/>
              </a:rPr>
              <a:t>a</a:t>
            </a:r>
            <a:r>
              <a:rPr dirty="0" sz="850" spc="-85">
                <a:latin typeface="Symbol"/>
                <a:cs typeface="Symbol"/>
              </a:rPr>
              <a:t></a:t>
            </a:r>
            <a:r>
              <a:rPr dirty="0" sz="850" spc="-85">
                <a:latin typeface="Times New Roman"/>
                <a:cs typeface="Times New Roman"/>
              </a:rPr>
              <a:t>2	</a:t>
            </a:r>
            <a:r>
              <a:rPr dirty="0" baseline="-24074" sz="2250" spc="44" i="1">
                <a:latin typeface="Times New Roman"/>
                <a:cs typeface="Times New Roman"/>
              </a:rPr>
              <a:t>a</a:t>
            </a:r>
            <a:r>
              <a:rPr dirty="0" sz="850" spc="30">
                <a:latin typeface="Symbol"/>
                <a:cs typeface="Symbol"/>
              </a:rPr>
              <a:t></a:t>
            </a:r>
            <a:r>
              <a:rPr dirty="0" sz="850" spc="30">
                <a:latin typeface="Times New Roman"/>
                <a:cs typeface="Times New Roman"/>
              </a:rPr>
              <a:t>1	</a:t>
            </a:r>
            <a:r>
              <a:rPr dirty="0" baseline="-24074" sz="2250" spc="-7">
                <a:latin typeface="Times New Roman"/>
                <a:cs typeface="Times New Roman"/>
              </a:rPr>
              <a:t>1</a:t>
            </a:r>
            <a:r>
              <a:rPr dirty="0" baseline="-24074" sz="2250" spc="-67">
                <a:latin typeface="Times New Roman"/>
                <a:cs typeface="Times New Roman"/>
              </a:rPr>
              <a:t> </a:t>
            </a:r>
            <a:r>
              <a:rPr dirty="0" baseline="-16666" sz="2250" spc="-434">
                <a:latin typeface="Symbol"/>
                <a:cs typeface="Symbol"/>
              </a:rPr>
              <a:t></a:t>
            </a:r>
            <a:r>
              <a:rPr dirty="0" baseline="-46296" sz="2250" spc="-434">
                <a:latin typeface="Symbol"/>
                <a:cs typeface="Symbol"/>
              </a:rPr>
              <a:t></a:t>
            </a:r>
            <a:endParaRPr baseline="-46296" sz="2250">
              <a:latin typeface="Symbol"/>
              <a:cs typeface="Symbo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819141" y="5542279"/>
            <a:ext cx="4221480" cy="603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812791" y="5542788"/>
            <a:ext cx="4234815" cy="0"/>
          </a:xfrm>
          <a:custGeom>
            <a:avLst/>
            <a:gdLst/>
            <a:ahLst/>
            <a:cxnLst/>
            <a:rect l="l" t="t" r="r" b="b"/>
            <a:pathLst>
              <a:path w="4234815" h="0">
                <a:moveTo>
                  <a:pt x="0" y="0"/>
                </a:moveTo>
                <a:lnTo>
                  <a:pt x="423456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812791" y="5844387"/>
            <a:ext cx="4234815" cy="0"/>
          </a:xfrm>
          <a:custGeom>
            <a:avLst/>
            <a:gdLst/>
            <a:ahLst/>
            <a:cxnLst/>
            <a:rect l="l" t="t" r="r" b="b"/>
            <a:pathLst>
              <a:path w="4234815" h="0">
                <a:moveTo>
                  <a:pt x="0" y="0"/>
                </a:moveTo>
                <a:lnTo>
                  <a:pt x="423456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4812791" y="5275326"/>
          <a:ext cx="4241165" cy="877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691515"/>
                <a:gridCol w="691515"/>
                <a:gridCol w="691515"/>
                <a:gridCol w="691514"/>
                <a:gridCol w="691514"/>
              </a:tblGrid>
              <a:tr h="261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4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21604" sz="1350" spc="7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baseline="-21604" sz="13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4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21604" sz="1350" spc="7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baseline="-21604" sz="13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4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21604" sz="1350" spc="7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baseline="-21604" sz="135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4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12345" sz="1350" spc="7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baseline="-12345" sz="13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4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12345" sz="1350" spc="7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baseline="-12345" sz="13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60000"/>
                    </a:solidFill>
                  </a:tcPr>
                </a:tc>
              </a:tr>
              <a:tr h="305915">
                <a:tc rowSpan="2"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baseline="13468" sz="2475" spc="-217" i="1">
                          <a:latin typeface="Symbol"/>
                          <a:cs typeface="Symbol"/>
                        </a:rPr>
                        <a:t></a:t>
                      </a:r>
                      <a:r>
                        <a:rPr dirty="0" sz="900" spc="-145">
                          <a:latin typeface="Times New Roman"/>
                          <a:cs typeface="Times New Roman"/>
                        </a:rPr>
                        <a:t>max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933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>
                          <a:latin typeface="Cambria Math"/>
                          <a:cs typeface="Cambria Math"/>
                        </a:rPr>
                        <a:t>𝐶𝐼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4.0465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3.0748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4.0186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3.0748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3.0748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</a:tr>
              <a:tr h="29730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0.017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0.064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0.007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0.064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0.064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22326"/>
            <a:ext cx="348996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7A2121"/>
                </a:solidFill>
                <a:latin typeface="Arial"/>
                <a:cs typeface="Arial"/>
              </a:rPr>
              <a:t>AHP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层次分析法</a:t>
            </a:r>
            <a:r>
              <a:rPr dirty="0" sz="1800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1800" spc="10" b="1">
                <a:solidFill>
                  <a:srgbClr val="7A2121"/>
                </a:solidFill>
                <a:latin typeface="明兰"/>
                <a:cs typeface="明兰"/>
              </a:rPr>
              <a:t>最终权重确定</a:t>
            </a:r>
            <a:endParaRPr sz="1800">
              <a:latin typeface="明兰"/>
              <a:cs typeface="明兰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57525" y="4801615"/>
            <a:ext cx="1147445" cy="1509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20"/>
              </a:spcBef>
            </a:pPr>
            <a:r>
              <a:rPr dirty="0" sz="1400">
                <a:latin typeface="宋体"/>
                <a:cs typeface="宋体"/>
              </a:rPr>
              <a:t>将层次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和层 次二权</a:t>
            </a:r>
            <a:r>
              <a:rPr dirty="0" sz="1400" spc="-15">
                <a:latin typeface="宋体"/>
                <a:cs typeface="宋体"/>
              </a:rPr>
              <a:t>重</a:t>
            </a:r>
            <a:r>
              <a:rPr dirty="0" sz="1400">
                <a:latin typeface="宋体"/>
                <a:cs typeface="宋体"/>
              </a:rPr>
              <a:t>组 合，得</a:t>
            </a:r>
            <a:r>
              <a:rPr dirty="0" sz="1400" spc="-15">
                <a:latin typeface="宋体"/>
                <a:cs typeface="宋体"/>
              </a:rPr>
              <a:t>到</a:t>
            </a:r>
            <a:r>
              <a:rPr dirty="0" sz="1400">
                <a:latin typeface="宋体"/>
                <a:cs typeface="宋体"/>
              </a:rPr>
              <a:t>每个 细分指</a:t>
            </a:r>
            <a:r>
              <a:rPr dirty="0" sz="1400" spc="-1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的权 </a:t>
            </a:r>
            <a:r>
              <a:rPr dirty="0" sz="1400" spc="15">
                <a:latin typeface="宋体"/>
                <a:cs typeface="宋体"/>
              </a:rPr>
              <a:t>重</a:t>
            </a:r>
            <a:r>
              <a:rPr dirty="0" sz="1400" spc="5">
                <a:latin typeface="Arial"/>
                <a:cs typeface="Arial"/>
              </a:rPr>
              <a:t>,</a:t>
            </a:r>
            <a:r>
              <a:rPr dirty="0" sz="1400">
                <a:latin typeface="宋体"/>
                <a:cs typeface="宋体"/>
              </a:rPr>
              <a:t>如左图指标</a:t>
            </a:r>
            <a:endParaRPr sz="1400">
              <a:latin typeface="宋体"/>
              <a:cs typeface="宋体"/>
            </a:endParaRPr>
          </a:p>
          <a:p>
            <a:pPr marL="12700" marR="311150">
              <a:lnSpc>
                <a:spcPts val="1660"/>
              </a:lnSpc>
              <a:spcBef>
                <a:spcPts val="70"/>
              </a:spcBef>
            </a:pPr>
            <a:r>
              <a:rPr dirty="0" sz="1400" spc="-5">
                <a:latin typeface="Arial"/>
                <a:cs typeface="Arial"/>
              </a:rPr>
              <a:t>a</a:t>
            </a:r>
            <a:r>
              <a:rPr dirty="0" sz="1400" spc="10">
                <a:latin typeface="宋体"/>
                <a:cs typeface="宋体"/>
              </a:rPr>
              <a:t>的权</a:t>
            </a:r>
            <a:r>
              <a:rPr dirty="0" sz="1400">
                <a:latin typeface="宋体"/>
                <a:cs typeface="宋体"/>
              </a:rPr>
              <a:t>重为  </a:t>
            </a:r>
            <a:r>
              <a:rPr dirty="0" sz="1400" spc="-10">
                <a:latin typeface="Arial"/>
                <a:cs typeface="Arial"/>
              </a:rPr>
              <a:t>w1*wa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4968" y="996696"/>
            <a:ext cx="390525" cy="391795"/>
          </a:xfrm>
          <a:custGeom>
            <a:avLst/>
            <a:gdLst/>
            <a:ahLst/>
            <a:cxnLst/>
            <a:rect l="l" t="t" r="r" b="b"/>
            <a:pathLst>
              <a:path w="390525" h="391794">
                <a:moveTo>
                  <a:pt x="195072" y="0"/>
                </a:moveTo>
                <a:lnTo>
                  <a:pt x="150344" y="5169"/>
                </a:lnTo>
                <a:lnTo>
                  <a:pt x="109284" y="19896"/>
                </a:lnTo>
                <a:lnTo>
                  <a:pt x="73064" y="43007"/>
                </a:lnTo>
                <a:lnTo>
                  <a:pt x="42855" y="73329"/>
                </a:lnTo>
                <a:lnTo>
                  <a:pt x="19827" y="109690"/>
                </a:lnTo>
                <a:lnTo>
                  <a:pt x="5152" y="150915"/>
                </a:lnTo>
                <a:lnTo>
                  <a:pt x="0" y="195833"/>
                </a:lnTo>
                <a:lnTo>
                  <a:pt x="5152" y="240752"/>
                </a:lnTo>
                <a:lnTo>
                  <a:pt x="19827" y="281977"/>
                </a:lnTo>
                <a:lnTo>
                  <a:pt x="42855" y="318338"/>
                </a:lnTo>
                <a:lnTo>
                  <a:pt x="73064" y="348660"/>
                </a:lnTo>
                <a:lnTo>
                  <a:pt x="109284" y="371771"/>
                </a:lnTo>
                <a:lnTo>
                  <a:pt x="150344" y="386498"/>
                </a:lnTo>
                <a:lnTo>
                  <a:pt x="195072" y="391667"/>
                </a:lnTo>
                <a:lnTo>
                  <a:pt x="239799" y="386498"/>
                </a:lnTo>
                <a:lnTo>
                  <a:pt x="280859" y="371771"/>
                </a:lnTo>
                <a:lnTo>
                  <a:pt x="317079" y="348660"/>
                </a:lnTo>
                <a:lnTo>
                  <a:pt x="347288" y="318338"/>
                </a:lnTo>
                <a:lnTo>
                  <a:pt x="370316" y="281977"/>
                </a:lnTo>
                <a:lnTo>
                  <a:pt x="384991" y="240752"/>
                </a:lnTo>
                <a:lnTo>
                  <a:pt x="390144" y="195833"/>
                </a:lnTo>
                <a:lnTo>
                  <a:pt x="384991" y="150915"/>
                </a:lnTo>
                <a:lnTo>
                  <a:pt x="370316" y="109690"/>
                </a:lnTo>
                <a:lnTo>
                  <a:pt x="347288" y="73329"/>
                </a:lnTo>
                <a:lnTo>
                  <a:pt x="317079" y="43007"/>
                </a:lnTo>
                <a:lnTo>
                  <a:pt x="280859" y="19896"/>
                </a:lnTo>
                <a:lnTo>
                  <a:pt x="239799" y="5169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0124" y="1078991"/>
            <a:ext cx="211835" cy="211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6044" y="1062355"/>
            <a:ext cx="1625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计算权</a:t>
            </a:r>
            <a:r>
              <a:rPr dirty="0" sz="1400" spc="-15" b="1">
                <a:latin typeface="明兰"/>
                <a:cs typeface="明兰"/>
              </a:rPr>
              <a:t>重</a:t>
            </a:r>
            <a:r>
              <a:rPr dirty="0" sz="1400" b="1">
                <a:latin typeface="明兰"/>
                <a:cs typeface="明兰"/>
              </a:rPr>
              <a:t>（层</a:t>
            </a:r>
            <a:r>
              <a:rPr dirty="0" sz="1400" spc="-15" b="1">
                <a:latin typeface="明兰"/>
                <a:cs typeface="明兰"/>
              </a:rPr>
              <a:t>次二</a:t>
            </a:r>
            <a:r>
              <a:rPr dirty="0" sz="1400" b="1">
                <a:latin typeface="明兰"/>
                <a:cs typeface="明兰"/>
              </a:rPr>
              <a:t>）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71" y="1494282"/>
            <a:ext cx="28054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计算最</a:t>
            </a:r>
            <a:r>
              <a:rPr dirty="0" sz="1400" spc="-10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特征</a:t>
            </a:r>
            <a:r>
              <a:rPr dirty="0" sz="1400" spc="-10">
                <a:latin typeface="宋体"/>
                <a:cs typeface="宋体"/>
              </a:rPr>
              <a:t>值对</a:t>
            </a:r>
            <a:r>
              <a:rPr dirty="0" sz="1400">
                <a:latin typeface="宋体"/>
                <a:cs typeface="宋体"/>
              </a:rPr>
              <a:t>应的特</a:t>
            </a:r>
            <a:r>
              <a:rPr dirty="0" sz="1400" spc="-10">
                <a:latin typeface="宋体"/>
                <a:cs typeface="宋体"/>
              </a:rPr>
              <a:t>征</a:t>
            </a:r>
            <a:r>
              <a:rPr dirty="0" sz="1400">
                <a:latin typeface="宋体"/>
                <a:cs typeface="宋体"/>
              </a:rPr>
              <a:t>向量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9050" y="1877857"/>
            <a:ext cx="62865" cy="104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0" spc="4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5558" y="1797290"/>
            <a:ext cx="64452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40">
                <a:latin typeface="Symbol"/>
                <a:cs typeface="Symbol"/>
              </a:rPr>
              <a:t></a:t>
            </a:r>
            <a:r>
              <a:rPr dirty="0" baseline="4629" sz="1800" spc="142">
                <a:latin typeface="Times New Roman"/>
                <a:cs typeface="Times New Roman"/>
              </a:rPr>
              <a:t>40.67%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1297" y="1797290"/>
            <a:ext cx="69088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4629" sz="1800" spc="142">
                <a:latin typeface="Times New Roman"/>
                <a:cs typeface="Times New Roman"/>
              </a:rPr>
              <a:t>12.81%</a:t>
            </a:r>
            <a:r>
              <a:rPr dirty="0" baseline="4629" sz="1800" spc="179">
                <a:latin typeface="Times New Roman"/>
                <a:cs typeface="Times New Roman"/>
              </a:rPr>
              <a:t> </a:t>
            </a:r>
            <a:r>
              <a:rPr dirty="0" sz="1600" spc="-75">
                <a:latin typeface="Symbol"/>
                <a:cs typeface="Symbol"/>
              </a:rPr>
              <a:t>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54606" y="1806602"/>
            <a:ext cx="82550" cy="134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55" i="1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1823085"/>
            <a:ext cx="13290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18844" algn="l"/>
              </a:tabLst>
            </a:pPr>
            <a:r>
              <a:rPr dirty="0" sz="1400" b="1">
                <a:latin typeface="明兰"/>
                <a:cs typeface="明兰"/>
              </a:rPr>
              <a:t>营运能力	</a:t>
            </a:r>
            <a:r>
              <a:rPr dirty="0" baseline="2136" sz="1950" spc="-150" i="1">
                <a:latin typeface="Symbol"/>
                <a:cs typeface="Symbol"/>
              </a:rPr>
              <a:t></a:t>
            </a:r>
            <a:r>
              <a:rPr dirty="0" baseline="51587" sz="1050" spc="-150" i="1">
                <a:latin typeface="Times New Roman"/>
                <a:cs typeface="Times New Roman"/>
              </a:rPr>
              <a:t>B</a:t>
            </a:r>
            <a:r>
              <a:rPr dirty="0" baseline="51587" sz="1050" spc="-135" i="1">
                <a:latin typeface="Times New Roman"/>
                <a:cs typeface="Times New Roman"/>
              </a:rPr>
              <a:t> </a:t>
            </a:r>
            <a:r>
              <a:rPr dirty="0" baseline="2314" sz="1800" spc="157">
                <a:latin typeface="Symbol"/>
                <a:cs typeface="Symbol"/>
              </a:rPr>
              <a:t></a:t>
            </a:r>
            <a:endParaRPr baseline="2314" sz="1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2280666"/>
            <a:ext cx="739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盈利能力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2405" y="1834786"/>
            <a:ext cx="1293495" cy="677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06755" algn="l"/>
              </a:tabLst>
            </a:pPr>
            <a:r>
              <a:rPr dirty="0" sz="1200" spc="95">
                <a:latin typeface="Times New Roman"/>
                <a:cs typeface="Times New Roman"/>
              </a:rPr>
              <a:t>27.67%	18.83%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  <a:tabLst>
                <a:tab pos="734060" algn="l"/>
              </a:tabLst>
            </a:pPr>
            <a:r>
              <a:rPr dirty="0" sz="1200" spc="95">
                <a:latin typeface="Times New Roman"/>
                <a:cs typeface="Times New Roman"/>
              </a:rPr>
              <a:t>24.10%</a:t>
            </a:r>
            <a:r>
              <a:rPr dirty="0" sz="1200" spc="95">
                <a:latin typeface="Times New Roman"/>
                <a:cs typeface="Times New Roman"/>
              </a:rPr>
              <a:t>	</a:t>
            </a:r>
            <a:r>
              <a:rPr dirty="0" sz="1200" spc="95">
                <a:latin typeface="Times New Roman"/>
                <a:cs typeface="Times New Roman"/>
              </a:rPr>
              <a:t>24.10%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8727" y="2260587"/>
            <a:ext cx="74549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4629" sz="1800" spc="142">
                <a:latin typeface="Times New Roman"/>
                <a:cs typeface="Times New Roman"/>
              </a:rPr>
              <a:t>16.39%</a:t>
            </a:r>
            <a:r>
              <a:rPr dirty="0" baseline="4629" sz="1800" spc="142">
                <a:latin typeface="Times New Roman"/>
                <a:cs typeface="Times New Roman"/>
              </a:rPr>
              <a:t> 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sz="1600" spc="-100">
                <a:latin typeface="Symbol"/>
                <a:cs typeface="Symbol"/>
              </a:rPr>
              <a:t></a:t>
            </a:r>
            <a:r>
              <a:rPr dirty="0" baseline="67460" sz="1050" spc="82" i="1">
                <a:latin typeface="Times New Roman"/>
                <a:cs typeface="Times New Roman"/>
              </a:rPr>
              <a:t>T</a:t>
            </a:r>
            <a:endParaRPr baseline="67460"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5556" y="2260587"/>
            <a:ext cx="108331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4273" sz="1950" spc="-397" i="1">
                <a:latin typeface="Symbol"/>
                <a:cs typeface="Symbol"/>
              </a:rPr>
              <a:t></a:t>
            </a:r>
            <a:r>
              <a:rPr dirty="0" baseline="51587" sz="1050" spc="44" i="1">
                <a:latin typeface="Times New Roman"/>
                <a:cs typeface="Times New Roman"/>
              </a:rPr>
              <a:t>B</a:t>
            </a:r>
            <a:r>
              <a:rPr dirty="0" baseline="50000" sz="750" spc="60">
                <a:latin typeface="Times New Roman"/>
                <a:cs typeface="Times New Roman"/>
              </a:rPr>
              <a:t>2</a:t>
            </a:r>
            <a:r>
              <a:rPr dirty="0" baseline="50000" sz="750">
                <a:latin typeface="Times New Roman"/>
                <a:cs typeface="Times New Roman"/>
              </a:rPr>
              <a:t>   </a:t>
            </a:r>
            <a:r>
              <a:rPr dirty="0" baseline="50000" sz="750" spc="15">
                <a:latin typeface="Times New Roman"/>
                <a:cs typeface="Times New Roman"/>
              </a:rPr>
              <a:t> </a:t>
            </a:r>
            <a:r>
              <a:rPr dirty="0" baseline="4629" sz="1800" spc="157">
                <a:latin typeface="Symbol"/>
                <a:cs typeface="Symbol"/>
              </a:rPr>
              <a:t>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Symbol"/>
                <a:cs typeface="Symbol"/>
              </a:rPr>
              <a:t></a:t>
            </a:r>
            <a:r>
              <a:rPr dirty="0" baseline="4629" sz="1800" spc="142">
                <a:latin typeface="Times New Roman"/>
                <a:cs typeface="Times New Roman"/>
              </a:rPr>
              <a:t>35.41%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39" y="2702153"/>
            <a:ext cx="73914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偿债能力 公司规模 成长能力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06557" y="2938162"/>
            <a:ext cx="57150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95">
                <a:latin typeface="Times New Roman"/>
                <a:cs typeface="Times New Roman"/>
              </a:rPr>
              <a:t>32.43%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20375" y="2900666"/>
            <a:ext cx="69596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4629" sz="1800" spc="127">
                <a:latin typeface="Times New Roman"/>
                <a:cs typeface="Times New Roman"/>
              </a:rPr>
              <a:t>24.29</a:t>
            </a:r>
            <a:r>
              <a:rPr dirty="0" baseline="4629" sz="1800" spc="375">
                <a:latin typeface="Times New Roman"/>
                <a:cs typeface="Times New Roman"/>
              </a:rPr>
              <a:t>%</a:t>
            </a:r>
            <a:r>
              <a:rPr dirty="0" sz="1600" spc="-95">
                <a:latin typeface="Symbol"/>
                <a:cs typeface="Symbol"/>
              </a:rPr>
              <a:t></a:t>
            </a:r>
            <a:r>
              <a:rPr dirty="0" baseline="67460" sz="1050" spc="82" i="1">
                <a:latin typeface="Times New Roman"/>
                <a:cs typeface="Times New Roman"/>
              </a:rPr>
              <a:t>T</a:t>
            </a:r>
            <a:endParaRPr baseline="67460"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5555" y="2900666"/>
            <a:ext cx="108394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4273" sz="1950" spc="-397" i="1">
                <a:latin typeface="Symbol"/>
                <a:cs typeface="Symbol"/>
              </a:rPr>
              <a:t></a:t>
            </a:r>
            <a:r>
              <a:rPr dirty="0" baseline="51587" sz="1050" spc="15" i="1">
                <a:latin typeface="Times New Roman"/>
                <a:cs typeface="Times New Roman"/>
              </a:rPr>
              <a:t>B</a:t>
            </a:r>
            <a:r>
              <a:rPr dirty="0" baseline="50000" sz="750" spc="60">
                <a:latin typeface="Times New Roman"/>
                <a:cs typeface="Times New Roman"/>
              </a:rPr>
              <a:t>3</a:t>
            </a:r>
            <a:r>
              <a:rPr dirty="0" baseline="50000" sz="750">
                <a:latin typeface="Times New Roman"/>
                <a:cs typeface="Times New Roman"/>
              </a:rPr>
              <a:t>   </a:t>
            </a:r>
            <a:r>
              <a:rPr dirty="0" baseline="50000" sz="750" spc="-15">
                <a:latin typeface="Times New Roman"/>
                <a:cs typeface="Times New Roman"/>
              </a:rPr>
              <a:t> </a:t>
            </a:r>
            <a:r>
              <a:rPr dirty="0" baseline="4629" sz="1800" spc="157">
                <a:latin typeface="Symbol"/>
                <a:cs typeface="Symbol"/>
              </a:rPr>
              <a:t>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sz="1600" spc="40">
                <a:latin typeface="Symbol"/>
                <a:cs typeface="Symbol"/>
              </a:rPr>
              <a:t></a:t>
            </a:r>
            <a:r>
              <a:rPr dirty="0" baseline="4629" sz="1800" spc="142">
                <a:latin typeface="Times New Roman"/>
                <a:cs typeface="Times New Roman"/>
              </a:rPr>
              <a:t>43.28%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2776" y="3998976"/>
            <a:ext cx="2630805" cy="277495"/>
          </a:xfrm>
          <a:custGeom>
            <a:avLst/>
            <a:gdLst/>
            <a:ahLst/>
            <a:cxnLst/>
            <a:rect l="l" t="t" r="r" b="b"/>
            <a:pathLst>
              <a:path w="2630805" h="277495">
                <a:moveTo>
                  <a:pt x="0" y="277368"/>
                </a:moveTo>
                <a:lnTo>
                  <a:pt x="2630424" y="277368"/>
                </a:lnTo>
                <a:lnTo>
                  <a:pt x="2630424" y="0"/>
                </a:lnTo>
                <a:lnTo>
                  <a:pt x="0" y="0"/>
                </a:lnTo>
                <a:lnTo>
                  <a:pt x="0" y="277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4271" y="3558032"/>
            <a:ext cx="2805430" cy="6807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计算最</a:t>
            </a:r>
            <a:r>
              <a:rPr dirty="0" sz="1400" spc="-10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特征</a:t>
            </a:r>
            <a:r>
              <a:rPr dirty="0" sz="1400" spc="-10">
                <a:latin typeface="宋体"/>
                <a:cs typeface="宋体"/>
              </a:rPr>
              <a:t>值对</a:t>
            </a:r>
            <a:r>
              <a:rPr dirty="0" sz="1400">
                <a:latin typeface="宋体"/>
                <a:cs typeface="宋体"/>
              </a:rPr>
              <a:t>应的特</a:t>
            </a:r>
            <a:r>
              <a:rPr dirty="0" sz="1400" spc="-10">
                <a:latin typeface="宋体"/>
                <a:cs typeface="宋体"/>
              </a:rPr>
              <a:t>征</a:t>
            </a:r>
            <a:r>
              <a:rPr dirty="0" sz="1400">
                <a:latin typeface="宋体"/>
                <a:cs typeface="宋体"/>
              </a:rPr>
              <a:t>向量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</a:pPr>
            <a:r>
              <a:rPr dirty="0" sz="1200" b="1">
                <a:latin typeface="明兰"/>
                <a:cs typeface="明兰"/>
              </a:rPr>
              <a:t>组合权向量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4325111"/>
            <a:ext cx="3136391" cy="25328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72000" y="751331"/>
            <a:ext cx="0" cy="6106795"/>
          </a:xfrm>
          <a:custGeom>
            <a:avLst/>
            <a:gdLst/>
            <a:ahLst/>
            <a:cxnLst/>
            <a:rect l="l" t="t" r="r" b="b"/>
            <a:pathLst>
              <a:path w="0" h="6106795">
                <a:moveTo>
                  <a:pt x="0" y="0"/>
                </a:moveTo>
                <a:lnTo>
                  <a:pt x="0" y="610666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65265" y="1183982"/>
            <a:ext cx="1595120" cy="236854"/>
          </a:xfrm>
          <a:custGeom>
            <a:avLst/>
            <a:gdLst/>
            <a:ahLst/>
            <a:cxnLst/>
            <a:rect l="l" t="t" r="r" b="b"/>
            <a:pathLst>
              <a:path w="1595120" h="236855">
                <a:moveTo>
                  <a:pt x="0" y="236639"/>
                </a:moveTo>
                <a:lnTo>
                  <a:pt x="1594992" y="236639"/>
                </a:lnTo>
                <a:lnTo>
                  <a:pt x="1594992" y="0"/>
                </a:lnTo>
                <a:lnTo>
                  <a:pt x="0" y="0"/>
                </a:lnTo>
                <a:lnTo>
                  <a:pt x="0" y="236639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60258" y="1183982"/>
            <a:ext cx="807720" cy="236854"/>
          </a:xfrm>
          <a:custGeom>
            <a:avLst/>
            <a:gdLst/>
            <a:ahLst/>
            <a:cxnLst/>
            <a:rect l="l" t="t" r="r" b="b"/>
            <a:pathLst>
              <a:path w="807720" h="236855">
                <a:moveTo>
                  <a:pt x="0" y="236639"/>
                </a:moveTo>
                <a:lnTo>
                  <a:pt x="807186" y="236639"/>
                </a:lnTo>
                <a:lnTo>
                  <a:pt x="807186" y="0"/>
                </a:lnTo>
                <a:lnTo>
                  <a:pt x="0" y="0"/>
                </a:lnTo>
                <a:lnTo>
                  <a:pt x="0" y="236639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339969" y="1420241"/>
            <a:ext cx="3127248" cy="51694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065265" y="1414272"/>
            <a:ext cx="0" cy="5181600"/>
          </a:xfrm>
          <a:custGeom>
            <a:avLst/>
            <a:gdLst/>
            <a:ahLst/>
            <a:cxnLst/>
            <a:rect l="l" t="t" r="r" b="b"/>
            <a:pathLst>
              <a:path w="0" h="5181600">
                <a:moveTo>
                  <a:pt x="0" y="0"/>
                </a:moveTo>
                <a:lnTo>
                  <a:pt x="0" y="518110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60258" y="1177671"/>
            <a:ext cx="0" cy="5417820"/>
          </a:xfrm>
          <a:custGeom>
            <a:avLst/>
            <a:gdLst/>
            <a:ahLst/>
            <a:cxnLst/>
            <a:rect l="l" t="t" r="r" b="b"/>
            <a:pathLst>
              <a:path w="0" h="5417820">
                <a:moveTo>
                  <a:pt x="0" y="0"/>
                </a:moveTo>
                <a:lnTo>
                  <a:pt x="0" y="541770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58915" y="1420622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58915" y="1694052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058915" y="1979676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058915" y="2350135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333619" y="2652902"/>
            <a:ext cx="3140710" cy="0"/>
          </a:xfrm>
          <a:custGeom>
            <a:avLst/>
            <a:gdLst/>
            <a:ahLst/>
            <a:cxnLst/>
            <a:rect l="l" t="t" r="r" b="b"/>
            <a:pathLst>
              <a:path w="3140709" h="0">
                <a:moveTo>
                  <a:pt x="0" y="0"/>
                </a:moveTo>
                <a:lnTo>
                  <a:pt x="314020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58915" y="2955670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058915" y="3258439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333619" y="3561334"/>
            <a:ext cx="3140710" cy="0"/>
          </a:xfrm>
          <a:custGeom>
            <a:avLst/>
            <a:gdLst/>
            <a:ahLst/>
            <a:cxnLst/>
            <a:rect l="l" t="t" r="r" b="b"/>
            <a:pathLst>
              <a:path w="3140709" h="0">
                <a:moveTo>
                  <a:pt x="0" y="0"/>
                </a:moveTo>
                <a:lnTo>
                  <a:pt x="314020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058915" y="3864102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58915" y="4166870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58915" y="4469638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33619" y="4772405"/>
            <a:ext cx="3140710" cy="0"/>
          </a:xfrm>
          <a:custGeom>
            <a:avLst/>
            <a:gdLst/>
            <a:ahLst/>
            <a:cxnLst/>
            <a:rect l="l" t="t" r="r" b="b"/>
            <a:pathLst>
              <a:path w="3140709" h="0">
                <a:moveTo>
                  <a:pt x="0" y="0"/>
                </a:moveTo>
                <a:lnTo>
                  <a:pt x="314020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58915" y="5075173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58915" y="5377941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333619" y="5680697"/>
            <a:ext cx="3140710" cy="0"/>
          </a:xfrm>
          <a:custGeom>
            <a:avLst/>
            <a:gdLst/>
            <a:ahLst/>
            <a:cxnLst/>
            <a:rect l="l" t="t" r="r" b="b"/>
            <a:pathLst>
              <a:path w="3140709" h="0">
                <a:moveTo>
                  <a:pt x="0" y="0"/>
                </a:moveTo>
                <a:lnTo>
                  <a:pt x="314020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58915" y="5983478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058915" y="6286246"/>
            <a:ext cx="2414905" cy="0"/>
          </a:xfrm>
          <a:custGeom>
            <a:avLst/>
            <a:gdLst/>
            <a:ahLst/>
            <a:cxnLst/>
            <a:rect l="l" t="t" r="r" b="b"/>
            <a:pathLst>
              <a:path w="2414904" h="0">
                <a:moveTo>
                  <a:pt x="0" y="0"/>
                </a:moveTo>
                <a:lnTo>
                  <a:pt x="24149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339969" y="1420622"/>
            <a:ext cx="0" cy="5175250"/>
          </a:xfrm>
          <a:custGeom>
            <a:avLst/>
            <a:gdLst/>
            <a:ahLst/>
            <a:cxnLst/>
            <a:rect l="l" t="t" r="r" b="b"/>
            <a:pathLst>
              <a:path w="0" h="5175250">
                <a:moveTo>
                  <a:pt x="0" y="0"/>
                </a:moveTo>
                <a:lnTo>
                  <a:pt x="0" y="517475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467470" y="1177671"/>
            <a:ext cx="0" cy="5417820"/>
          </a:xfrm>
          <a:custGeom>
            <a:avLst/>
            <a:gdLst/>
            <a:ahLst/>
            <a:cxnLst/>
            <a:rect l="l" t="t" r="r" b="b"/>
            <a:pathLst>
              <a:path w="0" h="5417820">
                <a:moveTo>
                  <a:pt x="0" y="0"/>
                </a:moveTo>
                <a:lnTo>
                  <a:pt x="0" y="541770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065265" y="1184021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 h="0">
                <a:moveTo>
                  <a:pt x="0" y="0"/>
                </a:moveTo>
                <a:lnTo>
                  <a:pt x="240855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333619" y="6589026"/>
            <a:ext cx="3140710" cy="0"/>
          </a:xfrm>
          <a:custGeom>
            <a:avLst/>
            <a:gdLst/>
            <a:ahLst/>
            <a:cxnLst/>
            <a:rect l="l" t="t" r="r" b="b"/>
            <a:pathLst>
              <a:path w="3140709" h="0">
                <a:moveTo>
                  <a:pt x="0" y="0"/>
                </a:moveTo>
                <a:lnTo>
                  <a:pt x="314020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065265" y="1194942"/>
            <a:ext cx="2402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6430">
              <a:lnSpc>
                <a:spcPct val="100000"/>
              </a:lnSpc>
              <a:spcBef>
                <a:spcPts val="100"/>
              </a:spcBef>
              <a:tabLst>
                <a:tab pos="1846580" algn="l"/>
              </a:tabLst>
            </a:pPr>
            <a:r>
              <a:rPr dirty="0" sz="1200" b="1">
                <a:solidFill>
                  <a:srgbClr val="FFFFFF"/>
                </a:solidFill>
                <a:latin typeface="明兰"/>
                <a:cs typeface="明兰"/>
              </a:rPr>
              <a:t>指标	权重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35270" y="1913077"/>
            <a:ext cx="73914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营运能力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15453" y="1462786"/>
            <a:ext cx="501015" cy="4737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Arial"/>
                <a:cs typeface="Arial"/>
              </a:rPr>
              <a:t>1</a:t>
            </a:r>
            <a:r>
              <a:rPr dirty="0" sz="1100" spc="-5" b="1">
                <a:latin typeface="Arial"/>
                <a:cs typeface="Arial"/>
              </a:rPr>
              <a:t>7</a:t>
            </a:r>
            <a:r>
              <a:rPr dirty="0" sz="1100" b="1">
                <a:latin typeface="Arial"/>
                <a:cs typeface="Arial"/>
              </a:rPr>
              <a:t>.</a:t>
            </a:r>
            <a:r>
              <a:rPr dirty="0" sz="1100" b="1">
                <a:latin typeface="Arial"/>
                <a:cs typeface="Arial"/>
              </a:rPr>
              <a:t>0</a:t>
            </a:r>
            <a:r>
              <a:rPr dirty="0" sz="1100" spc="-5" b="1">
                <a:latin typeface="Arial"/>
                <a:cs typeface="Arial"/>
              </a:rPr>
              <a:t>7</a:t>
            </a:r>
            <a:r>
              <a:rPr dirty="0" sz="1100" b="1">
                <a:latin typeface="Arial"/>
                <a:cs typeface="Arial"/>
              </a:rPr>
              <a:t>%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100" b="1">
                <a:latin typeface="Arial"/>
                <a:cs typeface="Arial"/>
              </a:rPr>
              <a:t>1</a:t>
            </a:r>
            <a:r>
              <a:rPr dirty="0" sz="1100" spc="-5" b="1">
                <a:latin typeface="Arial"/>
                <a:cs typeface="Arial"/>
              </a:rPr>
              <a:t>1</a:t>
            </a:r>
            <a:r>
              <a:rPr dirty="0" sz="1100" b="1">
                <a:latin typeface="Arial"/>
                <a:cs typeface="Arial"/>
              </a:rPr>
              <a:t>.</a:t>
            </a:r>
            <a:r>
              <a:rPr dirty="0" sz="1100" b="1">
                <a:latin typeface="Arial"/>
                <a:cs typeface="Arial"/>
              </a:rPr>
              <a:t>6</a:t>
            </a:r>
            <a:r>
              <a:rPr dirty="0" sz="1100" spc="-5" b="1">
                <a:latin typeface="Arial"/>
                <a:cs typeface="Arial"/>
              </a:rPr>
              <a:t>2</a:t>
            </a:r>
            <a:r>
              <a:rPr dirty="0" sz="1100" b="1">
                <a:latin typeface="Arial"/>
                <a:cs typeface="Arial"/>
              </a:rPr>
              <a:t>%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65011" y="1352366"/>
            <a:ext cx="1597025" cy="82550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865"/>
              </a:spcBef>
            </a:pPr>
            <a:r>
              <a:rPr dirty="0" sz="1200" spc="-5" b="1">
                <a:latin typeface="明兰"/>
                <a:cs typeface="明兰"/>
              </a:rPr>
              <a:t>存货周转率</a:t>
            </a:r>
            <a:endParaRPr sz="1200">
              <a:latin typeface="明兰"/>
              <a:cs typeface="明兰"/>
            </a:endParaRPr>
          </a:p>
          <a:p>
            <a:pPr algn="ctr" marL="1270">
              <a:lnSpc>
                <a:spcPct val="100000"/>
              </a:lnSpc>
              <a:spcBef>
                <a:spcPts val="765"/>
              </a:spcBef>
            </a:pPr>
            <a:r>
              <a:rPr dirty="0" sz="1200" b="1">
                <a:latin typeface="明兰"/>
                <a:cs typeface="明兰"/>
              </a:rPr>
              <a:t>应付账款周转率</a:t>
            </a:r>
            <a:endParaRPr sz="1200">
              <a:latin typeface="明兰"/>
              <a:cs typeface="明兰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1200" spc="10" b="1">
                <a:latin typeface="明兰"/>
                <a:cs typeface="明兰"/>
              </a:rPr>
              <a:t>经营活</a:t>
            </a:r>
            <a:r>
              <a:rPr dirty="0" sz="1200" b="1">
                <a:latin typeface="明兰"/>
                <a:cs typeface="明兰"/>
              </a:rPr>
              <a:t>动现金流</a:t>
            </a:r>
            <a:r>
              <a:rPr dirty="0" sz="1200" spc="5" b="1">
                <a:latin typeface="明兰"/>
                <a:cs typeface="明兰"/>
              </a:rPr>
              <a:t>量</a:t>
            </a:r>
            <a:r>
              <a:rPr dirty="0" sz="1200" b="1">
                <a:latin typeface="Arial"/>
                <a:cs typeface="Arial"/>
              </a:rPr>
              <a:t>/</a:t>
            </a:r>
            <a:r>
              <a:rPr dirty="0" sz="1200" b="1">
                <a:latin typeface="明兰"/>
                <a:cs typeface="明兰"/>
              </a:rPr>
              <a:t>净利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53553" y="2070607"/>
            <a:ext cx="42290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latin typeface="Arial"/>
                <a:cs typeface="Arial"/>
              </a:rPr>
              <a:t>7.90%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5316220" y="2186146"/>
          <a:ext cx="3019425" cy="4340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269"/>
                <a:gridCol w="1395730"/>
                <a:gridCol w="732789"/>
              </a:tblGrid>
              <a:tr h="198882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2390">
                        <a:lnSpc>
                          <a:spcPts val="1270"/>
                        </a:lnSpc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润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71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总资产周转率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24765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5.38%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5560"/>
                </a:tc>
              </a:tr>
              <a:tr h="29506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流动比率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5080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0960"/>
                </a:tc>
              </a:tr>
              <a:tr h="31285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b="1">
                          <a:latin typeface="明兰"/>
                          <a:cs typeface="明兰"/>
                        </a:rPr>
                        <a:t>偿债能力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资产负债率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8.42%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8580"/>
                </a:tc>
              </a:tr>
              <a:tr h="296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现金比率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4826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6.30%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  <a:tr h="2389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2390">
                        <a:lnSpc>
                          <a:spcPts val="1355"/>
                        </a:lnSpc>
                        <a:spcBef>
                          <a:spcPts val="42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EBITDA</a:t>
                      </a:r>
                      <a:r>
                        <a:rPr dirty="0" sz="1200" spc="10" b="1">
                          <a:latin typeface="明兰"/>
                          <a:cs typeface="明兰"/>
                        </a:rPr>
                        <a:t>利润率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270"/>
                        </a:lnSpc>
                        <a:spcBef>
                          <a:spcPts val="509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5.68%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4769"/>
                </a:tc>
              </a:tr>
              <a:tr h="448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450"/>
                        </a:lnSpc>
                      </a:pPr>
                      <a:r>
                        <a:rPr dirty="0" sz="1400" b="1">
                          <a:latin typeface="明兰"/>
                          <a:cs typeface="明兰"/>
                        </a:rPr>
                        <a:t>盈利能力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净利率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11811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3.8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8270"/>
                </a:tc>
              </a:tr>
              <a:tr h="2208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ts val="1225"/>
                        </a:lnSpc>
                      </a:pPr>
                      <a:r>
                        <a:rPr dirty="0" sz="1200" spc="-5" b="1">
                          <a:latin typeface="明兰"/>
                          <a:cs typeface="明兰"/>
                        </a:rPr>
                        <a:t>毛利率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3.87%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088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2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ROA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2.63%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5405"/>
                </a:tc>
              </a:tr>
              <a:tr h="293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净利润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4.29%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9055"/>
                </a:tc>
              </a:tr>
              <a:tr h="31043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b="1">
                          <a:latin typeface="明兰"/>
                          <a:cs typeface="明兰"/>
                        </a:rPr>
                        <a:t>公司规模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营业收入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3.21%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8580"/>
                </a:tc>
              </a:tr>
              <a:tr h="306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总资产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50800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2.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1%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2705"/>
                </a:tc>
              </a:tr>
              <a:tr h="2917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利润增长率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2.65%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7785"/>
                </a:tc>
              </a:tr>
              <a:tr h="31285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b="1">
                          <a:latin typeface="明兰"/>
                          <a:cs typeface="明兰"/>
                        </a:rPr>
                        <a:t>成长能力</a:t>
                      </a:r>
                      <a:endParaRPr sz="1400">
                        <a:latin typeface="明兰"/>
                        <a:cs typeface="明兰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营收增长率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1.99%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8580"/>
                </a:tc>
              </a:tr>
              <a:tr h="2282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3025">
                        <a:lnSpc>
                          <a:spcPts val="1315"/>
                        </a:lnSpc>
                        <a:spcBef>
                          <a:spcPts val="380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总资产增长率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4826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235"/>
                        </a:lnSpc>
                        <a:spcBef>
                          <a:spcPts val="459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1.49%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/>
                </a:tc>
              </a:tr>
            </a:tbl>
          </a:graphicData>
        </a:graphic>
      </p:graphicFrame>
      <p:sp>
        <p:nvSpPr>
          <p:cNvPr id="57" name="object 57"/>
          <p:cNvSpPr txBox="1"/>
          <p:nvPr/>
        </p:nvSpPr>
        <p:spPr>
          <a:xfrm>
            <a:off x="4711953" y="754761"/>
            <a:ext cx="17354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最终细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指标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重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69418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1981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23631" y="85343"/>
            <a:ext cx="1405127" cy="521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69564" y="3756659"/>
            <a:ext cx="2200656" cy="826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4527" y="3756659"/>
            <a:ext cx="2200656" cy="826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10328" y="5702808"/>
            <a:ext cx="2987039" cy="826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3252" y="5705855"/>
            <a:ext cx="2202180" cy="8260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28588" y="2625851"/>
            <a:ext cx="2691384" cy="1246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228588" y="2638399"/>
            <a:ext cx="2691765" cy="1169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92075" marR="100330">
              <a:lnSpc>
                <a:spcPct val="107200"/>
              </a:lnSpc>
              <a:spcBef>
                <a:spcPts val="95"/>
              </a:spcBef>
            </a:pPr>
            <a:r>
              <a:rPr dirty="0" sz="1400">
                <a:latin typeface="宋体"/>
                <a:cs typeface="宋体"/>
              </a:rPr>
              <a:t>信息熵</a:t>
            </a:r>
            <a:r>
              <a:rPr dirty="0" sz="1400" spc="-15">
                <a:latin typeface="宋体"/>
                <a:cs typeface="宋体"/>
              </a:rPr>
              <a:t>是</a:t>
            </a:r>
            <a:r>
              <a:rPr dirty="0" sz="1400">
                <a:latin typeface="宋体"/>
                <a:cs typeface="宋体"/>
              </a:rPr>
              <a:t>系统</a:t>
            </a:r>
            <a:r>
              <a:rPr dirty="0" sz="1400" spc="-15">
                <a:latin typeface="宋体"/>
                <a:cs typeface="宋体"/>
              </a:rPr>
              <a:t>无序</a:t>
            </a:r>
            <a:r>
              <a:rPr dirty="0" sz="1400">
                <a:latin typeface="宋体"/>
                <a:cs typeface="宋体"/>
              </a:rPr>
              <a:t>程度的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个度 量，该</a:t>
            </a:r>
            <a:r>
              <a:rPr dirty="0" sz="1400" spc="-15">
                <a:latin typeface="宋体"/>
                <a:cs typeface="宋体"/>
              </a:rPr>
              <a:t>值</a:t>
            </a:r>
            <a:r>
              <a:rPr dirty="0" sz="1400">
                <a:latin typeface="宋体"/>
                <a:cs typeface="宋体"/>
              </a:rPr>
              <a:t>越大</a:t>
            </a:r>
            <a:r>
              <a:rPr dirty="0" sz="1400" spc="-15">
                <a:latin typeface="宋体"/>
                <a:cs typeface="宋体"/>
              </a:rPr>
              <a:t>，说</a:t>
            </a:r>
            <a:r>
              <a:rPr dirty="0" sz="1400">
                <a:latin typeface="宋体"/>
                <a:cs typeface="宋体"/>
              </a:rPr>
              <a:t>明该指</a:t>
            </a:r>
            <a:r>
              <a:rPr dirty="0" sz="1400" spc="-1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在优 </a:t>
            </a:r>
            <a:r>
              <a:rPr dirty="0" sz="1400" spc="5">
                <a:latin typeface="宋体"/>
                <a:cs typeface="宋体"/>
              </a:rPr>
              <a:t>劣</a:t>
            </a:r>
            <a:r>
              <a:rPr dirty="0" sz="1400">
                <a:latin typeface="宋体"/>
                <a:cs typeface="宋体"/>
              </a:rPr>
              <a:t>方</a:t>
            </a:r>
            <a:r>
              <a:rPr dirty="0" sz="1400" spc="5">
                <a:latin typeface="宋体"/>
                <a:cs typeface="宋体"/>
              </a:rPr>
              <a:t>案</a:t>
            </a:r>
            <a:r>
              <a:rPr dirty="0" sz="1400" spc="-15">
                <a:latin typeface="宋体"/>
                <a:cs typeface="宋体"/>
              </a:rPr>
              <a:t>中</a:t>
            </a:r>
            <a:r>
              <a:rPr dirty="0" sz="1400" spc="5">
                <a:latin typeface="宋体"/>
                <a:cs typeface="宋体"/>
              </a:rPr>
              <a:t>作</a:t>
            </a:r>
            <a:r>
              <a:rPr dirty="0" sz="1400">
                <a:latin typeface="宋体"/>
                <a:cs typeface="宋体"/>
              </a:rPr>
              <a:t>用</a:t>
            </a:r>
            <a:r>
              <a:rPr dirty="0" sz="1400" spc="-10">
                <a:latin typeface="宋体"/>
                <a:cs typeface="宋体"/>
              </a:rPr>
              <a:t>越明</a:t>
            </a:r>
            <a:r>
              <a:rPr dirty="0" sz="1400" spc="5">
                <a:latin typeface="宋体"/>
                <a:cs typeface="宋体"/>
              </a:rPr>
              <a:t>显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5">
                <a:latin typeface="宋体"/>
                <a:cs typeface="宋体"/>
              </a:rPr>
              <a:t>在</a:t>
            </a:r>
            <a:r>
              <a:rPr dirty="0" sz="1400" spc="-15">
                <a:latin typeface="宋体"/>
                <a:cs typeface="宋体"/>
              </a:rPr>
              <a:t>综</a:t>
            </a:r>
            <a:r>
              <a:rPr dirty="0" sz="1400" spc="5">
                <a:latin typeface="宋体"/>
                <a:cs typeface="宋体"/>
              </a:rPr>
              <a:t>合评 </a:t>
            </a:r>
            <a:r>
              <a:rPr dirty="0" sz="1400">
                <a:latin typeface="宋体"/>
                <a:cs typeface="宋体"/>
              </a:rPr>
              <a:t>价中的</a:t>
            </a:r>
            <a:r>
              <a:rPr dirty="0" sz="1400" spc="-15">
                <a:latin typeface="宋体"/>
                <a:cs typeface="宋体"/>
              </a:rPr>
              <a:t>影</a:t>
            </a:r>
            <a:r>
              <a:rPr dirty="0" sz="1400">
                <a:latin typeface="宋体"/>
                <a:cs typeface="宋体"/>
              </a:rPr>
              <a:t>响作</a:t>
            </a:r>
            <a:r>
              <a:rPr dirty="0" sz="1400" spc="-15">
                <a:latin typeface="宋体"/>
                <a:cs typeface="宋体"/>
              </a:rPr>
              <a:t>用就</a:t>
            </a:r>
            <a:r>
              <a:rPr dirty="0" sz="1400">
                <a:latin typeface="宋体"/>
                <a:cs typeface="宋体"/>
              </a:rPr>
              <a:t>越大，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重亦 </a:t>
            </a:r>
            <a:r>
              <a:rPr dirty="0" sz="1400">
                <a:latin typeface="宋体"/>
                <a:cs typeface="宋体"/>
              </a:rPr>
              <a:t>越大。</a:t>
            </a:r>
            <a:r>
              <a:rPr dirty="0" sz="1400" spc="-15">
                <a:latin typeface="宋体"/>
                <a:cs typeface="宋体"/>
              </a:rPr>
              <a:t>这</a:t>
            </a:r>
            <a:r>
              <a:rPr dirty="0" sz="1400">
                <a:latin typeface="宋体"/>
                <a:cs typeface="宋体"/>
              </a:rPr>
              <a:t>是一</a:t>
            </a:r>
            <a:r>
              <a:rPr dirty="0" sz="1400" spc="-15">
                <a:latin typeface="宋体"/>
                <a:cs typeface="宋体"/>
              </a:rPr>
              <a:t>种客</a:t>
            </a:r>
            <a:r>
              <a:rPr dirty="0" sz="1400">
                <a:latin typeface="宋体"/>
                <a:cs typeface="宋体"/>
              </a:rPr>
              <a:t>观赋权</a:t>
            </a:r>
            <a:r>
              <a:rPr dirty="0" sz="1400" spc="-1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0395" y="1056132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072" y="0"/>
                </a:moveTo>
                <a:lnTo>
                  <a:pt x="150344" y="5154"/>
                </a:lnTo>
                <a:lnTo>
                  <a:pt x="109284" y="19834"/>
                </a:lnTo>
                <a:lnTo>
                  <a:pt x="73064" y="42867"/>
                </a:lnTo>
                <a:lnTo>
                  <a:pt x="42855" y="73080"/>
                </a:lnTo>
                <a:lnTo>
                  <a:pt x="19827" y="109301"/>
                </a:lnTo>
                <a:lnTo>
                  <a:pt x="5152" y="150356"/>
                </a:lnTo>
                <a:lnTo>
                  <a:pt x="0" y="195071"/>
                </a:lnTo>
                <a:lnTo>
                  <a:pt x="5152" y="239787"/>
                </a:lnTo>
                <a:lnTo>
                  <a:pt x="19827" y="280842"/>
                </a:lnTo>
                <a:lnTo>
                  <a:pt x="42855" y="317063"/>
                </a:lnTo>
                <a:lnTo>
                  <a:pt x="73064" y="347276"/>
                </a:lnTo>
                <a:lnTo>
                  <a:pt x="109284" y="370309"/>
                </a:lnTo>
                <a:lnTo>
                  <a:pt x="150344" y="384989"/>
                </a:lnTo>
                <a:lnTo>
                  <a:pt x="195072" y="390143"/>
                </a:lnTo>
                <a:lnTo>
                  <a:pt x="239799" y="384989"/>
                </a:lnTo>
                <a:lnTo>
                  <a:pt x="280859" y="370309"/>
                </a:lnTo>
                <a:lnTo>
                  <a:pt x="317079" y="347276"/>
                </a:lnTo>
                <a:lnTo>
                  <a:pt x="347288" y="317063"/>
                </a:lnTo>
                <a:lnTo>
                  <a:pt x="370316" y="280842"/>
                </a:lnTo>
                <a:lnTo>
                  <a:pt x="384991" y="239787"/>
                </a:lnTo>
                <a:lnTo>
                  <a:pt x="390144" y="195071"/>
                </a:lnTo>
                <a:lnTo>
                  <a:pt x="384991" y="150356"/>
                </a:lnTo>
                <a:lnTo>
                  <a:pt x="370316" y="109301"/>
                </a:lnTo>
                <a:lnTo>
                  <a:pt x="347288" y="73080"/>
                </a:lnTo>
                <a:lnTo>
                  <a:pt x="317079" y="42867"/>
                </a:lnTo>
                <a:lnTo>
                  <a:pt x="280859" y="19834"/>
                </a:lnTo>
                <a:lnTo>
                  <a:pt x="239799" y="5154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5552" y="1138427"/>
            <a:ext cx="211835" cy="2118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739" y="305562"/>
            <a:ext cx="2836545" cy="1055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A2121"/>
                </a:solidFill>
                <a:latin typeface="明兰"/>
                <a:cs typeface="明兰"/>
              </a:rPr>
              <a:t>熵权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法</a:t>
            </a:r>
            <a:r>
              <a:rPr dirty="0" sz="2000" spc="-5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构造数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据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矩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阵</a:t>
            </a:r>
            <a:endParaRPr sz="2000">
              <a:latin typeface="明兰"/>
              <a:cs typeface="明兰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535305">
              <a:lnSpc>
                <a:spcPct val="100000"/>
              </a:lnSpc>
              <a:spcBef>
                <a:spcPts val="1495"/>
              </a:spcBef>
            </a:pPr>
            <a:r>
              <a:rPr dirty="0" sz="1400" b="1">
                <a:latin typeface="明兰"/>
                <a:cs typeface="明兰"/>
              </a:rPr>
              <a:t>形成原</a:t>
            </a:r>
            <a:r>
              <a:rPr dirty="0" sz="1400" spc="-15" b="1">
                <a:latin typeface="明兰"/>
                <a:cs typeface="明兰"/>
              </a:rPr>
              <a:t>始</a:t>
            </a:r>
            <a:r>
              <a:rPr dirty="0" sz="1400" b="1">
                <a:latin typeface="明兰"/>
                <a:cs typeface="明兰"/>
              </a:rPr>
              <a:t>数据</a:t>
            </a:r>
            <a:r>
              <a:rPr dirty="0" sz="1400" spc="-15" b="1">
                <a:latin typeface="明兰"/>
                <a:cs typeface="明兰"/>
              </a:rPr>
              <a:t>矩</a:t>
            </a:r>
            <a:r>
              <a:rPr dirty="0" sz="1400" b="1">
                <a:latin typeface="明兰"/>
                <a:cs typeface="明兰"/>
              </a:rPr>
              <a:t>阵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0395" y="4677155"/>
            <a:ext cx="390525" cy="391795"/>
          </a:xfrm>
          <a:custGeom>
            <a:avLst/>
            <a:gdLst/>
            <a:ahLst/>
            <a:cxnLst/>
            <a:rect l="l" t="t" r="r" b="b"/>
            <a:pathLst>
              <a:path w="390525" h="391795">
                <a:moveTo>
                  <a:pt x="195072" y="0"/>
                </a:moveTo>
                <a:lnTo>
                  <a:pt x="150344" y="5169"/>
                </a:lnTo>
                <a:lnTo>
                  <a:pt x="109284" y="19896"/>
                </a:lnTo>
                <a:lnTo>
                  <a:pt x="73064" y="43007"/>
                </a:lnTo>
                <a:lnTo>
                  <a:pt x="42855" y="73329"/>
                </a:lnTo>
                <a:lnTo>
                  <a:pt x="19827" y="109690"/>
                </a:lnTo>
                <a:lnTo>
                  <a:pt x="5152" y="150915"/>
                </a:lnTo>
                <a:lnTo>
                  <a:pt x="0" y="195834"/>
                </a:lnTo>
                <a:lnTo>
                  <a:pt x="5152" y="240752"/>
                </a:lnTo>
                <a:lnTo>
                  <a:pt x="19827" y="281977"/>
                </a:lnTo>
                <a:lnTo>
                  <a:pt x="42855" y="318338"/>
                </a:lnTo>
                <a:lnTo>
                  <a:pt x="73064" y="348660"/>
                </a:lnTo>
                <a:lnTo>
                  <a:pt x="109284" y="371771"/>
                </a:lnTo>
                <a:lnTo>
                  <a:pt x="150344" y="386498"/>
                </a:lnTo>
                <a:lnTo>
                  <a:pt x="195072" y="391668"/>
                </a:lnTo>
                <a:lnTo>
                  <a:pt x="239799" y="386498"/>
                </a:lnTo>
                <a:lnTo>
                  <a:pt x="280859" y="371771"/>
                </a:lnTo>
                <a:lnTo>
                  <a:pt x="317079" y="348660"/>
                </a:lnTo>
                <a:lnTo>
                  <a:pt x="347288" y="318338"/>
                </a:lnTo>
                <a:lnTo>
                  <a:pt x="370316" y="281977"/>
                </a:lnTo>
                <a:lnTo>
                  <a:pt x="384991" y="240752"/>
                </a:lnTo>
                <a:lnTo>
                  <a:pt x="390144" y="195834"/>
                </a:lnTo>
                <a:lnTo>
                  <a:pt x="384991" y="150915"/>
                </a:lnTo>
                <a:lnTo>
                  <a:pt x="370316" y="109690"/>
                </a:lnTo>
                <a:lnTo>
                  <a:pt x="347288" y="73329"/>
                </a:lnTo>
                <a:lnTo>
                  <a:pt x="317079" y="43007"/>
                </a:lnTo>
                <a:lnTo>
                  <a:pt x="280859" y="19896"/>
                </a:lnTo>
                <a:lnTo>
                  <a:pt x="239799" y="5169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5552" y="4760976"/>
            <a:ext cx="211835" cy="2118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01472" y="4743958"/>
            <a:ext cx="10941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计算指</a:t>
            </a:r>
            <a:r>
              <a:rPr dirty="0" sz="1400" spc="-15" b="1">
                <a:latin typeface="明兰"/>
                <a:cs typeface="明兰"/>
              </a:rPr>
              <a:t>标</a:t>
            </a:r>
            <a:r>
              <a:rPr dirty="0" sz="1400" b="1">
                <a:latin typeface="明兰"/>
                <a:cs typeface="明兰"/>
              </a:rPr>
              <a:t>熵权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88123" y="1456944"/>
            <a:ext cx="891540" cy="925194"/>
          </a:xfrm>
          <a:custGeom>
            <a:avLst/>
            <a:gdLst/>
            <a:ahLst/>
            <a:cxnLst/>
            <a:rect l="l" t="t" r="r" b="b"/>
            <a:pathLst>
              <a:path w="891540" h="925194">
                <a:moveTo>
                  <a:pt x="547751" y="0"/>
                </a:moveTo>
                <a:lnTo>
                  <a:pt x="0" y="72897"/>
                </a:lnTo>
                <a:lnTo>
                  <a:pt x="0" y="850264"/>
                </a:lnTo>
                <a:lnTo>
                  <a:pt x="547751" y="925067"/>
                </a:lnTo>
                <a:lnTo>
                  <a:pt x="547751" y="845311"/>
                </a:lnTo>
                <a:lnTo>
                  <a:pt x="832103" y="845311"/>
                </a:lnTo>
                <a:lnTo>
                  <a:pt x="855214" y="840652"/>
                </a:lnTo>
                <a:lnTo>
                  <a:pt x="874109" y="827944"/>
                </a:lnTo>
                <a:lnTo>
                  <a:pt x="885212" y="811529"/>
                </a:lnTo>
                <a:lnTo>
                  <a:pt x="550164" y="811529"/>
                </a:lnTo>
                <a:lnTo>
                  <a:pt x="548894" y="811276"/>
                </a:lnTo>
                <a:lnTo>
                  <a:pt x="547751" y="811148"/>
                </a:lnTo>
                <a:lnTo>
                  <a:pt x="547751" y="603630"/>
                </a:lnTo>
                <a:lnTo>
                  <a:pt x="836168" y="603630"/>
                </a:lnTo>
                <a:lnTo>
                  <a:pt x="840994" y="598423"/>
                </a:lnTo>
                <a:lnTo>
                  <a:pt x="840994" y="580643"/>
                </a:lnTo>
                <a:lnTo>
                  <a:pt x="547751" y="580643"/>
                </a:lnTo>
                <a:lnTo>
                  <a:pt x="547751" y="571880"/>
                </a:lnTo>
                <a:lnTo>
                  <a:pt x="435101" y="571880"/>
                </a:lnTo>
                <a:lnTo>
                  <a:pt x="412561" y="569557"/>
                </a:lnTo>
                <a:lnTo>
                  <a:pt x="398640" y="565911"/>
                </a:lnTo>
                <a:lnTo>
                  <a:pt x="258952" y="565911"/>
                </a:lnTo>
                <a:lnTo>
                  <a:pt x="246122" y="564558"/>
                </a:lnTo>
                <a:lnTo>
                  <a:pt x="234219" y="561943"/>
                </a:lnTo>
                <a:lnTo>
                  <a:pt x="232037" y="561213"/>
                </a:lnTo>
                <a:lnTo>
                  <a:pt x="196469" y="561213"/>
                </a:lnTo>
                <a:lnTo>
                  <a:pt x="164846" y="559942"/>
                </a:lnTo>
                <a:lnTo>
                  <a:pt x="164725" y="556513"/>
                </a:lnTo>
                <a:lnTo>
                  <a:pt x="74295" y="556513"/>
                </a:lnTo>
                <a:lnTo>
                  <a:pt x="47751" y="555625"/>
                </a:lnTo>
                <a:lnTo>
                  <a:pt x="55752" y="411733"/>
                </a:lnTo>
                <a:lnTo>
                  <a:pt x="94487" y="410336"/>
                </a:lnTo>
                <a:lnTo>
                  <a:pt x="146380" y="410336"/>
                </a:lnTo>
                <a:lnTo>
                  <a:pt x="146939" y="408431"/>
                </a:lnTo>
                <a:lnTo>
                  <a:pt x="188595" y="406907"/>
                </a:lnTo>
                <a:lnTo>
                  <a:pt x="249022" y="406907"/>
                </a:lnTo>
                <a:lnTo>
                  <a:pt x="251458" y="405477"/>
                </a:lnTo>
                <a:lnTo>
                  <a:pt x="275717" y="400938"/>
                </a:lnTo>
                <a:lnTo>
                  <a:pt x="411520" y="400938"/>
                </a:lnTo>
                <a:lnTo>
                  <a:pt x="439420" y="395858"/>
                </a:lnTo>
                <a:lnTo>
                  <a:pt x="555985" y="395858"/>
                </a:lnTo>
                <a:lnTo>
                  <a:pt x="547751" y="390651"/>
                </a:lnTo>
                <a:lnTo>
                  <a:pt x="547751" y="363346"/>
                </a:lnTo>
                <a:lnTo>
                  <a:pt x="840994" y="363346"/>
                </a:lnTo>
                <a:lnTo>
                  <a:pt x="840867" y="349630"/>
                </a:lnTo>
                <a:lnTo>
                  <a:pt x="840740" y="349122"/>
                </a:lnTo>
                <a:lnTo>
                  <a:pt x="840104" y="347217"/>
                </a:lnTo>
                <a:lnTo>
                  <a:pt x="840104" y="346963"/>
                </a:lnTo>
                <a:lnTo>
                  <a:pt x="839851" y="346582"/>
                </a:lnTo>
                <a:lnTo>
                  <a:pt x="839724" y="346075"/>
                </a:lnTo>
                <a:lnTo>
                  <a:pt x="839470" y="345947"/>
                </a:lnTo>
                <a:lnTo>
                  <a:pt x="839089" y="345185"/>
                </a:lnTo>
                <a:lnTo>
                  <a:pt x="838707" y="344804"/>
                </a:lnTo>
                <a:lnTo>
                  <a:pt x="838453" y="344423"/>
                </a:lnTo>
                <a:lnTo>
                  <a:pt x="838326" y="344169"/>
                </a:lnTo>
                <a:lnTo>
                  <a:pt x="836168" y="341629"/>
                </a:lnTo>
                <a:lnTo>
                  <a:pt x="833247" y="340232"/>
                </a:lnTo>
                <a:lnTo>
                  <a:pt x="547751" y="340232"/>
                </a:lnTo>
                <a:lnTo>
                  <a:pt x="547751" y="111632"/>
                </a:lnTo>
                <a:lnTo>
                  <a:pt x="548894" y="111378"/>
                </a:lnTo>
                <a:lnTo>
                  <a:pt x="550164" y="111251"/>
                </a:lnTo>
                <a:lnTo>
                  <a:pt x="885229" y="111251"/>
                </a:lnTo>
                <a:lnTo>
                  <a:pt x="874109" y="94773"/>
                </a:lnTo>
                <a:lnTo>
                  <a:pt x="855214" y="82022"/>
                </a:lnTo>
                <a:lnTo>
                  <a:pt x="833358" y="77596"/>
                </a:lnTo>
                <a:lnTo>
                  <a:pt x="547751" y="77596"/>
                </a:lnTo>
                <a:lnTo>
                  <a:pt x="547751" y="0"/>
                </a:lnTo>
                <a:close/>
              </a:path>
              <a:path w="891540" h="925194">
                <a:moveTo>
                  <a:pt x="885229" y="111251"/>
                </a:moveTo>
                <a:lnTo>
                  <a:pt x="832103" y="111251"/>
                </a:lnTo>
                <a:lnTo>
                  <a:pt x="841986" y="113258"/>
                </a:lnTo>
                <a:lnTo>
                  <a:pt x="850106" y="118729"/>
                </a:lnTo>
                <a:lnTo>
                  <a:pt x="855606" y="126843"/>
                </a:lnTo>
                <a:lnTo>
                  <a:pt x="857630" y="136778"/>
                </a:lnTo>
                <a:lnTo>
                  <a:pt x="857630" y="786002"/>
                </a:lnTo>
                <a:lnTo>
                  <a:pt x="855606" y="795885"/>
                </a:lnTo>
                <a:lnTo>
                  <a:pt x="850106" y="804005"/>
                </a:lnTo>
                <a:lnTo>
                  <a:pt x="841986" y="809505"/>
                </a:lnTo>
                <a:lnTo>
                  <a:pt x="832103" y="811529"/>
                </a:lnTo>
                <a:lnTo>
                  <a:pt x="885212" y="811529"/>
                </a:lnTo>
                <a:lnTo>
                  <a:pt x="886860" y="809093"/>
                </a:lnTo>
                <a:lnTo>
                  <a:pt x="891540" y="786002"/>
                </a:lnTo>
                <a:lnTo>
                  <a:pt x="891540" y="136778"/>
                </a:lnTo>
                <a:lnTo>
                  <a:pt x="886860" y="113668"/>
                </a:lnTo>
                <a:lnTo>
                  <a:pt x="885229" y="111251"/>
                </a:lnTo>
                <a:close/>
              </a:path>
              <a:path w="891540" h="925194">
                <a:moveTo>
                  <a:pt x="840994" y="372109"/>
                </a:moveTo>
                <a:lnTo>
                  <a:pt x="819276" y="372109"/>
                </a:lnTo>
                <a:lnTo>
                  <a:pt x="819276" y="580643"/>
                </a:lnTo>
                <a:lnTo>
                  <a:pt x="840994" y="580643"/>
                </a:lnTo>
                <a:lnTo>
                  <a:pt x="840994" y="372109"/>
                </a:lnTo>
                <a:close/>
              </a:path>
              <a:path w="891540" h="925194">
                <a:moveTo>
                  <a:pt x="547751" y="471042"/>
                </a:moveTo>
                <a:lnTo>
                  <a:pt x="496824" y="471042"/>
                </a:lnTo>
                <a:lnTo>
                  <a:pt x="496824" y="564260"/>
                </a:lnTo>
                <a:lnTo>
                  <a:pt x="484983" y="567183"/>
                </a:lnTo>
                <a:lnTo>
                  <a:pt x="470011" y="569833"/>
                </a:lnTo>
                <a:lnTo>
                  <a:pt x="453014" y="571601"/>
                </a:lnTo>
                <a:lnTo>
                  <a:pt x="435101" y="571880"/>
                </a:lnTo>
                <a:lnTo>
                  <a:pt x="547751" y="571880"/>
                </a:lnTo>
                <a:lnTo>
                  <a:pt x="547751" y="471042"/>
                </a:lnTo>
                <a:close/>
              </a:path>
              <a:path w="891540" h="925194">
                <a:moveTo>
                  <a:pt x="275081" y="430783"/>
                </a:moveTo>
                <a:lnTo>
                  <a:pt x="265140" y="432264"/>
                </a:lnTo>
                <a:lnTo>
                  <a:pt x="258127" y="435768"/>
                </a:lnTo>
                <a:lnTo>
                  <a:pt x="253972" y="440749"/>
                </a:lnTo>
                <a:lnTo>
                  <a:pt x="252602" y="446658"/>
                </a:lnTo>
                <a:lnTo>
                  <a:pt x="254265" y="453272"/>
                </a:lnTo>
                <a:lnTo>
                  <a:pt x="259429" y="458612"/>
                </a:lnTo>
                <a:lnTo>
                  <a:pt x="268354" y="463500"/>
                </a:lnTo>
                <a:lnTo>
                  <a:pt x="281304" y="468756"/>
                </a:lnTo>
                <a:lnTo>
                  <a:pt x="299688" y="477573"/>
                </a:lnTo>
                <a:lnTo>
                  <a:pt x="312642" y="488426"/>
                </a:lnTo>
                <a:lnTo>
                  <a:pt x="320309" y="501636"/>
                </a:lnTo>
                <a:lnTo>
                  <a:pt x="322833" y="517525"/>
                </a:lnTo>
                <a:lnTo>
                  <a:pt x="318924" y="536890"/>
                </a:lnTo>
                <a:lnTo>
                  <a:pt x="307086" y="552624"/>
                </a:lnTo>
                <a:lnTo>
                  <a:pt x="287150" y="562905"/>
                </a:lnTo>
                <a:lnTo>
                  <a:pt x="258952" y="565911"/>
                </a:lnTo>
                <a:lnTo>
                  <a:pt x="398640" y="565911"/>
                </a:lnTo>
                <a:lnTo>
                  <a:pt x="364108" y="546607"/>
                </a:lnTo>
                <a:lnTo>
                  <a:pt x="341891" y="503549"/>
                </a:lnTo>
                <a:lnTo>
                  <a:pt x="340598" y="485346"/>
                </a:lnTo>
                <a:lnTo>
                  <a:pt x="347926" y="448937"/>
                </a:lnTo>
                <a:lnTo>
                  <a:pt x="356122" y="437768"/>
                </a:lnTo>
                <a:lnTo>
                  <a:pt x="308228" y="437768"/>
                </a:lnTo>
                <a:lnTo>
                  <a:pt x="302531" y="435338"/>
                </a:lnTo>
                <a:lnTo>
                  <a:pt x="295036" y="432990"/>
                </a:lnTo>
                <a:lnTo>
                  <a:pt x="285851" y="431286"/>
                </a:lnTo>
                <a:lnTo>
                  <a:pt x="275081" y="430783"/>
                </a:lnTo>
                <a:close/>
              </a:path>
              <a:path w="891540" h="925194">
                <a:moveTo>
                  <a:pt x="249022" y="406907"/>
                </a:moveTo>
                <a:lnTo>
                  <a:pt x="188595" y="406907"/>
                </a:lnTo>
                <a:lnTo>
                  <a:pt x="196469" y="561213"/>
                </a:lnTo>
                <a:lnTo>
                  <a:pt x="232037" y="561213"/>
                </a:lnTo>
                <a:lnTo>
                  <a:pt x="223984" y="558518"/>
                </a:lnTo>
                <a:lnTo>
                  <a:pt x="216153" y="554735"/>
                </a:lnTo>
                <a:lnTo>
                  <a:pt x="223011" y="525652"/>
                </a:lnTo>
                <a:lnTo>
                  <a:pt x="284358" y="525652"/>
                </a:lnTo>
                <a:lnTo>
                  <a:pt x="285750" y="519429"/>
                </a:lnTo>
                <a:lnTo>
                  <a:pt x="284305" y="512681"/>
                </a:lnTo>
                <a:lnTo>
                  <a:pt x="279717" y="506968"/>
                </a:lnTo>
                <a:lnTo>
                  <a:pt x="271544" y="501776"/>
                </a:lnTo>
                <a:lnTo>
                  <a:pt x="259587" y="496696"/>
                </a:lnTo>
                <a:lnTo>
                  <a:pt x="242456" y="488719"/>
                </a:lnTo>
                <a:lnTo>
                  <a:pt x="229409" y="478504"/>
                </a:lnTo>
                <a:lnTo>
                  <a:pt x="221101" y="465764"/>
                </a:lnTo>
                <a:lnTo>
                  <a:pt x="218185" y="450214"/>
                </a:lnTo>
                <a:lnTo>
                  <a:pt x="222085" y="431460"/>
                </a:lnTo>
                <a:lnTo>
                  <a:pt x="233378" y="416099"/>
                </a:lnTo>
                <a:lnTo>
                  <a:pt x="249022" y="406907"/>
                </a:lnTo>
                <a:close/>
              </a:path>
              <a:path w="891540" h="925194">
                <a:moveTo>
                  <a:pt x="79248" y="440943"/>
                </a:moveTo>
                <a:lnTo>
                  <a:pt x="78867" y="440943"/>
                </a:lnTo>
                <a:lnTo>
                  <a:pt x="77254" y="485695"/>
                </a:lnTo>
                <a:lnTo>
                  <a:pt x="74295" y="556513"/>
                </a:lnTo>
                <a:lnTo>
                  <a:pt x="164725" y="556513"/>
                </a:lnTo>
                <a:lnTo>
                  <a:pt x="164716" y="556259"/>
                </a:lnTo>
                <a:lnTo>
                  <a:pt x="128777" y="556259"/>
                </a:lnTo>
                <a:lnTo>
                  <a:pt x="105028" y="555370"/>
                </a:lnTo>
                <a:lnTo>
                  <a:pt x="91058" y="497966"/>
                </a:lnTo>
                <a:lnTo>
                  <a:pt x="87713" y="483996"/>
                </a:lnTo>
                <a:lnTo>
                  <a:pt x="84677" y="470122"/>
                </a:lnTo>
                <a:lnTo>
                  <a:pt x="81772" y="455425"/>
                </a:lnTo>
                <a:lnTo>
                  <a:pt x="79248" y="440943"/>
                </a:lnTo>
                <a:close/>
              </a:path>
              <a:path w="891540" h="925194">
                <a:moveTo>
                  <a:pt x="161544" y="439165"/>
                </a:moveTo>
                <a:lnTo>
                  <a:pt x="160908" y="439165"/>
                </a:lnTo>
                <a:lnTo>
                  <a:pt x="157343" y="454068"/>
                </a:lnTo>
                <a:lnTo>
                  <a:pt x="153431" y="469233"/>
                </a:lnTo>
                <a:lnTo>
                  <a:pt x="149230" y="484485"/>
                </a:lnTo>
                <a:lnTo>
                  <a:pt x="144953" y="499147"/>
                </a:lnTo>
                <a:lnTo>
                  <a:pt x="128777" y="556259"/>
                </a:lnTo>
                <a:lnTo>
                  <a:pt x="164716" y="556259"/>
                </a:lnTo>
                <a:lnTo>
                  <a:pt x="162342" y="488719"/>
                </a:lnTo>
                <a:lnTo>
                  <a:pt x="161905" y="472314"/>
                </a:lnTo>
                <a:lnTo>
                  <a:pt x="161682" y="458612"/>
                </a:lnTo>
                <a:lnTo>
                  <a:pt x="161544" y="439165"/>
                </a:lnTo>
                <a:close/>
              </a:path>
              <a:path w="891540" h="925194">
                <a:moveTo>
                  <a:pt x="438784" y="428116"/>
                </a:moveTo>
                <a:lnTo>
                  <a:pt x="415532" y="432044"/>
                </a:lnTo>
                <a:lnTo>
                  <a:pt x="397065" y="442674"/>
                </a:lnTo>
                <a:lnTo>
                  <a:pt x="384885" y="459995"/>
                </a:lnTo>
                <a:lnTo>
                  <a:pt x="380492" y="483996"/>
                </a:lnTo>
                <a:lnTo>
                  <a:pt x="384518" y="507329"/>
                </a:lnTo>
                <a:lnTo>
                  <a:pt x="395843" y="524922"/>
                </a:lnTo>
                <a:lnTo>
                  <a:pt x="413335" y="536182"/>
                </a:lnTo>
                <a:lnTo>
                  <a:pt x="435864" y="540511"/>
                </a:lnTo>
                <a:lnTo>
                  <a:pt x="445261" y="540638"/>
                </a:lnTo>
                <a:lnTo>
                  <a:pt x="452881" y="539876"/>
                </a:lnTo>
                <a:lnTo>
                  <a:pt x="456056" y="538479"/>
                </a:lnTo>
                <a:lnTo>
                  <a:pt x="456056" y="501903"/>
                </a:lnTo>
                <a:lnTo>
                  <a:pt x="428244" y="501776"/>
                </a:lnTo>
                <a:lnTo>
                  <a:pt x="428244" y="471423"/>
                </a:lnTo>
                <a:lnTo>
                  <a:pt x="547751" y="471042"/>
                </a:lnTo>
                <a:lnTo>
                  <a:pt x="547751" y="434720"/>
                </a:lnTo>
                <a:lnTo>
                  <a:pt x="481710" y="434720"/>
                </a:lnTo>
                <a:lnTo>
                  <a:pt x="473485" y="431903"/>
                </a:lnTo>
                <a:lnTo>
                  <a:pt x="463915" y="429704"/>
                </a:lnTo>
                <a:lnTo>
                  <a:pt x="452510" y="428363"/>
                </a:lnTo>
                <a:lnTo>
                  <a:pt x="438784" y="428116"/>
                </a:lnTo>
                <a:close/>
              </a:path>
              <a:path w="891540" h="925194">
                <a:moveTo>
                  <a:pt x="284358" y="525652"/>
                </a:moveTo>
                <a:lnTo>
                  <a:pt x="223011" y="525652"/>
                </a:lnTo>
                <a:lnTo>
                  <a:pt x="230677" y="529429"/>
                </a:lnTo>
                <a:lnTo>
                  <a:pt x="239855" y="532812"/>
                </a:lnTo>
                <a:lnTo>
                  <a:pt x="250104" y="535314"/>
                </a:lnTo>
                <a:lnTo>
                  <a:pt x="260984" y="536447"/>
                </a:lnTo>
                <a:lnTo>
                  <a:pt x="271658" y="535431"/>
                </a:lnTo>
                <a:lnTo>
                  <a:pt x="279415" y="532034"/>
                </a:lnTo>
                <a:lnTo>
                  <a:pt x="284148" y="526589"/>
                </a:lnTo>
                <a:lnTo>
                  <a:pt x="284358" y="525652"/>
                </a:lnTo>
                <a:close/>
              </a:path>
              <a:path w="891540" h="925194">
                <a:moveTo>
                  <a:pt x="146380" y="410336"/>
                </a:moveTo>
                <a:lnTo>
                  <a:pt x="94487" y="410336"/>
                </a:lnTo>
                <a:lnTo>
                  <a:pt x="107315" y="459231"/>
                </a:lnTo>
                <a:lnTo>
                  <a:pt x="110440" y="472314"/>
                </a:lnTo>
                <a:lnTo>
                  <a:pt x="113501" y="485901"/>
                </a:lnTo>
                <a:lnTo>
                  <a:pt x="116262" y="499147"/>
                </a:lnTo>
                <a:lnTo>
                  <a:pt x="118745" y="512444"/>
                </a:lnTo>
                <a:lnTo>
                  <a:pt x="119379" y="512444"/>
                </a:lnTo>
                <a:lnTo>
                  <a:pt x="122366" y="499068"/>
                </a:lnTo>
                <a:lnTo>
                  <a:pt x="125883" y="483996"/>
                </a:lnTo>
                <a:lnTo>
                  <a:pt x="129043" y="471042"/>
                </a:lnTo>
                <a:lnTo>
                  <a:pt x="132239" y="458612"/>
                </a:lnTo>
                <a:lnTo>
                  <a:pt x="146380" y="410336"/>
                </a:lnTo>
                <a:close/>
              </a:path>
              <a:path w="891540" h="925194">
                <a:moveTo>
                  <a:pt x="590130" y="417448"/>
                </a:moveTo>
                <a:lnTo>
                  <a:pt x="547751" y="417448"/>
                </a:lnTo>
                <a:lnTo>
                  <a:pt x="641984" y="477138"/>
                </a:lnTo>
                <a:lnTo>
                  <a:pt x="643635" y="478154"/>
                </a:lnTo>
                <a:lnTo>
                  <a:pt x="645541" y="478663"/>
                </a:lnTo>
                <a:lnTo>
                  <a:pt x="649477" y="478663"/>
                </a:lnTo>
                <a:lnTo>
                  <a:pt x="651509" y="478027"/>
                </a:lnTo>
                <a:lnTo>
                  <a:pt x="653160" y="477138"/>
                </a:lnTo>
                <a:lnTo>
                  <a:pt x="690120" y="453770"/>
                </a:lnTo>
                <a:lnTo>
                  <a:pt x="647573" y="453770"/>
                </a:lnTo>
                <a:lnTo>
                  <a:pt x="590130" y="417448"/>
                </a:lnTo>
                <a:close/>
              </a:path>
              <a:path w="891540" h="925194">
                <a:moveTo>
                  <a:pt x="840994" y="363346"/>
                </a:moveTo>
                <a:lnTo>
                  <a:pt x="790701" y="363346"/>
                </a:lnTo>
                <a:lnTo>
                  <a:pt x="647573" y="453770"/>
                </a:lnTo>
                <a:lnTo>
                  <a:pt x="690120" y="453770"/>
                </a:lnTo>
                <a:lnTo>
                  <a:pt x="819276" y="372109"/>
                </a:lnTo>
                <a:lnTo>
                  <a:pt x="840994" y="372109"/>
                </a:lnTo>
                <a:lnTo>
                  <a:pt x="840994" y="363346"/>
                </a:lnTo>
                <a:close/>
              </a:path>
              <a:path w="891540" h="925194">
                <a:moveTo>
                  <a:pt x="411520" y="400938"/>
                </a:moveTo>
                <a:lnTo>
                  <a:pt x="275717" y="400938"/>
                </a:lnTo>
                <a:lnTo>
                  <a:pt x="288228" y="401169"/>
                </a:lnTo>
                <a:lnTo>
                  <a:pt x="299132" y="402589"/>
                </a:lnTo>
                <a:lnTo>
                  <a:pt x="308488" y="404868"/>
                </a:lnTo>
                <a:lnTo>
                  <a:pt x="316356" y="407669"/>
                </a:lnTo>
                <a:lnTo>
                  <a:pt x="308228" y="437768"/>
                </a:lnTo>
                <a:lnTo>
                  <a:pt x="356122" y="437768"/>
                </a:lnTo>
                <a:lnTo>
                  <a:pt x="368379" y="421068"/>
                </a:lnTo>
                <a:lnTo>
                  <a:pt x="399619" y="403105"/>
                </a:lnTo>
                <a:lnTo>
                  <a:pt x="411520" y="400938"/>
                </a:lnTo>
                <a:close/>
              </a:path>
              <a:path w="891540" h="925194">
                <a:moveTo>
                  <a:pt x="555985" y="395858"/>
                </a:moveTo>
                <a:lnTo>
                  <a:pt x="439420" y="395858"/>
                </a:lnTo>
                <a:lnTo>
                  <a:pt x="456025" y="395980"/>
                </a:lnTo>
                <a:lnTo>
                  <a:pt x="470344" y="397398"/>
                </a:lnTo>
                <a:lnTo>
                  <a:pt x="481996" y="399698"/>
                </a:lnTo>
                <a:lnTo>
                  <a:pt x="490600" y="402463"/>
                </a:lnTo>
                <a:lnTo>
                  <a:pt x="481710" y="434720"/>
                </a:lnTo>
                <a:lnTo>
                  <a:pt x="547751" y="434720"/>
                </a:lnTo>
                <a:lnTo>
                  <a:pt x="547751" y="417448"/>
                </a:lnTo>
                <a:lnTo>
                  <a:pt x="590130" y="417448"/>
                </a:lnTo>
                <a:lnTo>
                  <a:pt x="555985" y="395858"/>
                </a:lnTo>
                <a:close/>
              </a:path>
              <a:path w="891540" h="925194">
                <a:moveTo>
                  <a:pt x="832103" y="77342"/>
                </a:moveTo>
                <a:lnTo>
                  <a:pt x="550164" y="77342"/>
                </a:lnTo>
                <a:lnTo>
                  <a:pt x="547751" y="77596"/>
                </a:lnTo>
                <a:lnTo>
                  <a:pt x="833358" y="77596"/>
                </a:lnTo>
                <a:lnTo>
                  <a:pt x="832103" y="77342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90701" y="2403026"/>
            <a:ext cx="172085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25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3076" y="2971964"/>
            <a:ext cx="13843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40" i="1">
                <a:latin typeface="Times New Roman"/>
                <a:cs typeface="Times New Roman"/>
              </a:rPr>
              <a:t>c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5749" y="2971964"/>
            <a:ext cx="13843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40" i="1">
                <a:latin typeface="Times New Roman"/>
                <a:cs typeface="Times New Roman"/>
              </a:rPr>
              <a:t>c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92274" y="2420448"/>
            <a:ext cx="49212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55">
                <a:latin typeface="Times New Roman"/>
                <a:cs typeface="Times New Roman"/>
              </a:rPr>
              <a:t>X=</a:t>
            </a:r>
            <a:r>
              <a:rPr dirty="0" sz="1900" spc="-204">
                <a:latin typeface="Times New Roman"/>
                <a:cs typeface="Times New Roman"/>
              </a:rPr>
              <a:t> </a:t>
            </a:r>
            <a:r>
              <a:rPr dirty="0" baseline="14619" sz="2850" spc="52">
                <a:latin typeface="Symbol"/>
                <a:cs typeface="Symbol"/>
              </a:rPr>
              <a:t></a:t>
            </a:r>
            <a:endParaRPr baseline="14619" sz="28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7026" y="2299791"/>
            <a:ext cx="33147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65">
                <a:latin typeface="Times New Roman"/>
                <a:cs typeface="Times New Roman"/>
              </a:rPr>
              <a:t>2</a:t>
            </a:r>
            <a:r>
              <a:rPr dirty="0" sz="1100" spc="65" i="1">
                <a:latin typeface="Times New Roman"/>
                <a:cs typeface="Times New Roman"/>
              </a:rPr>
              <a:t>n</a:t>
            </a:r>
            <a:r>
              <a:rPr dirty="0" sz="1100" spc="50" i="1">
                <a:latin typeface="Times New Roman"/>
                <a:cs typeface="Times New Roman"/>
              </a:rPr>
              <a:t> </a:t>
            </a:r>
            <a:r>
              <a:rPr dirty="0" baseline="-13157" sz="2850" spc="52">
                <a:latin typeface="Symbol"/>
                <a:cs typeface="Symbol"/>
              </a:rPr>
              <a:t></a:t>
            </a:r>
            <a:endParaRPr baseline="-13157" sz="28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1262" y="2667458"/>
            <a:ext cx="39878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17543" sz="2850" spc="52">
                <a:latin typeface="Symbol"/>
                <a:cs typeface="Symbol"/>
              </a:rPr>
              <a:t></a:t>
            </a:r>
            <a:r>
              <a:rPr dirty="0" baseline="17543" sz="2850" spc="-525">
                <a:latin typeface="Times New Roman"/>
                <a:cs typeface="Times New Roman"/>
              </a:rPr>
              <a:t> </a:t>
            </a:r>
            <a:r>
              <a:rPr dirty="0" baseline="14619" sz="2850" spc="15" i="1">
                <a:latin typeface="Times New Roman"/>
                <a:cs typeface="Times New Roman"/>
              </a:rPr>
              <a:t>c</a:t>
            </a:r>
            <a:r>
              <a:rPr dirty="0" sz="1100" spc="10">
                <a:latin typeface="Times New Roman"/>
                <a:cs typeface="Times New Roman"/>
              </a:rPr>
              <a:t>31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61262" y="2827698"/>
            <a:ext cx="24257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90">
                <a:latin typeface="Symbol"/>
                <a:cs typeface="Symbol"/>
              </a:rPr>
              <a:t></a:t>
            </a:r>
            <a:r>
              <a:rPr dirty="0" baseline="-33625" sz="2850" spc="60" i="1">
                <a:latin typeface="Times New Roman"/>
                <a:cs typeface="Times New Roman"/>
              </a:rPr>
              <a:t>c</a:t>
            </a:r>
            <a:endParaRPr baseline="-33625"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5586" y="2827698"/>
            <a:ext cx="123189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1262" y="3037056"/>
            <a:ext cx="416559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</a:t>
            </a:r>
            <a:r>
              <a:rPr dirty="0" sz="1900" spc="36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15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26709" y="1738122"/>
            <a:ext cx="2940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5" b="1">
                <a:latin typeface="明兰"/>
                <a:cs typeface="明兰"/>
              </a:rPr>
              <a:t>对象</a:t>
            </a:r>
            <a:endParaRPr sz="1050">
              <a:latin typeface="明兰"/>
              <a:cs typeface="明兰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40264" y="1934427"/>
            <a:ext cx="77152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14619" sz="2850" spc="-30" i="1">
                <a:latin typeface="Times New Roman"/>
                <a:cs typeface="Times New Roman"/>
              </a:rPr>
              <a:t>c</a:t>
            </a:r>
            <a:r>
              <a:rPr dirty="0" sz="1100" spc="-20">
                <a:latin typeface="Times New Roman"/>
                <a:cs typeface="Times New Roman"/>
              </a:rPr>
              <a:t>1</a:t>
            </a:r>
            <a:r>
              <a:rPr dirty="0" sz="1100" spc="-20" i="1">
                <a:latin typeface="Times New Roman"/>
                <a:cs typeface="Times New Roman"/>
              </a:rPr>
              <a:t>n </a:t>
            </a:r>
            <a:r>
              <a:rPr dirty="0" baseline="10233" sz="2850" spc="52">
                <a:latin typeface="Symbol"/>
                <a:cs typeface="Symbol"/>
              </a:rPr>
              <a:t></a:t>
            </a:r>
            <a:r>
              <a:rPr dirty="0" baseline="10233" sz="2850" spc="585">
                <a:latin typeface="Times New Roman"/>
                <a:cs typeface="Times New Roman"/>
              </a:rPr>
              <a:t> </a:t>
            </a:r>
            <a:r>
              <a:rPr dirty="0" baseline="14814" sz="2250" spc="44" i="1">
                <a:latin typeface="Times New Roman"/>
                <a:cs typeface="Times New Roman"/>
              </a:rPr>
              <a:t>M</a:t>
            </a:r>
            <a:r>
              <a:rPr dirty="0" sz="850" spc="3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19373" y="2443005"/>
            <a:ext cx="80645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5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45586" y="2122970"/>
            <a:ext cx="379730" cy="444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875"/>
              </a:lnSpc>
              <a:spcBef>
                <a:spcPts val="125"/>
              </a:spcBef>
            </a:pPr>
            <a:r>
              <a:rPr dirty="0" sz="1900" spc="35">
                <a:latin typeface="Symbol"/>
                <a:cs typeface="Symbol"/>
              </a:rPr>
              <a:t></a:t>
            </a:r>
            <a:endParaRPr sz="1900">
              <a:latin typeface="Symbol"/>
              <a:cs typeface="Symbol"/>
            </a:endParaRPr>
          </a:p>
          <a:p>
            <a:pPr marL="207645">
              <a:lnSpc>
                <a:spcPts val="1395"/>
              </a:lnSpc>
            </a:pPr>
            <a:r>
              <a:rPr dirty="0" sz="1500" spc="-5" i="1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31030" y="2672043"/>
            <a:ext cx="76517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16081" sz="2850" spc="44" i="1">
                <a:latin typeface="Times New Roman"/>
                <a:cs typeface="Times New Roman"/>
              </a:rPr>
              <a:t>c</a:t>
            </a:r>
            <a:r>
              <a:rPr dirty="0" baseline="2525" sz="1650" spc="44">
                <a:latin typeface="Times New Roman"/>
                <a:cs typeface="Times New Roman"/>
              </a:rPr>
              <a:t>3</a:t>
            </a:r>
            <a:r>
              <a:rPr dirty="0" baseline="2525" sz="1650" spc="44" i="1">
                <a:latin typeface="Times New Roman"/>
                <a:cs typeface="Times New Roman"/>
              </a:rPr>
              <a:t>n </a:t>
            </a:r>
            <a:r>
              <a:rPr dirty="0" baseline="17543" sz="2850" spc="52">
                <a:latin typeface="Symbol"/>
                <a:cs typeface="Symbol"/>
              </a:rPr>
              <a:t></a:t>
            </a:r>
            <a:r>
              <a:rPr dirty="0" baseline="17543" sz="2850" spc="-315">
                <a:latin typeface="Times New Roman"/>
                <a:cs typeface="Times New Roman"/>
              </a:rPr>
              <a:t> </a:t>
            </a:r>
            <a:r>
              <a:rPr dirty="0" baseline="14814" sz="2250" spc="-7" i="1">
                <a:latin typeface="Times New Roman"/>
                <a:cs typeface="Times New Roman"/>
              </a:rPr>
              <a:t>M </a:t>
            </a:r>
            <a:r>
              <a:rPr dirty="0" sz="850" spc="5">
                <a:latin typeface="Times New Roman"/>
                <a:cs typeface="Times New Roman"/>
              </a:rPr>
              <a:t>3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26249" y="3041013"/>
            <a:ext cx="67881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5470" algn="l"/>
              </a:tabLst>
            </a:pPr>
            <a:r>
              <a:rPr dirty="0" baseline="2525" sz="1650" spc="37" i="1">
                <a:latin typeface="Times New Roman"/>
                <a:cs typeface="Times New Roman"/>
              </a:rPr>
              <a:t>m</a:t>
            </a:r>
            <a:r>
              <a:rPr dirty="0" baseline="2525" sz="1650" spc="37" i="1">
                <a:latin typeface="Times New Roman"/>
                <a:cs typeface="Times New Roman"/>
              </a:rPr>
              <a:t>n</a:t>
            </a:r>
            <a:r>
              <a:rPr dirty="0" baseline="2525" sz="1650" spc="67" i="1">
                <a:latin typeface="Times New Roman"/>
                <a:cs typeface="Times New Roman"/>
              </a:rPr>
              <a:t> </a:t>
            </a:r>
            <a:r>
              <a:rPr dirty="0" baseline="1461" sz="2850" spc="52">
                <a:latin typeface="Symbol"/>
                <a:cs typeface="Symbol"/>
              </a:rPr>
              <a:t></a:t>
            </a:r>
            <a:r>
              <a:rPr dirty="0" baseline="1461" sz="2850">
                <a:latin typeface="Times New Roman"/>
                <a:cs typeface="Times New Roman"/>
              </a:rPr>
              <a:t>	</a:t>
            </a:r>
            <a:r>
              <a:rPr dirty="0" sz="850" spc="10" i="1">
                <a:latin typeface="Times New Roman"/>
                <a:cs typeface="Times New Roman"/>
              </a:rPr>
              <a:t>m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21333" y="3047278"/>
            <a:ext cx="18415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5" i="1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50089" y="4185326"/>
            <a:ext cx="1515745" cy="0"/>
          </a:xfrm>
          <a:custGeom>
            <a:avLst/>
            <a:gdLst/>
            <a:ahLst/>
            <a:cxnLst/>
            <a:rect l="l" t="t" r="r" b="b"/>
            <a:pathLst>
              <a:path w="1515745" h="0">
                <a:moveTo>
                  <a:pt x="0" y="0"/>
                </a:moveTo>
                <a:lnTo>
                  <a:pt x="1515411" y="0"/>
                </a:lnTo>
              </a:path>
            </a:pathLst>
          </a:custGeom>
          <a:ln w="100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02440" y="4006716"/>
            <a:ext cx="4381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900" spc="-10" i="1">
                <a:latin typeface="Times New Roman"/>
                <a:cs typeface="Times New Roman"/>
              </a:rPr>
              <a:t>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68996" y="4158603"/>
            <a:ext cx="7493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900" spc="-10" i="1">
                <a:latin typeface="Times New Roman"/>
                <a:cs typeface="Times New Roman"/>
              </a:rPr>
              <a:t>ij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78504" y="4326766"/>
            <a:ext cx="89217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817880" algn="l"/>
              </a:tabLst>
            </a:pPr>
            <a:r>
              <a:rPr dirty="0" sz="900" spc="-10" i="1">
                <a:latin typeface="Times New Roman"/>
                <a:cs typeface="Times New Roman"/>
              </a:rPr>
              <a:t>ij</a:t>
            </a:r>
            <a:r>
              <a:rPr dirty="0" sz="900" spc="-10" i="1">
                <a:latin typeface="Times New Roman"/>
                <a:cs typeface="Times New Roman"/>
              </a:rPr>
              <a:t>	</a:t>
            </a:r>
            <a:r>
              <a:rPr dirty="0" sz="900" spc="-10" i="1">
                <a:latin typeface="Times New Roman"/>
                <a:cs typeface="Times New Roman"/>
              </a:rPr>
              <a:t>ij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20021" y="4393951"/>
            <a:ext cx="87630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832485" algn="l"/>
              </a:tabLst>
            </a:pPr>
            <a:r>
              <a:rPr dirty="0" sz="900" spc="-10" i="1">
                <a:latin typeface="Times New Roman"/>
                <a:cs typeface="Times New Roman"/>
              </a:rPr>
              <a:t>j</a:t>
            </a:r>
            <a:r>
              <a:rPr dirty="0" sz="900" spc="-10" i="1">
                <a:latin typeface="Times New Roman"/>
                <a:cs typeface="Times New Roman"/>
              </a:rPr>
              <a:t>	</a:t>
            </a:r>
            <a:r>
              <a:rPr dirty="0" sz="900" spc="-10" i="1">
                <a:latin typeface="Times New Roman"/>
                <a:cs typeface="Times New Roman"/>
              </a:rPr>
              <a:t>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21247" y="3692371"/>
            <a:ext cx="100076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550" spc="-65" i="1">
                <a:latin typeface="Times New Roman"/>
                <a:cs typeface="Times New Roman"/>
              </a:rPr>
              <a:t>x</a:t>
            </a:r>
            <a:r>
              <a:rPr dirty="0" baseline="-24691" sz="1350" spc="-15" i="1">
                <a:latin typeface="Times New Roman"/>
                <a:cs typeface="Times New Roman"/>
              </a:rPr>
              <a:t>ij</a:t>
            </a:r>
            <a:r>
              <a:rPr dirty="0" baseline="-24691" sz="1350" i="1">
                <a:latin typeface="Times New Roman"/>
                <a:cs typeface="Times New Roman"/>
              </a:rPr>
              <a:t> </a:t>
            </a:r>
            <a:r>
              <a:rPr dirty="0" baseline="-24691" sz="1350" spc="22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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sz="1550" spc="-65">
                <a:latin typeface="Times New Roman"/>
                <a:cs typeface="Times New Roman"/>
              </a:rPr>
              <a:t>m</a:t>
            </a:r>
            <a:r>
              <a:rPr dirty="0" sz="1550" spc="-25">
                <a:latin typeface="Times New Roman"/>
                <a:cs typeface="Times New Roman"/>
              </a:rPr>
              <a:t>in</a:t>
            </a:r>
            <a:r>
              <a:rPr dirty="0" sz="1550" spc="-195">
                <a:latin typeface="Times New Roman"/>
                <a:cs typeface="Times New Roman"/>
              </a:rPr>
              <a:t> </a:t>
            </a:r>
            <a:r>
              <a:rPr dirty="0" baseline="-4535" sz="3675" spc="-195">
                <a:latin typeface="Symbol"/>
                <a:cs typeface="Symbol"/>
              </a:rPr>
              <a:t></a:t>
            </a:r>
            <a:r>
              <a:rPr dirty="0" sz="1550" spc="-70" i="1">
                <a:latin typeface="Times New Roman"/>
                <a:cs typeface="Times New Roman"/>
              </a:rPr>
              <a:t>x</a:t>
            </a:r>
            <a:r>
              <a:rPr dirty="0" baseline="-24691" sz="1350" spc="-15" i="1">
                <a:latin typeface="Times New Roman"/>
                <a:cs typeface="Times New Roman"/>
              </a:rPr>
              <a:t>ij</a:t>
            </a:r>
            <a:r>
              <a:rPr dirty="0" baseline="-24691" sz="1350" spc="120" i="1">
                <a:latin typeface="Times New Roman"/>
                <a:cs typeface="Times New Roman"/>
              </a:rPr>
              <a:t> </a:t>
            </a:r>
            <a:r>
              <a:rPr dirty="0" baseline="-4535" sz="3675" spc="-487">
                <a:latin typeface="Symbol"/>
                <a:cs typeface="Symbol"/>
              </a:rPr>
              <a:t></a:t>
            </a:r>
            <a:endParaRPr baseline="-4535" sz="3675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89594" y="4022686"/>
            <a:ext cx="32766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50" spc="-25" i="1">
                <a:latin typeface="Times New Roman"/>
                <a:cs typeface="Times New Roman"/>
              </a:rPr>
              <a:t>c</a:t>
            </a:r>
            <a:r>
              <a:rPr dirty="0" sz="1550" spc="150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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62401" y="4076651"/>
            <a:ext cx="151003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550" spc="-40">
                <a:latin typeface="Times New Roman"/>
                <a:cs typeface="Times New Roman"/>
              </a:rPr>
              <a:t>max </a:t>
            </a:r>
            <a:r>
              <a:rPr dirty="0" baseline="-4535" sz="3675" spc="-120">
                <a:latin typeface="Symbol"/>
                <a:cs typeface="Symbol"/>
              </a:rPr>
              <a:t></a:t>
            </a:r>
            <a:r>
              <a:rPr dirty="0" sz="1550" spc="-80" i="1">
                <a:latin typeface="Times New Roman"/>
                <a:cs typeface="Times New Roman"/>
              </a:rPr>
              <a:t>x </a:t>
            </a:r>
            <a:r>
              <a:rPr dirty="0" baseline="-4535" sz="3675" spc="-487">
                <a:latin typeface="Symbol"/>
                <a:cs typeface="Symbol"/>
              </a:rPr>
              <a:t></a:t>
            </a:r>
            <a:r>
              <a:rPr dirty="0" baseline="-4535" sz="3675" spc="-487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</a:t>
            </a:r>
            <a:r>
              <a:rPr dirty="0" sz="1550" spc="-30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Times New Roman"/>
                <a:cs typeface="Times New Roman"/>
              </a:rPr>
              <a:t>min </a:t>
            </a:r>
            <a:r>
              <a:rPr dirty="0" baseline="-4535" sz="3675" spc="-120">
                <a:latin typeface="Symbol"/>
                <a:cs typeface="Symbol"/>
              </a:rPr>
              <a:t></a:t>
            </a:r>
            <a:r>
              <a:rPr dirty="0" sz="1550" spc="-80" i="1">
                <a:latin typeface="Times New Roman"/>
                <a:cs typeface="Times New Roman"/>
              </a:rPr>
              <a:t>x</a:t>
            </a:r>
            <a:r>
              <a:rPr dirty="0" sz="1550" spc="-35" i="1">
                <a:latin typeface="Times New Roman"/>
                <a:cs typeface="Times New Roman"/>
              </a:rPr>
              <a:t> </a:t>
            </a:r>
            <a:r>
              <a:rPr dirty="0" baseline="-4535" sz="3675" spc="-487">
                <a:latin typeface="Symbol"/>
                <a:cs typeface="Symbol"/>
              </a:rPr>
              <a:t></a:t>
            </a:r>
            <a:endParaRPr baseline="-4535" sz="3675">
              <a:latin typeface="Symbol"/>
              <a:cs typeface="Symbo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84385" y="4170856"/>
            <a:ext cx="1515745" cy="0"/>
          </a:xfrm>
          <a:custGeom>
            <a:avLst/>
            <a:gdLst/>
            <a:ahLst/>
            <a:cxnLst/>
            <a:rect l="l" t="t" r="r" b="b"/>
            <a:pathLst>
              <a:path w="1515745" h="0">
                <a:moveTo>
                  <a:pt x="0" y="0"/>
                </a:moveTo>
                <a:lnTo>
                  <a:pt x="1515411" y="0"/>
                </a:lnTo>
              </a:path>
            </a:pathLst>
          </a:custGeom>
          <a:ln w="100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277052" y="3992568"/>
            <a:ext cx="5651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 i="1">
                <a:latin typeface="Times New Roman"/>
                <a:cs typeface="Times New Roman"/>
              </a:rPr>
              <a:t>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0592" y="4144160"/>
            <a:ext cx="8763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10" i="1">
                <a:latin typeface="Times New Roman"/>
                <a:cs typeface="Times New Roman"/>
              </a:rPr>
              <a:t>ij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00100" y="4311997"/>
            <a:ext cx="90487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30580" algn="l"/>
              </a:tabLst>
            </a:pPr>
            <a:r>
              <a:rPr dirty="0" sz="900" spc="-10" i="1">
                <a:latin typeface="Times New Roman"/>
                <a:cs typeface="Times New Roman"/>
              </a:rPr>
              <a:t>ij</a:t>
            </a:r>
            <a:r>
              <a:rPr dirty="0" sz="900" spc="-10" i="1">
                <a:latin typeface="Times New Roman"/>
                <a:cs typeface="Times New Roman"/>
              </a:rPr>
              <a:t>	</a:t>
            </a:r>
            <a:r>
              <a:rPr dirty="0" sz="900" spc="-10" i="1">
                <a:latin typeface="Times New Roman"/>
                <a:cs typeface="Times New Roman"/>
              </a:rPr>
              <a:t>ij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41617" y="4379052"/>
            <a:ext cx="88900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45185" algn="l"/>
              </a:tabLst>
            </a:pPr>
            <a:r>
              <a:rPr dirty="0" sz="900" spc="-10" i="1">
                <a:latin typeface="Times New Roman"/>
                <a:cs typeface="Times New Roman"/>
              </a:rPr>
              <a:t>j</a:t>
            </a:r>
            <a:r>
              <a:rPr dirty="0" sz="900" spc="-10" i="1">
                <a:latin typeface="Times New Roman"/>
                <a:cs typeface="Times New Roman"/>
              </a:rPr>
              <a:t>	</a:t>
            </a:r>
            <a:r>
              <a:rPr dirty="0" sz="900" spc="-10" i="1">
                <a:latin typeface="Times New Roman"/>
                <a:cs typeface="Times New Roman"/>
              </a:rPr>
              <a:t>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19432" y="3675917"/>
            <a:ext cx="1022985" cy="401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65">
                <a:latin typeface="Times New Roman"/>
                <a:cs typeface="Times New Roman"/>
              </a:rPr>
              <a:t>m</a:t>
            </a:r>
            <a:r>
              <a:rPr dirty="0" sz="1550" spc="-35">
                <a:latin typeface="Times New Roman"/>
                <a:cs typeface="Times New Roman"/>
              </a:rPr>
              <a:t>a</a:t>
            </a:r>
            <a:r>
              <a:rPr dirty="0" sz="1550" spc="-30">
                <a:latin typeface="Times New Roman"/>
                <a:cs typeface="Times New Roman"/>
              </a:rPr>
              <a:t>x</a:t>
            </a:r>
            <a:r>
              <a:rPr dirty="0" sz="1550" spc="-195">
                <a:latin typeface="Times New Roman"/>
                <a:cs typeface="Times New Roman"/>
              </a:rPr>
              <a:t> </a:t>
            </a:r>
            <a:r>
              <a:rPr dirty="0" baseline="-4535" sz="3675" spc="-195">
                <a:latin typeface="Symbol"/>
                <a:cs typeface="Symbol"/>
              </a:rPr>
              <a:t></a:t>
            </a:r>
            <a:r>
              <a:rPr dirty="0" sz="1550" spc="-65" i="1">
                <a:latin typeface="Times New Roman"/>
                <a:cs typeface="Times New Roman"/>
              </a:rPr>
              <a:t>x</a:t>
            </a:r>
            <a:r>
              <a:rPr dirty="0" baseline="-24691" sz="1350" spc="-15" i="1">
                <a:latin typeface="Times New Roman"/>
                <a:cs typeface="Times New Roman"/>
              </a:rPr>
              <a:t>ij</a:t>
            </a:r>
            <a:r>
              <a:rPr dirty="0" baseline="-24691" sz="1350" spc="112" i="1">
                <a:latin typeface="Times New Roman"/>
                <a:cs typeface="Times New Roman"/>
              </a:rPr>
              <a:t> </a:t>
            </a:r>
            <a:r>
              <a:rPr dirty="0" baseline="-4535" sz="3675" spc="-487">
                <a:latin typeface="Symbol"/>
                <a:cs typeface="Symbol"/>
              </a:rPr>
              <a:t></a:t>
            </a:r>
            <a:r>
              <a:rPr dirty="0" baseline="-4535" sz="3675" spc="-555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</a:t>
            </a:r>
            <a:r>
              <a:rPr dirty="0" sz="1550" spc="-55">
                <a:latin typeface="Times New Roman"/>
                <a:cs typeface="Times New Roman"/>
              </a:rPr>
              <a:t> </a:t>
            </a:r>
            <a:r>
              <a:rPr dirty="0" sz="1550" spc="-70" i="1">
                <a:latin typeface="Times New Roman"/>
                <a:cs typeface="Times New Roman"/>
              </a:rPr>
              <a:t>x</a:t>
            </a:r>
            <a:r>
              <a:rPr dirty="0" baseline="-24691" sz="1350" spc="-15" i="1">
                <a:latin typeface="Times New Roman"/>
                <a:cs typeface="Times New Roman"/>
              </a:rPr>
              <a:t>ij</a:t>
            </a:r>
            <a:endParaRPr baseline="-24691" sz="13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1190" y="4008507"/>
            <a:ext cx="340360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25" i="1">
                <a:latin typeface="Times New Roman"/>
                <a:cs typeface="Times New Roman"/>
              </a:rPr>
              <a:t>c</a:t>
            </a:r>
            <a:r>
              <a:rPr dirty="0" sz="1550" spc="150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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83997" y="4062367"/>
            <a:ext cx="1522730" cy="401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40">
                <a:latin typeface="Times New Roman"/>
                <a:cs typeface="Times New Roman"/>
              </a:rPr>
              <a:t>max </a:t>
            </a:r>
            <a:r>
              <a:rPr dirty="0" baseline="-4535" sz="3675" spc="-120">
                <a:latin typeface="Symbol"/>
                <a:cs typeface="Symbol"/>
              </a:rPr>
              <a:t></a:t>
            </a:r>
            <a:r>
              <a:rPr dirty="0" sz="1550" spc="-80" i="1">
                <a:latin typeface="Times New Roman"/>
                <a:cs typeface="Times New Roman"/>
              </a:rPr>
              <a:t>x </a:t>
            </a:r>
            <a:r>
              <a:rPr dirty="0" baseline="-4535" sz="3675" spc="-487">
                <a:latin typeface="Symbol"/>
                <a:cs typeface="Symbol"/>
              </a:rPr>
              <a:t></a:t>
            </a:r>
            <a:r>
              <a:rPr dirty="0" baseline="-4535" sz="3675" spc="-487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</a:t>
            </a:r>
            <a:r>
              <a:rPr dirty="0" sz="1550" spc="-30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Times New Roman"/>
                <a:cs typeface="Times New Roman"/>
              </a:rPr>
              <a:t>min </a:t>
            </a:r>
            <a:r>
              <a:rPr dirty="0" baseline="-4535" sz="3675" spc="-120">
                <a:latin typeface="Symbol"/>
                <a:cs typeface="Symbol"/>
              </a:rPr>
              <a:t></a:t>
            </a:r>
            <a:r>
              <a:rPr dirty="0" sz="1550" spc="-80" i="1">
                <a:latin typeface="Times New Roman"/>
                <a:cs typeface="Times New Roman"/>
              </a:rPr>
              <a:t>x</a:t>
            </a:r>
            <a:r>
              <a:rPr dirty="0" sz="1550" spc="-35" i="1">
                <a:latin typeface="Times New Roman"/>
                <a:cs typeface="Times New Roman"/>
              </a:rPr>
              <a:t> </a:t>
            </a:r>
            <a:r>
              <a:rPr dirty="0" baseline="-4535" sz="3675" spc="-487">
                <a:latin typeface="Symbol"/>
                <a:cs typeface="Symbol"/>
              </a:rPr>
              <a:t></a:t>
            </a:r>
            <a:endParaRPr baseline="-4535" sz="3675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4291" y="3518153"/>
            <a:ext cx="1625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针对越</a:t>
            </a:r>
            <a:r>
              <a:rPr dirty="0" sz="1400" spc="-15">
                <a:latin typeface="宋体"/>
                <a:cs typeface="宋体"/>
              </a:rPr>
              <a:t>小</a:t>
            </a:r>
            <a:r>
              <a:rPr dirty="0" sz="1400">
                <a:latin typeface="宋体"/>
                <a:cs typeface="宋体"/>
              </a:rPr>
              <a:t>越优</a:t>
            </a:r>
            <a:r>
              <a:rPr dirty="0" sz="1400" spc="-15">
                <a:latin typeface="宋体"/>
                <a:cs typeface="宋体"/>
              </a:rPr>
              <a:t>型指</a:t>
            </a:r>
            <a:r>
              <a:rPr dirty="0" sz="1400">
                <a:latin typeface="宋体"/>
                <a:cs typeface="宋体"/>
              </a:rPr>
              <a:t>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44976" y="3501644"/>
            <a:ext cx="1625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针对越</a:t>
            </a:r>
            <a:r>
              <a:rPr dirty="0" sz="1400" spc="-1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越优</a:t>
            </a:r>
            <a:r>
              <a:rPr dirty="0" sz="1400" spc="-15">
                <a:latin typeface="宋体"/>
                <a:cs typeface="宋体"/>
              </a:rPr>
              <a:t>型指</a:t>
            </a:r>
            <a:r>
              <a:rPr dirty="0" sz="1400">
                <a:latin typeface="宋体"/>
                <a:cs typeface="宋体"/>
              </a:rPr>
              <a:t>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130" y="5199144"/>
            <a:ext cx="39471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计算</a:t>
            </a:r>
            <a:r>
              <a:rPr dirty="0" sz="1400" spc="345">
                <a:latin typeface="宋体"/>
                <a:cs typeface="宋体"/>
              </a:rPr>
              <a:t>第</a:t>
            </a:r>
            <a:r>
              <a:rPr dirty="0" sz="1400">
                <a:latin typeface="Arial"/>
                <a:cs typeface="Arial"/>
              </a:rPr>
              <a:t>j </a:t>
            </a:r>
            <a:r>
              <a:rPr dirty="0" sz="1400" spc="10">
                <a:latin typeface="宋体"/>
                <a:cs typeface="宋体"/>
              </a:rPr>
              <a:t>项指</a:t>
            </a:r>
            <a:r>
              <a:rPr dirty="0" sz="1400">
                <a:latin typeface="宋体"/>
                <a:cs typeface="宋体"/>
              </a:rPr>
              <a:t>标</a:t>
            </a:r>
            <a:r>
              <a:rPr dirty="0" sz="1400" spc="-15">
                <a:latin typeface="宋体"/>
                <a:cs typeface="宋体"/>
              </a:rPr>
              <a:t>下</a:t>
            </a:r>
            <a:r>
              <a:rPr dirty="0" sz="1400">
                <a:latin typeface="宋体"/>
                <a:cs typeface="宋体"/>
              </a:rPr>
              <a:t>第</a:t>
            </a:r>
            <a:r>
              <a:rPr dirty="0" sz="1400" spc="-355">
                <a:latin typeface="宋体"/>
                <a:cs typeface="宋体"/>
              </a:rPr>
              <a:t> </a:t>
            </a:r>
            <a:r>
              <a:rPr dirty="0" sz="1400">
                <a:latin typeface="Arial"/>
                <a:cs typeface="Arial"/>
              </a:rPr>
              <a:t>i </a:t>
            </a:r>
            <a:r>
              <a:rPr dirty="0" sz="1400" spc="10">
                <a:latin typeface="宋体"/>
                <a:cs typeface="宋体"/>
              </a:rPr>
              <a:t>个评</a:t>
            </a:r>
            <a:r>
              <a:rPr dirty="0" sz="1400">
                <a:latin typeface="宋体"/>
                <a:cs typeface="宋体"/>
              </a:rPr>
              <a:t>价</a:t>
            </a:r>
            <a:r>
              <a:rPr dirty="0" sz="1400" spc="-10">
                <a:latin typeface="宋体"/>
                <a:cs typeface="宋体"/>
              </a:rPr>
              <a:t>对</a:t>
            </a:r>
            <a:r>
              <a:rPr dirty="0" sz="1400">
                <a:latin typeface="宋体"/>
                <a:cs typeface="宋体"/>
              </a:rPr>
              <a:t>象的</a:t>
            </a:r>
            <a:r>
              <a:rPr dirty="0" sz="1400" spc="-10">
                <a:latin typeface="宋体"/>
                <a:cs typeface="宋体"/>
              </a:rPr>
              <a:t>特</a:t>
            </a:r>
            <a:r>
              <a:rPr dirty="0" sz="1400">
                <a:latin typeface="宋体"/>
                <a:cs typeface="宋体"/>
              </a:rPr>
              <a:t>征比重</a:t>
            </a:r>
            <a:r>
              <a:rPr dirty="0" sz="1400" spc="-445">
                <a:latin typeface="宋体"/>
                <a:cs typeface="宋体"/>
              </a:rPr>
              <a:t> </a:t>
            </a:r>
            <a:r>
              <a:rPr dirty="0" baseline="13888" sz="2100" spc="-120" i="1">
                <a:latin typeface="Times New Roman"/>
                <a:cs typeface="Times New Roman"/>
              </a:rPr>
              <a:t>p</a:t>
            </a:r>
            <a:r>
              <a:rPr dirty="0" sz="800" spc="-80" i="1">
                <a:latin typeface="Times New Roman"/>
                <a:cs typeface="Times New Roman"/>
              </a:rPr>
              <a:t>ij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54100" y="6022957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 h="0">
                <a:moveTo>
                  <a:pt x="0" y="0"/>
                </a:moveTo>
                <a:lnTo>
                  <a:pt x="432548" y="0"/>
                </a:lnTo>
              </a:path>
            </a:pathLst>
          </a:custGeom>
          <a:ln w="93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557612" y="5997157"/>
            <a:ext cx="7810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15" i="1">
                <a:latin typeface="Times New Roman"/>
                <a:cs typeface="Times New Roman"/>
              </a:rPr>
              <a:t>ij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930731" y="6008103"/>
            <a:ext cx="971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45" i="1">
                <a:latin typeface="Times New Roman"/>
                <a:cs typeface="Times New Roman"/>
              </a:rPr>
              <a:t>m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61305" y="5870074"/>
            <a:ext cx="35750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233679" algn="l"/>
              </a:tabLst>
            </a:pPr>
            <a:r>
              <a:rPr dirty="0" sz="1450" spc="65" i="1">
                <a:latin typeface="Times New Roman"/>
                <a:cs typeface="Times New Roman"/>
              </a:rPr>
              <a:t>p</a:t>
            </a:r>
            <a:r>
              <a:rPr dirty="0" sz="1450" spc="65" i="1">
                <a:latin typeface="Times New Roman"/>
                <a:cs typeface="Times New Roman"/>
              </a:rPr>
              <a:t>	</a:t>
            </a:r>
            <a:r>
              <a:rPr dirty="0" sz="1450" spc="70">
                <a:latin typeface="Symbol"/>
                <a:cs typeface="Symbol"/>
              </a:rPr>
              <a:t>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65387" y="5727508"/>
            <a:ext cx="398145" cy="80391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505"/>
              </a:spcBef>
            </a:pPr>
            <a:r>
              <a:rPr dirty="0" baseline="15325" sz="2175" spc="22" i="1">
                <a:latin typeface="Times New Roman"/>
                <a:cs typeface="Times New Roman"/>
              </a:rPr>
              <a:t>c</a:t>
            </a:r>
            <a:r>
              <a:rPr dirty="0" sz="850" spc="15" i="1">
                <a:latin typeface="Times New Roman"/>
                <a:cs typeface="Times New Roman"/>
              </a:rPr>
              <a:t>ij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2505"/>
              </a:lnSpc>
              <a:spcBef>
                <a:spcPts val="595"/>
              </a:spcBef>
            </a:pPr>
            <a:r>
              <a:rPr dirty="0" baseline="1262" sz="3300" spc="427">
                <a:latin typeface="Symbol"/>
                <a:cs typeface="Symbol"/>
              </a:rPr>
              <a:t></a:t>
            </a:r>
            <a:r>
              <a:rPr dirty="0" baseline="15325" sz="2175" spc="15" i="1">
                <a:latin typeface="Times New Roman"/>
                <a:cs typeface="Times New Roman"/>
              </a:rPr>
              <a:t>c</a:t>
            </a:r>
            <a:r>
              <a:rPr dirty="0" sz="850" spc="15" i="1">
                <a:latin typeface="Times New Roman"/>
                <a:cs typeface="Times New Roman"/>
              </a:rPr>
              <a:t>ij</a:t>
            </a:r>
            <a:endParaRPr sz="850">
              <a:latin typeface="Times New Roman"/>
              <a:cs typeface="Times New Roman"/>
            </a:endParaRPr>
          </a:p>
          <a:p>
            <a:pPr marL="34290">
              <a:lnSpc>
                <a:spcPts val="885"/>
              </a:lnSpc>
            </a:pPr>
            <a:r>
              <a:rPr dirty="0" sz="850" spc="20" i="1">
                <a:latin typeface="Times New Roman"/>
                <a:cs typeface="Times New Roman"/>
              </a:rPr>
              <a:t>i</a:t>
            </a:r>
            <a:r>
              <a:rPr dirty="0" sz="850" spc="20">
                <a:latin typeface="Symbol"/>
                <a:cs typeface="Symbol"/>
              </a:rPr>
              <a:t></a:t>
            </a:r>
            <a:r>
              <a:rPr dirty="0" sz="850" spc="2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42357" y="5146343"/>
            <a:ext cx="2052320" cy="302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4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计算</a:t>
            </a:r>
            <a:r>
              <a:rPr dirty="0" sz="1400" spc="345">
                <a:latin typeface="宋体"/>
                <a:cs typeface="宋体"/>
              </a:rPr>
              <a:t>第</a:t>
            </a:r>
            <a:r>
              <a:rPr dirty="0" sz="1400">
                <a:latin typeface="Arial"/>
                <a:cs typeface="Arial"/>
              </a:rPr>
              <a:t>j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项指</a:t>
            </a:r>
            <a:r>
              <a:rPr dirty="0" sz="1400">
                <a:latin typeface="宋体"/>
                <a:cs typeface="宋体"/>
              </a:rPr>
              <a:t>标</a:t>
            </a:r>
            <a:r>
              <a:rPr dirty="0" sz="1400" spc="-10">
                <a:latin typeface="宋体"/>
                <a:cs typeface="宋体"/>
              </a:rPr>
              <a:t>熵</a:t>
            </a:r>
            <a:r>
              <a:rPr dirty="0" sz="1400" spc="75">
                <a:latin typeface="宋体"/>
                <a:cs typeface="宋体"/>
              </a:rPr>
              <a:t>权</a:t>
            </a:r>
            <a:r>
              <a:rPr dirty="0" baseline="1543" sz="2700" spc="150" i="1">
                <a:latin typeface="Times New Roman"/>
                <a:cs typeface="Times New Roman"/>
              </a:rPr>
              <a:t>e</a:t>
            </a:r>
            <a:r>
              <a:rPr dirty="0" baseline="-21164" sz="1575" spc="150" i="1">
                <a:latin typeface="Times New Roman"/>
                <a:cs typeface="Times New Roman"/>
              </a:rPr>
              <a:t>j</a:t>
            </a:r>
            <a:endParaRPr baseline="-21164" sz="1575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833680" y="6107697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 h="0">
                <a:moveTo>
                  <a:pt x="0" y="0"/>
                </a:moveTo>
                <a:lnTo>
                  <a:pt x="327199" y="0"/>
                </a:lnTo>
              </a:path>
            </a:pathLst>
          </a:custGeom>
          <a:ln w="101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672325" y="5823860"/>
            <a:ext cx="9144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 spc="-35" i="1">
                <a:latin typeface="Times New Roman"/>
                <a:cs typeface="Times New Roman"/>
              </a:rPr>
              <a:t>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56685" y="6080871"/>
            <a:ext cx="43180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900" spc="-15" i="1">
                <a:latin typeface="Times New Roman"/>
                <a:cs typeface="Times New Roman"/>
              </a:rPr>
              <a:t>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842710" y="5776991"/>
            <a:ext cx="322580" cy="59118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455"/>
              </a:spcBef>
            </a:pPr>
            <a:r>
              <a:rPr dirty="0" sz="1550" spc="-4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  <a:p>
            <a:pPr algn="ctr" marR="5080">
              <a:lnSpc>
                <a:spcPct val="100000"/>
              </a:lnSpc>
              <a:spcBef>
                <a:spcPts val="365"/>
              </a:spcBef>
            </a:pPr>
            <a:r>
              <a:rPr dirty="0" sz="1550" spc="-40">
                <a:latin typeface="Times New Roman"/>
                <a:cs typeface="Times New Roman"/>
              </a:rPr>
              <a:t>ln</a:t>
            </a:r>
            <a:r>
              <a:rPr dirty="0" sz="1550" spc="-240">
                <a:latin typeface="Times New Roman"/>
                <a:cs typeface="Times New Roman"/>
              </a:rPr>
              <a:t> </a:t>
            </a:r>
            <a:r>
              <a:rPr dirty="0" sz="1550" spc="-55" i="1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57541" y="5943844"/>
            <a:ext cx="174371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00100" algn="l"/>
              </a:tabLst>
            </a:pPr>
            <a:r>
              <a:rPr dirty="0" sz="1550" spc="-35" i="1">
                <a:latin typeface="Times New Roman"/>
                <a:cs typeface="Times New Roman"/>
              </a:rPr>
              <a:t>e </a:t>
            </a:r>
            <a:r>
              <a:rPr dirty="0" sz="1550" spc="155" i="1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</a:t>
            </a:r>
            <a:r>
              <a:rPr dirty="0" sz="1550" spc="-55">
                <a:latin typeface="Times New Roman"/>
                <a:cs typeface="Times New Roman"/>
              </a:rPr>
              <a:t> </a:t>
            </a:r>
            <a:r>
              <a:rPr dirty="0" sz="1550" spc="-15">
                <a:latin typeface="Symbol"/>
                <a:cs typeface="Symbol"/>
              </a:rPr>
              <a:t></a:t>
            </a:r>
            <a:r>
              <a:rPr dirty="0" sz="1550" spc="-15" i="1">
                <a:latin typeface="Times New Roman"/>
                <a:cs typeface="Times New Roman"/>
              </a:rPr>
              <a:t>k	</a:t>
            </a:r>
            <a:r>
              <a:rPr dirty="0" sz="1550" spc="-40" i="1">
                <a:latin typeface="Times New Roman"/>
                <a:cs typeface="Times New Roman"/>
              </a:rPr>
              <a:t>p </a:t>
            </a:r>
            <a:r>
              <a:rPr dirty="0" sz="1550" spc="-40">
                <a:latin typeface="Times New Roman"/>
                <a:cs typeface="Times New Roman"/>
              </a:rPr>
              <a:t>ln </a:t>
            </a:r>
            <a:r>
              <a:rPr dirty="0" sz="1550" spc="-40" i="1">
                <a:latin typeface="Times New Roman"/>
                <a:cs typeface="Times New Roman"/>
              </a:rPr>
              <a:t>p </a:t>
            </a:r>
            <a:r>
              <a:rPr dirty="0" baseline="30465" sz="2325" spc="-44">
                <a:latin typeface="Symbol"/>
                <a:cs typeface="Symbol"/>
              </a:rPr>
              <a:t></a:t>
            </a:r>
            <a:r>
              <a:rPr dirty="0" baseline="30465" sz="2325" spc="-44">
                <a:latin typeface="Times New Roman"/>
                <a:cs typeface="Times New Roman"/>
              </a:rPr>
              <a:t> </a:t>
            </a:r>
            <a:r>
              <a:rPr dirty="0" sz="1550" spc="-35" i="1">
                <a:latin typeface="Times New Roman"/>
                <a:cs typeface="Times New Roman"/>
              </a:rPr>
              <a:t>k</a:t>
            </a:r>
            <a:r>
              <a:rPr dirty="0" sz="1550" spc="100" i="1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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85056" y="5943844"/>
            <a:ext cx="59944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550" spc="-20">
                <a:latin typeface="Times New Roman"/>
                <a:cs typeface="Times New Roman"/>
              </a:rPr>
              <a:t>, </a:t>
            </a:r>
            <a:r>
              <a:rPr dirty="0" sz="1550" spc="-35" i="1">
                <a:latin typeface="Times New Roman"/>
                <a:cs typeface="Times New Roman"/>
              </a:rPr>
              <a:t>e</a:t>
            </a:r>
            <a:r>
              <a:rPr dirty="0" sz="1550" spc="-65" i="1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</a:t>
            </a:r>
            <a:r>
              <a:rPr dirty="0" sz="1550" spc="-40">
                <a:latin typeface="Times New Roman"/>
                <a:cs typeface="Times New Roman"/>
              </a:rPr>
              <a:t> 0 </a:t>
            </a:r>
            <a:r>
              <a:rPr dirty="0" baseline="30465" sz="2325" spc="-44">
                <a:latin typeface="Symbol"/>
                <a:cs typeface="Symbol"/>
              </a:rPr>
              <a:t></a:t>
            </a:r>
            <a:endParaRPr baseline="30465" sz="2325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49029" y="5996840"/>
            <a:ext cx="435609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50520" algn="l"/>
              </a:tabLst>
            </a:pPr>
            <a:r>
              <a:rPr dirty="0" sz="900" spc="-15" i="1">
                <a:latin typeface="Times New Roman"/>
                <a:cs typeface="Times New Roman"/>
              </a:rPr>
              <a:t>j</a:t>
            </a:r>
            <a:r>
              <a:rPr dirty="0" sz="900" spc="-15" i="1">
                <a:latin typeface="Times New Roman"/>
                <a:cs typeface="Times New Roman"/>
              </a:rPr>
              <a:t>	</a:t>
            </a:r>
            <a:r>
              <a:rPr dirty="0" sz="1550" spc="-30">
                <a:latin typeface="Symbol"/>
                <a:cs typeface="Symbol"/>
              </a:rPr>
              <a:t>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46970" y="6123894"/>
            <a:ext cx="8509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550" spc="-30">
                <a:latin typeface="Symbol"/>
                <a:cs typeface="Symbol"/>
              </a:rPr>
              <a:t>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99694" y="6123894"/>
            <a:ext cx="8509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550" spc="-30">
                <a:latin typeface="Symbol"/>
                <a:cs typeface="Symbol"/>
              </a:rPr>
              <a:t>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611184" y="5896032"/>
            <a:ext cx="920750" cy="490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2680"/>
              </a:lnSpc>
              <a:spcBef>
                <a:spcPts val="130"/>
              </a:spcBef>
              <a:tabLst>
                <a:tab pos="337185" algn="l"/>
                <a:tab pos="730885" algn="l"/>
              </a:tabLst>
            </a:pPr>
            <a:r>
              <a:rPr dirty="0" baseline="1182" sz="3525" spc="-142">
                <a:latin typeface="Symbol"/>
                <a:cs typeface="Symbol"/>
              </a:rPr>
              <a:t></a:t>
            </a:r>
            <a:r>
              <a:rPr dirty="0" baseline="1182" sz="3525" spc="-142">
                <a:latin typeface="Times New Roman"/>
                <a:cs typeface="Times New Roman"/>
              </a:rPr>
              <a:t>	</a:t>
            </a:r>
            <a:r>
              <a:rPr dirty="0" sz="900" spc="-15" i="1">
                <a:latin typeface="Times New Roman"/>
                <a:cs typeface="Times New Roman"/>
              </a:rPr>
              <a:t>ij	ij</a:t>
            </a:r>
            <a:r>
              <a:rPr dirty="0" sz="900" spc="50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</a:t>
            </a:r>
            <a:endParaRPr sz="1550">
              <a:latin typeface="Symbol"/>
              <a:cs typeface="Symbol"/>
            </a:endParaRPr>
          </a:p>
          <a:p>
            <a:pPr marL="31750">
              <a:lnSpc>
                <a:spcPts val="940"/>
              </a:lnSpc>
            </a:pPr>
            <a:r>
              <a:rPr dirty="0" sz="900" spc="-25" i="1">
                <a:latin typeface="Times New Roman"/>
                <a:cs typeface="Times New Roman"/>
              </a:rPr>
              <a:t>i</a:t>
            </a:r>
            <a:r>
              <a:rPr dirty="0" sz="900" spc="-25">
                <a:latin typeface="Symbol"/>
                <a:cs typeface="Symbol"/>
              </a:rPr>
              <a:t></a:t>
            </a:r>
            <a:r>
              <a:rPr dirty="0" sz="900" spc="-25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0" y="464972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861303" y="649223"/>
            <a:ext cx="0" cy="4000500"/>
          </a:xfrm>
          <a:custGeom>
            <a:avLst/>
            <a:gdLst/>
            <a:ahLst/>
            <a:cxnLst/>
            <a:rect l="l" t="t" r="r" b="b"/>
            <a:pathLst>
              <a:path w="0" h="4000500">
                <a:moveTo>
                  <a:pt x="0" y="0"/>
                </a:moveTo>
                <a:lnTo>
                  <a:pt x="0" y="4000373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3106673" y="1464651"/>
            <a:ext cx="2062480" cy="182689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  <a:tabLst>
                <a:tab pos="838835" algn="l"/>
                <a:tab pos="1326515" algn="l"/>
                <a:tab pos="1850389" algn="l"/>
              </a:tabLst>
            </a:pPr>
            <a:r>
              <a:rPr dirty="0" baseline="5291" sz="1575" spc="7" b="1">
                <a:latin typeface="明兰"/>
                <a:cs typeface="明兰"/>
              </a:rPr>
              <a:t>指标</a:t>
            </a:r>
            <a:r>
              <a:rPr dirty="0" baseline="5291" sz="1575" spc="7" b="1">
                <a:latin typeface="明兰"/>
                <a:cs typeface="明兰"/>
              </a:rPr>
              <a:t> </a:t>
            </a:r>
            <a:r>
              <a:rPr dirty="0" baseline="5291" sz="1575" spc="-44" b="1">
                <a:latin typeface="明兰"/>
                <a:cs typeface="明兰"/>
              </a:rPr>
              <a:t> </a:t>
            </a:r>
            <a:r>
              <a:rPr dirty="0" baseline="1851" sz="2250" spc="-232" i="1">
                <a:latin typeface="Times New Roman"/>
                <a:cs typeface="Times New Roman"/>
              </a:rPr>
              <a:t>D</a:t>
            </a:r>
            <a:r>
              <a:rPr dirty="0" baseline="-22875" sz="1275" spc="7">
                <a:latin typeface="Times New Roman"/>
                <a:cs typeface="Times New Roman"/>
              </a:rPr>
              <a:t>1</a:t>
            </a:r>
            <a:r>
              <a:rPr dirty="0" baseline="-22875" sz="1275">
                <a:latin typeface="Times New Roman"/>
                <a:cs typeface="Times New Roman"/>
              </a:rPr>
              <a:t>	</a:t>
            </a:r>
            <a:r>
              <a:rPr dirty="0" baseline="1851" sz="2250" spc="-75" i="1">
                <a:latin typeface="Times New Roman"/>
                <a:cs typeface="Times New Roman"/>
              </a:rPr>
              <a:t>D</a:t>
            </a:r>
            <a:r>
              <a:rPr dirty="0" baseline="-22875" sz="1275" spc="15">
                <a:latin typeface="Times New Roman"/>
                <a:cs typeface="Times New Roman"/>
              </a:rPr>
              <a:t>2</a:t>
            </a:r>
            <a:r>
              <a:rPr dirty="0" baseline="-22875" sz="1275">
                <a:latin typeface="Times New Roman"/>
                <a:cs typeface="Times New Roman"/>
              </a:rPr>
              <a:t>	</a:t>
            </a:r>
            <a:r>
              <a:rPr dirty="0" sz="1500" spc="-85" i="1">
                <a:latin typeface="Times New Roman"/>
                <a:cs typeface="Times New Roman"/>
              </a:rPr>
              <a:t>D</a:t>
            </a:r>
            <a:r>
              <a:rPr dirty="0" baseline="-26143" sz="1275" spc="7">
                <a:latin typeface="Times New Roman"/>
                <a:cs typeface="Times New Roman"/>
              </a:rPr>
              <a:t>3</a:t>
            </a:r>
            <a:r>
              <a:rPr dirty="0" baseline="-26143" sz="1275">
                <a:latin typeface="Times New Roman"/>
                <a:cs typeface="Times New Roman"/>
              </a:rPr>
              <a:t>	</a:t>
            </a:r>
            <a:r>
              <a:rPr dirty="0" sz="1500" spc="-55" i="1">
                <a:latin typeface="Times New Roman"/>
                <a:cs typeface="Times New Roman"/>
              </a:rPr>
              <a:t>D</a:t>
            </a:r>
            <a:r>
              <a:rPr dirty="0" baseline="-26143" sz="1275" spc="7" i="1">
                <a:latin typeface="Times New Roman"/>
                <a:cs typeface="Times New Roman"/>
              </a:rPr>
              <a:t>n</a:t>
            </a:r>
            <a:endParaRPr baseline="-26143" sz="1275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  <a:spcBef>
                <a:spcPts val="805"/>
              </a:spcBef>
              <a:tabLst>
                <a:tab pos="838835" algn="l"/>
                <a:tab pos="1365885" algn="l"/>
              </a:tabLst>
            </a:pPr>
            <a:r>
              <a:rPr dirty="0" baseline="-4385" sz="2850" spc="52">
                <a:latin typeface="Symbol"/>
                <a:cs typeface="Symbol"/>
              </a:rPr>
              <a:t></a:t>
            </a:r>
            <a:r>
              <a:rPr dirty="0" baseline="-4385" sz="2850" spc="-367">
                <a:latin typeface="Times New Roman"/>
                <a:cs typeface="Times New Roman"/>
              </a:rPr>
              <a:t> </a:t>
            </a:r>
            <a:r>
              <a:rPr dirty="0" sz="1900" spc="-20" i="1">
                <a:latin typeface="Times New Roman"/>
                <a:cs typeface="Times New Roman"/>
              </a:rPr>
              <a:t>c</a:t>
            </a:r>
            <a:r>
              <a:rPr dirty="0" baseline="-25252" sz="1650" spc="-30">
                <a:latin typeface="Times New Roman"/>
                <a:cs typeface="Times New Roman"/>
              </a:rPr>
              <a:t>11	</a:t>
            </a:r>
            <a:r>
              <a:rPr dirty="0" sz="1900" spc="-15" i="1">
                <a:latin typeface="Times New Roman"/>
                <a:cs typeface="Times New Roman"/>
              </a:rPr>
              <a:t>c</a:t>
            </a:r>
            <a:r>
              <a:rPr dirty="0" baseline="-25252" sz="1650" spc="-22">
                <a:latin typeface="Times New Roman"/>
                <a:cs typeface="Times New Roman"/>
              </a:rPr>
              <a:t>12	</a:t>
            </a:r>
            <a:r>
              <a:rPr dirty="0" sz="1900" spc="175">
                <a:latin typeface="Symbol"/>
                <a:cs typeface="Symbol"/>
              </a:rPr>
              <a:t></a:t>
            </a:r>
            <a:endParaRPr sz="1900">
              <a:latin typeface="Symbol"/>
              <a:cs typeface="Symbol"/>
            </a:endParaRPr>
          </a:p>
          <a:p>
            <a:pPr algn="ctr" marL="49530">
              <a:lnSpc>
                <a:spcPts val="1789"/>
              </a:lnSpc>
              <a:spcBef>
                <a:spcPts val="615"/>
              </a:spcBef>
              <a:tabLst>
                <a:tab pos="713740" algn="l"/>
                <a:tab pos="1248410" algn="l"/>
                <a:tab pos="1714500" algn="l"/>
              </a:tabLst>
            </a:pPr>
            <a:r>
              <a:rPr dirty="0" baseline="26315" sz="2850" spc="52">
                <a:latin typeface="Symbol"/>
                <a:cs typeface="Symbol"/>
              </a:rPr>
              <a:t></a:t>
            </a:r>
            <a:r>
              <a:rPr dirty="0" baseline="26315" sz="2850" spc="-457">
                <a:latin typeface="Times New Roman"/>
                <a:cs typeface="Times New Roman"/>
              </a:rPr>
              <a:t> </a:t>
            </a:r>
            <a:r>
              <a:rPr dirty="0" sz="1900" spc="40" i="1">
                <a:latin typeface="Times New Roman"/>
                <a:cs typeface="Times New Roman"/>
              </a:rPr>
              <a:t>c	c	</a:t>
            </a:r>
            <a:r>
              <a:rPr dirty="0" sz="1900" spc="125">
                <a:latin typeface="Symbol"/>
                <a:cs typeface="Symbol"/>
              </a:rPr>
              <a:t></a:t>
            </a:r>
            <a:r>
              <a:rPr dirty="0" sz="1900" spc="125">
                <a:latin typeface="Times New Roman"/>
                <a:cs typeface="Times New Roman"/>
              </a:rPr>
              <a:t>	</a:t>
            </a:r>
            <a:r>
              <a:rPr dirty="0" sz="1900" spc="40" i="1">
                <a:latin typeface="Times New Roman"/>
                <a:cs typeface="Times New Roman"/>
              </a:rPr>
              <a:t>c</a:t>
            </a:r>
            <a:endParaRPr sz="1900">
              <a:latin typeface="Times New Roman"/>
              <a:cs typeface="Times New Roman"/>
            </a:endParaRPr>
          </a:p>
          <a:p>
            <a:pPr algn="ctr" marR="23495">
              <a:lnSpc>
                <a:spcPts val="830"/>
              </a:lnSpc>
            </a:pPr>
            <a:r>
              <a:rPr dirty="0" sz="1100" spc="25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  <a:p>
            <a:pPr algn="ctr" marL="387985">
              <a:lnSpc>
                <a:spcPct val="100000"/>
              </a:lnSpc>
              <a:spcBef>
                <a:spcPts val="275"/>
              </a:spcBef>
              <a:tabLst>
                <a:tab pos="919480" algn="l"/>
              </a:tabLst>
            </a:pPr>
            <a:r>
              <a:rPr dirty="0" sz="1900" spc="10" i="1">
                <a:latin typeface="Times New Roman"/>
                <a:cs typeface="Times New Roman"/>
              </a:rPr>
              <a:t>c</a:t>
            </a:r>
            <a:r>
              <a:rPr dirty="0" baseline="-25252" sz="1650" spc="15">
                <a:latin typeface="Times New Roman"/>
                <a:cs typeface="Times New Roman"/>
              </a:rPr>
              <a:t>32	</a:t>
            </a:r>
            <a:r>
              <a:rPr dirty="0" sz="1900" spc="175">
                <a:latin typeface="Symbol"/>
                <a:cs typeface="Symbol"/>
              </a:rPr>
              <a:t></a:t>
            </a:r>
            <a:endParaRPr sz="1900">
              <a:latin typeface="Symbol"/>
              <a:cs typeface="Symbol"/>
            </a:endParaRPr>
          </a:p>
          <a:p>
            <a:pPr algn="ctr" marL="473075">
              <a:lnSpc>
                <a:spcPct val="100000"/>
              </a:lnSpc>
              <a:spcBef>
                <a:spcPts val="615"/>
              </a:spcBef>
              <a:tabLst>
                <a:tab pos="919480" algn="l"/>
              </a:tabLst>
            </a:pPr>
            <a:r>
              <a:rPr dirty="0" baseline="-25252" sz="1650" spc="52" i="1">
                <a:latin typeface="Times New Roman"/>
                <a:cs typeface="Times New Roman"/>
              </a:rPr>
              <a:t>m</a:t>
            </a:r>
            <a:r>
              <a:rPr dirty="0" baseline="-25252" sz="1650" spc="-262" i="1">
                <a:latin typeface="Times New Roman"/>
                <a:cs typeface="Times New Roman"/>
              </a:rPr>
              <a:t> </a:t>
            </a:r>
            <a:r>
              <a:rPr dirty="0" baseline="-25252" sz="1650" spc="37">
                <a:latin typeface="Times New Roman"/>
                <a:cs typeface="Times New Roman"/>
              </a:rPr>
              <a:t>2	</a:t>
            </a:r>
            <a:r>
              <a:rPr dirty="0" sz="1900" spc="175">
                <a:latin typeface="Symbol"/>
                <a:cs typeface="Symbol"/>
              </a:rPr>
              <a:t>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5692" y="1521658"/>
            <a:ext cx="2616835" cy="183007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9"/>
              </a:spcBef>
              <a:buClr>
                <a:srgbClr val="660000"/>
              </a:buClr>
              <a:buFont typeface="Wingdings"/>
              <a:buChar char=""/>
              <a:tabLst>
                <a:tab pos="241300" algn="l"/>
              </a:tabLst>
            </a:pPr>
            <a:r>
              <a:rPr dirty="0" sz="1400" spc="-505">
                <a:latin typeface="宋体"/>
                <a:cs typeface="宋体"/>
              </a:rPr>
              <a:t>现</a:t>
            </a:r>
            <a:r>
              <a:rPr dirty="0" baseline="-3968" sz="2100" spc="-1350">
                <a:solidFill>
                  <a:srgbClr val="FFFFFF"/>
                </a:solidFill>
                <a:latin typeface="宋体"/>
                <a:cs typeface="宋体"/>
              </a:rPr>
              <a:t>啊</a:t>
            </a:r>
            <a:r>
              <a:rPr dirty="0" sz="1400">
                <a:latin typeface="宋体"/>
                <a:cs typeface="宋体"/>
              </a:rPr>
              <a:t>有</a:t>
            </a:r>
            <a:r>
              <a:rPr dirty="0" sz="1400" spc="5">
                <a:latin typeface="宋体"/>
                <a:cs typeface="宋体"/>
              </a:rPr>
              <a:t>被</a:t>
            </a:r>
            <a:r>
              <a:rPr dirty="0" sz="1400" spc="-15">
                <a:latin typeface="宋体"/>
                <a:cs typeface="宋体"/>
              </a:rPr>
              <a:t>评</a:t>
            </a:r>
            <a:r>
              <a:rPr dirty="0" sz="1400" spc="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对</a:t>
            </a:r>
            <a:r>
              <a:rPr dirty="0" sz="1400" spc="5">
                <a:latin typeface="宋体"/>
                <a:cs typeface="宋体"/>
              </a:rPr>
              <a:t>象</a:t>
            </a:r>
            <a:endParaRPr sz="1400">
              <a:latin typeface="宋体"/>
              <a:cs typeface="宋体"/>
            </a:endParaRPr>
          </a:p>
          <a:p>
            <a:pPr marL="795655">
              <a:lnSpc>
                <a:spcPct val="100000"/>
              </a:lnSpc>
              <a:spcBef>
                <a:spcPts val="810"/>
              </a:spcBef>
            </a:pPr>
            <a:r>
              <a:rPr dirty="0" sz="1400" spc="-160" i="1">
                <a:latin typeface="Times New Roman"/>
                <a:cs typeface="Times New Roman"/>
              </a:rPr>
              <a:t>M</a:t>
            </a:r>
            <a:r>
              <a:rPr dirty="0" sz="1400" spc="-85" i="1">
                <a:latin typeface="Times New Roman"/>
                <a:cs typeface="Times New Roman"/>
              </a:rPr>
              <a:t> </a:t>
            </a:r>
            <a:r>
              <a:rPr dirty="0" sz="1400" spc="-105">
                <a:latin typeface="Symbol"/>
                <a:cs typeface="Symbol"/>
              </a:rPr>
              <a:t></a:t>
            </a:r>
            <a:r>
              <a:rPr dirty="0" sz="1400" spc="-90">
                <a:latin typeface="Times New Roman"/>
                <a:cs typeface="Times New Roman"/>
              </a:rPr>
              <a:t> </a:t>
            </a:r>
            <a:r>
              <a:rPr dirty="0" sz="1400" spc="-40">
                <a:latin typeface="Times New Roman"/>
                <a:cs typeface="Times New Roman"/>
              </a:rPr>
              <a:t>(</a:t>
            </a:r>
            <a:r>
              <a:rPr dirty="0" sz="1400" spc="-40" i="1">
                <a:latin typeface="Times New Roman"/>
                <a:cs typeface="Times New Roman"/>
              </a:rPr>
              <a:t>M</a:t>
            </a:r>
            <a:r>
              <a:rPr dirty="0" baseline="-24305" sz="1200" spc="-60">
                <a:latin typeface="Times New Roman"/>
                <a:cs typeface="Times New Roman"/>
              </a:rPr>
              <a:t>1</a:t>
            </a:r>
            <a:r>
              <a:rPr dirty="0" sz="1400" spc="-40">
                <a:latin typeface="Times New Roman"/>
                <a:cs typeface="Times New Roman"/>
              </a:rPr>
              <a:t>,</a:t>
            </a:r>
            <a:r>
              <a:rPr dirty="0" sz="1400" spc="-185">
                <a:latin typeface="Times New Roman"/>
                <a:cs typeface="Times New Roman"/>
              </a:rPr>
              <a:t> </a:t>
            </a:r>
            <a:r>
              <a:rPr dirty="0" sz="1400" spc="-160" i="1">
                <a:latin typeface="Times New Roman"/>
                <a:cs typeface="Times New Roman"/>
              </a:rPr>
              <a:t>M</a:t>
            </a:r>
            <a:r>
              <a:rPr dirty="0" sz="1400" spc="-225" i="1">
                <a:latin typeface="Times New Roman"/>
                <a:cs typeface="Times New Roman"/>
              </a:rPr>
              <a:t> </a:t>
            </a:r>
            <a:r>
              <a:rPr dirty="0" baseline="-24305" sz="1200" spc="-75">
                <a:latin typeface="Times New Roman"/>
                <a:cs typeface="Times New Roman"/>
              </a:rPr>
              <a:t>2</a:t>
            </a:r>
            <a:r>
              <a:rPr dirty="0" baseline="-24305" sz="1200" spc="-135">
                <a:latin typeface="Times New Roman"/>
                <a:cs typeface="Times New Roman"/>
              </a:rPr>
              <a:t> </a:t>
            </a:r>
            <a:r>
              <a:rPr dirty="0" sz="1400" spc="-35">
                <a:latin typeface="Times New Roman"/>
                <a:cs typeface="Times New Roman"/>
              </a:rPr>
              <a:t>,...,</a:t>
            </a:r>
            <a:r>
              <a:rPr dirty="0" sz="1400" spc="-185">
                <a:latin typeface="Times New Roman"/>
                <a:cs typeface="Times New Roman"/>
              </a:rPr>
              <a:t> </a:t>
            </a:r>
            <a:r>
              <a:rPr dirty="0" sz="1400" spc="-160" i="1">
                <a:latin typeface="Times New Roman"/>
                <a:cs typeface="Times New Roman"/>
              </a:rPr>
              <a:t>M</a:t>
            </a:r>
            <a:r>
              <a:rPr dirty="0" sz="1400" spc="-225" i="1">
                <a:latin typeface="Times New Roman"/>
                <a:cs typeface="Times New Roman"/>
              </a:rPr>
              <a:t> </a:t>
            </a:r>
            <a:r>
              <a:rPr dirty="0" baseline="-24305" sz="1200" spc="-112" i="1">
                <a:latin typeface="Times New Roman"/>
                <a:cs typeface="Times New Roman"/>
              </a:rPr>
              <a:t>m</a:t>
            </a:r>
            <a:r>
              <a:rPr dirty="0" baseline="-24305" sz="1200" spc="-89" i="1">
                <a:latin typeface="Times New Roman"/>
                <a:cs typeface="Times New Roman"/>
              </a:rPr>
              <a:t> </a:t>
            </a:r>
            <a:r>
              <a:rPr dirty="0" sz="1400" spc="-65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875"/>
              </a:spcBef>
            </a:pPr>
            <a:r>
              <a:rPr dirty="0" sz="1400" spc="10">
                <a:latin typeface="宋体"/>
                <a:cs typeface="宋体"/>
              </a:rPr>
              <a:t>评价</a:t>
            </a:r>
            <a:r>
              <a:rPr dirty="0" sz="1400">
                <a:latin typeface="宋体"/>
                <a:cs typeface="宋体"/>
              </a:rPr>
              <a:t>指标</a:t>
            </a:r>
            <a:endParaRPr sz="1400">
              <a:latin typeface="宋体"/>
              <a:cs typeface="宋体"/>
            </a:endParaRPr>
          </a:p>
          <a:p>
            <a:pPr algn="ctr" marL="112395">
              <a:lnSpc>
                <a:spcPct val="100000"/>
              </a:lnSpc>
              <a:spcBef>
                <a:spcPts val="765"/>
              </a:spcBef>
            </a:pPr>
            <a:r>
              <a:rPr dirty="0" sz="1400" spc="-135" i="1">
                <a:latin typeface="Times New Roman"/>
                <a:cs typeface="Times New Roman"/>
              </a:rPr>
              <a:t>D </a:t>
            </a:r>
            <a:r>
              <a:rPr dirty="0" sz="1400" spc="-100">
                <a:latin typeface="Symbol"/>
                <a:cs typeface="Symbol"/>
              </a:rPr>
              <a:t></a:t>
            </a:r>
            <a:r>
              <a:rPr dirty="0" sz="1400" spc="-100">
                <a:latin typeface="Times New Roman"/>
                <a:cs typeface="Times New Roman"/>
              </a:rPr>
              <a:t> </a:t>
            </a:r>
            <a:r>
              <a:rPr dirty="0" sz="1400" spc="-80">
                <a:latin typeface="Times New Roman"/>
                <a:cs typeface="Times New Roman"/>
              </a:rPr>
              <a:t>(</a:t>
            </a:r>
            <a:r>
              <a:rPr dirty="0" sz="1400" spc="-80" i="1">
                <a:latin typeface="Times New Roman"/>
                <a:cs typeface="Times New Roman"/>
              </a:rPr>
              <a:t>D</a:t>
            </a:r>
            <a:r>
              <a:rPr dirty="0" baseline="-24305" sz="1200" spc="-120">
                <a:latin typeface="Times New Roman"/>
                <a:cs typeface="Times New Roman"/>
              </a:rPr>
              <a:t>1</a:t>
            </a:r>
            <a:r>
              <a:rPr dirty="0" sz="1400" spc="-80">
                <a:latin typeface="Times New Roman"/>
                <a:cs typeface="Times New Roman"/>
              </a:rPr>
              <a:t>, </a:t>
            </a:r>
            <a:r>
              <a:rPr dirty="0" sz="1400" spc="-120" i="1">
                <a:latin typeface="Times New Roman"/>
                <a:cs typeface="Times New Roman"/>
              </a:rPr>
              <a:t>D</a:t>
            </a:r>
            <a:r>
              <a:rPr dirty="0" baseline="-24305" sz="1200" spc="-179">
                <a:latin typeface="Times New Roman"/>
                <a:cs typeface="Times New Roman"/>
              </a:rPr>
              <a:t>2 </a:t>
            </a:r>
            <a:r>
              <a:rPr dirty="0" sz="1400" spc="-40">
                <a:latin typeface="Times New Roman"/>
                <a:cs typeface="Times New Roman"/>
              </a:rPr>
              <a:t>,...,</a:t>
            </a:r>
            <a:r>
              <a:rPr dirty="0" sz="1400" spc="-229">
                <a:latin typeface="Times New Roman"/>
                <a:cs typeface="Times New Roman"/>
              </a:rPr>
              <a:t> </a:t>
            </a:r>
            <a:r>
              <a:rPr dirty="0" sz="1400" spc="-120" i="1">
                <a:latin typeface="Times New Roman"/>
                <a:cs typeface="Times New Roman"/>
              </a:rPr>
              <a:t>D</a:t>
            </a:r>
            <a:r>
              <a:rPr dirty="0" baseline="-24305" sz="1200" spc="-179" i="1">
                <a:latin typeface="Times New Roman"/>
                <a:cs typeface="Times New Roman"/>
              </a:rPr>
              <a:t>n </a:t>
            </a:r>
            <a:r>
              <a:rPr dirty="0" sz="1400" spc="-65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algn="ctr" marL="228600">
              <a:lnSpc>
                <a:spcPts val="1675"/>
              </a:lnSpc>
              <a:spcBef>
                <a:spcPts val="915"/>
              </a:spcBef>
            </a:pPr>
            <a:r>
              <a:rPr dirty="0" sz="1400" spc="10">
                <a:latin typeface="宋体"/>
                <a:cs typeface="宋体"/>
              </a:rPr>
              <a:t>被评</a:t>
            </a:r>
            <a:r>
              <a:rPr dirty="0" sz="1400" spc="5">
                <a:latin typeface="宋体"/>
                <a:cs typeface="宋体"/>
              </a:rPr>
              <a:t>价</a:t>
            </a:r>
            <a:r>
              <a:rPr dirty="0" sz="1400">
                <a:latin typeface="宋体"/>
                <a:cs typeface="宋体"/>
              </a:rPr>
              <a:t>对</a:t>
            </a:r>
            <a:r>
              <a:rPr dirty="0" sz="1400" spc="165">
                <a:latin typeface="宋体"/>
                <a:cs typeface="宋体"/>
              </a:rPr>
              <a:t>象</a:t>
            </a:r>
            <a:r>
              <a:rPr dirty="0" baseline="-3968" sz="2100" spc="52">
                <a:latin typeface="Cambria Math"/>
                <a:cs typeface="Cambria Math"/>
              </a:rPr>
              <a:t>𝑀</a:t>
            </a:r>
            <a:r>
              <a:rPr dirty="0" baseline="-22222" sz="1500" spc="52">
                <a:latin typeface="Cambria Math"/>
                <a:cs typeface="Cambria Math"/>
              </a:rPr>
              <a:t>i</a:t>
            </a:r>
            <a:r>
              <a:rPr dirty="0" sz="1400" spc="10">
                <a:latin typeface="宋体"/>
                <a:cs typeface="宋体"/>
              </a:rPr>
              <a:t>对指</a:t>
            </a:r>
            <a:r>
              <a:rPr dirty="0" sz="1400" spc="245">
                <a:latin typeface="宋体"/>
                <a:cs typeface="宋体"/>
              </a:rPr>
              <a:t>标</a:t>
            </a:r>
            <a:r>
              <a:rPr dirty="0" sz="1400" spc="-60">
                <a:latin typeface="Cambria Math"/>
                <a:cs typeface="Cambria Math"/>
              </a:rPr>
              <a:t>𝐷</a:t>
            </a:r>
            <a:r>
              <a:rPr dirty="0" baseline="-16666" sz="1500" spc="-89">
                <a:latin typeface="Cambria Math"/>
                <a:cs typeface="Cambria Math"/>
              </a:rPr>
              <a:t>j</a:t>
            </a:r>
            <a:r>
              <a:rPr dirty="0" sz="1400" spc="10">
                <a:latin typeface="宋体"/>
                <a:cs typeface="宋体"/>
              </a:rPr>
              <a:t>的值记</a:t>
            </a:r>
            <a:endParaRPr sz="1400">
              <a:latin typeface="宋体"/>
              <a:cs typeface="宋体"/>
            </a:endParaRPr>
          </a:p>
          <a:p>
            <a:pPr marL="241300">
              <a:lnSpc>
                <a:spcPts val="1675"/>
              </a:lnSpc>
            </a:pPr>
            <a:r>
              <a:rPr dirty="0" sz="1400" spc="345">
                <a:latin typeface="宋体"/>
                <a:cs typeface="宋体"/>
              </a:rPr>
              <a:t>为</a:t>
            </a:r>
            <a:r>
              <a:rPr dirty="0" sz="1400" spc="25">
                <a:latin typeface="Cambria Math"/>
                <a:cs typeface="Cambria Math"/>
              </a:rPr>
              <a:t>𝑐</a:t>
            </a:r>
            <a:r>
              <a:rPr dirty="0" baseline="-16666" sz="1500" spc="37">
                <a:latin typeface="Cambria Math"/>
                <a:cs typeface="Cambria Math"/>
              </a:rPr>
              <a:t>ij</a:t>
            </a:r>
            <a:r>
              <a:rPr dirty="0" baseline="-16666" sz="1500" spc="209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,</a:t>
            </a:r>
            <a:r>
              <a:rPr dirty="0" sz="1400" spc="10">
                <a:latin typeface="宋体"/>
                <a:cs typeface="宋体"/>
              </a:rPr>
              <a:t>形成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5">
                <a:latin typeface="宋体"/>
                <a:cs typeface="宋体"/>
              </a:rPr>
              <a:t>原</a:t>
            </a:r>
            <a:r>
              <a:rPr dirty="0" sz="1400">
                <a:latin typeface="宋体"/>
                <a:cs typeface="宋体"/>
              </a:rPr>
              <a:t>始数</a:t>
            </a:r>
            <a:r>
              <a:rPr dirty="0" sz="1400" spc="-15">
                <a:latin typeface="宋体"/>
                <a:cs typeface="宋体"/>
              </a:rPr>
              <a:t>据</a:t>
            </a:r>
            <a:r>
              <a:rPr dirty="0" sz="1400">
                <a:latin typeface="宋体"/>
                <a:cs typeface="宋体"/>
              </a:rPr>
              <a:t>矩阵为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0180" y="4931664"/>
            <a:ext cx="2200656" cy="826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28365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A2121"/>
                </a:solidFill>
                <a:latin typeface="明兰"/>
                <a:cs typeface="明兰"/>
              </a:rPr>
              <a:t>熵权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法</a:t>
            </a:r>
            <a:r>
              <a:rPr dirty="0" sz="2000" spc="-5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确定指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标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权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重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395" y="1056132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072" y="0"/>
                </a:moveTo>
                <a:lnTo>
                  <a:pt x="150344" y="5154"/>
                </a:lnTo>
                <a:lnTo>
                  <a:pt x="109284" y="19834"/>
                </a:lnTo>
                <a:lnTo>
                  <a:pt x="73064" y="42867"/>
                </a:lnTo>
                <a:lnTo>
                  <a:pt x="42855" y="73080"/>
                </a:lnTo>
                <a:lnTo>
                  <a:pt x="19827" y="109301"/>
                </a:lnTo>
                <a:lnTo>
                  <a:pt x="5152" y="150356"/>
                </a:lnTo>
                <a:lnTo>
                  <a:pt x="0" y="195071"/>
                </a:lnTo>
                <a:lnTo>
                  <a:pt x="5152" y="239787"/>
                </a:lnTo>
                <a:lnTo>
                  <a:pt x="19827" y="280842"/>
                </a:lnTo>
                <a:lnTo>
                  <a:pt x="42855" y="317063"/>
                </a:lnTo>
                <a:lnTo>
                  <a:pt x="73064" y="347276"/>
                </a:lnTo>
                <a:lnTo>
                  <a:pt x="109284" y="370309"/>
                </a:lnTo>
                <a:lnTo>
                  <a:pt x="150344" y="384989"/>
                </a:lnTo>
                <a:lnTo>
                  <a:pt x="195072" y="390143"/>
                </a:lnTo>
                <a:lnTo>
                  <a:pt x="239799" y="384989"/>
                </a:lnTo>
                <a:lnTo>
                  <a:pt x="280859" y="370309"/>
                </a:lnTo>
                <a:lnTo>
                  <a:pt x="317079" y="347276"/>
                </a:lnTo>
                <a:lnTo>
                  <a:pt x="347288" y="317063"/>
                </a:lnTo>
                <a:lnTo>
                  <a:pt x="370316" y="280842"/>
                </a:lnTo>
                <a:lnTo>
                  <a:pt x="384991" y="239787"/>
                </a:lnTo>
                <a:lnTo>
                  <a:pt x="390144" y="195071"/>
                </a:lnTo>
                <a:lnTo>
                  <a:pt x="384991" y="150356"/>
                </a:lnTo>
                <a:lnTo>
                  <a:pt x="370316" y="109301"/>
                </a:lnTo>
                <a:lnTo>
                  <a:pt x="347288" y="73080"/>
                </a:lnTo>
                <a:lnTo>
                  <a:pt x="317079" y="42867"/>
                </a:lnTo>
                <a:lnTo>
                  <a:pt x="280859" y="19834"/>
                </a:lnTo>
                <a:lnTo>
                  <a:pt x="239799" y="5154"/>
                </a:lnTo>
                <a:lnTo>
                  <a:pt x="195072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5552" y="1138427"/>
            <a:ext cx="211835" cy="211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472" y="1121409"/>
            <a:ext cx="12725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明兰"/>
                <a:cs typeface="明兰"/>
              </a:rPr>
              <a:t>计算差</a:t>
            </a:r>
            <a:r>
              <a:rPr dirty="0" sz="1400" spc="-15" b="1">
                <a:latin typeface="明兰"/>
                <a:cs typeface="明兰"/>
              </a:rPr>
              <a:t>异</a:t>
            </a:r>
            <a:r>
              <a:rPr dirty="0" sz="1400" b="1">
                <a:latin typeface="明兰"/>
                <a:cs typeface="明兰"/>
              </a:rPr>
              <a:t>性系数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8204" y="4043171"/>
            <a:ext cx="391795" cy="391795"/>
          </a:xfrm>
          <a:custGeom>
            <a:avLst/>
            <a:gdLst/>
            <a:ahLst/>
            <a:cxnLst/>
            <a:rect l="l" t="t" r="r" b="b"/>
            <a:pathLst>
              <a:path w="391795" h="391795">
                <a:moveTo>
                  <a:pt x="195834" y="0"/>
                </a:moveTo>
                <a:lnTo>
                  <a:pt x="150931" y="5169"/>
                </a:lnTo>
                <a:lnTo>
                  <a:pt x="109712" y="19896"/>
                </a:lnTo>
                <a:lnTo>
                  <a:pt x="73351" y="43007"/>
                </a:lnTo>
                <a:lnTo>
                  <a:pt x="43023" y="73329"/>
                </a:lnTo>
                <a:lnTo>
                  <a:pt x="19905" y="109690"/>
                </a:lnTo>
                <a:lnTo>
                  <a:pt x="5172" y="150915"/>
                </a:lnTo>
                <a:lnTo>
                  <a:pt x="0" y="195833"/>
                </a:lnTo>
                <a:lnTo>
                  <a:pt x="5172" y="240752"/>
                </a:lnTo>
                <a:lnTo>
                  <a:pt x="19905" y="281977"/>
                </a:lnTo>
                <a:lnTo>
                  <a:pt x="43023" y="318338"/>
                </a:lnTo>
                <a:lnTo>
                  <a:pt x="73351" y="348660"/>
                </a:lnTo>
                <a:lnTo>
                  <a:pt x="109712" y="371771"/>
                </a:lnTo>
                <a:lnTo>
                  <a:pt x="150931" y="386498"/>
                </a:lnTo>
                <a:lnTo>
                  <a:pt x="195834" y="391667"/>
                </a:lnTo>
                <a:lnTo>
                  <a:pt x="240736" y="386498"/>
                </a:lnTo>
                <a:lnTo>
                  <a:pt x="281955" y="371771"/>
                </a:lnTo>
                <a:lnTo>
                  <a:pt x="318316" y="348660"/>
                </a:lnTo>
                <a:lnTo>
                  <a:pt x="348644" y="318338"/>
                </a:lnTo>
                <a:lnTo>
                  <a:pt x="371762" y="281977"/>
                </a:lnTo>
                <a:lnTo>
                  <a:pt x="386495" y="240752"/>
                </a:lnTo>
                <a:lnTo>
                  <a:pt x="391668" y="195833"/>
                </a:lnTo>
                <a:lnTo>
                  <a:pt x="386495" y="150915"/>
                </a:lnTo>
                <a:lnTo>
                  <a:pt x="371762" y="109690"/>
                </a:lnTo>
                <a:lnTo>
                  <a:pt x="348644" y="73329"/>
                </a:lnTo>
                <a:lnTo>
                  <a:pt x="318316" y="43007"/>
                </a:lnTo>
                <a:lnTo>
                  <a:pt x="281955" y="19896"/>
                </a:lnTo>
                <a:lnTo>
                  <a:pt x="240736" y="5169"/>
                </a:lnTo>
                <a:lnTo>
                  <a:pt x="19583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4884" y="4126991"/>
            <a:ext cx="211836" cy="2118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4208" y="4109973"/>
            <a:ext cx="3938270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明兰"/>
                <a:cs typeface="明兰"/>
              </a:rPr>
              <a:t>确定各</a:t>
            </a:r>
            <a:r>
              <a:rPr dirty="0" sz="1400" spc="-15" b="1">
                <a:latin typeface="明兰"/>
                <a:cs typeface="明兰"/>
              </a:rPr>
              <a:t>指</a:t>
            </a:r>
            <a:r>
              <a:rPr dirty="0" sz="1400" b="1">
                <a:latin typeface="明兰"/>
                <a:cs typeface="明兰"/>
              </a:rPr>
              <a:t>标权重</a:t>
            </a:r>
            <a:endParaRPr sz="1400">
              <a:latin typeface="明兰"/>
              <a:cs typeface="明兰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宋体"/>
                <a:cs typeface="宋体"/>
              </a:rPr>
              <a:t>对差异</a:t>
            </a:r>
            <a:r>
              <a:rPr dirty="0" sz="1400" spc="-15">
                <a:latin typeface="宋体"/>
                <a:cs typeface="宋体"/>
              </a:rPr>
              <a:t>性</a:t>
            </a:r>
            <a:r>
              <a:rPr dirty="0" sz="1400">
                <a:latin typeface="宋体"/>
                <a:cs typeface="宋体"/>
              </a:rPr>
              <a:t>系数</a:t>
            </a:r>
            <a:r>
              <a:rPr dirty="0" sz="1400" spc="-15">
                <a:latin typeface="宋体"/>
                <a:cs typeface="宋体"/>
              </a:rPr>
              <a:t>进行</a:t>
            </a:r>
            <a:r>
              <a:rPr dirty="0" sz="1400">
                <a:latin typeface="宋体"/>
                <a:cs typeface="宋体"/>
              </a:rPr>
              <a:t>归一化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计算</a:t>
            </a:r>
            <a:r>
              <a:rPr dirty="0" sz="1400" spc="-5">
                <a:latin typeface="宋体"/>
                <a:cs typeface="宋体"/>
              </a:rPr>
              <a:t>出</a:t>
            </a:r>
            <a:r>
              <a:rPr dirty="0" sz="1400" spc="-15">
                <a:latin typeface="宋体"/>
                <a:cs typeface="宋体"/>
              </a:rPr>
              <a:t>每</a:t>
            </a:r>
            <a:r>
              <a:rPr dirty="0" sz="1400">
                <a:latin typeface="宋体"/>
                <a:cs typeface="宋体"/>
              </a:rPr>
              <a:t>个指标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权重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0098" y="1568508"/>
            <a:ext cx="751840" cy="290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50" spc="-85" i="1">
                <a:latin typeface="Times New Roman"/>
                <a:cs typeface="Times New Roman"/>
              </a:rPr>
              <a:t>D</a:t>
            </a:r>
            <a:r>
              <a:rPr dirty="0" baseline="-25000" sz="1500" spc="-127" i="1">
                <a:latin typeface="Times New Roman"/>
                <a:cs typeface="Times New Roman"/>
              </a:rPr>
              <a:t>j</a:t>
            </a:r>
            <a:r>
              <a:rPr dirty="0" baseline="-25000" sz="1500" spc="120" i="1">
                <a:latin typeface="Times New Roman"/>
                <a:cs typeface="Times New Roman"/>
              </a:rPr>
              <a:t> </a:t>
            </a:r>
            <a:r>
              <a:rPr dirty="0" sz="1750" spc="-170">
                <a:latin typeface="Symbol"/>
                <a:cs typeface="Symbol"/>
              </a:rPr>
              <a:t></a:t>
            </a:r>
            <a:r>
              <a:rPr dirty="0" sz="1750" spc="-170">
                <a:latin typeface="Times New Roman"/>
                <a:cs typeface="Times New Roman"/>
              </a:rPr>
              <a:t> </a:t>
            </a:r>
            <a:r>
              <a:rPr dirty="0" sz="1750" spc="-105">
                <a:latin typeface="Times New Roman"/>
                <a:cs typeface="Times New Roman"/>
              </a:rPr>
              <a:t>1</a:t>
            </a:r>
            <a:r>
              <a:rPr dirty="0" sz="1750" spc="-105">
                <a:latin typeface="Symbol"/>
                <a:cs typeface="Symbol"/>
              </a:rPr>
              <a:t></a:t>
            </a:r>
            <a:r>
              <a:rPr dirty="0" sz="1750" spc="-360">
                <a:latin typeface="Times New Roman"/>
                <a:cs typeface="Times New Roman"/>
              </a:rPr>
              <a:t> </a:t>
            </a:r>
            <a:r>
              <a:rPr dirty="0" sz="1750" spc="-35" i="1">
                <a:latin typeface="Times New Roman"/>
                <a:cs typeface="Times New Roman"/>
              </a:rPr>
              <a:t>e</a:t>
            </a:r>
            <a:r>
              <a:rPr dirty="0" baseline="-25000" sz="1500" spc="-52" i="1">
                <a:latin typeface="Times New Roman"/>
                <a:cs typeface="Times New Roman"/>
              </a:rPr>
              <a:t>j</a:t>
            </a:r>
            <a:endParaRPr baseline="-25000"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5468" y="2026920"/>
            <a:ext cx="4572000" cy="13746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98748" y="523705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 h="0">
                <a:moveTo>
                  <a:pt x="0" y="0"/>
                </a:moveTo>
                <a:lnTo>
                  <a:pt x="468694" y="0"/>
                </a:lnTo>
              </a:path>
            </a:pathLst>
          </a:custGeom>
          <a:ln w="93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744885" y="5211308"/>
            <a:ext cx="4381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5" i="1">
                <a:latin typeface="Times New Roman"/>
                <a:cs typeface="Times New Roman"/>
              </a:rPr>
              <a:t>j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4610" y="5222211"/>
            <a:ext cx="6921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15" i="1">
                <a:latin typeface="Times New Roman"/>
                <a:cs typeface="Times New Roman"/>
              </a:rPr>
              <a:t>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69974" y="5084727"/>
            <a:ext cx="394970" cy="2495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450" spc="55" i="1">
                <a:latin typeface="Times New Roman"/>
                <a:cs typeface="Times New Roman"/>
              </a:rPr>
              <a:t>W</a:t>
            </a:r>
            <a:r>
              <a:rPr dirty="0" sz="1450" spc="455" i="1">
                <a:latin typeface="Times New Roman"/>
                <a:cs typeface="Times New Roman"/>
              </a:rPr>
              <a:t> </a:t>
            </a:r>
            <a:r>
              <a:rPr dirty="0" sz="1450" spc="35">
                <a:latin typeface="Symbol"/>
                <a:cs typeface="Symbol"/>
              </a:rPr>
              <a:t>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92414" y="5027285"/>
            <a:ext cx="105219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baseline="-2923" sz="2850" spc="-202">
                <a:latin typeface="Symbol"/>
                <a:cs typeface="Symbol"/>
              </a:rPr>
              <a:t></a:t>
            </a:r>
            <a:r>
              <a:rPr dirty="0" baseline="-2923" sz="2850" spc="-127">
                <a:latin typeface="Times New Roman"/>
                <a:cs typeface="Times New Roman"/>
              </a:rPr>
              <a:t> </a:t>
            </a:r>
            <a:r>
              <a:rPr dirty="0" sz="1450" spc="15" i="1">
                <a:latin typeface="Times New Roman"/>
                <a:cs typeface="Times New Roman"/>
              </a:rPr>
              <a:t>j</a:t>
            </a:r>
            <a:r>
              <a:rPr dirty="0" sz="1450" spc="25" i="1">
                <a:latin typeface="Times New Roman"/>
                <a:cs typeface="Times New Roman"/>
              </a:rPr>
              <a:t> </a:t>
            </a:r>
            <a:r>
              <a:rPr dirty="0" sz="1450" spc="35">
                <a:latin typeface="Symbol"/>
                <a:cs typeface="Symbol"/>
              </a:rPr>
              <a:t></a:t>
            </a:r>
            <a:r>
              <a:rPr dirty="0" sz="1450" spc="-195">
                <a:latin typeface="Times New Roman"/>
                <a:cs typeface="Times New Roman"/>
              </a:rPr>
              <a:t> </a:t>
            </a:r>
            <a:r>
              <a:rPr dirty="0" sz="1450" spc="-45">
                <a:latin typeface="Times New Roman"/>
                <a:cs typeface="Times New Roman"/>
              </a:rPr>
              <a:t>1,</a:t>
            </a:r>
            <a:r>
              <a:rPr dirty="0" sz="1450" spc="-200">
                <a:latin typeface="Times New Roman"/>
                <a:cs typeface="Times New Roman"/>
              </a:rPr>
              <a:t> </a:t>
            </a:r>
            <a:r>
              <a:rPr dirty="0" sz="1450" spc="25">
                <a:latin typeface="Times New Roman"/>
                <a:cs typeface="Times New Roman"/>
              </a:rPr>
              <a:t>2,...,</a:t>
            </a:r>
            <a:r>
              <a:rPr dirty="0" sz="1450" spc="-200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n</a:t>
            </a:r>
            <a:r>
              <a:rPr dirty="0" baseline="-2923" sz="2850">
                <a:latin typeface="Symbol"/>
                <a:cs typeface="Symbol"/>
              </a:rPr>
              <a:t></a:t>
            </a:r>
            <a:endParaRPr baseline="-2923" sz="28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9646" y="4862380"/>
            <a:ext cx="431800" cy="8813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450" spc="80" i="1">
                <a:latin typeface="Times New Roman"/>
                <a:cs typeface="Times New Roman"/>
              </a:rPr>
              <a:t>D</a:t>
            </a:r>
            <a:r>
              <a:rPr dirty="0" baseline="-26143" sz="1275" spc="120" i="1">
                <a:latin typeface="Times New Roman"/>
                <a:cs typeface="Times New Roman"/>
              </a:rPr>
              <a:t>j</a:t>
            </a:r>
            <a:endParaRPr baseline="-26143" sz="1275">
              <a:latin typeface="Times New Roman"/>
              <a:cs typeface="Times New Roman"/>
            </a:endParaRPr>
          </a:p>
          <a:p>
            <a:pPr>
              <a:lnSpc>
                <a:spcPts val="2500"/>
              </a:lnSpc>
              <a:spcBef>
                <a:spcPts val="960"/>
              </a:spcBef>
            </a:pPr>
            <a:r>
              <a:rPr dirty="0" baseline="1262" sz="3300" spc="82">
                <a:latin typeface="Symbol"/>
                <a:cs typeface="Symbol"/>
              </a:rPr>
              <a:t></a:t>
            </a:r>
            <a:r>
              <a:rPr dirty="0" baseline="1262" sz="3300" spc="-569">
                <a:latin typeface="Times New Roman"/>
                <a:cs typeface="Times New Roman"/>
              </a:rPr>
              <a:t> </a:t>
            </a:r>
            <a:r>
              <a:rPr dirty="0" baseline="15325" sz="2175" i="1">
                <a:latin typeface="Times New Roman"/>
                <a:cs typeface="Times New Roman"/>
              </a:rPr>
              <a:t>D</a:t>
            </a:r>
            <a:r>
              <a:rPr dirty="0" sz="850" i="1">
                <a:latin typeface="Times New Roman"/>
                <a:cs typeface="Times New Roman"/>
              </a:rPr>
              <a:t>k</a:t>
            </a:r>
            <a:endParaRPr sz="850">
              <a:latin typeface="Times New Roman"/>
              <a:cs typeface="Times New Roman"/>
            </a:endParaRPr>
          </a:p>
          <a:p>
            <a:pPr marL="22225">
              <a:lnSpc>
                <a:spcPts val="880"/>
              </a:lnSpc>
            </a:pPr>
            <a:r>
              <a:rPr dirty="0" sz="850" spc="10" i="1">
                <a:latin typeface="Times New Roman"/>
                <a:cs typeface="Times New Roman"/>
              </a:rPr>
              <a:t>k</a:t>
            </a:r>
            <a:r>
              <a:rPr dirty="0" sz="850" spc="-120" i="1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Symbol"/>
                <a:cs typeface="Symbol"/>
              </a:rPr>
              <a:t></a:t>
            </a:r>
            <a:r>
              <a:rPr dirty="0" sz="850" spc="-2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47359" y="3666744"/>
            <a:ext cx="3352799" cy="3009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35167" y="3262884"/>
            <a:ext cx="3365500" cy="2774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40"/>
              </a:spcBef>
            </a:pPr>
            <a:r>
              <a:rPr dirty="0" sz="1200" spc="-15" b="1">
                <a:latin typeface="Arial"/>
                <a:cs typeface="Arial"/>
              </a:rPr>
              <a:t>AHP-</a:t>
            </a:r>
            <a:r>
              <a:rPr dirty="0" sz="1200" spc="10" b="1">
                <a:latin typeface="明兰"/>
                <a:cs typeface="明兰"/>
              </a:rPr>
              <a:t>熵权组合权重</a:t>
            </a:r>
            <a:r>
              <a:rPr dirty="0" sz="1200" b="1">
                <a:latin typeface="明兰"/>
                <a:cs typeface="明兰"/>
              </a:rPr>
              <a:t>法思路图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12308" y="905255"/>
            <a:ext cx="3364991" cy="21442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512308" y="909929"/>
            <a:ext cx="3365500" cy="205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" marR="64135">
              <a:lnSpc>
                <a:spcPct val="119100"/>
              </a:lnSpc>
              <a:spcBef>
                <a:spcPts val="100"/>
              </a:spcBef>
            </a:pPr>
            <a:r>
              <a:rPr dirty="0" sz="1400" spc="10">
                <a:latin typeface="宋体"/>
                <a:cs typeface="宋体"/>
              </a:rPr>
              <a:t>针对</a:t>
            </a:r>
            <a:r>
              <a:rPr dirty="0" sz="1400">
                <a:latin typeface="宋体"/>
                <a:cs typeface="宋体"/>
              </a:rPr>
              <a:t>熵权</a:t>
            </a:r>
            <a:r>
              <a:rPr dirty="0" sz="1400" spc="-1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（客</a:t>
            </a:r>
            <a:r>
              <a:rPr dirty="0" sz="1400" spc="-15">
                <a:latin typeface="宋体"/>
                <a:cs typeface="宋体"/>
              </a:rPr>
              <a:t>观</a:t>
            </a:r>
            <a:r>
              <a:rPr dirty="0" sz="1400">
                <a:latin typeface="宋体"/>
                <a:cs typeface="宋体"/>
              </a:rPr>
              <a:t>赋权</a:t>
            </a:r>
            <a:r>
              <a:rPr dirty="0" sz="1400" spc="-15">
                <a:latin typeface="宋体"/>
                <a:cs typeface="宋体"/>
              </a:rPr>
              <a:t>）</a:t>
            </a:r>
            <a:r>
              <a:rPr dirty="0" sz="1400" spc="5">
                <a:latin typeface="宋体"/>
                <a:cs typeface="宋体"/>
              </a:rPr>
              <a:t>、</a:t>
            </a:r>
            <a:r>
              <a:rPr dirty="0" sz="1400" spc="-5">
                <a:latin typeface="Arial"/>
                <a:cs typeface="Arial"/>
              </a:rPr>
              <a:t>AHP(</a:t>
            </a:r>
            <a:r>
              <a:rPr dirty="0" sz="1400">
                <a:latin typeface="宋体"/>
                <a:cs typeface="宋体"/>
              </a:rPr>
              <a:t>主观赋 </a:t>
            </a:r>
            <a:r>
              <a:rPr dirty="0" sz="1400" spc="10">
                <a:latin typeface="宋体"/>
                <a:cs typeface="宋体"/>
              </a:rPr>
              <a:t>权</a:t>
            </a:r>
            <a:r>
              <a:rPr dirty="0" sz="1400">
                <a:latin typeface="Arial"/>
                <a:cs typeface="Arial"/>
              </a:rPr>
              <a:t>)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，通</a:t>
            </a:r>
            <a:r>
              <a:rPr dirty="0" sz="1400">
                <a:latin typeface="宋体"/>
                <a:cs typeface="宋体"/>
              </a:rPr>
              <a:t>过一定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数学模</a:t>
            </a:r>
            <a:r>
              <a:rPr dirty="0" sz="1400" spc="-15">
                <a:latin typeface="宋体"/>
                <a:cs typeface="宋体"/>
              </a:rPr>
              <a:t>型</a:t>
            </a:r>
            <a:r>
              <a:rPr dirty="0" sz="1400">
                <a:latin typeface="宋体"/>
                <a:cs typeface="宋体"/>
              </a:rPr>
              <a:t>实现</a:t>
            </a:r>
            <a:r>
              <a:rPr dirty="0" sz="1400" spc="-15">
                <a:latin typeface="宋体"/>
                <a:cs typeface="宋体"/>
              </a:rPr>
              <a:t>客</a:t>
            </a:r>
            <a:r>
              <a:rPr dirty="0" sz="1400">
                <a:latin typeface="宋体"/>
                <a:cs typeface="宋体"/>
              </a:rPr>
              <a:t>观权重 和主观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重的</a:t>
            </a:r>
            <a:r>
              <a:rPr dirty="0" sz="1400" spc="-15">
                <a:latin typeface="宋体"/>
                <a:cs typeface="宋体"/>
              </a:rPr>
              <a:t>有机</a:t>
            </a:r>
            <a:r>
              <a:rPr dirty="0" sz="1400">
                <a:latin typeface="宋体"/>
                <a:cs typeface="宋体"/>
              </a:rPr>
              <a:t>结合的</a:t>
            </a:r>
            <a:r>
              <a:rPr dirty="0" sz="1400" spc="-15">
                <a:latin typeface="宋体"/>
                <a:cs typeface="宋体"/>
              </a:rPr>
              <a:t>方</a:t>
            </a:r>
            <a:r>
              <a:rPr dirty="0" sz="1400">
                <a:latin typeface="宋体"/>
                <a:cs typeface="宋体"/>
              </a:rPr>
              <a:t>法称</a:t>
            </a:r>
            <a:r>
              <a:rPr dirty="0" sz="1400" spc="-15">
                <a:latin typeface="宋体"/>
                <a:cs typeface="宋体"/>
              </a:rPr>
              <a:t>之为</a:t>
            </a:r>
            <a:r>
              <a:rPr dirty="0" sz="1400">
                <a:latin typeface="宋体"/>
                <a:cs typeface="宋体"/>
              </a:rPr>
              <a:t>组 合权重</a:t>
            </a:r>
            <a:r>
              <a:rPr dirty="0" sz="1400" spc="-10">
                <a:latin typeface="宋体"/>
                <a:cs typeface="宋体"/>
              </a:rPr>
              <a:t>法</a:t>
            </a:r>
            <a:r>
              <a:rPr dirty="0" sz="1400" spc="5">
                <a:latin typeface="宋体"/>
                <a:cs typeface="宋体"/>
              </a:rPr>
              <a:t>。将</a:t>
            </a:r>
            <a:r>
              <a:rPr dirty="0" sz="1400" spc="-10">
                <a:latin typeface="宋体"/>
                <a:cs typeface="宋体"/>
              </a:rPr>
              <a:t>电子</a:t>
            </a:r>
            <a:r>
              <a:rPr dirty="0" sz="1400" spc="5">
                <a:latin typeface="宋体"/>
                <a:cs typeface="宋体"/>
              </a:rPr>
              <a:t>产品生</a:t>
            </a:r>
            <a:r>
              <a:rPr dirty="0" sz="1400" spc="-10">
                <a:latin typeface="宋体"/>
                <a:cs typeface="宋体"/>
              </a:rPr>
              <a:t>产</a:t>
            </a:r>
            <a:r>
              <a:rPr dirty="0" sz="1400" spc="5">
                <a:latin typeface="宋体"/>
                <a:cs typeface="宋体"/>
              </a:rPr>
              <a:t>行业</a:t>
            </a:r>
            <a:r>
              <a:rPr dirty="0" sz="1400" spc="-10">
                <a:latin typeface="宋体"/>
                <a:cs typeface="宋体"/>
              </a:rPr>
              <a:t>的规</a:t>
            </a:r>
            <a:r>
              <a:rPr dirty="0" sz="1400" spc="5">
                <a:latin typeface="宋体"/>
                <a:cs typeface="宋体"/>
              </a:rPr>
              <a:t>模 </a:t>
            </a:r>
            <a:r>
              <a:rPr dirty="0" sz="1400">
                <a:latin typeface="宋体"/>
                <a:cs typeface="宋体"/>
              </a:rPr>
              <a:t>前二十</a:t>
            </a:r>
            <a:r>
              <a:rPr dirty="0" sz="1400" spc="-15">
                <a:latin typeface="宋体"/>
                <a:cs typeface="宋体"/>
              </a:rPr>
              <a:t>家</a:t>
            </a:r>
            <a:r>
              <a:rPr dirty="0" sz="1400">
                <a:latin typeface="宋体"/>
                <a:cs typeface="宋体"/>
              </a:rPr>
              <a:t>公司</a:t>
            </a:r>
            <a:r>
              <a:rPr dirty="0" sz="1400" spc="-15">
                <a:latin typeface="宋体"/>
                <a:cs typeface="宋体"/>
              </a:rPr>
              <a:t>的各</a:t>
            </a:r>
            <a:r>
              <a:rPr dirty="0" sz="1400">
                <a:latin typeface="宋体"/>
                <a:cs typeface="宋体"/>
              </a:rPr>
              <a:t>项指标</a:t>
            </a:r>
            <a:r>
              <a:rPr dirty="0" sz="1400" spc="-15">
                <a:latin typeface="宋体"/>
                <a:cs typeface="宋体"/>
              </a:rPr>
              <a:t>数</a:t>
            </a:r>
            <a:r>
              <a:rPr dirty="0" sz="1400">
                <a:latin typeface="宋体"/>
                <a:cs typeface="宋体"/>
              </a:rPr>
              <a:t>据为</a:t>
            </a:r>
            <a:r>
              <a:rPr dirty="0" sz="1400" spc="-15">
                <a:latin typeface="宋体"/>
                <a:cs typeface="宋体"/>
              </a:rPr>
              <a:t>数据</a:t>
            </a:r>
            <a:r>
              <a:rPr dirty="0" sz="1400">
                <a:latin typeface="宋体"/>
                <a:cs typeface="宋体"/>
              </a:rPr>
              <a:t>集， </a:t>
            </a:r>
            <a:r>
              <a:rPr dirty="0" sz="1400">
                <a:latin typeface="宋体"/>
                <a:cs typeface="宋体"/>
              </a:rPr>
              <a:t>通过熵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法确</a:t>
            </a:r>
            <a:r>
              <a:rPr dirty="0" sz="1400" spc="-15">
                <a:latin typeface="宋体"/>
                <a:cs typeface="宋体"/>
              </a:rPr>
              <a:t>定各</a:t>
            </a:r>
            <a:r>
              <a:rPr dirty="0" sz="1400">
                <a:latin typeface="宋体"/>
                <a:cs typeface="宋体"/>
              </a:rPr>
              <a:t>个细分</a:t>
            </a:r>
            <a:r>
              <a:rPr dirty="0" sz="1400" spc="-1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标的</a:t>
            </a:r>
            <a:r>
              <a:rPr dirty="0" sz="1400" spc="-15">
                <a:latin typeface="宋体"/>
                <a:cs typeface="宋体"/>
              </a:rPr>
              <a:t>权重</a:t>
            </a:r>
            <a:r>
              <a:rPr dirty="0" sz="1400">
                <a:latin typeface="宋体"/>
                <a:cs typeface="宋体"/>
              </a:rPr>
              <a:t>，  再与层</a:t>
            </a:r>
            <a:r>
              <a:rPr dirty="0" sz="1400" spc="-15">
                <a:latin typeface="宋体"/>
                <a:cs typeface="宋体"/>
              </a:rPr>
              <a:t>次</a:t>
            </a:r>
            <a:r>
              <a:rPr dirty="0" sz="1400">
                <a:latin typeface="宋体"/>
                <a:cs typeface="宋体"/>
              </a:rPr>
              <a:t>分析</a:t>
            </a:r>
            <a:r>
              <a:rPr dirty="0" sz="1400" spc="-15">
                <a:latin typeface="宋体"/>
                <a:cs typeface="宋体"/>
              </a:rPr>
              <a:t>法求</a:t>
            </a:r>
            <a:r>
              <a:rPr dirty="0" sz="1400">
                <a:latin typeface="宋体"/>
                <a:cs typeface="宋体"/>
              </a:rPr>
              <a:t>得的权</a:t>
            </a:r>
            <a:r>
              <a:rPr dirty="0" sz="1400" spc="-15">
                <a:latin typeface="宋体"/>
                <a:cs typeface="宋体"/>
              </a:rPr>
              <a:t>重</a:t>
            </a:r>
            <a:r>
              <a:rPr dirty="0" sz="1400">
                <a:latin typeface="宋体"/>
                <a:cs typeface="宋体"/>
              </a:rPr>
              <a:t>大结</a:t>
            </a:r>
            <a:r>
              <a:rPr dirty="0" sz="1400" spc="-15">
                <a:latin typeface="宋体"/>
                <a:cs typeface="宋体"/>
              </a:rPr>
              <a:t>合，</a:t>
            </a:r>
            <a:r>
              <a:rPr dirty="0" sz="1400">
                <a:latin typeface="宋体"/>
                <a:cs typeface="宋体"/>
              </a:rPr>
              <a:t>定 义最终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768852"/>
            <a:ext cx="5093970" cy="0"/>
          </a:xfrm>
          <a:custGeom>
            <a:avLst/>
            <a:gdLst/>
            <a:ahLst/>
            <a:cxnLst/>
            <a:rect l="l" t="t" r="r" b="b"/>
            <a:pathLst>
              <a:path w="5093970" h="0">
                <a:moveTo>
                  <a:pt x="0" y="0"/>
                </a:moveTo>
                <a:lnTo>
                  <a:pt x="5093716" y="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93208" y="649223"/>
            <a:ext cx="0" cy="6209030"/>
          </a:xfrm>
          <a:custGeom>
            <a:avLst/>
            <a:gdLst/>
            <a:ahLst/>
            <a:cxnLst/>
            <a:rect l="l" t="t" r="r" b="b"/>
            <a:pathLst>
              <a:path w="0" h="6209030">
                <a:moveTo>
                  <a:pt x="0" y="0"/>
                </a:moveTo>
                <a:lnTo>
                  <a:pt x="0" y="620849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15468" y="2072081"/>
            <a:ext cx="4572000" cy="1256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685">
              <a:lnSpc>
                <a:spcPts val="1595"/>
              </a:lnSpc>
              <a:spcBef>
                <a:spcPts val="105"/>
              </a:spcBef>
            </a:pPr>
            <a:r>
              <a:rPr dirty="0" baseline="1984" sz="2100" spc="-157" i="1">
                <a:latin typeface="Times New Roman"/>
                <a:cs typeface="Times New Roman"/>
              </a:rPr>
              <a:t>D</a:t>
            </a:r>
            <a:r>
              <a:rPr dirty="0" baseline="-20833" sz="1200" spc="-157" i="1">
                <a:latin typeface="Times New Roman"/>
                <a:cs typeface="Times New Roman"/>
              </a:rPr>
              <a:t>j</a:t>
            </a:r>
            <a:r>
              <a:rPr dirty="0" baseline="-20833" sz="1200" spc="-67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越大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说</a:t>
            </a:r>
            <a:r>
              <a:rPr dirty="0" sz="1400" spc="5">
                <a:latin typeface="宋体"/>
                <a:cs typeface="宋体"/>
              </a:rPr>
              <a:t>明</a:t>
            </a:r>
            <a:r>
              <a:rPr dirty="0" sz="1400" spc="-15">
                <a:latin typeface="宋体"/>
                <a:cs typeface="宋体"/>
              </a:rPr>
              <a:t>该</a:t>
            </a:r>
            <a:r>
              <a:rPr dirty="0" sz="1400" spc="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标</a:t>
            </a:r>
            <a:r>
              <a:rPr dirty="0" sz="1400" spc="-10">
                <a:latin typeface="宋体"/>
                <a:cs typeface="宋体"/>
              </a:rPr>
              <a:t>提</a:t>
            </a:r>
            <a:r>
              <a:rPr dirty="0" sz="1400" spc="5">
                <a:latin typeface="宋体"/>
                <a:cs typeface="宋体"/>
              </a:rPr>
              <a:t>供</a:t>
            </a:r>
            <a:r>
              <a:rPr dirty="0" sz="1400">
                <a:latin typeface="宋体"/>
                <a:cs typeface="宋体"/>
              </a:rPr>
              <a:t>的</a:t>
            </a:r>
            <a:r>
              <a:rPr dirty="0" sz="1400" spc="-10">
                <a:latin typeface="宋体"/>
                <a:cs typeface="宋体"/>
              </a:rPr>
              <a:t>信</a:t>
            </a:r>
            <a:r>
              <a:rPr dirty="0" sz="1400" spc="5">
                <a:latin typeface="宋体"/>
                <a:cs typeface="宋体"/>
              </a:rPr>
              <a:t>息</a:t>
            </a:r>
            <a:r>
              <a:rPr dirty="0" sz="1400">
                <a:latin typeface="宋体"/>
                <a:cs typeface="宋体"/>
              </a:rPr>
              <a:t>量</a:t>
            </a:r>
            <a:r>
              <a:rPr dirty="0" sz="1400" spc="-10">
                <a:latin typeface="宋体"/>
                <a:cs typeface="宋体"/>
              </a:rPr>
              <a:t>越</a:t>
            </a:r>
            <a:r>
              <a:rPr dirty="0" sz="1400" spc="5">
                <a:latin typeface="宋体"/>
                <a:cs typeface="宋体"/>
              </a:rPr>
              <a:t>大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10">
                <a:latin typeface="宋体"/>
                <a:cs typeface="宋体"/>
              </a:rPr>
              <a:t>越</a:t>
            </a:r>
            <a:r>
              <a:rPr dirty="0" sz="1400" spc="5">
                <a:latin typeface="宋体"/>
                <a:cs typeface="宋体"/>
              </a:rPr>
              <a:t>应</a:t>
            </a:r>
            <a:r>
              <a:rPr dirty="0" sz="1400">
                <a:latin typeface="宋体"/>
                <a:cs typeface="宋体"/>
              </a:rPr>
              <a:t>给</a:t>
            </a:r>
            <a:r>
              <a:rPr dirty="0" sz="1400" spc="-10">
                <a:latin typeface="宋体"/>
                <a:cs typeface="宋体"/>
              </a:rPr>
              <a:t>予</a:t>
            </a:r>
            <a:r>
              <a:rPr dirty="0" sz="1400" spc="5">
                <a:latin typeface="宋体"/>
                <a:cs typeface="宋体"/>
              </a:rPr>
              <a:t>较大</a:t>
            </a:r>
            <a:endParaRPr sz="1400">
              <a:latin typeface="宋体"/>
              <a:cs typeface="宋体"/>
            </a:endParaRPr>
          </a:p>
          <a:p>
            <a:pPr marL="90805">
              <a:lnSpc>
                <a:spcPts val="2025"/>
              </a:lnSpc>
            </a:pPr>
            <a:r>
              <a:rPr dirty="0" sz="1400" spc="10">
                <a:latin typeface="宋体"/>
                <a:cs typeface="宋体"/>
              </a:rPr>
              <a:t>的指</a:t>
            </a:r>
            <a:r>
              <a:rPr dirty="0" sz="1400">
                <a:latin typeface="宋体"/>
                <a:cs typeface="宋体"/>
              </a:rPr>
              <a:t>标权</a:t>
            </a:r>
            <a:r>
              <a:rPr dirty="0" sz="1400" spc="-15">
                <a:latin typeface="宋体"/>
                <a:cs typeface="宋体"/>
              </a:rPr>
              <a:t>重</a:t>
            </a:r>
            <a:r>
              <a:rPr dirty="0" sz="1400">
                <a:latin typeface="宋体"/>
                <a:cs typeface="宋体"/>
              </a:rPr>
              <a:t>。对</a:t>
            </a:r>
            <a:r>
              <a:rPr dirty="0" sz="1400" spc="-15">
                <a:latin typeface="宋体"/>
                <a:cs typeface="宋体"/>
              </a:rPr>
              <a:t>给</a:t>
            </a:r>
            <a:r>
              <a:rPr dirty="0" sz="1400">
                <a:latin typeface="宋体"/>
                <a:cs typeface="宋体"/>
              </a:rPr>
              <a:t>定的</a:t>
            </a:r>
            <a:r>
              <a:rPr dirty="0" sz="1400" spc="-1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标</a:t>
            </a:r>
            <a:r>
              <a:rPr dirty="0" sz="1400" spc="-300">
                <a:latin typeface="宋体"/>
                <a:cs typeface="宋体"/>
              </a:rPr>
              <a:t> </a:t>
            </a:r>
            <a:r>
              <a:rPr dirty="0" baseline="3968" sz="2100" spc="-7" i="1">
                <a:latin typeface="Times New Roman"/>
                <a:cs typeface="Times New Roman"/>
              </a:rPr>
              <a:t>j</a:t>
            </a:r>
            <a:r>
              <a:rPr dirty="0" baseline="3968" sz="2100" spc="-15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，</a:t>
            </a:r>
            <a:r>
              <a:rPr dirty="0" sz="1400" spc="200">
                <a:latin typeface="宋体"/>
                <a:cs typeface="宋体"/>
              </a:rPr>
              <a:t>当</a:t>
            </a:r>
            <a:r>
              <a:rPr dirty="0" baseline="2923" sz="2850" spc="-75" i="1">
                <a:latin typeface="Times New Roman"/>
                <a:cs typeface="Times New Roman"/>
              </a:rPr>
              <a:t>c</a:t>
            </a:r>
            <a:r>
              <a:rPr dirty="0" baseline="-20202" sz="1650" spc="-75" i="1">
                <a:latin typeface="Times New Roman"/>
                <a:cs typeface="Times New Roman"/>
              </a:rPr>
              <a:t>ij</a:t>
            </a:r>
            <a:r>
              <a:rPr dirty="0" baseline="-20202" sz="1650" spc="179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的差</a:t>
            </a:r>
            <a:r>
              <a:rPr dirty="0" sz="1400">
                <a:latin typeface="宋体"/>
                <a:cs typeface="宋体"/>
              </a:rPr>
              <a:t>异</a:t>
            </a:r>
            <a:r>
              <a:rPr dirty="0" sz="1400" spc="-15">
                <a:latin typeface="宋体"/>
                <a:cs typeface="宋体"/>
              </a:rPr>
              <a:t>性</a:t>
            </a:r>
            <a:r>
              <a:rPr dirty="0" sz="1400">
                <a:latin typeface="宋体"/>
                <a:cs typeface="宋体"/>
              </a:rPr>
              <a:t>越大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则</a:t>
            </a:r>
            <a:endParaRPr sz="1400">
              <a:latin typeface="宋体"/>
              <a:cs typeface="宋体"/>
            </a:endParaRPr>
          </a:p>
          <a:p>
            <a:pPr algn="just" marL="90805" marR="153035" indent="39370">
              <a:lnSpc>
                <a:spcPts val="2000"/>
              </a:lnSpc>
              <a:spcBef>
                <a:spcPts val="180"/>
              </a:spcBef>
            </a:pPr>
            <a:r>
              <a:rPr dirty="0" baseline="2849" sz="2925" spc="37" i="1">
                <a:latin typeface="Times New Roman"/>
                <a:cs typeface="Times New Roman"/>
              </a:rPr>
              <a:t>e</a:t>
            </a:r>
            <a:r>
              <a:rPr dirty="0" baseline="-20202" sz="1650" spc="37" i="1">
                <a:latin typeface="Times New Roman"/>
                <a:cs typeface="Times New Roman"/>
              </a:rPr>
              <a:t>j</a:t>
            </a:r>
            <a:r>
              <a:rPr dirty="0" baseline="-20202" sz="1650" spc="165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越小</a:t>
            </a:r>
            <a:r>
              <a:rPr dirty="0" sz="1400">
                <a:latin typeface="宋体"/>
                <a:cs typeface="宋体"/>
              </a:rPr>
              <a:t>；</a:t>
            </a:r>
            <a:r>
              <a:rPr dirty="0" sz="1400" spc="160">
                <a:latin typeface="宋体"/>
                <a:cs typeface="宋体"/>
              </a:rPr>
              <a:t>当</a:t>
            </a:r>
            <a:r>
              <a:rPr dirty="0" baseline="2849" sz="2925" spc="-82" i="1">
                <a:latin typeface="Times New Roman"/>
                <a:cs typeface="Times New Roman"/>
              </a:rPr>
              <a:t>c</a:t>
            </a:r>
            <a:r>
              <a:rPr dirty="0" baseline="-20202" sz="1650" spc="-82" i="1">
                <a:latin typeface="Times New Roman"/>
                <a:cs typeface="Times New Roman"/>
              </a:rPr>
              <a:t>ij</a:t>
            </a:r>
            <a:r>
              <a:rPr dirty="0" baseline="-20202" sz="1650" spc="217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的差</a:t>
            </a:r>
            <a:r>
              <a:rPr dirty="0" sz="1400">
                <a:latin typeface="宋体"/>
                <a:cs typeface="宋体"/>
              </a:rPr>
              <a:t>异</a:t>
            </a:r>
            <a:r>
              <a:rPr dirty="0" sz="1400" spc="-15">
                <a:latin typeface="宋体"/>
                <a:cs typeface="宋体"/>
              </a:rPr>
              <a:t>性</a:t>
            </a:r>
            <a:r>
              <a:rPr dirty="0" sz="1400">
                <a:latin typeface="宋体"/>
                <a:cs typeface="宋体"/>
              </a:rPr>
              <a:t>越小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 spc="-265">
                <a:latin typeface="宋体"/>
                <a:cs typeface="宋体"/>
              </a:rPr>
              <a:t>则</a:t>
            </a:r>
            <a:r>
              <a:rPr dirty="0" baseline="1424" sz="2925" spc="30" i="1">
                <a:latin typeface="Times New Roman"/>
                <a:cs typeface="Times New Roman"/>
              </a:rPr>
              <a:t>e</a:t>
            </a:r>
            <a:r>
              <a:rPr dirty="0" baseline="-22727" sz="1650" spc="30" i="1">
                <a:latin typeface="Times New Roman"/>
                <a:cs typeface="Times New Roman"/>
              </a:rPr>
              <a:t>j</a:t>
            </a:r>
            <a:r>
              <a:rPr dirty="0" baseline="-22727" sz="1650" spc="442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越</a:t>
            </a:r>
            <a:r>
              <a:rPr dirty="0" sz="1400">
                <a:latin typeface="宋体"/>
                <a:cs typeface="宋体"/>
              </a:rPr>
              <a:t>大；</a:t>
            </a:r>
            <a:r>
              <a:rPr dirty="0" sz="1400" spc="-325">
                <a:latin typeface="宋体"/>
                <a:cs typeface="宋体"/>
              </a:rPr>
              <a:t>当</a:t>
            </a:r>
            <a:r>
              <a:rPr dirty="0" baseline="1424" sz="2925" spc="-82" i="1">
                <a:latin typeface="Times New Roman"/>
                <a:cs typeface="Times New Roman"/>
              </a:rPr>
              <a:t>c</a:t>
            </a:r>
            <a:r>
              <a:rPr dirty="0" baseline="-22727" sz="1650" spc="-82" i="1">
                <a:latin typeface="Times New Roman"/>
                <a:cs typeface="Times New Roman"/>
              </a:rPr>
              <a:t>ij</a:t>
            </a:r>
            <a:r>
              <a:rPr dirty="0" baseline="-22727" sz="1650" spc="-60" i="1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宋体"/>
                <a:cs typeface="宋体"/>
              </a:rPr>
              <a:t>全部相 </a:t>
            </a:r>
            <a:r>
              <a:rPr dirty="0" sz="1400">
                <a:latin typeface="宋体"/>
                <a:cs typeface="宋体"/>
              </a:rPr>
              <a:t>等时，</a:t>
            </a:r>
            <a:r>
              <a:rPr dirty="0" sz="1400" spc="-15">
                <a:latin typeface="宋体"/>
                <a:cs typeface="宋体"/>
              </a:rPr>
              <a:t>说</a:t>
            </a:r>
            <a:r>
              <a:rPr dirty="0" sz="1400">
                <a:latin typeface="宋体"/>
                <a:cs typeface="宋体"/>
              </a:rPr>
              <a:t>明所</a:t>
            </a:r>
            <a:r>
              <a:rPr dirty="0" sz="1400" spc="-15">
                <a:latin typeface="宋体"/>
                <a:cs typeface="宋体"/>
              </a:rPr>
              <a:t>有评</a:t>
            </a:r>
            <a:r>
              <a:rPr dirty="0" sz="1400">
                <a:latin typeface="宋体"/>
                <a:cs typeface="宋体"/>
              </a:rPr>
              <a:t>价对象</a:t>
            </a:r>
            <a:r>
              <a:rPr dirty="0" sz="1400" spc="-15">
                <a:latin typeface="宋体"/>
                <a:cs typeface="宋体"/>
              </a:rPr>
              <a:t>在</a:t>
            </a:r>
            <a:r>
              <a:rPr dirty="0" sz="1400">
                <a:latin typeface="宋体"/>
                <a:cs typeface="宋体"/>
              </a:rPr>
              <a:t>该指</a:t>
            </a:r>
            <a:r>
              <a:rPr dirty="0" sz="1400" spc="-15">
                <a:latin typeface="宋体"/>
                <a:cs typeface="宋体"/>
              </a:rPr>
              <a:t>标上</a:t>
            </a:r>
            <a:r>
              <a:rPr dirty="0" sz="1400">
                <a:latin typeface="宋体"/>
                <a:cs typeface="宋体"/>
              </a:rPr>
              <a:t>取值一</a:t>
            </a:r>
            <a:r>
              <a:rPr dirty="0" sz="1400" spc="-15">
                <a:latin typeface="宋体"/>
                <a:cs typeface="宋体"/>
              </a:rPr>
              <a:t>样</a:t>
            </a:r>
            <a:r>
              <a:rPr dirty="0" sz="1400">
                <a:latin typeface="宋体"/>
                <a:cs typeface="宋体"/>
              </a:rPr>
              <a:t>，该</a:t>
            </a:r>
            <a:r>
              <a:rPr dirty="0" sz="1400" spc="-1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标 对方案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比较</a:t>
            </a:r>
            <a:r>
              <a:rPr dirty="0" sz="1400" spc="-15">
                <a:latin typeface="宋体"/>
                <a:cs typeface="宋体"/>
              </a:rPr>
              <a:t>毫无</a:t>
            </a:r>
            <a:r>
              <a:rPr dirty="0" sz="1400">
                <a:latin typeface="宋体"/>
                <a:cs typeface="宋体"/>
              </a:rPr>
              <a:t>作用。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69418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19812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23631" y="85343"/>
            <a:ext cx="1405127" cy="521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77711" y="1620011"/>
            <a:ext cx="1732788" cy="6385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305562"/>
            <a:ext cx="309308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A2121"/>
                </a:solidFill>
                <a:latin typeface="明兰"/>
                <a:cs typeface="明兰"/>
              </a:rPr>
              <a:t>熵权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法</a:t>
            </a:r>
            <a:r>
              <a:rPr dirty="0" sz="2000" spc="-5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代工厂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实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例分</a:t>
            </a:r>
            <a:r>
              <a:rPr dirty="0" sz="2000" b="1">
                <a:solidFill>
                  <a:srgbClr val="7A2121"/>
                </a:solidFill>
                <a:latin typeface="明兰"/>
                <a:cs typeface="明兰"/>
              </a:rPr>
              <a:t>析</a:t>
            </a:r>
            <a:endParaRPr sz="2000">
              <a:latin typeface="明兰"/>
              <a:cs typeface="明兰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96" y="693715"/>
            <a:ext cx="4402455" cy="15506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9085" marR="5080" indent="-286385">
              <a:lnSpc>
                <a:spcPct val="119000"/>
              </a:lnSpc>
              <a:spcBef>
                <a:spcPts val="11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选</a:t>
            </a:r>
            <a:r>
              <a:rPr dirty="0" sz="1400">
                <a:latin typeface="宋体"/>
                <a:cs typeface="宋体"/>
              </a:rPr>
              <a:t>取</a:t>
            </a:r>
            <a:r>
              <a:rPr dirty="0" sz="1400" spc="10" b="1">
                <a:latin typeface="明兰"/>
                <a:cs typeface="明兰"/>
              </a:rPr>
              <a:t>电</a:t>
            </a:r>
            <a:r>
              <a:rPr dirty="0" sz="1400" spc="5" b="1">
                <a:latin typeface="明兰"/>
                <a:cs typeface="明兰"/>
              </a:rPr>
              <a:t>子</a:t>
            </a:r>
            <a:r>
              <a:rPr dirty="0" sz="1400" spc="-15" b="1">
                <a:latin typeface="明兰"/>
                <a:cs typeface="明兰"/>
              </a:rPr>
              <a:t>制</a:t>
            </a:r>
            <a:r>
              <a:rPr dirty="0" sz="1400" spc="5" b="1">
                <a:latin typeface="明兰"/>
                <a:cs typeface="明兰"/>
              </a:rPr>
              <a:t>造</a:t>
            </a:r>
            <a:r>
              <a:rPr dirty="0" sz="1400" b="1">
                <a:latin typeface="明兰"/>
                <a:cs typeface="明兰"/>
              </a:rPr>
              <a:t>服</a:t>
            </a:r>
            <a:r>
              <a:rPr dirty="0" sz="1400" spc="-10" b="1">
                <a:latin typeface="明兰"/>
                <a:cs typeface="明兰"/>
              </a:rPr>
              <a:t>务</a:t>
            </a:r>
            <a:r>
              <a:rPr dirty="0" sz="1400" spc="5" b="1">
                <a:latin typeface="明兰"/>
                <a:cs typeface="明兰"/>
              </a:rPr>
              <a:t>行</a:t>
            </a:r>
            <a:r>
              <a:rPr dirty="0" sz="1400" b="1">
                <a:latin typeface="明兰"/>
                <a:cs typeface="明兰"/>
              </a:rPr>
              <a:t>业</a:t>
            </a:r>
            <a:r>
              <a:rPr dirty="0" sz="1400" spc="-10" b="1">
                <a:latin typeface="明兰"/>
                <a:cs typeface="明兰"/>
              </a:rPr>
              <a:t>前</a:t>
            </a:r>
            <a:r>
              <a:rPr dirty="0" sz="1400" spc="-10" b="1">
                <a:latin typeface="Arial"/>
                <a:cs typeface="Arial"/>
              </a:rPr>
              <a:t>25</a:t>
            </a:r>
            <a:r>
              <a:rPr dirty="0" sz="1400" spc="5" b="1">
                <a:latin typeface="明兰"/>
                <a:cs typeface="明兰"/>
              </a:rPr>
              <a:t>家</a:t>
            </a:r>
            <a:r>
              <a:rPr dirty="0" sz="1400" b="1">
                <a:latin typeface="明兰"/>
                <a:cs typeface="明兰"/>
              </a:rPr>
              <a:t>公</a:t>
            </a:r>
            <a:r>
              <a:rPr dirty="0" sz="1400" spc="5" b="1">
                <a:latin typeface="明兰"/>
                <a:cs typeface="明兰"/>
              </a:rPr>
              <a:t>司</a:t>
            </a:r>
            <a:r>
              <a:rPr dirty="0" sz="1400" spc="-15" b="1">
                <a:latin typeface="明兰"/>
                <a:cs typeface="明兰"/>
              </a:rPr>
              <a:t>数</a:t>
            </a:r>
            <a:r>
              <a:rPr dirty="0" sz="1400" spc="5" b="1">
                <a:latin typeface="明兰"/>
                <a:cs typeface="明兰"/>
              </a:rPr>
              <a:t>据</a:t>
            </a:r>
            <a:r>
              <a:rPr dirty="0" sz="1400" spc="5">
                <a:latin typeface="宋体"/>
                <a:cs typeface="宋体"/>
              </a:rPr>
              <a:t>与</a:t>
            </a:r>
            <a:r>
              <a:rPr dirty="0" sz="1400" spc="-15">
                <a:latin typeface="宋体"/>
                <a:cs typeface="宋体"/>
              </a:rPr>
              <a:t>位</a:t>
            </a:r>
            <a:r>
              <a:rPr dirty="0" sz="1400" spc="5">
                <a:latin typeface="宋体"/>
                <a:cs typeface="宋体"/>
              </a:rPr>
              <a:t>于</a:t>
            </a:r>
            <a:r>
              <a:rPr dirty="0" sz="1400">
                <a:latin typeface="宋体"/>
                <a:cs typeface="宋体"/>
              </a:rPr>
              <a:t>阿</a:t>
            </a:r>
            <a:r>
              <a:rPr dirty="0" sz="1400" spc="5">
                <a:latin typeface="宋体"/>
                <a:cs typeface="宋体"/>
              </a:rPr>
              <a:t>根 </a:t>
            </a:r>
            <a:r>
              <a:rPr dirty="0" sz="1400" spc="10">
                <a:latin typeface="宋体"/>
                <a:cs typeface="宋体"/>
              </a:rPr>
              <a:t>廷的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system.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5">
                <a:latin typeface="Arial"/>
                <a:cs typeface="Arial"/>
              </a:rPr>
              <a:t>S.A.</a:t>
            </a:r>
            <a:r>
              <a:rPr dirty="0" sz="1400" spc="10">
                <a:latin typeface="宋体"/>
                <a:cs typeface="宋体"/>
              </a:rPr>
              <a:t>公</a:t>
            </a:r>
            <a:r>
              <a:rPr dirty="0" sz="1400">
                <a:latin typeface="宋体"/>
                <a:cs typeface="宋体"/>
              </a:rPr>
              <a:t>司和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S.A.</a:t>
            </a:r>
            <a:r>
              <a:rPr dirty="0" sz="1400">
                <a:latin typeface="宋体"/>
                <a:cs typeface="宋体"/>
              </a:rPr>
              <a:t>公 司分别</a:t>
            </a:r>
            <a:r>
              <a:rPr dirty="0" sz="1400" spc="-15">
                <a:latin typeface="宋体"/>
                <a:cs typeface="宋体"/>
              </a:rPr>
              <a:t>计</a:t>
            </a:r>
            <a:r>
              <a:rPr dirty="0" sz="1400">
                <a:latin typeface="宋体"/>
                <a:cs typeface="宋体"/>
              </a:rPr>
              <a:t>算前</a:t>
            </a:r>
            <a:r>
              <a:rPr dirty="0" sz="1400" spc="-15">
                <a:latin typeface="宋体"/>
                <a:cs typeface="宋体"/>
              </a:rPr>
              <a:t>述评</a:t>
            </a:r>
            <a:r>
              <a:rPr dirty="0" sz="1400">
                <a:latin typeface="宋体"/>
                <a:cs typeface="宋体"/>
              </a:rPr>
              <a:t>价指标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 b="1">
                <a:latin typeface="明兰"/>
                <a:cs typeface="明兰"/>
              </a:rPr>
              <a:t>考虑</a:t>
            </a:r>
            <a:r>
              <a:rPr dirty="0" sz="1400" spc="-15" b="1">
                <a:latin typeface="明兰"/>
                <a:cs typeface="明兰"/>
              </a:rPr>
              <a:t>到阿</a:t>
            </a:r>
            <a:r>
              <a:rPr dirty="0" sz="1400" b="1">
                <a:latin typeface="明兰"/>
                <a:cs typeface="明兰"/>
              </a:rPr>
              <a:t>根廷高</a:t>
            </a:r>
            <a:r>
              <a:rPr dirty="0" sz="1400" spc="-15" b="1">
                <a:latin typeface="明兰"/>
                <a:cs typeface="明兰"/>
              </a:rPr>
              <a:t>通</a:t>
            </a:r>
            <a:r>
              <a:rPr dirty="0" sz="1400" b="1">
                <a:latin typeface="明兰"/>
                <a:cs typeface="明兰"/>
              </a:rPr>
              <a:t>货膨胀 </a:t>
            </a:r>
            <a:r>
              <a:rPr dirty="0" sz="1400" spc="20" b="1">
                <a:latin typeface="明兰"/>
                <a:cs typeface="明兰"/>
              </a:rPr>
              <a:t>率</a:t>
            </a:r>
            <a:r>
              <a:rPr dirty="0" sz="1400">
                <a:latin typeface="宋体"/>
                <a:cs typeface="宋体"/>
              </a:rPr>
              <a:t>，将盈</a:t>
            </a:r>
            <a:r>
              <a:rPr dirty="0" sz="1400" spc="-15">
                <a:latin typeface="宋体"/>
                <a:cs typeface="宋体"/>
              </a:rPr>
              <a:t>利</a:t>
            </a:r>
            <a:r>
              <a:rPr dirty="0" sz="1400">
                <a:latin typeface="宋体"/>
                <a:cs typeface="宋体"/>
              </a:rPr>
              <a:t>能力</a:t>
            </a:r>
            <a:r>
              <a:rPr dirty="0" sz="1400" spc="-15">
                <a:latin typeface="宋体"/>
                <a:cs typeface="宋体"/>
              </a:rPr>
              <a:t>指</a:t>
            </a:r>
            <a:r>
              <a:rPr dirty="0" sz="1400">
                <a:latin typeface="宋体"/>
                <a:cs typeface="宋体"/>
              </a:rPr>
              <a:t>标均</a:t>
            </a:r>
            <a:r>
              <a:rPr dirty="0" sz="1400" spc="-15">
                <a:latin typeface="宋体"/>
                <a:cs typeface="宋体"/>
              </a:rPr>
              <a:t>除</a:t>
            </a:r>
            <a:r>
              <a:rPr dirty="0" sz="1400">
                <a:latin typeface="宋体"/>
                <a:cs typeface="宋体"/>
              </a:rPr>
              <a:t>以</a:t>
            </a:r>
            <a:r>
              <a:rPr dirty="0" sz="1400" spc="-5">
                <a:latin typeface="宋体"/>
                <a:cs typeface="宋体"/>
              </a:rPr>
              <a:t>（</a:t>
            </a:r>
            <a:r>
              <a:rPr dirty="0" sz="1400" spc="-5">
                <a:latin typeface="Arial"/>
                <a:cs typeface="Arial"/>
              </a:rPr>
              <a:t>1+</a:t>
            </a:r>
            <a:r>
              <a:rPr dirty="0" sz="1400">
                <a:latin typeface="宋体"/>
                <a:cs typeface="宋体"/>
              </a:rPr>
              <a:t>通</a:t>
            </a:r>
            <a:r>
              <a:rPr dirty="0" sz="1400" spc="-15">
                <a:latin typeface="宋体"/>
                <a:cs typeface="宋体"/>
              </a:rPr>
              <a:t>货</a:t>
            </a:r>
            <a:r>
              <a:rPr dirty="0" sz="1400">
                <a:latin typeface="宋体"/>
                <a:cs typeface="宋体"/>
              </a:rPr>
              <a:t>膨胀</a:t>
            </a:r>
            <a:r>
              <a:rPr dirty="0" sz="1400" spc="-15">
                <a:latin typeface="宋体"/>
                <a:cs typeface="宋体"/>
              </a:rPr>
              <a:t>率</a:t>
            </a:r>
            <a:r>
              <a:rPr dirty="0" sz="1400">
                <a:latin typeface="宋体"/>
                <a:cs typeface="宋体"/>
              </a:rPr>
              <a:t>）进行 修正，</a:t>
            </a:r>
            <a:r>
              <a:rPr dirty="0" sz="1400" spc="-15">
                <a:latin typeface="宋体"/>
                <a:cs typeface="宋体"/>
              </a:rPr>
              <a:t>分</a:t>
            </a:r>
            <a:r>
              <a:rPr dirty="0" sz="1400">
                <a:latin typeface="宋体"/>
                <a:cs typeface="宋体"/>
              </a:rPr>
              <a:t>别计</a:t>
            </a:r>
            <a:r>
              <a:rPr dirty="0" sz="1400" spc="-15">
                <a:latin typeface="宋体"/>
                <a:cs typeface="宋体"/>
              </a:rPr>
              <a:t>算每</a:t>
            </a:r>
            <a:r>
              <a:rPr dirty="0" sz="1400">
                <a:latin typeface="宋体"/>
                <a:cs typeface="宋体"/>
              </a:rPr>
              <a:t>个指标</a:t>
            </a:r>
            <a:r>
              <a:rPr dirty="0" sz="1400" spc="-15">
                <a:latin typeface="宋体"/>
                <a:cs typeface="宋体"/>
              </a:rPr>
              <a:t>的</a:t>
            </a:r>
            <a:r>
              <a:rPr dirty="0" sz="1400">
                <a:latin typeface="宋体"/>
                <a:cs typeface="宋体"/>
              </a:rPr>
              <a:t>熵权</a:t>
            </a:r>
            <a:r>
              <a:rPr dirty="0" sz="1400" spc="-15">
                <a:latin typeface="宋体"/>
                <a:cs typeface="宋体"/>
              </a:rPr>
              <a:t>，最</a:t>
            </a:r>
            <a:r>
              <a:rPr dirty="0" sz="1400">
                <a:latin typeface="宋体"/>
                <a:cs typeface="宋体"/>
              </a:rPr>
              <a:t>后确定</a:t>
            </a:r>
            <a:r>
              <a:rPr dirty="0" sz="1400" spc="-15">
                <a:latin typeface="宋体"/>
                <a:cs typeface="宋体"/>
              </a:rPr>
              <a:t>每</a:t>
            </a:r>
            <a:r>
              <a:rPr dirty="0" sz="1400">
                <a:latin typeface="宋体"/>
                <a:cs typeface="宋体"/>
              </a:rPr>
              <a:t>个指标 的权重。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0" y="690372"/>
            <a:ext cx="0" cy="6168390"/>
          </a:xfrm>
          <a:custGeom>
            <a:avLst/>
            <a:gdLst/>
            <a:ahLst/>
            <a:cxnLst/>
            <a:rect l="l" t="t" r="r" b="b"/>
            <a:pathLst>
              <a:path w="0" h="6168390">
                <a:moveTo>
                  <a:pt x="0" y="0"/>
                </a:moveTo>
                <a:lnTo>
                  <a:pt x="0" y="6168337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89761" y="2339111"/>
            <a:ext cx="1487805" cy="194945"/>
          </a:xfrm>
          <a:custGeom>
            <a:avLst/>
            <a:gdLst/>
            <a:ahLst/>
            <a:cxnLst/>
            <a:rect l="l" t="t" r="r" b="b"/>
            <a:pathLst>
              <a:path w="1487805" h="194944">
                <a:moveTo>
                  <a:pt x="0" y="194665"/>
                </a:moveTo>
                <a:lnTo>
                  <a:pt x="1487297" y="194665"/>
                </a:lnTo>
                <a:lnTo>
                  <a:pt x="1487297" y="0"/>
                </a:lnTo>
                <a:lnTo>
                  <a:pt x="0" y="0"/>
                </a:lnTo>
                <a:lnTo>
                  <a:pt x="0" y="194665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77185" y="2339111"/>
            <a:ext cx="753110" cy="194945"/>
          </a:xfrm>
          <a:custGeom>
            <a:avLst/>
            <a:gdLst/>
            <a:ahLst/>
            <a:cxnLst/>
            <a:rect l="l" t="t" r="r" b="b"/>
            <a:pathLst>
              <a:path w="753110" h="194944">
                <a:moveTo>
                  <a:pt x="0" y="194665"/>
                </a:moveTo>
                <a:lnTo>
                  <a:pt x="752741" y="194665"/>
                </a:lnTo>
                <a:lnTo>
                  <a:pt x="752741" y="0"/>
                </a:lnTo>
                <a:lnTo>
                  <a:pt x="0" y="0"/>
                </a:lnTo>
                <a:lnTo>
                  <a:pt x="0" y="194665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3308" y="2534157"/>
            <a:ext cx="2916986" cy="42504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89761" y="2527426"/>
            <a:ext cx="0" cy="4264660"/>
          </a:xfrm>
          <a:custGeom>
            <a:avLst/>
            <a:gdLst/>
            <a:ahLst/>
            <a:cxnLst/>
            <a:rect l="l" t="t" r="r" b="b"/>
            <a:pathLst>
              <a:path w="0" h="4264659">
                <a:moveTo>
                  <a:pt x="0" y="0"/>
                </a:moveTo>
                <a:lnTo>
                  <a:pt x="0" y="426426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77185" y="2332735"/>
            <a:ext cx="0" cy="4458970"/>
          </a:xfrm>
          <a:custGeom>
            <a:avLst/>
            <a:gdLst/>
            <a:ahLst/>
            <a:cxnLst/>
            <a:rect l="l" t="t" r="r" b="b"/>
            <a:pathLst>
              <a:path w="0" h="4458970">
                <a:moveTo>
                  <a:pt x="0" y="0"/>
                </a:moveTo>
                <a:lnTo>
                  <a:pt x="0" y="445895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83411" y="2533776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83411" y="2758694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83411" y="2993644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83411" y="3298444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6958" y="3547490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83411" y="3796538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83411" y="4045584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6958" y="4294632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83411" y="4543805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83411" y="4792853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83411" y="5041900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6958" y="5290946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83411" y="5539994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83411" y="5789079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6958" y="6038138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83411" y="6287211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83411" y="6536270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3308" y="2533776"/>
            <a:ext cx="0" cy="4258310"/>
          </a:xfrm>
          <a:custGeom>
            <a:avLst/>
            <a:gdLst/>
            <a:ahLst/>
            <a:cxnLst/>
            <a:rect l="l" t="t" r="r" b="b"/>
            <a:pathLst>
              <a:path w="0" h="4258309">
                <a:moveTo>
                  <a:pt x="0" y="0"/>
                </a:moveTo>
                <a:lnTo>
                  <a:pt x="0" y="42579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29914" y="2332735"/>
            <a:ext cx="0" cy="4458970"/>
          </a:xfrm>
          <a:custGeom>
            <a:avLst/>
            <a:gdLst/>
            <a:ahLst/>
            <a:cxnLst/>
            <a:rect l="l" t="t" r="r" b="b"/>
            <a:pathLst>
              <a:path w="0" h="4458970">
                <a:moveTo>
                  <a:pt x="0" y="0"/>
                </a:moveTo>
                <a:lnTo>
                  <a:pt x="0" y="445895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89761" y="2339085"/>
            <a:ext cx="2246630" cy="0"/>
          </a:xfrm>
          <a:custGeom>
            <a:avLst/>
            <a:gdLst/>
            <a:ahLst/>
            <a:cxnLst/>
            <a:rect l="l" t="t" r="r" b="b"/>
            <a:pathLst>
              <a:path w="2246629" h="0">
                <a:moveTo>
                  <a:pt x="0" y="0"/>
                </a:moveTo>
                <a:lnTo>
                  <a:pt x="22465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6958" y="6785339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05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993138" y="2344038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solidFill>
                  <a:srgbClr val="FFFFFF"/>
                </a:solidFill>
                <a:latin typeface="明兰"/>
                <a:cs typeface="明兰"/>
              </a:rPr>
              <a:t>指标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3755" y="2933827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营运能力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76145" y="2475382"/>
            <a:ext cx="913765" cy="48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6364">
              <a:lnSpc>
                <a:spcPct val="151000"/>
              </a:lnSpc>
              <a:spcBef>
                <a:spcPts val="100"/>
              </a:spcBef>
            </a:pPr>
            <a:r>
              <a:rPr dirty="0" sz="1000" spc="5" b="1">
                <a:latin typeface="明兰"/>
                <a:cs typeface="明兰"/>
              </a:rPr>
              <a:t>存</a:t>
            </a:r>
            <a:r>
              <a:rPr dirty="0" sz="1000" spc="-5" b="1">
                <a:latin typeface="明兰"/>
                <a:cs typeface="明兰"/>
              </a:rPr>
              <a:t>货周</a:t>
            </a:r>
            <a:r>
              <a:rPr dirty="0" sz="1000" spc="5" b="1">
                <a:latin typeface="明兰"/>
                <a:cs typeface="明兰"/>
              </a:rPr>
              <a:t>转</a:t>
            </a:r>
            <a:r>
              <a:rPr dirty="0" sz="1000" spc="-5" b="1">
                <a:latin typeface="明兰"/>
                <a:cs typeface="明兰"/>
              </a:rPr>
              <a:t>率 </a:t>
            </a:r>
            <a:r>
              <a:rPr dirty="0" sz="1000" spc="5" b="1">
                <a:latin typeface="明兰"/>
                <a:cs typeface="明兰"/>
              </a:rPr>
              <a:t>应</a:t>
            </a:r>
            <a:r>
              <a:rPr dirty="0" sz="1000" spc="-5" b="1">
                <a:latin typeface="明兰"/>
                <a:cs typeface="明兰"/>
              </a:rPr>
              <a:t>付账</a:t>
            </a:r>
            <a:r>
              <a:rPr dirty="0" sz="1000" spc="5" b="1">
                <a:latin typeface="明兰"/>
                <a:cs typeface="明兰"/>
              </a:rPr>
              <a:t>款</a:t>
            </a:r>
            <a:r>
              <a:rPr dirty="0" sz="1000" spc="-5" b="1">
                <a:latin typeface="明兰"/>
                <a:cs typeface="明兰"/>
              </a:rPr>
              <a:t>周转率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01825" y="3057855"/>
            <a:ext cx="14624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5" b="1">
                <a:latin typeface="明兰"/>
                <a:cs typeface="明兰"/>
              </a:rPr>
              <a:t>经</a:t>
            </a:r>
            <a:r>
              <a:rPr dirty="0" sz="1000" b="1">
                <a:latin typeface="明兰"/>
                <a:cs typeface="明兰"/>
              </a:rPr>
              <a:t>营活</a:t>
            </a:r>
            <a:r>
              <a:rPr dirty="0" sz="1000" spc="-5" b="1">
                <a:latin typeface="明兰"/>
                <a:cs typeface="明兰"/>
              </a:rPr>
              <a:t>动</a:t>
            </a:r>
            <a:r>
              <a:rPr dirty="0" sz="1000" b="1">
                <a:latin typeface="明兰"/>
                <a:cs typeface="明兰"/>
              </a:rPr>
              <a:t>现</a:t>
            </a:r>
            <a:r>
              <a:rPr dirty="0" sz="1000" spc="-5" b="1">
                <a:latin typeface="明兰"/>
                <a:cs typeface="明兰"/>
              </a:rPr>
              <a:t>金</a:t>
            </a:r>
            <a:r>
              <a:rPr dirty="0" sz="1000" spc="-10" b="1">
                <a:latin typeface="明兰"/>
                <a:cs typeface="明兰"/>
              </a:rPr>
              <a:t>流</a:t>
            </a:r>
            <a:r>
              <a:rPr dirty="0" sz="1000" spc="10" b="1">
                <a:latin typeface="明兰"/>
                <a:cs typeface="明兰"/>
              </a:rPr>
              <a:t>量</a:t>
            </a:r>
            <a:r>
              <a:rPr dirty="0" sz="1000" spc="-20" b="1">
                <a:latin typeface="Arial"/>
                <a:cs typeface="Arial"/>
              </a:rPr>
              <a:t>/</a:t>
            </a:r>
            <a:r>
              <a:rPr dirty="0" sz="1000" b="1">
                <a:latin typeface="明兰"/>
                <a:cs typeface="明兰"/>
              </a:rPr>
              <a:t>净</a:t>
            </a:r>
            <a:r>
              <a:rPr dirty="0" sz="1000" spc="-5" b="1">
                <a:latin typeface="明兰"/>
                <a:cs typeface="明兰"/>
              </a:rPr>
              <a:t>利润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40154" y="3335273"/>
            <a:ext cx="787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总</a:t>
            </a:r>
            <a:r>
              <a:rPr dirty="0" sz="1000" spc="-5" b="1">
                <a:latin typeface="明兰"/>
                <a:cs typeface="明兰"/>
              </a:rPr>
              <a:t>资产</a:t>
            </a:r>
            <a:r>
              <a:rPr dirty="0" sz="1000" spc="5" b="1">
                <a:latin typeface="明兰"/>
                <a:cs typeface="明兰"/>
              </a:rPr>
              <a:t>周</a:t>
            </a:r>
            <a:r>
              <a:rPr dirty="0" sz="1000" spc="-5" b="1">
                <a:latin typeface="明兰"/>
                <a:cs typeface="明兰"/>
              </a:rPr>
              <a:t>转率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3755" y="3814317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偿债能力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66645" y="3584575"/>
            <a:ext cx="532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流</a:t>
            </a:r>
            <a:r>
              <a:rPr dirty="0" sz="1000" spc="-5" b="1">
                <a:latin typeface="明兰"/>
                <a:cs typeface="明兰"/>
              </a:rPr>
              <a:t>动比率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02638" y="3833622"/>
            <a:ext cx="6610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资</a:t>
            </a:r>
            <a:r>
              <a:rPr dirty="0" sz="1000" spc="-5" b="1">
                <a:latin typeface="明兰"/>
                <a:cs typeface="明兰"/>
              </a:rPr>
              <a:t>产负</a:t>
            </a:r>
            <a:r>
              <a:rPr dirty="0" sz="1000" spc="5" b="1">
                <a:latin typeface="明兰"/>
                <a:cs typeface="明兰"/>
              </a:rPr>
              <a:t>债</a:t>
            </a:r>
            <a:r>
              <a:rPr dirty="0" sz="1000" spc="-5" b="1">
                <a:latin typeface="明兰"/>
                <a:cs typeface="明兰"/>
              </a:rPr>
              <a:t>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66645" y="4082541"/>
            <a:ext cx="532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现</a:t>
            </a:r>
            <a:r>
              <a:rPr dirty="0" sz="1000" spc="-5" b="1">
                <a:latin typeface="明兰"/>
                <a:cs typeface="明兰"/>
              </a:rPr>
              <a:t>金比率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3755" y="4686427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盈利能力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92910" y="4331970"/>
            <a:ext cx="882015" cy="42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E</a:t>
            </a:r>
            <a:r>
              <a:rPr dirty="0" sz="1000" spc="-5" b="1">
                <a:latin typeface="Arial"/>
                <a:cs typeface="Arial"/>
              </a:rPr>
              <a:t>BI</a:t>
            </a:r>
            <a:r>
              <a:rPr dirty="0" sz="1000" spc="5" b="1">
                <a:latin typeface="Arial"/>
                <a:cs typeface="Arial"/>
              </a:rPr>
              <a:t>T</a:t>
            </a:r>
            <a:r>
              <a:rPr dirty="0" sz="1000" spc="-5" b="1">
                <a:latin typeface="Arial"/>
                <a:cs typeface="Arial"/>
              </a:rPr>
              <a:t>D</a:t>
            </a:r>
            <a:r>
              <a:rPr dirty="0" sz="1000" spc="-40" b="1">
                <a:latin typeface="Arial"/>
                <a:cs typeface="Arial"/>
              </a:rPr>
              <a:t>A</a:t>
            </a:r>
            <a:r>
              <a:rPr dirty="0" sz="1000" spc="15" b="1">
                <a:latin typeface="明兰"/>
                <a:cs typeface="明兰"/>
              </a:rPr>
              <a:t>利润率</a:t>
            </a:r>
            <a:endParaRPr sz="1000">
              <a:latin typeface="明兰"/>
              <a:cs typeface="明兰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000" spc="5" b="1">
                <a:latin typeface="明兰"/>
                <a:cs typeface="明兰"/>
              </a:rPr>
              <a:t>净</a:t>
            </a:r>
            <a:r>
              <a:rPr dirty="0" sz="1000" spc="-5" b="1">
                <a:latin typeface="明兰"/>
                <a:cs typeface="明兰"/>
              </a:rPr>
              <a:t>利率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30654" y="4829936"/>
            <a:ext cx="406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毛</a:t>
            </a:r>
            <a:r>
              <a:rPr dirty="0" sz="1000" spc="-5" b="1">
                <a:latin typeface="明兰"/>
                <a:cs typeface="明兰"/>
              </a:rPr>
              <a:t>利率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3755" y="5558129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公司规模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30654" y="5077714"/>
            <a:ext cx="406400" cy="427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dirty="0" sz="1000" spc="-5" b="1">
                <a:latin typeface="Arial"/>
                <a:cs typeface="Arial"/>
              </a:rPr>
              <a:t>ROA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5" b="1">
                <a:latin typeface="明兰"/>
                <a:cs typeface="明兰"/>
              </a:rPr>
              <a:t>净</a:t>
            </a:r>
            <a:r>
              <a:rPr dirty="0" sz="1000" spc="-5" b="1">
                <a:latin typeface="明兰"/>
                <a:cs typeface="明兰"/>
              </a:rPr>
              <a:t>利润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66645" y="5577332"/>
            <a:ext cx="532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营</a:t>
            </a:r>
            <a:r>
              <a:rPr dirty="0" sz="1000" spc="-5" b="1">
                <a:latin typeface="明兰"/>
                <a:cs typeface="明兰"/>
              </a:rPr>
              <a:t>业收入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930654" y="5826658"/>
            <a:ext cx="406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总</a:t>
            </a:r>
            <a:r>
              <a:rPr dirty="0" sz="1000" spc="-5" b="1">
                <a:latin typeface="明兰"/>
                <a:cs typeface="明兰"/>
              </a:rPr>
              <a:t>资产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3755" y="6305499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成长能力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02638" y="6075679"/>
            <a:ext cx="6610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利</a:t>
            </a:r>
            <a:r>
              <a:rPr dirty="0" sz="1000" spc="-5" b="1">
                <a:latin typeface="明兰"/>
                <a:cs typeface="明兰"/>
              </a:rPr>
              <a:t>润增</a:t>
            </a:r>
            <a:r>
              <a:rPr dirty="0" sz="1000" spc="5" b="1">
                <a:latin typeface="明兰"/>
                <a:cs typeface="明兰"/>
              </a:rPr>
              <a:t>长</a:t>
            </a:r>
            <a:r>
              <a:rPr dirty="0" sz="1000" spc="-5" b="1">
                <a:latin typeface="明兰"/>
                <a:cs typeface="明兰"/>
              </a:rPr>
              <a:t>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02638" y="6324701"/>
            <a:ext cx="6610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营</a:t>
            </a:r>
            <a:r>
              <a:rPr dirty="0" sz="1000" spc="-5" b="1">
                <a:latin typeface="明兰"/>
                <a:cs typeface="明兰"/>
              </a:rPr>
              <a:t>收增</a:t>
            </a:r>
            <a:r>
              <a:rPr dirty="0" sz="1000" spc="5" b="1">
                <a:latin typeface="明兰"/>
                <a:cs typeface="明兰"/>
              </a:rPr>
              <a:t>长</a:t>
            </a:r>
            <a:r>
              <a:rPr dirty="0" sz="1000" spc="-5" b="1">
                <a:latin typeface="明兰"/>
                <a:cs typeface="明兰"/>
              </a:rPr>
              <a:t>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40154" y="6573418"/>
            <a:ext cx="7880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明兰"/>
                <a:cs typeface="明兰"/>
              </a:rPr>
              <a:t>总</a:t>
            </a:r>
            <a:r>
              <a:rPr dirty="0" sz="1000" spc="-5" b="1">
                <a:latin typeface="明兰"/>
                <a:cs typeface="明兰"/>
              </a:rPr>
              <a:t>资</a:t>
            </a:r>
            <a:r>
              <a:rPr dirty="0" sz="1000" spc="-10" b="1">
                <a:latin typeface="明兰"/>
                <a:cs typeface="明兰"/>
              </a:rPr>
              <a:t>产</a:t>
            </a:r>
            <a:r>
              <a:rPr dirty="0" sz="1000" b="1">
                <a:latin typeface="明兰"/>
                <a:cs typeface="明兰"/>
              </a:rPr>
              <a:t>增</a:t>
            </a:r>
            <a:r>
              <a:rPr dirty="0" sz="1000" spc="-5" b="1">
                <a:latin typeface="明兰"/>
                <a:cs typeface="明兰"/>
              </a:rPr>
              <a:t>长率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16123" y="4778781"/>
            <a:ext cx="480059" cy="20193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800"/>
              </a:spcBef>
            </a:pPr>
            <a:r>
              <a:rPr dirty="0" sz="1050" b="1">
                <a:latin typeface="Arial"/>
                <a:cs typeface="Arial"/>
              </a:rPr>
              <a:t>6.62%</a:t>
            </a:r>
            <a:endParaRPr sz="10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7.54%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10</a:t>
            </a:r>
            <a:r>
              <a:rPr dirty="0" sz="1050" spc="-5" b="1">
                <a:latin typeface="Arial"/>
                <a:cs typeface="Arial"/>
              </a:rPr>
              <a:t>.</a:t>
            </a:r>
            <a:r>
              <a:rPr dirty="0" sz="1050" b="1">
                <a:latin typeface="Arial"/>
                <a:cs typeface="Arial"/>
              </a:rPr>
              <a:t>08%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13</a:t>
            </a:r>
            <a:r>
              <a:rPr dirty="0" sz="1050" spc="-5" b="1">
                <a:latin typeface="Arial"/>
                <a:cs typeface="Arial"/>
              </a:rPr>
              <a:t>.</a:t>
            </a:r>
            <a:r>
              <a:rPr dirty="0" sz="1050" b="1">
                <a:latin typeface="Arial"/>
                <a:cs typeface="Arial"/>
              </a:rPr>
              <a:t>85%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11</a:t>
            </a:r>
            <a:r>
              <a:rPr dirty="0" sz="1050" spc="-5" b="1">
                <a:latin typeface="Arial"/>
                <a:cs typeface="Arial"/>
              </a:rPr>
              <a:t>.</a:t>
            </a:r>
            <a:r>
              <a:rPr dirty="0" sz="1050" b="1">
                <a:latin typeface="Arial"/>
                <a:cs typeface="Arial"/>
              </a:rPr>
              <a:t>56%</a:t>
            </a:r>
            <a:endParaRPr sz="10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3.54%</a:t>
            </a:r>
            <a:endParaRPr sz="10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3.77%</a:t>
            </a:r>
            <a:endParaRPr sz="10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1.23%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42230" y="724281"/>
            <a:ext cx="13804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>
                <a:latin typeface="宋体"/>
                <a:cs typeface="宋体"/>
              </a:rPr>
              <a:t>确定组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权重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42230" y="1486281"/>
            <a:ext cx="739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权向量。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039230" y="2358415"/>
            <a:ext cx="1487805" cy="194945"/>
          </a:xfrm>
          <a:custGeom>
            <a:avLst/>
            <a:gdLst/>
            <a:ahLst/>
            <a:cxnLst/>
            <a:rect l="l" t="t" r="r" b="b"/>
            <a:pathLst>
              <a:path w="1487804" h="194944">
                <a:moveTo>
                  <a:pt x="0" y="194665"/>
                </a:moveTo>
                <a:lnTo>
                  <a:pt x="1487297" y="194665"/>
                </a:lnTo>
                <a:lnTo>
                  <a:pt x="1487297" y="0"/>
                </a:lnTo>
                <a:lnTo>
                  <a:pt x="0" y="0"/>
                </a:lnTo>
                <a:lnTo>
                  <a:pt x="0" y="194665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526655" y="2358415"/>
            <a:ext cx="753110" cy="194945"/>
          </a:xfrm>
          <a:custGeom>
            <a:avLst/>
            <a:gdLst/>
            <a:ahLst/>
            <a:cxnLst/>
            <a:rect l="l" t="t" r="r" b="b"/>
            <a:pathLst>
              <a:path w="753109" h="194944">
                <a:moveTo>
                  <a:pt x="0" y="194665"/>
                </a:moveTo>
                <a:lnTo>
                  <a:pt x="752741" y="194665"/>
                </a:lnTo>
                <a:lnTo>
                  <a:pt x="752741" y="0"/>
                </a:lnTo>
                <a:lnTo>
                  <a:pt x="0" y="0"/>
                </a:lnTo>
                <a:lnTo>
                  <a:pt x="0" y="194665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362702" y="2553589"/>
            <a:ext cx="2916935" cy="42503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39230" y="2546730"/>
            <a:ext cx="0" cy="4264660"/>
          </a:xfrm>
          <a:custGeom>
            <a:avLst/>
            <a:gdLst/>
            <a:ahLst/>
            <a:cxnLst/>
            <a:rect l="l" t="t" r="r" b="b"/>
            <a:pathLst>
              <a:path w="0" h="4264659">
                <a:moveTo>
                  <a:pt x="0" y="0"/>
                </a:moveTo>
                <a:lnTo>
                  <a:pt x="0" y="426429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526655" y="2352167"/>
            <a:ext cx="0" cy="4458970"/>
          </a:xfrm>
          <a:custGeom>
            <a:avLst/>
            <a:gdLst/>
            <a:ahLst/>
            <a:cxnLst/>
            <a:rect l="l" t="t" r="r" b="b"/>
            <a:pathLst>
              <a:path w="0" h="4458970">
                <a:moveTo>
                  <a:pt x="0" y="0"/>
                </a:moveTo>
                <a:lnTo>
                  <a:pt x="0" y="445885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032880" y="2553080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032880" y="2777998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032880" y="3012948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032880" y="3317747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56352" y="3566795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8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032880" y="3815841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032880" y="4065015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356352" y="4314063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8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032880" y="4563109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032880" y="4812157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032880" y="5061203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356352" y="5310251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8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032880" y="5559297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032880" y="5808408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356352" y="6057481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8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032880" y="6306540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032880" y="6555613"/>
            <a:ext cx="2252980" cy="0"/>
          </a:xfrm>
          <a:custGeom>
            <a:avLst/>
            <a:gdLst/>
            <a:ahLst/>
            <a:cxnLst/>
            <a:rect l="l" t="t" r="r" b="b"/>
            <a:pathLst>
              <a:path w="2252979" h="0">
                <a:moveTo>
                  <a:pt x="0" y="0"/>
                </a:moveTo>
                <a:lnTo>
                  <a:pt x="225285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362702" y="2553080"/>
            <a:ext cx="0" cy="4258310"/>
          </a:xfrm>
          <a:custGeom>
            <a:avLst/>
            <a:gdLst/>
            <a:ahLst/>
            <a:cxnLst/>
            <a:rect l="l" t="t" r="r" b="b"/>
            <a:pathLst>
              <a:path w="0" h="4258309">
                <a:moveTo>
                  <a:pt x="0" y="0"/>
                </a:moveTo>
                <a:lnTo>
                  <a:pt x="0" y="425794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279383" y="2352167"/>
            <a:ext cx="0" cy="4458970"/>
          </a:xfrm>
          <a:custGeom>
            <a:avLst/>
            <a:gdLst/>
            <a:ahLst/>
            <a:cxnLst/>
            <a:rect l="l" t="t" r="r" b="b"/>
            <a:pathLst>
              <a:path w="0" h="4458970">
                <a:moveTo>
                  <a:pt x="0" y="0"/>
                </a:moveTo>
                <a:lnTo>
                  <a:pt x="0" y="445885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039230" y="2358517"/>
            <a:ext cx="2246630" cy="0"/>
          </a:xfrm>
          <a:custGeom>
            <a:avLst/>
            <a:gdLst/>
            <a:ahLst/>
            <a:cxnLst/>
            <a:rect l="l" t="t" r="r" b="b"/>
            <a:pathLst>
              <a:path w="2246629" h="0">
                <a:moveTo>
                  <a:pt x="0" y="0"/>
                </a:moveTo>
                <a:lnTo>
                  <a:pt x="22465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356352" y="6804671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38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039230" y="2363216"/>
            <a:ext cx="22466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244475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solidFill>
                  <a:srgbClr val="FFFFFF"/>
                </a:solidFill>
                <a:latin typeface="明兰"/>
                <a:cs typeface="明兰"/>
              </a:rPr>
              <a:t>权重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79181" y="2528595"/>
            <a:ext cx="467359" cy="49593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dirty="0" sz="1050" b="1">
                <a:latin typeface="Arial"/>
                <a:cs typeface="Arial"/>
              </a:rPr>
              <a:t>13</a:t>
            </a:r>
            <a:r>
              <a:rPr dirty="0" sz="1050" spc="-5" b="1">
                <a:latin typeface="Arial"/>
                <a:cs typeface="Arial"/>
              </a:rPr>
              <a:t>.</a:t>
            </a:r>
            <a:r>
              <a:rPr dirty="0" sz="1050" b="1">
                <a:latin typeface="Arial"/>
                <a:cs typeface="Arial"/>
              </a:rPr>
              <a:t>75%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590"/>
              </a:spcBef>
            </a:pPr>
            <a:r>
              <a:rPr dirty="0" sz="1050" b="1">
                <a:latin typeface="Arial"/>
                <a:cs typeface="Arial"/>
              </a:rPr>
              <a:t>6.55%</a:t>
            </a:r>
            <a:endParaRPr sz="10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247376" y="3077717"/>
            <a:ext cx="2660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5" b="1">
                <a:latin typeface="明兰"/>
                <a:cs typeface="明兰"/>
              </a:rPr>
              <a:t>利润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396738" y="4705604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盈利能力</a:t>
            </a:r>
            <a:endParaRPr sz="1200">
              <a:latin typeface="明兰"/>
              <a:cs typeface="明兰"/>
            </a:endParaRPr>
          </a:p>
        </p:txBody>
      </p:sp>
      <p:graphicFrame>
        <p:nvGraphicFramePr>
          <p:cNvPr id="88" name="object 88"/>
          <p:cNvGraphicFramePr>
            <a:graphicFrameLocks noGrp="1"/>
          </p:cNvGraphicFramePr>
          <p:nvPr/>
        </p:nvGraphicFramePr>
        <p:xfrm>
          <a:off x="3033902" y="2339111"/>
          <a:ext cx="4238624" cy="2400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/>
                <a:gridCol w="2563495"/>
                <a:gridCol w="1072514"/>
              </a:tblGrid>
              <a:tr h="100282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000" spc="10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权重</a:t>
                      </a:r>
                      <a:endParaRPr sz="1000">
                        <a:latin typeface="明兰"/>
                        <a:cs typeface="明兰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4.22%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2.95%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6.59%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185420">
                        <a:lnSpc>
                          <a:spcPts val="1210"/>
                        </a:lnSpc>
                        <a:spcBef>
                          <a:spcPts val="795"/>
                        </a:spcBef>
                      </a:pPr>
                      <a:r>
                        <a:rPr dirty="0" sz="1200" b="1">
                          <a:latin typeface="明兰"/>
                          <a:cs typeface="明兰"/>
                        </a:rPr>
                        <a:t>营运能力</a:t>
                      </a:r>
                      <a:endParaRPr sz="1200">
                        <a:latin typeface="明兰"/>
                        <a:cs typeface="明兰"/>
                      </a:endParaRPr>
                    </a:p>
                    <a:p>
                      <a:pPr algn="r">
                        <a:lnSpc>
                          <a:spcPts val="969"/>
                        </a:lnSpc>
                      </a:pPr>
                      <a:r>
                        <a:rPr dirty="0" sz="1000" b="1">
                          <a:latin typeface="明兰"/>
                          <a:cs typeface="明兰"/>
                        </a:rPr>
                        <a:t>经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4980" marR="31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指标</a:t>
                      </a:r>
                      <a:endParaRPr sz="1000">
                        <a:latin typeface="明兰"/>
                        <a:cs typeface="明兰"/>
                      </a:endParaRPr>
                    </a:p>
                    <a:p>
                      <a:pPr marL="157480" marR="18415" indent="126364">
                        <a:lnSpc>
                          <a:spcPts val="1810"/>
                        </a:lnSpc>
                        <a:spcBef>
                          <a:spcPts val="5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存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货周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转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率 </a:t>
                      </a:r>
                      <a:r>
                        <a:rPr dirty="0" sz="1000" spc="10" b="1">
                          <a:latin typeface="明兰"/>
                          <a:cs typeface="明兰"/>
                        </a:rPr>
                        <a:t>应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付账</a:t>
                      </a:r>
                      <a:r>
                        <a:rPr dirty="0" sz="1000" spc="10" b="1">
                          <a:latin typeface="明兰"/>
                          <a:cs typeface="明兰"/>
                        </a:rPr>
                        <a:t>款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周转率</a:t>
                      </a:r>
                      <a:endParaRPr sz="1000">
                        <a:latin typeface="明兰"/>
                        <a:cs typeface="明兰"/>
                      </a:endParaRPr>
                    </a:p>
                    <a:p>
                      <a:pPr marL="127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000" spc="10" b="1">
                          <a:latin typeface="明兰"/>
                          <a:cs typeface="明兰"/>
                        </a:rPr>
                        <a:t>营活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动</a:t>
                      </a:r>
                      <a:r>
                        <a:rPr dirty="0" sz="1000" spc="10" b="1">
                          <a:latin typeface="明兰"/>
                          <a:cs typeface="明兰"/>
                        </a:rPr>
                        <a:t>现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金流</a:t>
                      </a:r>
                      <a:r>
                        <a:rPr dirty="0" sz="1000" spc="15" b="1">
                          <a:latin typeface="明兰"/>
                          <a:cs typeface="明兰"/>
                        </a:rPr>
                        <a:t>量</a:t>
                      </a:r>
                      <a:r>
                        <a:rPr dirty="0" sz="1000" spc="-15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净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36195"/>
                </a:tc>
              </a:tr>
              <a:tr h="24898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1.43%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2240" marR="31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总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资产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周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转率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24765"/>
                </a:tc>
              </a:tr>
              <a:tr h="24133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5.29%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0970" marR="31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流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动比率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24765"/>
                </a:tc>
              </a:tr>
              <a:tr h="25700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3.19%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algn="r" marR="1854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200" spc="-5" b="1">
                          <a:latin typeface="明兰"/>
                          <a:cs typeface="明兰"/>
                        </a:rPr>
                        <a:t>偿债能力</a:t>
                      </a:r>
                      <a:endParaRPr sz="1200">
                        <a:latin typeface="明兰"/>
                        <a:cs typeface="明兰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algn="ctr" marL="140970" marR="31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资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产负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债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32384"/>
                </a:tc>
              </a:tr>
              <a:tr h="24614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4.99%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0970" marR="31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现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金比率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24765"/>
                </a:tc>
              </a:tr>
              <a:tr h="40432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5.32%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ts val="750"/>
                        </a:lnSpc>
                        <a:spcBef>
                          <a:spcPts val="700"/>
                        </a:spcBef>
                      </a:pPr>
                      <a:r>
                        <a:rPr dirty="0" sz="1050" b="1">
                          <a:latin typeface="Arial"/>
                          <a:cs typeface="Arial"/>
                        </a:rPr>
                        <a:t>7.83%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2875" marR="31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EBITDA</a:t>
                      </a:r>
                      <a:r>
                        <a:rPr dirty="0" sz="1000" spc="15" b="1">
                          <a:latin typeface="明兰"/>
                          <a:cs typeface="明兰"/>
                        </a:rPr>
                        <a:t>利润率</a:t>
                      </a:r>
                      <a:endParaRPr sz="1000">
                        <a:latin typeface="明兰"/>
                        <a:cs typeface="明兰"/>
                      </a:endParaRPr>
                    </a:p>
                    <a:p>
                      <a:pPr algn="ctr" marL="142875" marR="3175">
                        <a:lnSpc>
                          <a:spcPts val="905"/>
                        </a:lnSpc>
                        <a:spcBef>
                          <a:spcPts val="76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净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利率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27939"/>
                </a:tc>
              </a:tr>
            </a:tbl>
          </a:graphicData>
        </a:graphic>
      </p:graphicFrame>
      <p:sp>
        <p:nvSpPr>
          <p:cNvPr id="89" name="object 89"/>
          <p:cNvSpPr txBox="1"/>
          <p:nvPr/>
        </p:nvSpPr>
        <p:spPr>
          <a:xfrm>
            <a:off x="5396738" y="5577636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公司规模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593713" y="4849495"/>
            <a:ext cx="393700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毛</a:t>
            </a:r>
            <a:r>
              <a:rPr dirty="0" sz="1000" spc="-5" b="1">
                <a:latin typeface="明兰"/>
                <a:cs typeface="明兰"/>
              </a:rPr>
              <a:t>利率</a:t>
            </a:r>
            <a:endParaRPr sz="1000">
              <a:latin typeface="明兰"/>
              <a:cs typeface="明兰"/>
            </a:endParaRPr>
          </a:p>
          <a:p>
            <a:pPr marL="51435">
              <a:lnSpc>
                <a:spcPct val="100000"/>
              </a:lnSpc>
              <a:spcBef>
                <a:spcPts val="750"/>
              </a:spcBef>
            </a:pPr>
            <a:r>
              <a:rPr dirty="0" sz="1000" spc="-5" b="1">
                <a:latin typeface="Arial"/>
                <a:cs typeface="Arial"/>
              </a:rPr>
              <a:t>ROA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r>
              <a:rPr dirty="0" sz="1000" spc="5" b="1">
                <a:latin typeface="明兰"/>
                <a:cs typeface="明兰"/>
              </a:rPr>
              <a:t>净</a:t>
            </a:r>
            <a:r>
              <a:rPr dirty="0" sz="1000" spc="-5" b="1">
                <a:latin typeface="明兰"/>
                <a:cs typeface="明兰"/>
              </a:rPr>
              <a:t>利润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396738" y="6325006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成长能力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465696" y="5596838"/>
            <a:ext cx="648335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营</a:t>
            </a:r>
            <a:r>
              <a:rPr dirty="0" sz="1000" spc="-5" b="1">
                <a:latin typeface="明兰"/>
                <a:cs typeface="明兰"/>
              </a:rPr>
              <a:t>业收入</a:t>
            </a:r>
            <a:endParaRPr sz="1000">
              <a:latin typeface="明兰"/>
              <a:cs typeface="明兰"/>
            </a:endParaRPr>
          </a:p>
          <a:p>
            <a:pPr marR="5080" indent="127635">
              <a:lnSpc>
                <a:spcPct val="163400"/>
              </a:lnSpc>
            </a:pPr>
            <a:r>
              <a:rPr dirty="0" sz="1000" spc="5" b="1">
                <a:latin typeface="明兰"/>
                <a:cs typeface="明兰"/>
              </a:rPr>
              <a:t>总</a:t>
            </a:r>
            <a:r>
              <a:rPr dirty="0" sz="1000" spc="-5" b="1">
                <a:latin typeface="明兰"/>
                <a:cs typeface="明兰"/>
              </a:rPr>
              <a:t>资产 </a:t>
            </a:r>
            <a:r>
              <a:rPr dirty="0" sz="1000" spc="5" b="1">
                <a:latin typeface="明兰"/>
                <a:cs typeface="明兰"/>
              </a:rPr>
              <a:t>利</a:t>
            </a:r>
            <a:r>
              <a:rPr dirty="0" sz="1000" spc="-5" b="1">
                <a:latin typeface="明兰"/>
                <a:cs typeface="明兰"/>
              </a:rPr>
              <a:t>润增</a:t>
            </a:r>
            <a:r>
              <a:rPr dirty="0" sz="1000" spc="5" b="1">
                <a:latin typeface="明兰"/>
                <a:cs typeface="明兰"/>
              </a:rPr>
              <a:t>长</a:t>
            </a:r>
            <a:r>
              <a:rPr dirty="0" sz="1000" spc="-5" b="1">
                <a:latin typeface="明兰"/>
                <a:cs typeface="明兰"/>
              </a:rPr>
              <a:t>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403213" y="6344208"/>
            <a:ext cx="774700" cy="42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95"/>
              </a:spcBef>
            </a:pPr>
            <a:r>
              <a:rPr dirty="0" sz="1000" spc="5" b="1">
                <a:latin typeface="明兰"/>
                <a:cs typeface="明兰"/>
              </a:rPr>
              <a:t>营</a:t>
            </a:r>
            <a:r>
              <a:rPr dirty="0" sz="1000" spc="-5" b="1">
                <a:latin typeface="明兰"/>
                <a:cs typeface="明兰"/>
              </a:rPr>
              <a:t>收增</a:t>
            </a:r>
            <a:r>
              <a:rPr dirty="0" sz="1000" spc="5" b="1">
                <a:latin typeface="明兰"/>
                <a:cs typeface="明兰"/>
              </a:rPr>
              <a:t>长</a:t>
            </a:r>
            <a:r>
              <a:rPr dirty="0" sz="1000" spc="-5" b="1">
                <a:latin typeface="明兰"/>
                <a:cs typeface="明兰"/>
              </a:rPr>
              <a:t>率</a:t>
            </a:r>
            <a:endParaRPr sz="1000">
              <a:latin typeface="明兰"/>
              <a:cs typeface="明兰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r>
              <a:rPr dirty="0" sz="1000" spc="5" b="1">
                <a:latin typeface="明兰"/>
                <a:cs typeface="明兰"/>
              </a:rPr>
              <a:t>总</a:t>
            </a:r>
            <a:r>
              <a:rPr dirty="0" sz="1000" spc="-5" b="1">
                <a:latin typeface="明兰"/>
                <a:cs typeface="明兰"/>
              </a:rPr>
              <a:t>资产</a:t>
            </a:r>
            <a:r>
              <a:rPr dirty="0" sz="1000" spc="5" b="1">
                <a:latin typeface="明兰"/>
                <a:cs typeface="明兰"/>
              </a:rPr>
              <a:t>增</a:t>
            </a:r>
            <a:r>
              <a:rPr dirty="0" sz="1000" spc="-5" b="1">
                <a:latin typeface="明兰"/>
                <a:cs typeface="明兰"/>
              </a:rPr>
              <a:t>长率</a:t>
            </a:r>
            <a:endParaRPr sz="1000">
              <a:latin typeface="明兰"/>
              <a:cs typeface="明兰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679181" y="3054756"/>
            <a:ext cx="467359" cy="37623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800"/>
              </a:spcBef>
            </a:pPr>
            <a:r>
              <a:rPr dirty="0" sz="1050" b="1">
                <a:latin typeface="Arial"/>
                <a:cs typeface="Arial"/>
              </a:rPr>
              <a:t>9.93%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1.47%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11</a:t>
            </a:r>
            <a:r>
              <a:rPr dirty="0" sz="1050" spc="-5" b="1">
                <a:latin typeface="Arial"/>
                <a:cs typeface="Arial"/>
              </a:rPr>
              <a:t>.</a:t>
            </a:r>
            <a:r>
              <a:rPr dirty="0" sz="1050" b="1">
                <a:latin typeface="Arial"/>
                <a:cs typeface="Arial"/>
              </a:rPr>
              <a:t>34%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5.13%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6.00%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5.77%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5.77%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4.88%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3.78%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8.25%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8.50%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5.31%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1.79%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5"/>
              </a:spcBef>
            </a:pPr>
            <a:r>
              <a:rPr dirty="0" sz="1050" b="1">
                <a:latin typeface="Arial"/>
                <a:cs typeface="Arial"/>
              </a:rPr>
              <a:t>1.43%</a:t>
            </a:r>
            <a:endParaRPr sz="10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700"/>
              </a:spcBef>
            </a:pPr>
            <a:r>
              <a:rPr dirty="0" sz="1050" b="1">
                <a:latin typeface="Arial"/>
                <a:cs typeface="Arial"/>
              </a:rPr>
              <a:t>0.35%</a:t>
            </a:r>
            <a:endParaRPr sz="10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269388" y="1711311"/>
            <a:ext cx="285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5">
                <a:latin typeface="Times New Roman"/>
                <a:cs typeface="Times New Roman"/>
              </a:rPr>
              <a:t>'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259455" y="1819738"/>
            <a:ext cx="368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5" i="1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510509" y="1828387"/>
            <a:ext cx="7556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15" i="1">
                <a:latin typeface="Times New Roman"/>
                <a:cs typeface="Times New Roman"/>
              </a:rPr>
              <a:t>m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560469" y="1609273"/>
            <a:ext cx="23622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250" spc="-50" i="1">
                <a:latin typeface="Symbol"/>
                <a:cs typeface="Symbol"/>
              </a:rPr>
              <a:t></a:t>
            </a:r>
            <a:r>
              <a:rPr dirty="0" sz="1250" spc="-50" i="1">
                <a:latin typeface="Times New Roman"/>
                <a:cs typeface="Times New Roman"/>
              </a:rPr>
              <a:t> </a:t>
            </a:r>
            <a:r>
              <a:rPr dirty="0" sz="1250" spc="-15" i="1">
                <a:latin typeface="Symbol"/>
                <a:cs typeface="Symbol"/>
              </a:rPr>
              <a:t>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169450" y="1715727"/>
            <a:ext cx="2609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200" spc="-15" i="1">
                <a:latin typeface="Times New Roman"/>
                <a:cs typeface="Times New Roman"/>
              </a:rPr>
              <a:t>w</a:t>
            </a:r>
            <a:r>
              <a:rPr dirty="0" sz="1200" spc="135" i="1">
                <a:latin typeface="Times New Roman"/>
                <a:cs typeface="Times New Roman"/>
              </a:rPr>
              <a:t> </a:t>
            </a:r>
            <a:r>
              <a:rPr dirty="0" sz="1200" spc="-15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961737" y="1679027"/>
            <a:ext cx="817244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550" spc="-45">
                <a:latin typeface="Symbol"/>
                <a:cs typeface="Symbol"/>
              </a:rPr>
              <a:t></a:t>
            </a:r>
            <a:r>
              <a:rPr dirty="0" baseline="4629" sz="1800" spc="-67" i="1">
                <a:latin typeface="Times New Roman"/>
                <a:cs typeface="Times New Roman"/>
              </a:rPr>
              <a:t>i</a:t>
            </a:r>
            <a:r>
              <a:rPr dirty="0" baseline="4629" sz="1800" spc="-60" i="1">
                <a:latin typeface="Times New Roman"/>
                <a:cs typeface="Times New Roman"/>
              </a:rPr>
              <a:t> </a:t>
            </a:r>
            <a:r>
              <a:rPr dirty="0" baseline="4629" sz="1800" spc="-22">
                <a:latin typeface="Symbol"/>
                <a:cs typeface="Symbol"/>
              </a:rPr>
              <a:t></a:t>
            </a:r>
            <a:r>
              <a:rPr dirty="0" baseline="4629" sz="1800" spc="-254">
                <a:latin typeface="Times New Roman"/>
                <a:cs typeface="Times New Roman"/>
              </a:rPr>
              <a:t> </a:t>
            </a:r>
            <a:r>
              <a:rPr dirty="0" baseline="4629" sz="1800" spc="-104">
                <a:latin typeface="Times New Roman"/>
                <a:cs typeface="Times New Roman"/>
              </a:rPr>
              <a:t>1,</a:t>
            </a:r>
            <a:r>
              <a:rPr dirty="0" baseline="4629" sz="1800" spc="-25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2,...,</a:t>
            </a:r>
            <a:r>
              <a:rPr dirty="0" baseline="4629" sz="1800" spc="-270">
                <a:latin typeface="Times New Roman"/>
                <a:cs typeface="Times New Roman"/>
              </a:rPr>
              <a:t> </a:t>
            </a:r>
            <a:r>
              <a:rPr dirty="0" baseline="4629" sz="1800" spc="-60" i="1">
                <a:latin typeface="Times New Roman"/>
                <a:cs typeface="Times New Roman"/>
              </a:rPr>
              <a:t>m</a:t>
            </a:r>
            <a:r>
              <a:rPr dirty="0" sz="1550" spc="-40">
                <a:latin typeface="Symbol"/>
                <a:cs typeface="Symbol"/>
              </a:rPr>
              <a:t>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453914" y="1699898"/>
            <a:ext cx="499745" cy="5626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  <a:tabLst>
                <a:tab pos="486409" algn="l"/>
              </a:tabLst>
            </a:pPr>
            <a:r>
              <a:rPr dirty="0" u="sng" sz="7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7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dirty="0" u="sng" sz="700" spc="-3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700" i="1">
                <a:latin typeface="Times New Roman"/>
                <a:cs typeface="Times New Roman"/>
              </a:rPr>
              <a:t>    </a:t>
            </a:r>
            <a:r>
              <a:rPr dirty="0" sz="700" spc="-85" i="1">
                <a:latin typeface="Times New Roman"/>
                <a:cs typeface="Times New Roman"/>
              </a:rPr>
              <a:t> </a:t>
            </a:r>
            <a:r>
              <a:rPr dirty="0" u="sng" sz="7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sz="700" spc="-5" i="1">
                <a:latin typeface="Times New Roman"/>
                <a:cs typeface="Times New Roman"/>
              </a:rPr>
              <a:t>  </a:t>
            </a:r>
            <a:r>
              <a:rPr dirty="0" sz="700" spc="60" i="1">
                <a:latin typeface="Times New Roman"/>
                <a:cs typeface="Times New Roman"/>
              </a:rPr>
              <a:t> </a:t>
            </a:r>
            <a:r>
              <a:rPr dirty="0" u="sng" sz="7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	</a:t>
            </a:r>
            <a:endParaRPr sz="700">
              <a:latin typeface="Times New Roman"/>
              <a:cs typeface="Times New Roman"/>
            </a:endParaRPr>
          </a:p>
          <a:p>
            <a:pPr marL="7620">
              <a:lnSpc>
                <a:spcPts val="2045"/>
              </a:lnSpc>
              <a:spcBef>
                <a:spcPts val="445"/>
              </a:spcBef>
            </a:pPr>
            <a:r>
              <a:rPr dirty="0" baseline="1543" sz="2700" spc="-15">
                <a:latin typeface="Symbol"/>
                <a:cs typeface="Symbol"/>
              </a:rPr>
              <a:t></a:t>
            </a:r>
            <a:r>
              <a:rPr dirty="0" baseline="13333" sz="1875" spc="-15" i="1">
                <a:latin typeface="Symbol"/>
                <a:cs typeface="Symbol"/>
              </a:rPr>
              <a:t></a:t>
            </a:r>
            <a:r>
              <a:rPr dirty="0" baseline="13333" sz="1875" spc="-217" i="1">
                <a:latin typeface="Times New Roman"/>
                <a:cs typeface="Times New Roman"/>
              </a:rPr>
              <a:t> </a:t>
            </a:r>
            <a:r>
              <a:rPr dirty="0" sz="700" spc="-5" i="1">
                <a:latin typeface="Times New Roman"/>
                <a:cs typeface="Times New Roman"/>
              </a:rPr>
              <a:t>j</a:t>
            </a:r>
            <a:r>
              <a:rPr dirty="0" sz="700" spc="-80" i="1">
                <a:latin typeface="Times New Roman"/>
                <a:cs typeface="Times New Roman"/>
              </a:rPr>
              <a:t> </a:t>
            </a:r>
            <a:r>
              <a:rPr dirty="0" baseline="13333" sz="1875" spc="-60" i="1">
                <a:latin typeface="Symbol"/>
                <a:cs typeface="Symbol"/>
              </a:rPr>
              <a:t></a:t>
            </a:r>
            <a:r>
              <a:rPr dirty="0" baseline="13333" sz="1875" spc="-240" i="1">
                <a:latin typeface="Times New Roman"/>
                <a:cs typeface="Times New Roman"/>
              </a:rPr>
              <a:t> </a:t>
            </a:r>
            <a:r>
              <a:rPr dirty="0" sz="700" spc="-5" i="1">
                <a:latin typeface="Times New Roman"/>
                <a:cs typeface="Times New Roman"/>
              </a:rPr>
              <a:t>j</a:t>
            </a:r>
            <a:endParaRPr sz="700">
              <a:latin typeface="Times New Roman"/>
              <a:cs typeface="Times New Roman"/>
            </a:endParaRPr>
          </a:p>
          <a:p>
            <a:pPr marL="40005">
              <a:lnSpc>
                <a:spcPts val="725"/>
              </a:lnSpc>
            </a:pPr>
            <a:r>
              <a:rPr dirty="0" sz="700" spc="-5" i="1">
                <a:latin typeface="Times New Roman"/>
                <a:cs typeface="Times New Roman"/>
              </a:rPr>
              <a:t>j</a:t>
            </a:r>
            <a:r>
              <a:rPr dirty="0" sz="700" spc="-120" i="1">
                <a:latin typeface="Times New Roman"/>
                <a:cs typeface="Times New Roman"/>
              </a:rPr>
              <a:t> </a:t>
            </a:r>
            <a:r>
              <a:rPr dirty="0" sz="700" spc="-30">
                <a:latin typeface="Symbol"/>
                <a:cs typeface="Symbol"/>
              </a:rPr>
              <a:t></a:t>
            </a:r>
            <a:r>
              <a:rPr dirty="0" sz="700" spc="-3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986654" y="979198"/>
            <a:ext cx="41351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宋体"/>
                <a:cs typeface="宋体"/>
              </a:rPr>
              <a:t>采用乘</a:t>
            </a:r>
            <a:r>
              <a:rPr dirty="0" sz="1400" spc="-15">
                <a:latin typeface="宋体"/>
                <a:cs typeface="宋体"/>
              </a:rPr>
              <a:t>法</a:t>
            </a:r>
            <a:r>
              <a:rPr dirty="0" sz="1400">
                <a:latin typeface="宋体"/>
                <a:cs typeface="宋体"/>
              </a:rPr>
              <a:t>归</a:t>
            </a:r>
            <a:r>
              <a:rPr dirty="0" sz="1400" spc="-15">
                <a:latin typeface="宋体"/>
                <a:cs typeface="宋体"/>
              </a:rPr>
              <a:t>一</a:t>
            </a:r>
            <a:r>
              <a:rPr dirty="0" sz="1400">
                <a:latin typeface="宋体"/>
                <a:cs typeface="宋体"/>
              </a:rPr>
              <a:t>化法确</a:t>
            </a:r>
            <a:r>
              <a:rPr dirty="0" sz="1400" spc="-15">
                <a:latin typeface="宋体"/>
                <a:cs typeface="宋体"/>
              </a:rPr>
              <a:t>定</a:t>
            </a:r>
            <a:r>
              <a:rPr dirty="0" sz="1400">
                <a:latin typeface="宋体"/>
                <a:cs typeface="宋体"/>
              </a:rPr>
              <a:t>权重</a:t>
            </a:r>
            <a:r>
              <a:rPr dirty="0" sz="1400" spc="-15">
                <a:latin typeface="宋体"/>
                <a:cs typeface="宋体"/>
              </a:rPr>
              <a:t>，其</a:t>
            </a:r>
            <a:r>
              <a:rPr dirty="0" sz="1400" spc="210">
                <a:latin typeface="宋体"/>
                <a:cs typeface="宋体"/>
              </a:rPr>
              <a:t>中</a:t>
            </a:r>
            <a:r>
              <a:rPr dirty="0" sz="1350" spc="-50" i="1">
                <a:latin typeface="Times New Roman"/>
                <a:cs typeface="Times New Roman"/>
              </a:rPr>
              <a:t>w</a:t>
            </a:r>
            <a:r>
              <a:rPr dirty="0" baseline="41666" sz="1200" spc="-75">
                <a:latin typeface="Times New Roman"/>
                <a:cs typeface="Times New Roman"/>
              </a:rPr>
              <a:t>'</a:t>
            </a:r>
            <a:r>
              <a:rPr dirty="0" baseline="41666" sz="1200" spc="52">
                <a:latin typeface="Times New Roman"/>
                <a:cs typeface="Times New Roman"/>
              </a:rPr>
              <a:t> </a:t>
            </a:r>
            <a:r>
              <a:rPr dirty="0" sz="1400">
                <a:latin typeface="宋体"/>
                <a:cs typeface="宋体"/>
              </a:rPr>
              <a:t>为组</a:t>
            </a:r>
            <a:r>
              <a:rPr dirty="0" sz="1400" spc="-15">
                <a:latin typeface="宋体"/>
                <a:cs typeface="宋体"/>
              </a:rPr>
              <a:t>合</a:t>
            </a:r>
            <a:r>
              <a:rPr dirty="0" sz="1400">
                <a:latin typeface="宋体"/>
                <a:cs typeface="宋体"/>
              </a:rPr>
              <a:t>权重</a:t>
            </a:r>
            <a:r>
              <a:rPr dirty="0" sz="1400" spc="-15">
                <a:latin typeface="宋体"/>
                <a:cs typeface="宋体"/>
              </a:rPr>
              <a:t>值</a:t>
            </a:r>
            <a:r>
              <a:rPr dirty="0" sz="1400">
                <a:latin typeface="宋体"/>
                <a:cs typeface="宋体"/>
              </a:rPr>
              <a:t>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635905" y="1101336"/>
            <a:ext cx="439737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213485">
              <a:lnSpc>
                <a:spcPts val="865"/>
              </a:lnSpc>
              <a:spcBef>
                <a:spcPts val="100"/>
              </a:spcBef>
            </a:pPr>
            <a:r>
              <a:rPr dirty="0" sz="800" spc="-25" i="1">
                <a:latin typeface="Times New Roman"/>
                <a:cs typeface="Times New Roman"/>
              </a:rPr>
              <a:t>i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</a:pPr>
            <a:r>
              <a:rPr dirty="0" sz="1700" spc="-40">
                <a:latin typeface="Symbol"/>
                <a:cs typeface="Symbol"/>
              </a:rPr>
              <a:t></a:t>
            </a:r>
            <a:r>
              <a:rPr dirty="0" baseline="4115" sz="2025" spc="-127" i="1">
                <a:latin typeface="Symbol"/>
                <a:cs typeface="Symbol"/>
              </a:rPr>
              <a:t></a:t>
            </a:r>
            <a:r>
              <a:rPr dirty="0" baseline="-18518" sz="1125" spc="67">
                <a:latin typeface="Times New Roman"/>
                <a:cs typeface="Times New Roman"/>
              </a:rPr>
              <a:t>1</a:t>
            </a:r>
            <a:r>
              <a:rPr dirty="0" baseline="4273" sz="1950" spc="-22">
                <a:latin typeface="Times New Roman"/>
                <a:cs typeface="Times New Roman"/>
              </a:rPr>
              <a:t>,</a:t>
            </a:r>
            <a:r>
              <a:rPr dirty="0" baseline="4273" sz="1950" spc="-240">
                <a:latin typeface="Times New Roman"/>
                <a:cs typeface="Times New Roman"/>
              </a:rPr>
              <a:t> </a:t>
            </a:r>
            <a:r>
              <a:rPr dirty="0" baseline="4115" sz="2025" spc="-15" i="1">
                <a:latin typeface="Symbol"/>
                <a:cs typeface="Symbol"/>
              </a:rPr>
              <a:t></a:t>
            </a:r>
            <a:r>
              <a:rPr dirty="0" baseline="-18518" sz="1125" spc="-22">
                <a:latin typeface="Times New Roman"/>
                <a:cs typeface="Times New Roman"/>
              </a:rPr>
              <a:t>2</a:t>
            </a:r>
            <a:r>
              <a:rPr dirty="0" baseline="-18518" sz="1125" spc="-112">
                <a:latin typeface="Times New Roman"/>
                <a:cs typeface="Times New Roman"/>
              </a:rPr>
              <a:t> </a:t>
            </a:r>
            <a:r>
              <a:rPr dirty="0" baseline="4273" sz="1950" spc="82">
                <a:latin typeface="Times New Roman"/>
                <a:cs typeface="Times New Roman"/>
              </a:rPr>
              <a:t>,</a:t>
            </a:r>
            <a:r>
              <a:rPr dirty="0" baseline="4273" sz="1950" spc="-22">
                <a:latin typeface="Times New Roman"/>
                <a:cs typeface="Times New Roman"/>
              </a:rPr>
              <a:t>.</a:t>
            </a:r>
            <a:r>
              <a:rPr dirty="0" baseline="4273" sz="1950" spc="-30">
                <a:latin typeface="Times New Roman"/>
                <a:cs typeface="Times New Roman"/>
              </a:rPr>
              <a:t>.</a:t>
            </a:r>
            <a:r>
              <a:rPr dirty="0" baseline="4273" sz="1950" spc="-22">
                <a:latin typeface="Times New Roman"/>
                <a:cs typeface="Times New Roman"/>
              </a:rPr>
              <a:t>.,</a:t>
            </a:r>
            <a:r>
              <a:rPr dirty="0" baseline="4273" sz="1950" spc="-240">
                <a:latin typeface="Times New Roman"/>
                <a:cs typeface="Times New Roman"/>
              </a:rPr>
              <a:t> </a:t>
            </a:r>
            <a:r>
              <a:rPr dirty="0" baseline="4115" sz="2025" spc="-7" i="1">
                <a:latin typeface="Symbol"/>
                <a:cs typeface="Symbol"/>
              </a:rPr>
              <a:t></a:t>
            </a:r>
            <a:r>
              <a:rPr dirty="0" baseline="-18518" sz="1125" spc="-22" i="1">
                <a:latin typeface="Times New Roman"/>
                <a:cs typeface="Times New Roman"/>
              </a:rPr>
              <a:t>n</a:t>
            </a:r>
            <a:r>
              <a:rPr dirty="0" baseline="-18518" sz="1125" spc="30" i="1">
                <a:latin typeface="Times New Roman"/>
                <a:cs typeface="Times New Roman"/>
              </a:rPr>
              <a:t> </a:t>
            </a:r>
            <a:r>
              <a:rPr dirty="0" sz="1700" spc="-160">
                <a:latin typeface="Symbol"/>
                <a:cs typeface="Symbol"/>
              </a:rPr>
              <a:t>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baseline="1984" sz="2100" spc="15">
                <a:latin typeface="宋体"/>
                <a:cs typeface="宋体"/>
              </a:rPr>
              <a:t>为指</a:t>
            </a:r>
            <a:r>
              <a:rPr dirty="0" baseline="1984" sz="2100">
                <a:latin typeface="宋体"/>
                <a:cs typeface="宋体"/>
              </a:rPr>
              <a:t>标</a:t>
            </a:r>
            <a:r>
              <a:rPr dirty="0" baseline="1984" sz="2100" spc="-22">
                <a:latin typeface="宋体"/>
                <a:cs typeface="宋体"/>
              </a:rPr>
              <a:t>客</a:t>
            </a:r>
            <a:r>
              <a:rPr dirty="0" baseline="1984" sz="2100">
                <a:latin typeface="宋体"/>
                <a:cs typeface="宋体"/>
              </a:rPr>
              <a:t>观权</a:t>
            </a:r>
            <a:r>
              <a:rPr dirty="0" baseline="1984" sz="2100" spc="-22">
                <a:latin typeface="宋体"/>
                <a:cs typeface="宋体"/>
              </a:rPr>
              <a:t>向</a:t>
            </a:r>
            <a:r>
              <a:rPr dirty="0" baseline="1984" sz="2100">
                <a:latin typeface="宋体"/>
                <a:cs typeface="宋体"/>
              </a:rPr>
              <a:t>量</a:t>
            </a:r>
            <a:r>
              <a:rPr dirty="0" baseline="1984" sz="2100" spc="-307">
                <a:latin typeface="宋体"/>
                <a:cs typeface="宋体"/>
              </a:rPr>
              <a:t>，</a:t>
            </a:r>
            <a:r>
              <a:rPr dirty="0" sz="1700" spc="-155">
                <a:latin typeface="Symbol"/>
                <a:cs typeface="Symbol"/>
              </a:rPr>
              <a:t></a:t>
            </a:r>
            <a:r>
              <a:rPr dirty="0" baseline="4115" sz="2025" spc="-112" i="1">
                <a:latin typeface="Symbol"/>
                <a:cs typeface="Symbol"/>
              </a:rPr>
              <a:t></a:t>
            </a:r>
            <a:r>
              <a:rPr dirty="0" baseline="-18518" sz="1125" spc="67">
                <a:latin typeface="Times New Roman"/>
                <a:cs typeface="Times New Roman"/>
              </a:rPr>
              <a:t>1</a:t>
            </a:r>
            <a:r>
              <a:rPr dirty="0" baseline="4273" sz="1950" spc="52">
                <a:latin typeface="Times New Roman"/>
                <a:cs typeface="Times New Roman"/>
              </a:rPr>
              <a:t>,</a:t>
            </a:r>
            <a:r>
              <a:rPr dirty="0" baseline="4115" sz="2025" i="1">
                <a:latin typeface="Symbol"/>
                <a:cs typeface="Symbol"/>
              </a:rPr>
              <a:t></a:t>
            </a:r>
            <a:r>
              <a:rPr dirty="0" baseline="-18518" sz="1125" spc="-22">
                <a:latin typeface="Times New Roman"/>
                <a:cs typeface="Times New Roman"/>
              </a:rPr>
              <a:t>2</a:t>
            </a:r>
            <a:r>
              <a:rPr dirty="0" baseline="-18518" sz="1125" spc="-112">
                <a:latin typeface="Times New Roman"/>
                <a:cs typeface="Times New Roman"/>
              </a:rPr>
              <a:t> </a:t>
            </a:r>
            <a:r>
              <a:rPr dirty="0" baseline="4273" sz="1950" spc="82">
                <a:latin typeface="Times New Roman"/>
                <a:cs typeface="Times New Roman"/>
              </a:rPr>
              <a:t>,</a:t>
            </a:r>
            <a:r>
              <a:rPr dirty="0" baseline="4273" sz="1950" spc="-22">
                <a:latin typeface="Times New Roman"/>
                <a:cs typeface="Times New Roman"/>
              </a:rPr>
              <a:t>.</a:t>
            </a:r>
            <a:r>
              <a:rPr dirty="0" baseline="4273" sz="1950" spc="-30">
                <a:latin typeface="Times New Roman"/>
                <a:cs typeface="Times New Roman"/>
              </a:rPr>
              <a:t>.</a:t>
            </a:r>
            <a:r>
              <a:rPr dirty="0" baseline="4273" sz="1950" spc="-22">
                <a:latin typeface="Times New Roman"/>
                <a:cs typeface="Times New Roman"/>
              </a:rPr>
              <a:t>.</a:t>
            </a:r>
            <a:r>
              <a:rPr dirty="0" baseline="4273" sz="1950" spc="52">
                <a:latin typeface="Times New Roman"/>
                <a:cs typeface="Times New Roman"/>
              </a:rPr>
              <a:t>,</a:t>
            </a:r>
            <a:r>
              <a:rPr dirty="0" baseline="4115" sz="2025" i="1">
                <a:latin typeface="Symbol"/>
                <a:cs typeface="Symbol"/>
              </a:rPr>
              <a:t></a:t>
            </a:r>
            <a:r>
              <a:rPr dirty="0" baseline="-18518" sz="1125" spc="-22" i="1">
                <a:latin typeface="Times New Roman"/>
                <a:cs typeface="Times New Roman"/>
              </a:rPr>
              <a:t>n</a:t>
            </a:r>
            <a:r>
              <a:rPr dirty="0" baseline="-18518" sz="1125" spc="37" i="1">
                <a:latin typeface="Times New Roman"/>
                <a:cs typeface="Times New Roman"/>
              </a:rPr>
              <a:t> </a:t>
            </a:r>
            <a:r>
              <a:rPr dirty="0" sz="1700" spc="-160">
                <a:latin typeface="Symbol"/>
                <a:cs typeface="Symbol"/>
              </a:rPr>
              <a:t></a:t>
            </a:r>
            <a:r>
              <a:rPr dirty="0" sz="1700">
                <a:latin typeface="Times New Roman"/>
                <a:cs typeface="Times New Roman"/>
              </a:rPr>
              <a:t> </a:t>
            </a:r>
            <a:r>
              <a:rPr dirty="0" sz="1700" spc="-160">
                <a:latin typeface="Times New Roman"/>
                <a:cs typeface="Times New Roman"/>
              </a:rPr>
              <a:t> </a:t>
            </a:r>
            <a:r>
              <a:rPr dirty="0" baseline="1984" sz="2100" spc="15">
                <a:latin typeface="宋体"/>
                <a:cs typeface="宋体"/>
              </a:rPr>
              <a:t>为指</a:t>
            </a:r>
            <a:r>
              <a:rPr dirty="0" baseline="1984" sz="2100">
                <a:latin typeface="宋体"/>
                <a:cs typeface="宋体"/>
              </a:rPr>
              <a:t>标主观</a:t>
            </a:r>
            <a:endParaRPr baseline="1984"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0" y="973421"/>
            <a:ext cx="441706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6385">
              <a:lnSpc>
                <a:spcPct val="119000"/>
              </a:lnSpc>
              <a:spcBef>
                <a:spcPts val="10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根据</a:t>
            </a:r>
            <a:r>
              <a:rPr dirty="0" sz="1400">
                <a:latin typeface="宋体"/>
                <a:cs typeface="宋体"/>
              </a:rPr>
              <a:t>组合</a:t>
            </a:r>
            <a:r>
              <a:rPr dirty="0" sz="1400" spc="-15">
                <a:latin typeface="宋体"/>
                <a:cs typeface="宋体"/>
              </a:rPr>
              <a:t>权</a:t>
            </a:r>
            <a:r>
              <a:rPr dirty="0" sz="1400">
                <a:latin typeface="宋体"/>
                <a:cs typeface="宋体"/>
              </a:rPr>
              <a:t>重分</a:t>
            </a:r>
            <a:r>
              <a:rPr dirty="0" sz="1400" spc="-15">
                <a:latin typeface="宋体"/>
                <a:cs typeface="宋体"/>
              </a:rPr>
              <a:t>别</a:t>
            </a:r>
            <a:r>
              <a:rPr dirty="0" sz="1400">
                <a:latin typeface="宋体"/>
                <a:cs typeface="宋体"/>
              </a:rPr>
              <a:t>计</a:t>
            </a:r>
            <a:r>
              <a:rPr dirty="0" sz="1400" spc="5">
                <a:latin typeface="宋体"/>
                <a:cs typeface="宋体"/>
              </a:rPr>
              <a:t>算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system.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S.A.</a:t>
            </a:r>
            <a:r>
              <a:rPr dirty="0" sz="1400">
                <a:latin typeface="宋体"/>
                <a:cs typeface="宋体"/>
              </a:rPr>
              <a:t>和 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S.A.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10">
                <a:latin typeface="宋体"/>
                <a:cs typeface="宋体"/>
              </a:rPr>
              <a:t>前述</a:t>
            </a:r>
            <a:r>
              <a:rPr dirty="0" sz="1400" spc="5">
                <a:latin typeface="宋体"/>
                <a:cs typeface="宋体"/>
              </a:rPr>
              <a:t>各</a:t>
            </a:r>
            <a:r>
              <a:rPr dirty="0" sz="1400">
                <a:latin typeface="宋体"/>
                <a:cs typeface="宋体"/>
              </a:rPr>
              <a:t>评</a:t>
            </a:r>
            <a:r>
              <a:rPr dirty="0" sz="1400" spc="5">
                <a:latin typeface="宋体"/>
                <a:cs typeface="宋体"/>
              </a:rPr>
              <a:t>价</a:t>
            </a:r>
            <a:r>
              <a:rPr dirty="0" sz="1400" spc="-15">
                <a:latin typeface="宋体"/>
                <a:cs typeface="宋体"/>
              </a:rPr>
              <a:t>指</a:t>
            </a:r>
            <a:r>
              <a:rPr dirty="0" sz="1400" spc="5">
                <a:latin typeface="宋体"/>
                <a:cs typeface="宋体"/>
              </a:rPr>
              <a:t>标</a:t>
            </a:r>
            <a:r>
              <a:rPr dirty="0" sz="1400">
                <a:latin typeface="宋体"/>
                <a:cs typeface="宋体"/>
              </a:rPr>
              <a:t>评</a:t>
            </a:r>
            <a:r>
              <a:rPr dirty="0" sz="1400" spc="-10">
                <a:latin typeface="宋体"/>
                <a:cs typeface="宋体"/>
              </a:rPr>
              <a:t>分</a:t>
            </a:r>
            <a:r>
              <a:rPr dirty="0" sz="1400" spc="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最</a:t>
            </a:r>
            <a:r>
              <a:rPr dirty="0" sz="1400" spc="-10">
                <a:latin typeface="宋体"/>
                <a:cs typeface="宋体"/>
              </a:rPr>
              <a:t>终</a:t>
            </a:r>
            <a:r>
              <a:rPr dirty="0" sz="1400" spc="5">
                <a:latin typeface="宋体"/>
                <a:cs typeface="宋体"/>
              </a:rPr>
              <a:t>加</a:t>
            </a:r>
            <a:r>
              <a:rPr dirty="0" sz="1400">
                <a:latin typeface="宋体"/>
                <a:cs typeface="宋体"/>
              </a:rPr>
              <a:t>总</a:t>
            </a:r>
            <a:r>
              <a:rPr dirty="0" sz="1400" spc="-10">
                <a:latin typeface="宋体"/>
                <a:cs typeface="宋体"/>
              </a:rPr>
              <a:t>得</a:t>
            </a:r>
            <a:r>
              <a:rPr dirty="0" sz="1400" spc="5">
                <a:latin typeface="宋体"/>
                <a:cs typeface="宋体"/>
              </a:rPr>
              <a:t>到总 </a:t>
            </a:r>
            <a:r>
              <a:rPr dirty="0" sz="1400">
                <a:latin typeface="宋体"/>
                <a:cs typeface="宋体"/>
              </a:rPr>
              <a:t>评分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0" y="649223"/>
            <a:ext cx="0" cy="6209030"/>
          </a:xfrm>
          <a:custGeom>
            <a:avLst/>
            <a:gdLst/>
            <a:ahLst/>
            <a:cxnLst/>
            <a:rect l="l" t="t" r="r" b="b"/>
            <a:pathLst>
              <a:path w="0" h="6209030">
                <a:moveTo>
                  <a:pt x="0" y="0"/>
                </a:moveTo>
                <a:lnTo>
                  <a:pt x="0" y="6208490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8178" y="2190242"/>
            <a:ext cx="4392193" cy="4503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66990" y="1874520"/>
            <a:ext cx="0" cy="4826000"/>
          </a:xfrm>
          <a:custGeom>
            <a:avLst/>
            <a:gdLst/>
            <a:ahLst/>
            <a:cxnLst/>
            <a:rect l="l" t="t" r="r" b="b"/>
            <a:pathLst>
              <a:path w="0" h="4826000">
                <a:moveTo>
                  <a:pt x="0" y="0"/>
                </a:moveTo>
                <a:lnTo>
                  <a:pt x="0" y="482589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26157" y="1874520"/>
            <a:ext cx="0" cy="4826000"/>
          </a:xfrm>
          <a:custGeom>
            <a:avLst/>
            <a:gdLst/>
            <a:ahLst/>
            <a:cxnLst/>
            <a:rect l="l" t="t" r="r" b="b"/>
            <a:pathLst>
              <a:path w="0" h="4826000">
                <a:moveTo>
                  <a:pt x="0" y="0"/>
                </a:moveTo>
                <a:lnTo>
                  <a:pt x="0" y="482589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85364" y="1874520"/>
            <a:ext cx="0" cy="4826000"/>
          </a:xfrm>
          <a:custGeom>
            <a:avLst/>
            <a:gdLst/>
            <a:ahLst/>
            <a:cxnLst/>
            <a:rect l="l" t="t" r="r" b="b"/>
            <a:pathLst>
              <a:path w="0" h="4826000">
                <a:moveTo>
                  <a:pt x="0" y="0"/>
                </a:moveTo>
                <a:lnTo>
                  <a:pt x="0" y="482589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56990" y="1874520"/>
            <a:ext cx="0" cy="4826000"/>
          </a:xfrm>
          <a:custGeom>
            <a:avLst/>
            <a:gdLst/>
            <a:ahLst/>
            <a:cxnLst/>
            <a:rect l="l" t="t" r="r" b="b"/>
            <a:pathLst>
              <a:path w="0" h="4826000">
                <a:moveTo>
                  <a:pt x="0" y="0"/>
                </a:moveTo>
                <a:lnTo>
                  <a:pt x="0" y="482589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28490" y="1874520"/>
            <a:ext cx="0" cy="4826000"/>
          </a:xfrm>
          <a:custGeom>
            <a:avLst/>
            <a:gdLst/>
            <a:ahLst/>
            <a:cxnLst/>
            <a:rect l="l" t="t" r="r" b="b"/>
            <a:pathLst>
              <a:path w="0" h="4826000">
                <a:moveTo>
                  <a:pt x="0" y="0"/>
                </a:moveTo>
                <a:lnTo>
                  <a:pt x="0" y="482589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1828" y="2189607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828" y="2414397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1828" y="2649347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1828" y="2958083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1828" y="3207130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1828" y="3456178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1828" y="3705225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1828" y="3954398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1828" y="4203446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1828" y="4452492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1828" y="4701540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1828" y="4950586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1828" y="5199634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1828" y="5448680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1828" y="5697804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1828" y="5946876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1828" y="6195936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1828" y="6444996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8178" y="2183257"/>
            <a:ext cx="0" cy="4517390"/>
          </a:xfrm>
          <a:custGeom>
            <a:avLst/>
            <a:gdLst/>
            <a:ahLst/>
            <a:cxnLst/>
            <a:rect l="l" t="t" r="r" b="b"/>
            <a:pathLst>
              <a:path w="0" h="4517390">
                <a:moveTo>
                  <a:pt x="0" y="0"/>
                </a:moveTo>
                <a:lnTo>
                  <a:pt x="0" y="451716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499990" y="1874520"/>
            <a:ext cx="0" cy="4826000"/>
          </a:xfrm>
          <a:custGeom>
            <a:avLst/>
            <a:gdLst/>
            <a:ahLst/>
            <a:cxnLst/>
            <a:rect l="l" t="t" r="r" b="b"/>
            <a:pathLst>
              <a:path w="0" h="4826000">
                <a:moveTo>
                  <a:pt x="0" y="0"/>
                </a:moveTo>
                <a:lnTo>
                  <a:pt x="0" y="482589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8178" y="1880870"/>
            <a:ext cx="4398645" cy="0"/>
          </a:xfrm>
          <a:custGeom>
            <a:avLst/>
            <a:gdLst/>
            <a:ahLst/>
            <a:cxnLst/>
            <a:rect l="l" t="t" r="r" b="b"/>
            <a:pathLst>
              <a:path w="4398645" h="0">
                <a:moveTo>
                  <a:pt x="0" y="0"/>
                </a:moveTo>
                <a:lnTo>
                  <a:pt x="439816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1828" y="6694068"/>
            <a:ext cx="4404995" cy="0"/>
          </a:xfrm>
          <a:custGeom>
            <a:avLst/>
            <a:gdLst/>
            <a:ahLst/>
            <a:cxnLst/>
            <a:rect l="l" t="t" r="r" b="b"/>
            <a:pathLst>
              <a:path w="4404995" h="0">
                <a:moveTo>
                  <a:pt x="0" y="0"/>
                </a:moveTo>
                <a:lnTo>
                  <a:pt x="440451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08178" y="1880882"/>
          <a:ext cx="4392295" cy="481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/>
                <a:gridCol w="702310"/>
                <a:gridCol w="702944"/>
                <a:gridCol w="648969"/>
                <a:gridCol w="541020"/>
                <a:gridCol w="587375"/>
              </a:tblGrid>
              <a:tr h="308724">
                <a:tc>
                  <a:txBody>
                    <a:bodyPr/>
                    <a:lstStyle/>
                    <a:p>
                      <a:pPr algn="ctr" marR="4191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0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指标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73660"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0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权重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73660"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Newsan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marL="78740" marR="22860" indent="-190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oni  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spc="-7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system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Newsan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 marL="2540">
                        <a:lnSpc>
                          <a:spcPts val="1150"/>
                        </a:lnSpc>
                        <a:spcBef>
                          <a:spcPts val="10"/>
                        </a:spcBef>
                      </a:pPr>
                      <a:r>
                        <a:rPr dirty="0" sz="1000" spc="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评分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solidFill>
                      <a:srgbClr val="66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ts val="1170"/>
                        </a:lnSpc>
                      </a:pP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oni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 marL="17145">
                        <a:lnSpc>
                          <a:spcPts val="1150"/>
                        </a:lnSpc>
                        <a:spcBef>
                          <a:spcPts val="1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00" spc="15" b="1">
                          <a:solidFill>
                            <a:srgbClr val="FFFFFF"/>
                          </a:solidFill>
                          <a:latin typeface="明兰"/>
                          <a:cs typeface="明兰"/>
                        </a:rPr>
                        <a:t>评分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0">
                    <a:solidFill>
                      <a:srgbClr val="660000"/>
                    </a:solidFill>
                  </a:tcPr>
                </a:tc>
              </a:tr>
              <a:tr h="252529"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存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货周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转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13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75%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3.15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3.37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2865"/>
                </a:tc>
              </a:tr>
              <a:tr h="21477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应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付账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款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周转率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9525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ts val="1235"/>
                        </a:lnSpc>
                        <a:spcBef>
                          <a:spcPts val="35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55%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ts val="1235"/>
                        </a:lnSpc>
                        <a:spcBef>
                          <a:spcPts val="35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2.76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235"/>
                        </a:lnSpc>
                        <a:spcBef>
                          <a:spcPts val="35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2.87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35"/>
                        </a:lnSpc>
                        <a:spcBef>
                          <a:spcPts val="35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235"/>
                        </a:lnSpc>
                        <a:spcBef>
                          <a:spcPts val="35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5085"/>
                </a:tc>
              </a:tr>
              <a:tr h="334817">
                <a:tc>
                  <a:txBody>
                    <a:bodyPr/>
                    <a:lstStyle/>
                    <a:p>
                      <a:pPr marL="387985" marR="93980" indent="-337185">
                        <a:lnSpc>
                          <a:spcPts val="1200"/>
                        </a:lnSpc>
                      </a:pPr>
                      <a:r>
                        <a:rPr dirty="0" sz="1000" spc="20" b="1">
                          <a:latin typeface="明兰"/>
                          <a:cs typeface="明兰"/>
                        </a:rPr>
                        <a:t>经</a:t>
                      </a:r>
                      <a:r>
                        <a:rPr dirty="0" sz="1000" spc="10" b="1">
                          <a:latin typeface="明兰"/>
                          <a:cs typeface="明兰"/>
                        </a:rPr>
                        <a:t>营活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动</a:t>
                      </a:r>
                      <a:r>
                        <a:rPr dirty="0" sz="1000" spc="10" b="1">
                          <a:latin typeface="明兰"/>
                          <a:cs typeface="明兰"/>
                        </a:rPr>
                        <a:t>现</a:t>
                      </a:r>
                      <a:r>
                        <a:rPr dirty="0" sz="1000" b="1">
                          <a:latin typeface="明兰"/>
                          <a:cs typeface="明兰"/>
                        </a:rPr>
                        <a:t>金流</a:t>
                      </a:r>
                      <a:r>
                        <a:rPr dirty="0" sz="1000" spc="15" b="1">
                          <a:latin typeface="明兰"/>
                          <a:cs typeface="明兰"/>
                        </a:rPr>
                        <a:t>量</a:t>
                      </a:r>
                      <a:r>
                        <a:rPr dirty="0" sz="1000" b="1">
                          <a:latin typeface="Arial"/>
                          <a:cs typeface="Arial"/>
                        </a:rPr>
                        <a:t>/ 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净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利润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r" marR="175895">
                        <a:lnSpc>
                          <a:spcPct val="10000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9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93%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66675">
                        <a:lnSpc>
                          <a:spcPct val="10000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-0.24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4699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-0.65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08279">
                        <a:lnSpc>
                          <a:spcPct val="10000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</a:tr>
              <a:tr h="249300"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总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资产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周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转率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47%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1.24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1.50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</a:tr>
              <a:tr h="249047"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流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动比率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377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34%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1.60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1.66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9046"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资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产负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债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13%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0.58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0.53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6398"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现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金比率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00%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</a:tr>
              <a:tr h="251949"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EBITDA</a:t>
                      </a:r>
                      <a:r>
                        <a:rPr dirty="0" sz="1000" spc="15" b="1">
                          <a:latin typeface="明兰"/>
                          <a:cs typeface="明兰"/>
                        </a:rPr>
                        <a:t>利润率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77%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4.0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7.3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6515"/>
                </a:tc>
              </a:tr>
              <a:tr h="248919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净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利率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77%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10%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22%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7.2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5763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毛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利率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88%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18%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</a:tr>
              <a:tr h="252584">
                <a:tc>
                  <a:txBody>
                    <a:bodyPr/>
                    <a:lstStyle/>
                    <a:p>
                      <a:pPr algn="ctr" marR="406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000" spc="-5" b="1">
                          <a:latin typeface="Arial"/>
                          <a:cs typeface="Arial"/>
                        </a:rPr>
                        <a:t>ROA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78%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16%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30%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7150"/>
                </a:tc>
              </a:tr>
              <a:tr h="249046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净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利润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8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25%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109.1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150.3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9326"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营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业收入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8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50%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852.1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555.7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975"/>
                </a:tc>
              </a:tr>
              <a:tr h="249047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总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资产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31%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502.2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365.7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9021"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利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润增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长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79%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10%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84%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2.2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9206"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营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收增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长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43%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8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5">
                          <a:latin typeface="Arial"/>
                          <a:cs typeface="Arial"/>
                        </a:rPr>
                        <a:t>-15%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13%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49141"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latin typeface="明兰"/>
                          <a:cs typeface="明兰"/>
                        </a:rPr>
                        <a:t>总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资产</a:t>
                      </a:r>
                      <a:r>
                        <a:rPr dirty="0" sz="1000" spc="5" b="1">
                          <a:latin typeface="明兰"/>
                          <a:cs typeface="明兰"/>
                        </a:rPr>
                        <a:t>增</a:t>
                      </a:r>
                      <a:r>
                        <a:rPr dirty="0" sz="1000" spc="-5" b="1">
                          <a:latin typeface="明兰"/>
                          <a:cs typeface="明兰"/>
                        </a:rPr>
                        <a:t>长率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35%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68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-35%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14%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0.3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  <a:tr h="216767"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000" spc="5" b="1">
                          <a:solidFill>
                            <a:srgbClr val="660000"/>
                          </a:solidFill>
                          <a:latin typeface="明兰"/>
                          <a:cs typeface="明兰"/>
                        </a:rPr>
                        <a:t>总</a:t>
                      </a:r>
                      <a:r>
                        <a:rPr dirty="0" sz="1000" spc="-5" b="1">
                          <a:solidFill>
                            <a:srgbClr val="660000"/>
                          </a:solidFill>
                          <a:latin typeface="明兰"/>
                          <a:cs typeface="明兰"/>
                        </a:rPr>
                        <a:t>评分</a:t>
                      </a:r>
                      <a:endParaRPr sz="1000">
                        <a:latin typeface="明兰"/>
                        <a:cs typeface="明兰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 algn="ctr" marR="37465">
                        <a:lnSpc>
                          <a:spcPts val="1235"/>
                        </a:lnSpc>
                        <a:spcBef>
                          <a:spcPts val="370"/>
                        </a:spcBef>
                      </a:pPr>
                      <a:r>
                        <a:rPr dirty="0" sz="1100" b="1">
                          <a:solidFill>
                            <a:srgbClr val="660000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algn="ctr" marL="67310">
                        <a:lnSpc>
                          <a:spcPts val="1235"/>
                        </a:lnSpc>
                        <a:spcBef>
                          <a:spcPts val="370"/>
                        </a:spcBef>
                      </a:pPr>
                      <a:r>
                        <a:rPr dirty="0" sz="1100" b="1">
                          <a:solidFill>
                            <a:srgbClr val="660000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ts val="1235"/>
                        </a:lnSpc>
                        <a:spcBef>
                          <a:spcPts val="370"/>
                        </a:spcBef>
                      </a:pPr>
                      <a:r>
                        <a:rPr dirty="0" sz="1100" b="1">
                          <a:solidFill>
                            <a:srgbClr val="660000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185"/>
                        </a:lnSpc>
                        <a:spcBef>
                          <a:spcPts val="420"/>
                        </a:spcBef>
                      </a:pPr>
                      <a:r>
                        <a:rPr dirty="0" sz="1050" b="1">
                          <a:solidFill>
                            <a:srgbClr val="660000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ts val="1185"/>
                        </a:lnSpc>
                        <a:spcBef>
                          <a:spcPts val="420"/>
                        </a:spcBef>
                      </a:pPr>
                      <a:r>
                        <a:rPr dirty="0" sz="1050" b="1">
                          <a:solidFill>
                            <a:srgbClr val="660000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3340"/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4628388" y="3537203"/>
            <a:ext cx="4495800" cy="277495"/>
          </a:xfrm>
          <a:custGeom>
            <a:avLst/>
            <a:gdLst/>
            <a:ahLst/>
            <a:cxnLst/>
            <a:rect l="l" t="t" r="r" b="b"/>
            <a:pathLst>
              <a:path w="4495800" h="277495">
                <a:moveTo>
                  <a:pt x="0" y="277367"/>
                </a:moveTo>
                <a:lnTo>
                  <a:pt x="4495800" y="277367"/>
                </a:lnTo>
                <a:lnTo>
                  <a:pt x="4495800" y="0"/>
                </a:lnTo>
                <a:lnTo>
                  <a:pt x="0" y="0"/>
                </a:lnTo>
                <a:lnTo>
                  <a:pt x="0" y="27736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708397" y="3568700"/>
            <a:ext cx="2159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明兰"/>
                <a:cs typeface="明兰"/>
              </a:rPr>
              <a:t>电子制造服务公司财务模型评分</a:t>
            </a:r>
            <a:endParaRPr sz="1200">
              <a:latin typeface="明兰"/>
              <a:cs typeface="明兰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35500" y="973421"/>
            <a:ext cx="4412615" cy="12966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20"/>
              </a:spcBef>
              <a:buClr>
                <a:srgbClr val="660000"/>
              </a:buClr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400" spc="10">
                <a:latin typeface="宋体"/>
                <a:cs typeface="宋体"/>
              </a:rPr>
              <a:t>将电</a:t>
            </a:r>
            <a:r>
              <a:rPr dirty="0" sz="1400">
                <a:latin typeface="宋体"/>
                <a:cs typeface="宋体"/>
              </a:rPr>
              <a:t>子制</a:t>
            </a:r>
            <a:r>
              <a:rPr dirty="0" sz="1400" spc="-15">
                <a:latin typeface="宋体"/>
                <a:cs typeface="宋体"/>
              </a:rPr>
              <a:t>造</a:t>
            </a:r>
            <a:r>
              <a:rPr dirty="0" sz="1400">
                <a:latin typeface="宋体"/>
                <a:cs typeface="宋体"/>
              </a:rPr>
              <a:t>服务</a:t>
            </a:r>
            <a:r>
              <a:rPr dirty="0" sz="1400" spc="-15">
                <a:latin typeface="宋体"/>
                <a:cs typeface="宋体"/>
              </a:rPr>
              <a:t>行</a:t>
            </a:r>
            <a:r>
              <a:rPr dirty="0" sz="1400">
                <a:latin typeface="宋体"/>
                <a:cs typeface="宋体"/>
              </a:rPr>
              <a:t>业其</a:t>
            </a:r>
            <a:r>
              <a:rPr dirty="0" sz="1400" spc="-15">
                <a:latin typeface="宋体"/>
                <a:cs typeface="宋体"/>
              </a:rPr>
              <a:t>他</a:t>
            </a:r>
            <a:r>
              <a:rPr dirty="0" sz="1400">
                <a:latin typeface="宋体"/>
                <a:cs typeface="宋体"/>
              </a:rPr>
              <a:t>公司</a:t>
            </a:r>
            <a:r>
              <a:rPr dirty="0" sz="1400" spc="-5">
                <a:latin typeface="宋体"/>
                <a:cs typeface="宋体"/>
              </a:rPr>
              <a:t>和</a:t>
            </a:r>
            <a:r>
              <a:rPr dirty="0" sz="1400" spc="-5">
                <a:latin typeface="Arial"/>
                <a:cs typeface="Arial"/>
              </a:rPr>
              <a:t>Electronic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system.</a:t>
            </a:r>
            <a:endParaRPr sz="1400">
              <a:latin typeface="Arial"/>
              <a:cs typeface="Arial"/>
            </a:endParaRPr>
          </a:p>
          <a:p>
            <a:pPr algn="just" marL="299085" marR="5080">
              <a:lnSpc>
                <a:spcPct val="119100"/>
              </a:lnSpc>
            </a:pPr>
            <a:r>
              <a:rPr dirty="0" sz="1400">
                <a:latin typeface="Arial"/>
                <a:cs typeface="Arial"/>
              </a:rPr>
              <a:t>S.A.</a:t>
            </a:r>
            <a:r>
              <a:rPr dirty="0" sz="1400" spc="10">
                <a:latin typeface="宋体"/>
                <a:cs typeface="宋体"/>
              </a:rPr>
              <a:t>公</a:t>
            </a:r>
            <a:r>
              <a:rPr dirty="0" sz="1400" spc="5">
                <a:latin typeface="宋体"/>
                <a:cs typeface="宋体"/>
              </a:rPr>
              <a:t>司</a:t>
            </a:r>
            <a:r>
              <a:rPr dirty="0" sz="1400">
                <a:latin typeface="宋体"/>
                <a:cs typeface="宋体"/>
              </a:rPr>
              <a:t>和</a:t>
            </a:r>
            <a:r>
              <a:rPr dirty="0" sz="1400" spc="-5">
                <a:latin typeface="Arial"/>
                <a:cs typeface="Arial"/>
              </a:rPr>
              <a:t>Newsan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S.A.</a:t>
            </a:r>
            <a:r>
              <a:rPr dirty="0" sz="1400" spc="10">
                <a:latin typeface="宋体"/>
                <a:cs typeface="宋体"/>
              </a:rPr>
              <a:t>公</a:t>
            </a:r>
            <a:r>
              <a:rPr dirty="0" sz="1400" spc="5">
                <a:latin typeface="宋体"/>
                <a:cs typeface="宋体"/>
              </a:rPr>
              <a:t>司</a:t>
            </a:r>
            <a:r>
              <a:rPr dirty="0" sz="1400">
                <a:latin typeface="宋体"/>
                <a:cs typeface="宋体"/>
              </a:rPr>
              <a:t>均</a:t>
            </a:r>
            <a:r>
              <a:rPr dirty="0" sz="1400" spc="-10">
                <a:latin typeface="宋体"/>
                <a:cs typeface="宋体"/>
              </a:rPr>
              <a:t>在</a:t>
            </a:r>
            <a:r>
              <a:rPr dirty="0" sz="1400" spc="5">
                <a:latin typeface="宋体"/>
                <a:cs typeface="宋体"/>
              </a:rPr>
              <a:t>同</a:t>
            </a:r>
            <a:r>
              <a:rPr dirty="0" sz="1400">
                <a:latin typeface="宋体"/>
                <a:cs typeface="宋体"/>
              </a:rPr>
              <a:t>一</a:t>
            </a:r>
            <a:r>
              <a:rPr dirty="0" sz="1400" spc="-10">
                <a:latin typeface="宋体"/>
                <a:cs typeface="宋体"/>
              </a:rPr>
              <a:t>财</a:t>
            </a:r>
            <a:r>
              <a:rPr dirty="0" sz="1400" spc="5">
                <a:latin typeface="宋体"/>
                <a:cs typeface="宋体"/>
              </a:rPr>
              <a:t>务</a:t>
            </a:r>
            <a:r>
              <a:rPr dirty="0" sz="1400">
                <a:latin typeface="宋体"/>
                <a:cs typeface="宋体"/>
              </a:rPr>
              <a:t>模</a:t>
            </a:r>
            <a:r>
              <a:rPr dirty="0" sz="1400" spc="-10">
                <a:latin typeface="宋体"/>
                <a:cs typeface="宋体"/>
              </a:rPr>
              <a:t>型</a:t>
            </a:r>
            <a:r>
              <a:rPr dirty="0" sz="1400" spc="5">
                <a:latin typeface="宋体"/>
                <a:cs typeface="宋体"/>
              </a:rPr>
              <a:t>进行 </a:t>
            </a:r>
            <a:r>
              <a:rPr dirty="0" sz="1400" spc="10">
                <a:latin typeface="宋体"/>
                <a:cs typeface="宋体"/>
              </a:rPr>
              <a:t>评分</a:t>
            </a:r>
            <a:r>
              <a:rPr dirty="0" sz="1400">
                <a:latin typeface="宋体"/>
                <a:cs typeface="宋体"/>
              </a:rPr>
              <a:t>，</a:t>
            </a:r>
            <a:r>
              <a:rPr dirty="0" sz="1400" spc="-355">
                <a:latin typeface="宋体"/>
                <a:cs typeface="宋体"/>
              </a:rPr>
              <a:t> </a:t>
            </a:r>
            <a:r>
              <a:rPr dirty="0" sz="1400">
                <a:latin typeface="Arial"/>
                <a:cs typeface="Arial"/>
              </a:rPr>
              <a:t>Electronic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system.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5">
                <a:latin typeface="Arial"/>
                <a:cs typeface="Arial"/>
              </a:rPr>
              <a:t>S.A.</a:t>
            </a:r>
            <a:r>
              <a:rPr dirty="0" sz="1400" spc="10">
                <a:latin typeface="宋体"/>
                <a:cs typeface="宋体"/>
              </a:rPr>
              <a:t>公</a:t>
            </a:r>
            <a:r>
              <a:rPr dirty="0" sz="1400">
                <a:latin typeface="宋体"/>
                <a:cs typeface="宋体"/>
              </a:rPr>
              <a:t>司得分为</a:t>
            </a:r>
            <a:r>
              <a:rPr dirty="0" sz="1400" spc="-15">
                <a:latin typeface="Arial"/>
                <a:cs typeface="Arial"/>
              </a:rPr>
              <a:t>32</a:t>
            </a:r>
            <a:r>
              <a:rPr dirty="0" sz="1400">
                <a:latin typeface="宋体"/>
                <a:cs typeface="宋体"/>
              </a:rPr>
              <a:t>分，排 </a:t>
            </a:r>
            <a:r>
              <a:rPr dirty="0" sz="1400" spc="10">
                <a:latin typeface="宋体"/>
                <a:cs typeface="宋体"/>
              </a:rPr>
              <a:t>在第</a:t>
            </a:r>
            <a:r>
              <a:rPr dirty="0" sz="1400" spc="-5">
                <a:latin typeface="Arial"/>
                <a:cs typeface="Arial"/>
              </a:rPr>
              <a:t>9</a:t>
            </a:r>
            <a:r>
              <a:rPr dirty="0" sz="1400">
                <a:latin typeface="宋体"/>
                <a:cs typeface="宋体"/>
              </a:rPr>
              <a:t>名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而</a:t>
            </a:r>
            <a:r>
              <a:rPr dirty="0" sz="1400" spc="-10">
                <a:latin typeface="Arial"/>
                <a:cs typeface="Arial"/>
              </a:rPr>
              <a:t>Newsan</a:t>
            </a:r>
            <a:r>
              <a:rPr dirty="0" sz="1400">
                <a:latin typeface="宋体"/>
                <a:cs typeface="宋体"/>
              </a:rPr>
              <a:t>评分为</a:t>
            </a:r>
            <a:r>
              <a:rPr dirty="0" sz="1400" spc="-10">
                <a:latin typeface="Arial"/>
                <a:cs typeface="Arial"/>
              </a:rPr>
              <a:t>20</a:t>
            </a:r>
            <a:r>
              <a:rPr dirty="0" sz="1400">
                <a:latin typeface="宋体"/>
                <a:cs typeface="宋体"/>
              </a:rPr>
              <a:t>分</a:t>
            </a:r>
            <a:r>
              <a:rPr dirty="0" sz="1400" spc="-15">
                <a:latin typeface="宋体"/>
                <a:cs typeface="宋体"/>
              </a:rPr>
              <a:t>，</a:t>
            </a:r>
            <a:r>
              <a:rPr dirty="0" sz="1400">
                <a:latin typeface="宋体"/>
                <a:cs typeface="宋体"/>
              </a:rPr>
              <a:t>排在</a:t>
            </a:r>
            <a:r>
              <a:rPr dirty="0" sz="1400" spc="-15">
                <a:latin typeface="宋体"/>
                <a:cs typeface="宋体"/>
              </a:rPr>
              <a:t>第</a:t>
            </a:r>
            <a:r>
              <a:rPr dirty="0" sz="1400" spc="-10">
                <a:latin typeface="Arial"/>
                <a:cs typeface="Arial"/>
              </a:rPr>
              <a:t>25</a:t>
            </a:r>
            <a:r>
              <a:rPr dirty="0" sz="1400">
                <a:latin typeface="宋体"/>
                <a:cs typeface="宋体"/>
              </a:rPr>
              <a:t>名</a:t>
            </a:r>
            <a:r>
              <a:rPr dirty="0" sz="1400" spc="-10">
                <a:latin typeface="Arial"/>
                <a:cs typeface="Arial"/>
              </a:rPr>
              <a:t>,</a:t>
            </a:r>
            <a:r>
              <a:rPr dirty="0" sz="1400">
                <a:latin typeface="宋体"/>
                <a:cs typeface="宋体"/>
              </a:rPr>
              <a:t>建议 </a:t>
            </a:r>
            <a:r>
              <a:rPr dirty="0" sz="1400" spc="10">
                <a:latin typeface="宋体"/>
                <a:cs typeface="宋体"/>
              </a:rPr>
              <a:t>供应</a:t>
            </a:r>
            <a:r>
              <a:rPr dirty="0" sz="1400">
                <a:latin typeface="宋体"/>
                <a:cs typeface="宋体"/>
              </a:rPr>
              <a:t>商的</a:t>
            </a:r>
            <a:r>
              <a:rPr dirty="0" sz="1400" spc="-15">
                <a:latin typeface="宋体"/>
                <a:cs typeface="宋体"/>
              </a:rPr>
              <a:t>选</a:t>
            </a:r>
            <a:r>
              <a:rPr dirty="0" sz="1400">
                <a:latin typeface="宋体"/>
                <a:cs typeface="宋体"/>
              </a:rPr>
              <a:t>择上</a:t>
            </a:r>
            <a:r>
              <a:rPr dirty="0" sz="1400" spc="-10">
                <a:latin typeface="宋体"/>
                <a:cs typeface="宋体"/>
              </a:rPr>
              <a:t>，</a:t>
            </a:r>
            <a:r>
              <a:rPr dirty="0" sz="1400" b="1">
                <a:solidFill>
                  <a:srgbClr val="660000"/>
                </a:solidFill>
                <a:latin typeface="明兰"/>
                <a:cs typeface="明兰"/>
              </a:rPr>
              <a:t>应选</a:t>
            </a:r>
            <a:r>
              <a:rPr dirty="0" sz="1400" spc="-5" b="1">
                <a:solidFill>
                  <a:srgbClr val="660000"/>
                </a:solidFill>
                <a:latin typeface="Arial"/>
                <a:cs typeface="Arial"/>
              </a:rPr>
              <a:t>Electronic</a:t>
            </a:r>
            <a:r>
              <a:rPr dirty="0" sz="1400" spc="-50" b="1">
                <a:solidFill>
                  <a:srgbClr val="6600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660000"/>
                </a:solidFill>
                <a:latin typeface="Arial"/>
                <a:cs typeface="Arial"/>
              </a:rPr>
              <a:t>system.</a:t>
            </a:r>
            <a:r>
              <a:rPr dirty="0" sz="1400" spc="25" b="1">
                <a:solidFill>
                  <a:srgbClr val="6600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660000"/>
                </a:solidFill>
                <a:latin typeface="Arial"/>
                <a:cs typeface="Arial"/>
              </a:rPr>
              <a:t>S.A.</a:t>
            </a:r>
            <a:r>
              <a:rPr dirty="0" sz="1400" spc="20" b="1">
                <a:solidFill>
                  <a:srgbClr val="660000"/>
                </a:solidFill>
                <a:latin typeface="明兰"/>
                <a:cs typeface="明兰"/>
              </a:rPr>
              <a:t>公司</a:t>
            </a:r>
            <a:endParaRPr sz="1400">
              <a:latin typeface="明兰"/>
              <a:cs typeface="明兰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47691" y="6574637"/>
            <a:ext cx="12769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latin typeface="宋体"/>
                <a:cs typeface="宋体"/>
              </a:rPr>
              <a:t>数据来源</a:t>
            </a:r>
            <a:r>
              <a:rPr dirty="0" sz="1000" spc="-5">
                <a:latin typeface="宋体"/>
                <a:cs typeface="宋体"/>
              </a:rPr>
              <a:t>：</a:t>
            </a:r>
            <a:r>
              <a:rPr dirty="0" sz="1000" spc="-5">
                <a:latin typeface="Arial"/>
                <a:cs typeface="Arial"/>
              </a:rPr>
              <a:t>Bloomberg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300215" y="4785359"/>
            <a:ext cx="0" cy="879475"/>
          </a:xfrm>
          <a:custGeom>
            <a:avLst/>
            <a:gdLst/>
            <a:ahLst/>
            <a:cxnLst/>
            <a:rect l="l" t="t" r="r" b="b"/>
            <a:pathLst>
              <a:path w="0" h="879475">
                <a:moveTo>
                  <a:pt x="0" y="0"/>
                </a:moveTo>
                <a:lnTo>
                  <a:pt x="0" y="879347"/>
                </a:lnTo>
              </a:path>
            </a:pathLst>
          </a:custGeom>
          <a:ln w="51815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621268" y="5109971"/>
            <a:ext cx="0" cy="554990"/>
          </a:xfrm>
          <a:custGeom>
            <a:avLst/>
            <a:gdLst/>
            <a:ahLst/>
            <a:cxnLst/>
            <a:rect l="l" t="t" r="r" b="b"/>
            <a:pathLst>
              <a:path w="0" h="554989">
                <a:moveTo>
                  <a:pt x="0" y="0"/>
                </a:moveTo>
                <a:lnTo>
                  <a:pt x="0" y="554735"/>
                </a:lnTo>
              </a:path>
            </a:pathLst>
          </a:custGeom>
          <a:ln w="51816">
            <a:solidFill>
              <a:srgbClr val="66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72811" y="4323588"/>
            <a:ext cx="0" cy="1341120"/>
          </a:xfrm>
          <a:custGeom>
            <a:avLst/>
            <a:gdLst/>
            <a:ahLst/>
            <a:cxnLst/>
            <a:rect l="l" t="t" r="r" b="b"/>
            <a:pathLst>
              <a:path w="0" h="1341120">
                <a:moveTo>
                  <a:pt x="0" y="0"/>
                </a:moveTo>
                <a:lnTo>
                  <a:pt x="0" y="1341120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138928" y="4474464"/>
            <a:ext cx="0" cy="1190625"/>
          </a:xfrm>
          <a:custGeom>
            <a:avLst/>
            <a:gdLst/>
            <a:ahLst/>
            <a:cxnLst/>
            <a:rect l="l" t="t" r="r" b="b"/>
            <a:pathLst>
              <a:path w="0" h="1190625">
                <a:moveTo>
                  <a:pt x="0" y="0"/>
                </a:moveTo>
                <a:lnTo>
                  <a:pt x="0" y="1190244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05044" y="4658867"/>
            <a:ext cx="0" cy="1005840"/>
          </a:xfrm>
          <a:custGeom>
            <a:avLst/>
            <a:gdLst/>
            <a:ahLst/>
            <a:cxnLst/>
            <a:rect l="l" t="t" r="r" b="b"/>
            <a:pathLst>
              <a:path w="0" h="1005839">
                <a:moveTo>
                  <a:pt x="0" y="0"/>
                </a:moveTo>
                <a:lnTo>
                  <a:pt x="0" y="1005839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71159" y="4725923"/>
            <a:ext cx="0" cy="939165"/>
          </a:xfrm>
          <a:custGeom>
            <a:avLst/>
            <a:gdLst/>
            <a:ahLst/>
            <a:cxnLst/>
            <a:rect l="l" t="t" r="r" b="b"/>
            <a:pathLst>
              <a:path w="0" h="939164">
                <a:moveTo>
                  <a:pt x="0" y="0"/>
                </a:moveTo>
                <a:lnTo>
                  <a:pt x="0" y="938784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36514" y="4728971"/>
            <a:ext cx="0" cy="935990"/>
          </a:xfrm>
          <a:custGeom>
            <a:avLst/>
            <a:gdLst/>
            <a:ahLst/>
            <a:cxnLst/>
            <a:rect l="l" t="t" r="r" b="b"/>
            <a:pathLst>
              <a:path w="0" h="935989">
                <a:moveTo>
                  <a:pt x="0" y="0"/>
                </a:moveTo>
                <a:lnTo>
                  <a:pt x="0" y="935735"/>
                </a:lnTo>
              </a:path>
            </a:pathLst>
          </a:custGeom>
          <a:ln w="53339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01867" y="4764023"/>
            <a:ext cx="0" cy="901065"/>
          </a:xfrm>
          <a:custGeom>
            <a:avLst/>
            <a:gdLst/>
            <a:ahLst/>
            <a:cxnLst/>
            <a:rect l="l" t="t" r="r" b="b"/>
            <a:pathLst>
              <a:path w="0" h="901064">
                <a:moveTo>
                  <a:pt x="0" y="0"/>
                </a:moveTo>
                <a:lnTo>
                  <a:pt x="0" y="900684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67984" y="4767071"/>
            <a:ext cx="0" cy="897890"/>
          </a:xfrm>
          <a:custGeom>
            <a:avLst/>
            <a:gdLst/>
            <a:ahLst/>
            <a:cxnLst/>
            <a:rect l="l" t="t" r="r" b="b"/>
            <a:pathLst>
              <a:path w="0" h="897889">
                <a:moveTo>
                  <a:pt x="0" y="0"/>
                </a:moveTo>
                <a:lnTo>
                  <a:pt x="0" y="897635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34100" y="4771644"/>
            <a:ext cx="0" cy="893444"/>
          </a:xfrm>
          <a:custGeom>
            <a:avLst/>
            <a:gdLst/>
            <a:ahLst/>
            <a:cxnLst/>
            <a:rect l="l" t="t" r="r" b="b"/>
            <a:pathLst>
              <a:path w="0" h="893445">
                <a:moveTo>
                  <a:pt x="0" y="0"/>
                </a:moveTo>
                <a:lnTo>
                  <a:pt x="0" y="893063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466332" y="4817364"/>
            <a:ext cx="0" cy="847725"/>
          </a:xfrm>
          <a:custGeom>
            <a:avLst/>
            <a:gdLst/>
            <a:ahLst/>
            <a:cxnLst/>
            <a:rect l="l" t="t" r="r" b="b"/>
            <a:pathLst>
              <a:path w="0" h="847725">
                <a:moveTo>
                  <a:pt x="0" y="0"/>
                </a:moveTo>
                <a:lnTo>
                  <a:pt x="0" y="847344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30923" y="4853940"/>
            <a:ext cx="0" cy="810895"/>
          </a:xfrm>
          <a:custGeom>
            <a:avLst/>
            <a:gdLst/>
            <a:ahLst/>
            <a:cxnLst/>
            <a:rect l="l" t="t" r="r" b="b"/>
            <a:pathLst>
              <a:path w="0" h="810895">
                <a:moveTo>
                  <a:pt x="0" y="0"/>
                </a:moveTo>
                <a:lnTo>
                  <a:pt x="0" y="810768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797040" y="4860035"/>
            <a:ext cx="0" cy="805180"/>
          </a:xfrm>
          <a:custGeom>
            <a:avLst/>
            <a:gdLst/>
            <a:ahLst/>
            <a:cxnLst/>
            <a:rect l="l" t="t" r="r" b="b"/>
            <a:pathLst>
              <a:path w="0" h="805179">
                <a:moveTo>
                  <a:pt x="0" y="0"/>
                </a:moveTo>
                <a:lnTo>
                  <a:pt x="0" y="804672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963156" y="4907279"/>
            <a:ext cx="0" cy="757555"/>
          </a:xfrm>
          <a:custGeom>
            <a:avLst/>
            <a:gdLst/>
            <a:ahLst/>
            <a:cxnLst/>
            <a:rect l="l" t="t" r="r" b="b"/>
            <a:pathLst>
              <a:path w="0" h="757554">
                <a:moveTo>
                  <a:pt x="0" y="0"/>
                </a:moveTo>
                <a:lnTo>
                  <a:pt x="0" y="757428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129271" y="4922520"/>
            <a:ext cx="0" cy="742315"/>
          </a:xfrm>
          <a:custGeom>
            <a:avLst/>
            <a:gdLst/>
            <a:ahLst/>
            <a:cxnLst/>
            <a:rect l="l" t="t" r="r" b="b"/>
            <a:pathLst>
              <a:path w="0" h="742314">
                <a:moveTo>
                  <a:pt x="0" y="0"/>
                </a:moveTo>
                <a:lnTo>
                  <a:pt x="0" y="742187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95388" y="4943855"/>
            <a:ext cx="0" cy="721360"/>
          </a:xfrm>
          <a:custGeom>
            <a:avLst/>
            <a:gdLst/>
            <a:ahLst/>
            <a:cxnLst/>
            <a:rect l="l" t="t" r="r" b="b"/>
            <a:pathLst>
              <a:path w="0" h="721360">
                <a:moveTo>
                  <a:pt x="0" y="0"/>
                </a:moveTo>
                <a:lnTo>
                  <a:pt x="0" y="720852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460742" y="4957571"/>
            <a:ext cx="0" cy="707390"/>
          </a:xfrm>
          <a:custGeom>
            <a:avLst/>
            <a:gdLst/>
            <a:ahLst/>
            <a:cxnLst/>
            <a:rect l="l" t="t" r="r" b="b"/>
            <a:pathLst>
              <a:path w="0" h="707389">
                <a:moveTo>
                  <a:pt x="0" y="0"/>
                </a:moveTo>
                <a:lnTo>
                  <a:pt x="0" y="707135"/>
                </a:lnTo>
              </a:path>
            </a:pathLst>
          </a:custGeom>
          <a:ln w="53339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626095" y="4965191"/>
            <a:ext cx="0" cy="699770"/>
          </a:xfrm>
          <a:custGeom>
            <a:avLst/>
            <a:gdLst/>
            <a:ahLst/>
            <a:cxnLst/>
            <a:rect l="l" t="t" r="r" b="b"/>
            <a:pathLst>
              <a:path w="0" h="699770">
                <a:moveTo>
                  <a:pt x="0" y="0"/>
                </a:moveTo>
                <a:lnTo>
                  <a:pt x="0" y="699515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792211" y="4992623"/>
            <a:ext cx="0" cy="672465"/>
          </a:xfrm>
          <a:custGeom>
            <a:avLst/>
            <a:gdLst/>
            <a:ahLst/>
            <a:cxnLst/>
            <a:rect l="l" t="t" r="r" b="b"/>
            <a:pathLst>
              <a:path w="0" h="672464">
                <a:moveTo>
                  <a:pt x="0" y="0"/>
                </a:moveTo>
                <a:lnTo>
                  <a:pt x="0" y="672084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58328" y="5038344"/>
            <a:ext cx="0" cy="626745"/>
          </a:xfrm>
          <a:custGeom>
            <a:avLst/>
            <a:gdLst/>
            <a:ahLst/>
            <a:cxnLst/>
            <a:rect l="l" t="t" r="r" b="b"/>
            <a:pathLst>
              <a:path w="0" h="626745">
                <a:moveTo>
                  <a:pt x="0" y="0"/>
                </a:moveTo>
                <a:lnTo>
                  <a:pt x="0" y="626363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124443" y="5067300"/>
            <a:ext cx="0" cy="597535"/>
          </a:xfrm>
          <a:custGeom>
            <a:avLst/>
            <a:gdLst/>
            <a:ahLst/>
            <a:cxnLst/>
            <a:rect l="l" t="t" r="r" b="b"/>
            <a:pathLst>
              <a:path w="0" h="597535">
                <a:moveTo>
                  <a:pt x="0" y="0"/>
                </a:moveTo>
                <a:lnTo>
                  <a:pt x="0" y="597408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290559" y="5108447"/>
            <a:ext cx="0" cy="556260"/>
          </a:xfrm>
          <a:custGeom>
            <a:avLst/>
            <a:gdLst/>
            <a:ahLst/>
            <a:cxnLst/>
            <a:rect l="l" t="t" r="r" b="b"/>
            <a:pathLst>
              <a:path w="0" h="556260">
                <a:moveTo>
                  <a:pt x="0" y="0"/>
                </a:moveTo>
                <a:lnTo>
                  <a:pt x="0" y="556260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455152" y="5108447"/>
            <a:ext cx="0" cy="556260"/>
          </a:xfrm>
          <a:custGeom>
            <a:avLst/>
            <a:gdLst/>
            <a:ahLst/>
            <a:cxnLst/>
            <a:rect l="l" t="t" r="r" b="b"/>
            <a:pathLst>
              <a:path w="0" h="556260">
                <a:moveTo>
                  <a:pt x="0" y="0"/>
                </a:moveTo>
                <a:lnTo>
                  <a:pt x="0" y="556260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787383" y="5117591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70">
                <a:moveTo>
                  <a:pt x="0" y="0"/>
                </a:moveTo>
                <a:lnTo>
                  <a:pt x="0" y="547115"/>
                </a:lnTo>
              </a:path>
            </a:pathLst>
          </a:custGeom>
          <a:ln w="5181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953500" y="5175503"/>
            <a:ext cx="0" cy="489584"/>
          </a:xfrm>
          <a:custGeom>
            <a:avLst/>
            <a:gdLst/>
            <a:ahLst/>
            <a:cxnLst/>
            <a:rect l="l" t="t" r="r" b="b"/>
            <a:pathLst>
              <a:path w="0" h="489585">
                <a:moveTo>
                  <a:pt x="0" y="0"/>
                </a:moveTo>
                <a:lnTo>
                  <a:pt x="0" y="489204"/>
                </a:lnTo>
              </a:path>
            </a:pathLst>
          </a:custGeom>
          <a:ln w="5181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890515" y="4011167"/>
            <a:ext cx="0" cy="1653539"/>
          </a:xfrm>
          <a:custGeom>
            <a:avLst/>
            <a:gdLst/>
            <a:ahLst/>
            <a:cxnLst/>
            <a:rect l="l" t="t" r="r" b="b"/>
            <a:pathLst>
              <a:path w="0" h="1653539">
                <a:moveTo>
                  <a:pt x="0" y="1653539"/>
                </a:moveTo>
                <a:lnTo>
                  <a:pt x="0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90515" y="5664708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890515" y="5388864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890515" y="5113020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890515" y="4837176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90515" y="4561332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890515" y="4287011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890515" y="4011167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0" y="0"/>
                </a:moveTo>
                <a:lnTo>
                  <a:pt x="32004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890515" y="5664708"/>
            <a:ext cx="4145279" cy="0"/>
          </a:xfrm>
          <a:custGeom>
            <a:avLst/>
            <a:gdLst/>
            <a:ahLst/>
            <a:cxnLst/>
            <a:rect l="l" t="t" r="r" b="b"/>
            <a:pathLst>
              <a:path w="4145279" h="0">
                <a:moveTo>
                  <a:pt x="0" y="0"/>
                </a:moveTo>
                <a:lnTo>
                  <a:pt x="4145280" y="0"/>
                </a:lnTo>
              </a:path>
            </a:pathLst>
          </a:custGeom>
          <a:ln w="9144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4728209" y="5570626"/>
            <a:ext cx="793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0</a:t>
            </a:r>
            <a:endParaRPr sz="900">
              <a:latin typeface="华文仿宋"/>
              <a:cs typeface="华文仿宋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74489" y="4743450"/>
            <a:ext cx="132080" cy="71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30</a:t>
            </a:r>
            <a:endParaRPr sz="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20</a:t>
            </a:r>
            <a:endParaRPr sz="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10</a:t>
            </a:r>
            <a:endParaRPr sz="900">
              <a:latin typeface="华文仿宋"/>
              <a:cs typeface="华文仿宋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674489" y="3916171"/>
            <a:ext cx="132080" cy="71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60</a:t>
            </a:r>
            <a:endParaRPr sz="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50</a:t>
            </a:r>
            <a:endParaRPr sz="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40</a:t>
            </a:r>
            <a:endParaRPr sz="900">
              <a:latin typeface="华文仿宋"/>
              <a:cs typeface="华文仿宋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883099" y="5718378"/>
            <a:ext cx="4154804" cy="827405"/>
          </a:xfrm>
          <a:prstGeom prst="rect">
            <a:avLst/>
          </a:prstGeom>
        </p:spPr>
        <p:txBody>
          <a:bodyPr wrap="square" lIns="0" tIns="10795" rIns="0" bIns="0" rtlCol="0" vert="vert270">
            <a:spAutoFit/>
          </a:bodyPr>
          <a:lstStyle/>
          <a:p>
            <a:pPr algn="r" marR="5715">
              <a:lnSpc>
                <a:spcPct val="100000"/>
              </a:lnSpc>
              <a:spcBef>
                <a:spcPts val="85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鸿准</a:t>
            </a:r>
            <a:endParaRPr sz="900">
              <a:latin typeface="华文仿宋"/>
              <a:cs typeface="华文仿宋"/>
            </a:endParaRPr>
          </a:p>
          <a:p>
            <a:pPr algn="r" marL="356235" marR="5715" indent="228600">
              <a:lnSpc>
                <a:spcPct val="120900"/>
              </a:lnSpc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和硕 基准电子</a:t>
            </a:r>
            <a:endParaRPr sz="900">
              <a:latin typeface="华文仿宋"/>
              <a:cs typeface="华文仿宋"/>
            </a:endParaRPr>
          </a:p>
          <a:p>
            <a:pPr algn="r" marL="273050" marR="5080" indent="311785">
              <a:lnSpc>
                <a:spcPts val="1310"/>
              </a:lnSpc>
              <a:spcBef>
                <a:spcPts val="80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广达  Du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co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mmun</a:t>
            </a:r>
            <a:endParaRPr sz="900">
              <a:latin typeface="华文仿宋"/>
              <a:cs typeface="华文仿宋"/>
            </a:endParaRPr>
          </a:p>
          <a:p>
            <a:pPr algn="r" marR="5715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纬创</a:t>
            </a:r>
            <a:endParaRPr sz="900">
              <a:latin typeface="华文仿宋"/>
              <a:cs typeface="华文仿宋"/>
            </a:endParaRPr>
          </a:p>
          <a:p>
            <a:pPr marL="441325" indent="28575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富智康</a:t>
            </a:r>
            <a:endParaRPr sz="900">
              <a:latin typeface="华文仿宋"/>
              <a:cs typeface="华文仿宋"/>
            </a:endParaRPr>
          </a:p>
          <a:p>
            <a:pPr algn="r" marL="195580" marR="5080" indent="245110">
              <a:lnSpc>
                <a:spcPct val="120900"/>
              </a:lnSpc>
              <a:spcBef>
                <a:spcPts val="5"/>
              </a:spcBef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F</a:t>
            </a:r>
            <a:r>
              <a:rPr dirty="0" sz="900" spc="5">
                <a:solidFill>
                  <a:srgbClr val="585858"/>
                </a:solidFill>
                <a:latin typeface="华文仿宋"/>
                <a:cs typeface="华文仿宋"/>
              </a:rPr>
              <a:t>a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b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ri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n</a:t>
            </a:r>
            <a:r>
              <a:rPr dirty="0" sz="900" spc="5">
                <a:solidFill>
                  <a:srgbClr val="585858"/>
                </a:solidFill>
                <a:latin typeface="华文仿宋"/>
                <a:cs typeface="华文仿宋"/>
              </a:rPr>
              <a:t>e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t  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Electronic</a:t>
            </a:r>
            <a:r>
              <a:rPr dirty="0" sz="900" spc="-55">
                <a:solidFill>
                  <a:srgbClr val="585858"/>
                </a:solidFill>
                <a:latin typeface="华文仿宋"/>
                <a:cs typeface="华文仿宋"/>
              </a:rPr>
              <a:t> 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sys</a:t>
            </a:r>
            <a:endParaRPr sz="900">
              <a:latin typeface="华文仿宋"/>
              <a:cs typeface="华文仿宋"/>
            </a:endParaRPr>
          </a:p>
          <a:p>
            <a:pPr algn="r" marL="356235" marR="5715" indent="113664">
              <a:lnSpc>
                <a:spcPts val="1310"/>
              </a:lnSpc>
              <a:spcBef>
                <a:spcPts val="75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英业达 伟创力  环旭电子</a:t>
            </a:r>
            <a:endParaRPr sz="900">
              <a:latin typeface="华文仿宋"/>
              <a:cs typeface="华文仿宋"/>
            </a:endParaRPr>
          </a:p>
          <a:p>
            <a:pPr marL="230504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伟易达vt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ec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h</a:t>
            </a:r>
            <a:endParaRPr sz="900">
              <a:latin typeface="华文仿宋"/>
              <a:cs typeface="华文仿宋"/>
            </a:endParaRPr>
          </a:p>
          <a:p>
            <a:pPr algn="just" marL="356235" marR="5715">
              <a:lnSpc>
                <a:spcPct val="120900"/>
              </a:lnSpc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天弘股份 长城开发 捷普股份</a:t>
            </a:r>
            <a:endParaRPr sz="900">
              <a:latin typeface="华文仿宋"/>
              <a:cs typeface="华文仿宋"/>
            </a:endParaRPr>
          </a:p>
          <a:p>
            <a:pPr marL="249554">
              <a:lnSpc>
                <a:spcPct val="100000"/>
              </a:lnSpc>
              <a:spcBef>
                <a:spcPts val="229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PKG</a:t>
            </a:r>
            <a:r>
              <a:rPr dirty="0" sz="900" spc="-110">
                <a:solidFill>
                  <a:srgbClr val="585858"/>
                </a:solidFill>
                <a:latin typeface="华文仿宋"/>
                <a:cs typeface="华文仿宋"/>
              </a:rPr>
              <a:t> 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Group</a:t>
            </a:r>
            <a:endParaRPr sz="900">
              <a:latin typeface="华文仿宋"/>
              <a:cs typeface="华文仿宋"/>
            </a:endParaRPr>
          </a:p>
          <a:p>
            <a:pPr algn="r" marL="525780" marR="5080" indent="-90805">
              <a:lnSpc>
                <a:spcPct val="120900"/>
              </a:lnSpc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S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a</a:t>
            </a:r>
            <a:r>
              <a:rPr dirty="0" sz="900" spc="5">
                <a:solidFill>
                  <a:srgbClr val="585858"/>
                </a:solidFill>
                <a:latin typeface="华文仿宋"/>
                <a:cs typeface="华文仿宋"/>
              </a:rPr>
              <a:t>n</a:t>
            </a:r>
            <a:r>
              <a:rPr dirty="0" sz="900" spc="-10">
                <a:solidFill>
                  <a:srgbClr val="585858"/>
                </a:solidFill>
                <a:latin typeface="华文仿宋"/>
                <a:cs typeface="华文仿宋"/>
              </a:rPr>
              <a:t>m</a:t>
            </a:r>
            <a:r>
              <a:rPr dirty="0" sz="900" spc="5">
                <a:solidFill>
                  <a:srgbClr val="585858"/>
                </a:solidFill>
                <a:latin typeface="华文仿宋"/>
                <a:cs typeface="华文仿宋"/>
              </a:rPr>
              <a:t>i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n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a  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P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l</a:t>
            </a:r>
            <a:r>
              <a:rPr dirty="0" sz="900" spc="5">
                <a:solidFill>
                  <a:srgbClr val="585858"/>
                </a:solidFill>
                <a:latin typeface="华文仿宋"/>
                <a:cs typeface="华文仿宋"/>
              </a:rPr>
              <a:t>e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x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us</a:t>
            </a:r>
            <a:endParaRPr sz="900">
              <a:latin typeface="华文仿宋"/>
              <a:cs typeface="华文仿宋"/>
            </a:endParaRPr>
          </a:p>
          <a:p>
            <a:pPr marL="635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UMC</a:t>
            </a:r>
            <a:r>
              <a:rPr dirty="0" sz="900" spc="-65">
                <a:solidFill>
                  <a:srgbClr val="585858"/>
                </a:solidFill>
                <a:latin typeface="华文仿宋"/>
                <a:cs typeface="华文仿宋"/>
              </a:rPr>
              <a:t> 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electronics</a:t>
            </a:r>
            <a:endParaRPr sz="900">
              <a:latin typeface="华文仿宋"/>
              <a:cs typeface="华文仿宋"/>
            </a:endParaRPr>
          </a:p>
          <a:p>
            <a:pPr algn="r" marL="12700" marR="5715" indent="358140">
              <a:lnSpc>
                <a:spcPct val="120800"/>
              </a:lnSpc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Enics</a:t>
            </a:r>
            <a:r>
              <a:rPr dirty="0" sz="900" spc="-90">
                <a:solidFill>
                  <a:srgbClr val="585858"/>
                </a:solidFill>
                <a:latin typeface="华文仿宋"/>
                <a:cs typeface="华文仿宋"/>
              </a:rPr>
              <a:t> 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AG  </a:t>
            </a: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AsteelFlash</a:t>
            </a:r>
            <a:r>
              <a:rPr dirty="0" sz="900" spc="-60">
                <a:solidFill>
                  <a:srgbClr val="585858"/>
                </a:solidFill>
                <a:latin typeface="华文仿宋"/>
                <a:cs typeface="华文仿宋"/>
              </a:rPr>
              <a:t> 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group</a:t>
            </a:r>
            <a:endParaRPr sz="900">
              <a:latin typeface="华文仿宋"/>
              <a:cs typeface="华文仿宋"/>
            </a:endParaRPr>
          </a:p>
          <a:p>
            <a:pPr marL="455295">
              <a:lnSpc>
                <a:spcPct val="100000"/>
              </a:lnSpc>
              <a:spcBef>
                <a:spcPts val="229"/>
              </a:spcBef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Newsan</a:t>
            </a:r>
            <a:endParaRPr sz="900">
              <a:latin typeface="华文仿宋"/>
              <a:cs typeface="华文仿宋"/>
            </a:endParaRPr>
          </a:p>
          <a:p>
            <a:pPr algn="r" marL="584835" marR="5080" indent="81915">
              <a:lnSpc>
                <a:spcPct val="120500"/>
              </a:lnSpc>
              <a:spcBef>
                <a:spcPts val="5"/>
              </a:spcBef>
            </a:pPr>
            <a:r>
              <a:rPr dirty="0" sz="900" spc="-5">
                <a:solidFill>
                  <a:srgbClr val="585858"/>
                </a:solidFill>
                <a:latin typeface="华文仿宋"/>
                <a:cs typeface="华文仿宋"/>
              </a:rPr>
              <a:t>s</a:t>
            </a:r>
            <a:r>
              <a:rPr dirty="0" sz="900" spc="5">
                <a:solidFill>
                  <a:srgbClr val="585858"/>
                </a:solidFill>
                <a:latin typeface="华文仿宋"/>
                <a:cs typeface="华文仿宋"/>
              </a:rPr>
              <a:t>i</a:t>
            </a:r>
            <a:r>
              <a:rPr dirty="0" sz="900">
                <a:solidFill>
                  <a:srgbClr val="585858"/>
                </a:solidFill>
                <a:latin typeface="华文仿宋"/>
                <a:cs typeface="华文仿宋"/>
              </a:rPr>
              <a:t>ix 蓝天</a:t>
            </a:r>
            <a:endParaRPr sz="900">
              <a:latin typeface="华文仿宋"/>
              <a:cs typeface="华文仿宋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23790" y="2525648"/>
            <a:ext cx="2546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660000"/>
                </a:solidFill>
                <a:latin typeface="Arial"/>
                <a:cs typeface="Arial"/>
              </a:rPr>
              <a:t>Electronic </a:t>
            </a:r>
            <a:r>
              <a:rPr dirty="0" sz="1800" spc="-10" b="1">
                <a:solidFill>
                  <a:srgbClr val="660000"/>
                </a:solidFill>
                <a:latin typeface="Arial"/>
                <a:cs typeface="Arial"/>
              </a:rPr>
              <a:t>system.</a:t>
            </a:r>
            <a:r>
              <a:rPr dirty="0" sz="1800" spc="10" b="1">
                <a:solidFill>
                  <a:srgbClr val="660000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660000"/>
                </a:solidFill>
                <a:latin typeface="Arial"/>
                <a:cs typeface="Arial"/>
              </a:rPr>
              <a:t>S.A.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985776" y="2933715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452993" y="344789"/>
                </a:moveTo>
                <a:lnTo>
                  <a:pt x="230997" y="344789"/>
                </a:lnTo>
                <a:lnTo>
                  <a:pt x="334375" y="449691"/>
                </a:lnTo>
                <a:lnTo>
                  <a:pt x="349458" y="459861"/>
                </a:lnTo>
                <a:lnTo>
                  <a:pt x="366649" y="463327"/>
                </a:lnTo>
                <a:lnTo>
                  <a:pt x="383863" y="460103"/>
                </a:lnTo>
                <a:lnTo>
                  <a:pt x="399018" y="450199"/>
                </a:lnTo>
                <a:lnTo>
                  <a:pt x="447786" y="402066"/>
                </a:lnTo>
                <a:lnTo>
                  <a:pt x="457954" y="387054"/>
                </a:lnTo>
                <a:lnTo>
                  <a:pt x="461406" y="369887"/>
                </a:lnTo>
                <a:lnTo>
                  <a:pt x="458144" y="352649"/>
                </a:lnTo>
                <a:lnTo>
                  <a:pt x="452993" y="344789"/>
                </a:lnTo>
                <a:close/>
              </a:path>
              <a:path w="463550" h="463550">
                <a:moveTo>
                  <a:pt x="96742" y="0"/>
                </a:moveTo>
                <a:lnTo>
                  <a:pt x="15605" y="61325"/>
                </a:lnTo>
                <a:lnTo>
                  <a:pt x="1968" y="93440"/>
                </a:lnTo>
                <a:lnTo>
                  <a:pt x="5157" y="110634"/>
                </a:lnTo>
                <a:lnTo>
                  <a:pt x="15097" y="125841"/>
                </a:lnTo>
                <a:lnTo>
                  <a:pt x="118729" y="230743"/>
                </a:lnTo>
                <a:lnTo>
                  <a:pt x="13700" y="334375"/>
                </a:lnTo>
                <a:lnTo>
                  <a:pt x="3510" y="349458"/>
                </a:lnTo>
                <a:lnTo>
                  <a:pt x="0" y="366649"/>
                </a:lnTo>
                <a:lnTo>
                  <a:pt x="3180" y="383863"/>
                </a:lnTo>
                <a:lnTo>
                  <a:pt x="13065" y="399018"/>
                </a:lnTo>
                <a:lnTo>
                  <a:pt x="61325" y="447786"/>
                </a:lnTo>
                <a:lnTo>
                  <a:pt x="76334" y="457954"/>
                </a:lnTo>
                <a:lnTo>
                  <a:pt x="93487" y="461406"/>
                </a:lnTo>
                <a:lnTo>
                  <a:pt x="110688" y="458144"/>
                </a:lnTo>
                <a:lnTo>
                  <a:pt x="125841" y="448167"/>
                </a:lnTo>
                <a:lnTo>
                  <a:pt x="230997" y="344789"/>
                </a:lnTo>
                <a:lnTo>
                  <a:pt x="452993" y="344789"/>
                </a:lnTo>
                <a:lnTo>
                  <a:pt x="448167" y="337423"/>
                </a:lnTo>
                <a:lnTo>
                  <a:pt x="344789" y="232521"/>
                </a:lnTo>
                <a:lnTo>
                  <a:pt x="449691" y="129016"/>
                </a:lnTo>
                <a:lnTo>
                  <a:pt x="456627" y="118729"/>
                </a:lnTo>
                <a:lnTo>
                  <a:pt x="232521" y="118729"/>
                </a:lnTo>
                <a:lnTo>
                  <a:pt x="129016" y="13700"/>
                </a:lnTo>
                <a:lnTo>
                  <a:pt x="113932" y="3510"/>
                </a:lnTo>
                <a:lnTo>
                  <a:pt x="96742" y="0"/>
                </a:lnTo>
                <a:close/>
              </a:path>
              <a:path w="463550" h="463550">
                <a:moveTo>
                  <a:pt x="369887" y="1968"/>
                </a:moveTo>
                <a:lnTo>
                  <a:pt x="352649" y="5157"/>
                </a:lnTo>
                <a:lnTo>
                  <a:pt x="337423" y="15097"/>
                </a:lnTo>
                <a:lnTo>
                  <a:pt x="232521" y="118729"/>
                </a:lnTo>
                <a:lnTo>
                  <a:pt x="456627" y="118729"/>
                </a:lnTo>
                <a:lnTo>
                  <a:pt x="459861" y="113932"/>
                </a:lnTo>
                <a:lnTo>
                  <a:pt x="463327" y="96742"/>
                </a:lnTo>
                <a:lnTo>
                  <a:pt x="460103" y="79527"/>
                </a:lnTo>
                <a:lnTo>
                  <a:pt x="450199" y="64373"/>
                </a:lnTo>
                <a:lnTo>
                  <a:pt x="402066" y="15605"/>
                </a:lnTo>
                <a:lnTo>
                  <a:pt x="387054" y="5470"/>
                </a:lnTo>
                <a:lnTo>
                  <a:pt x="369887" y="1968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657088" y="2895600"/>
            <a:ext cx="611505" cy="483234"/>
          </a:xfrm>
          <a:custGeom>
            <a:avLst/>
            <a:gdLst/>
            <a:ahLst/>
            <a:cxnLst/>
            <a:rect l="l" t="t" r="r" b="b"/>
            <a:pathLst>
              <a:path w="611504" h="483235">
                <a:moveTo>
                  <a:pt x="100329" y="158876"/>
                </a:moveTo>
                <a:lnTo>
                  <a:pt x="0" y="258572"/>
                </a:lnTo>
                <a:lnTo>
                  <a:pt x="225678" y="483108"/>
                </a:lnTo>
                <a:lnTo>
                  <a:pt x="426319" y="283590"/>
                </a:lnTo>
                <a:lnTo>
                  <a:pt x="225678" y="283590"/>
                </a:lnTo>
                <a:lnTo>
                  <a:pt x="100329" y="158876"/>
                </a:lnTo>
                <a:close/>
              </a:path>
              <a:path w="611504" h="483235">
                <a:moveTo>
                  <a:pt x="510794" y="0"/>
                </a:moveTo>
                <a:lnTo>
                  <a:pt x="225678" y="283590"/>
                </a:lnTo>
                <a:lnTo>
                  <a:pt x="426319" y="283590"/>
                </a:lnTo>
                <a:lnTo>
                  <a:pt x="611124" y="99822"/>
                </a:lnTo>
                <a:lnTo>
                  <a:pt x="510794" y="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7648193" y="2511297"/>
            <a:ext cx="1346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A6A6A6"/>
                </a:solidFill>
                <a:latin typeface="Arial"/>
                <a:cs typeface="Arial"/>
              </a:rPr>
              <a:t>Newsan</a:t>
            </a:r>
            <a:r>
              <a:rPr dirty="0" sz="1800" spc="-4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6A6A6"/>
                </a:solidFill>
                <a:latin typeface="Arial"/>
                <a:cs typeface="Arial"/>
              </a:rPr>
              <a:t>S.A.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xfrm>
            <a:off x="78739" y="276225"/>
            <a:ext cx="43605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" b="1">
                <a:solidFill>
                  <a:srgbClr val="7A2121"/>
                </a:solidFill>
                <a:latin typeface="明兰"/>
                <a:cs typeface="明兰"/>
              </a:rPr>
              <a:t>选择</a:t>
            </a:r>
            <a:r>
              <a:rPr dirty="0" sz="2000" spc="10" b="1">
                <a:solidFill>
                  <a:srgbClr val="7A2121"/>
                </a:solidFill>
                <a:latin typeface="明兰"/>
                <a:cs typeface="明兰"/>
              </a:rPr>
              <a:t>公</a:t>
            </a:r>
            <a:r>
              <a:rPr dirty="0" sz="2000" spc="20" b="1">
                <a:solidFill>
                  <a:srgbClr val="7A2121"/>
                </a:solidFill>
                <a:latin typeface="明兰"/>
                <a:cs typeface="明兰"/>
              </a:rPr>
              <a:t>司</a:t>
            </a:r>
            <a:r>
              <a:rPr dirty="0" sz="2000" spc="-5" b="1">
                <a:solidFill>
                  <a:srgbClr val="7A2121"/>
                </a:solidFill>
                <a:latin typeface="Arial"/>
                <a:cs typeface="Arial"/>
              </a:rPr>
              <a:t>——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Electronic</a:t>
            </a:r>
            <a:r>
              <a:rPr dirty="0" sz="2000" spc="-60" b="1">
                <a:solidFill>
                  <a:srgbClr val="660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system.</a:t>
            </a:r>
            <a:r>
              <a:rPr dirty="0" sz="2000" spc="-10" b="1">
                <a:solidFill>
                  <a:srgbClr val="660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660000"/>
                </a:solidFill>
                <a:latin typeface="Arial"/>
                <a:cs typeface="Arial"/>
              </a:rPr>
              <a:t>S.A.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964428" y="4316983"/>
            <a:ext cx="763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l</a:t>
            </a:r>
            <a:r>
              <a:rPr dirty="0" sz="1200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ctro</a:t>
            </a:r>
            <a:r>
              <a:rPr dirty="0" sz="1200" spc="-10" b="1">
                <a:latin typeface="Arial"/>
                <a:cs typeface="Arial"/>
              </a:rPr>
              <a:t>n</a:t>
            </a:r>
            <a:r>
              <a:rPr dirty="0" sz="1200" spc="-5" b="1">
                <a:latin typeface="Arial"/>
                <a:cs typeface="Arial"/>
              </a:rPr>
              <a:t>ic  </a:t>
            </a:r>
            <a:r>
              <a:rPr dirty="0" sz="1200" spc="-10" b="1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295258" y="4820157"/>
            <a:ext cx="605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Ne</a:t>
            </a:r>
            <a:r>
              <a:rPr dirty="0" sz="1200" spc="25" b="1">
                <a:latin typeface="Arial"/>
                <a:cs typeface="Arial"/>
              </a:rPr>
              <a:t>w</a:t>
            </a:r>
            <a:r>
              <a:rPr dirty="0" sz="1200" spc="-15" b="1">
                <a:latin typeface="Arial"/>
                <a:cs typeface="Arial"/>
              </a:rPr>
              <a:t>s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6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020" y="2512821"/>
            <a:ext cx="39401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latin typeface="微软雅黑"/>
                <a:cs typeface="微软雅黑"/>
              </a:rPr>
              <a:t>Thanks for</a:t>
            </a:r>
            <a:r>
              <a:rPr dirty="0" spc="-65" b="1">
                <a:latin typeface="微软雅黑"/>
                <a:cs typeface="微软雅黑"/>
              </a:rPr>
              <a:t> </a:t>
            </a:r>
            <a:r>
              <a:rPr dirty="0" spc="-5" b="1">
                <a:latin typeface="微软雅黑"/>
                <a:cs typeface="微软雅黑"/>
              </a:rPr>
              <a:t>watching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0302" y="3561715"/>
            <a:ext cx="6301105" cy="90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2961640" algn="l"/>
                <a:tab pos="3784600" algn="l"/>
                <a:tab pos="4834890" algn="l"/>
              </a:tabLst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Crazyou</a:t>
            </a:r>
            <a:r>
              <a:rPr dirty="0" sz="1800" spc="5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团队成员：麻忆瑄	廖晓慧	宁静致远	黄钰豪</a:t>
            </a:r>
            <a:r>
              <a:rPr dirty="0" sz="1800" spc="-8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周晓萌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</a:pP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2018</a:t>
            </a:r>
            <a:r>
              <a:rPr dirty="0" sz="1800">
                <a:solidFill>
                  <a:srgbClr val="FFFFFF"/>
                </a:solidFill>
                <a:latin typeface="等线"/>
                <a:cs typeface="等线"/>
              </a:rPr>
              <a:t>年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800">
                <a:solidFill>
                  <a:srgbClr val="FFFFFF"/>
                </a:solidFill>
                <a:latin typeface="等线"/>
                <a:cs typeface="等线"/>
              </a:rPr>
              <a:t>月</a:t>
            </a:r>
            <a:endParaRPr sz="18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钰豪 黄</dc:creator>
  <dc:title>PowerPoint 演示文稿</dc:title>
  <dcterms:created xsi:type="dcterms:W3CDTF">2018-10-24T07:19:15Z</dcterms:created>
  <dcterms:modified xsi:type="dcterms:W3CDTF">2018-10-24T07:19:15Z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2018-10-24T00:00:00Z</vt:filetime>
  </property>
</Properties>
</file>